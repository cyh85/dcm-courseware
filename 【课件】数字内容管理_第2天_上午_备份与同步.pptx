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13" r:id="rId63"/>
    <p:sldId id="699" r:id="rId64"/>
    <p:sldId id="515" r:id="rId65"/>
    <p:sldId id="516" r:id="rId66"/>
    <p:sldId id="517" r:id="rId67"/>
    <p:sldId id="826" r:id="rId68"/>
    <p:sldId id="518" r:id="rId69"/>
    <p:sldId id="521" r:id="rId70"/>
    <p:sldId id="525" r:id="rId71"/>
    <p:sldId id="527" r:id="rId72"/>
    <p:sldId id="528" r:id="rId73"/>
    <p:sldId id="530" r:id="rId74"/>
    <p:sldId id="531" r:id="rId75"/>
    <p:sldId id="532" r:id="rId76"/>
    <p:sldId id="700" r:id="rId77"/>
    <p:sldId id="701" r:id="rId78"/>
    <p:sldId id="703" r:id="rId79"/>
    <p:sldId id="704" r:id="rId80"/>
    <p:sldId id="533" r:id="rId81"/>
    <p:sldId id="536" r:id="rId82"/>
    <p:sldId id="537" r:id="rId83"/>
    <p:sldId id="538" r:id="rId84"/>
    <p:sldId id="261" r:id="rId85"/>
    <p:sldId id="511" r:id="rId86"/>
    <p:sldId id="512" r:id="rId87"/>
    <p:sldId id="462" r:id="rId88"/>
    <p:sldId id="510" r:id="rId89"/>
    <p:sldId id="539" r:id="rId90"/>
    <p:sldId id="540" r:id="rId91"/>
    <p:sldId id="541" r:id="rId92"/>
    <p:sldId id="542" r:id="rId93"/>
    <p:sldId id="543" r:id="rId94"/>
    <p:sldId id="544" r:id="rId95"/>
    <p:sldId id="415" r:id="rId96"/>
    <p:sldId id="416" r:id="rId97"/>
    <p:sldId id="414" r:id="rId98"/>
    <p:sldId id="417" r:id="rId9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7252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27" y="52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283" Type="http://schemas.openxmlformats.org/officeDocument/2006/relationships/presProps" Target="presProps.xml"/><Relationship Id="rId284" Type="http://schemas.openxmlformats.org/officeDocument/2006/relationships/viewProps" Target="viewProps.xml"/><Relationship Id="rId285" Type="http://schemas.openxmlformats.org/officeDocument/2006/relationships/theme" Target="theme/theme1.xml"/><Relationship Id="rId28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8FF56-40DD-471D-9572-94446A225DB0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3BB3-B2AA-4365-8D21-2931F66B56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8FF56-40DD-471D-9572-94446A225DB0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3BB3-B2AA-4365-8D21-2931F66B56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8FF56-40DD-471D-9572-94446A225DB0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3BB3-B2AA-4365-8D21-2931F66B56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8FF56-40DD-471D-9572-94446A225DB0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3BB3-B2AA-4365-8D21-2931F66B56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8FF56-40DD-471D-9572-94446A225DB0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3BB3-B2AA-4365-8D21-2931F66B56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8FF56-40DD-471D-9572-94446A225DB0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3BB3-B2AA-4365-8D21-2931F66B56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8FF56-40DD-471D-9572-94446A225DB0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3BB3-B2AA-4365-8D21-2931F66B56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8FF56-40DD-471D-9572-94446A225DB0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3BB3-B2AA-4365-8D21-2931F66B56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8FF56-40DD-471D-9572-94446A225DB0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3BB3-B2AA-4365-8D21-2931F66B56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8FF56-40DD-471D-9572-94446A225DB0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3BB3-B2AA-4365-8D21-2931F66B56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8FF56-40DD-471D-9572-94446A225DB0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3BB3-B2AA-4365-8D21-2931F66B56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962C8B-B14F-4D97-AF65-F5344CB8AC3E}" type="datetime1">
              <a:rPr lang="en-US" altLang="zh-CN"/>
              <a:t>8/20/2026</a:t>
            </a:fld>
            <a:endParaRPr lang="en-US" altLang="zh-CN"/>
          </a:p>
        </p:txBody>
      </p:sp>
      <p:sp>
        <p:nvSpPr>
          <p:cNvPr id="8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9BA1AF2-122D-413B-9A6F-A4FE069461D2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8FF56-40DD-471D-9572-94446A225DB0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A03BB3-B2AA-4365-8D21-2931F66B56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penclaw.ai/" TargetMode="Externa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tags" Target="../tags/tag9.xml"/><Relationship Id="rId4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e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infini-cloud.net/en/clients_zotero.html" TargetMode="Externa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zotero.org/" TargetMode="Externa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2011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第二天：</a:t>
            </a:r>
            <a:br>
              <a:rPr lang="en-US" altLang="zh-CN" dirty="0"/>
            </a:br>
            <a:r>
              <a:rPr lang="zh-CN" altLang="en-US" dirty="0"/>
              <a:t>上午：备份与同步</a:t>
            </a:r>
            <a:br>
              <a:rPr lang="en-US" altLang="zh-CN" dirty="0"/>
            </a:br>
            <a:r>
              <a:rPr lang="zh-CN" altLang="en-US" dirty="0"/>
              <a:t>下午：索引与检索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  <a:ea typeface="宋体" charset="-122"/>
              </a:rPr>
              <a:t>电脑</a:t>
            </a:r>
            <a:r>
              <a:rPr lang="en-US" altLang="zh-CN">
                <a:solidFill>
                  <a:schemeClr val="tx1"/>
                </a:solidFill>
                <a:ea typeface="宋体" charset="-122"/>
              </a:rPr>
              <a:t>经验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/>
                </a:solidFill>
              </a:rPr>
              <a:t>90%</a:t>
            </a:r>
            <a:r>
              <a:rPr lang="zh-CN" altLang="en-US">
                <a:solidFill>
                  <a:schemeClr val="tx1"/>
                </a:solidFill>
              </a:rPr>
              <a:t>的</a:t>
            </a:r>
            <a:r>
              <a:rPr lang="en-US" altLang="zh-CN">
                <a:solidFill>
                  <a:schemeClr val="tx1"/>
                </a:solidFill>
              </a:rPr>
              <a:t>问题重启机子可以解决</a:t>
            </a: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99%</a:t>
            </a:r>
            <a:r>
              <a:rPr lang="zh-CN" altLang="en-US">
                <a:solidFill>
                  <a:schemeClr val="tx1"/>
                </a:solidFill>
              </a:rPr>
              <a:t>的</a:t>
            </a:r>
            <a:r>
              <a:rPr lang="en-US" altLang="zh-CN">
                <a:solidFill>
                  <a:schemeClr val="tx1"/>
                </a:solidFill>
              </a:rPr>
              <a:t>问题</a:t>
            </a:r>
            <a:r>
              <a:rPr lang="zh-CN" altLang="en-US">
                <a:solidFill>
                  <a:schemeClr val="tx1"/>
                </a:solidFill>
              </a:rPr>
              <a:t>重装</a:t>
            </a:r>
            <a:r>
              <a:rPr lang="en-US" altLang="zh-CN">
                <a:solidFill>
                  <a:schemeClr val="tx1"/>
                </a:solidFill>
              </a:rPr>
              <a:t>系统可以解决</a:t>
            </a: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100%</a:t>
            </a:r>
            <a:r>
              <a:rPr lang="zh-CN" altLang="en-US">
                <a:solidFill>
                  <a:schemeClr val="tx1"/>
                </a:solidFill>
              </a:rPr>
              <a:t>的</a:t>
            </a:r>
            <a:r>
              <a:rPr lang="en-US" altLang="zh-CN">
                <a:solidFill>
                  <a:schemeClr val="tx1"/>
                </a:solidFill>
              </a:rPr>
              <a:t>问题</a:t>
            </a:r>
            <a:r>
              <a:rPr lang="zh-CN" altLang="en-US">
                <a:solidFill>
                  <a:schemeClr val="tx1"/>
                </a:solidFill>
              </a:rPr>
              <a:t>重新购买可</a:t>
            </a:r>
            <a:r>
              <a:rPr lang="en-US" altLang="zh-CN">
                <a:solidFill>
                  <a:schemeClr val="tx1"/>
                </a:solidFill>
              </a:rPr>
              <a:t>解决</a:t>
            </a: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   C</a:t>
            </a:r>
            <a:r>
              <a:rPr lang="zh-CN" altLang="en-US">
                <a:solidFill>
                  <a:schemeClr val="tx1"/>
                </a:solidFill>
              </a:rPr>
              <a:t>盘</a:t>
            </a:r>
            <a:r>
              <a:rPr lang="en-US" altLang="zh-CN">
                <a:solidFill>
                  <a:schemeClr val="tx1"/>
                </a:solidFill>
              </a:rPr>
              <a:t>空间</a:t>
            </a:r>
            <a:r>
              <a:rPr lang="zh-CN" altLang="en-US">
                <a:solidFill>
                  <a:schemeClr val="tx1"/>
                </a:solidFill>
              </a:rPr>
              <a:t>要大，是</a:t>
            </a:r>
            <a:r>
              <a:rPr lang="en-US" altLang="zh-CN">
                <a:solidFill>
                  <a:schemeClr val="tx1"/>
                </a:solidFill>
              </a:rPr>
              <a:t>干活</a:t>
            </a:r>
            <a:r>
              <a:rPr lang="zh-CN" altLang="en-US">
                <a:solidFill>
                  <a:schemeClr val="tx1"/>
                </a:solidFill>
              </a:rPr>
              <a:t>的地方，</a:t>
            </a:r>
            <a:r>
              <a:rPr lang="en-US" altLang="zh-CN">
                <a:solidFill>
                  <a:schemeClr val="tx1"/>
                </a:solidFill>
              </a:rPr>
              <a:t>推荐256G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固态硬盘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</a:p>
          <a:p>
            <a:r>
              <a:rPr lang="zh-CN" altLang="en-US">
                <a:solidFill>
                  <a:schemeClr val="tx1"/>
                </a:solidFill>
              </a:rPr>
              <a:t>  </a:t>
            </a:r>
            <a:r>
              <a:rPr lang="en-US" altLang="zh-CN">
                <a:solidFill>
                  <a:schemeClr val="tx1"/>
                </a:solidFill>
              </a:rPr>
              <a:t>i5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12</a:t>
            </a:r>
            <a:r>
              <a:rPr lang="zh-CN" altLang="en-US">
                <a:solidFill>
                  <a:schemeClr val="tx1"/>
                </a:solidFill>
              </a:rPr>
              <a:t>代之后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、训龙虾札记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、龙虾体验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、参考文献如何导入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05419" y="2198318"/>
            <a:ext cx="9144000" cy="1915965"/>
          </a:xfrm>
        </p:spPr>
        <p:txBody>
          <a:bodyPr>
            <a:normAutofit/>
          </a:bodyPr>
          <a:lstStyle/>
          <a:p>
            <a:r>
              <a:rPr lang="en-US" altLang="zh-CN" dirty="0" err="1"/>
              <a:t>Opencode</a:t>
            </a:r>
            <a:r>
              <a:rPr lang="en-US" altLang="zh-CN" dirty="0"/>
              <a:t> x Zotero</a:t>
            </a:r>
            <a:endParaRPr lang="zh-CN" altLang="en-US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资源出处：</a:t>
            </a:r>
            <a:r>
              <a:rPr lang="en-US" altLang="zh-CN" dirty="0"/>
              <a:t>GitHub</a:t>
            </a:r>
            <a:r>
              <a:rPr lang="zh-CN" altLang="en-US" dirty="0"/>
              <a:t>让你保持领先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>
                <a:hlinkClick r:id="rId2"/>
              </a:rPr>
              <a:t>OpenClaw</a:t>
            </a:r>
            <a:r>
              <a:rPr lang="en-US" altLang="zh-CN" dirty="0">
                <a:hlinkClick r:id="rId2"/>
              </a:rPr>
              <a:t> — Personal AI Assistant</a:t>
            </a:r>
            <a:endParaRPr lang="en-US" altLang="zh-CN" dirty="0"/>
          </a:p>
          <a:p>
            <a:endParaRPr lang="en-US" altLang="zh-CN" dirty="0"/>
          </a:p>
          <a:p>
            <a:pPr lvl="1"/>
            <a:r>
              <a:rPr lang="en-US" altLang="zh-CN" dirty="0" err="1"/>
              <a:t>iwr</a:t>
            </a:r>
            <a:r>
              <a:rPr lang="en-US" altLang="zh-CN" dirty="0"/>
              <a:t> -</a:t>
            </a:r>
            <a:r>
              <a:rPr lang="en-US" altLang="zh-CN" dirty="0" err="1"/>
              <a:t>useb</a:t>
            </a:r>
            <a:r>
              <a:rPr lang="en-US" altLang="zh-CN" dirty="0"/>
              <a:t> https://openclaw.ai/install.ps1 | </a:t>
            </a:r>
            <a:r>
              <a:rPr lang="en-US" altLang="zh-CN" dirty="0" err="1"/>
              <a:t>iex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这行代码实际的前置条件：</a:t>
            </a:r>
            <a:r>
              <a:rPr lang="en-US" altLang="zh-CN" dirty="0"/>
              <a:t>node.js</a:t>
            </a:r>
            <a:r>
              <a:rPr lang="zh-CN" altLang="en-US" dirty="0"/>
              <a:t>、</a:t>
            </a:r>
            <a:r>
              <a:rPr lang="en-US" altLang="zh-CN"/>
              <a:t> Git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了解终端命令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AI</a:t>
            </a:r>
            <a:r>
              <a:rPr lang="zh-CN" altLang="en-US" dirty="0"/>
              <a:t>的交互本质是</a:t>
            </a:r>
            <a:r>
              <a:rPr lang="en-US" altLang="zh-CN" dirty="0"/>
              <a:t>CLI</a:t>
            </a:r>
            <a:r>
              <a:rPr lang="zh-CN" altLang="en-US" dirty="0"/>
              <a:t>，图形界面是人看的。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请在此处添加标题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多年以前，我曾看到 GitHub 开源项目作者、全栈工程师 TJ Holowaychunk 说过这么一句话：</a:t>
            </a: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"I don't read books, never went to school, I just read other people's code and always wonder how things work"。</a:t>
            </a: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从那时起，我便认为，通过阅读源码，站在前辈的角度上，去思考代码架构与程序逻辑，乃是提升编程技巧最好的方式。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0"/>
            <a:ext cx="10515600" cy="1338606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ea typeface="宋体" charset="-122"/>
              </a:rPr>
              <a:t>四个</a:t>
            </a:r>
            <a:r>
              <a:rPr lang="en-US" altLang="zh-CN" dirty="0" err="1">
                <a:solidFill>
                  <a:schemeClr val="tx1"/>
                </a:solidFill>
                <a:ea typeface="宋体" charset="-122"/>
              </a:rPr>
              <a:t>基本问题</a:t>
            </a:r>
            <a:endParaRPr lang="en-US" altLang="zh-CN" dirty="0">
              <a:solidFill>
                <a:schemeClr val="tx1"/>
              </a:solidFill>
              <a:ea typeface="宋体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98602" y="1475294"/>
            <a:ext cx="10991654" cy="5028873"/>
          </a:xfrm>
        </p:spPr>
        <p:txBody>
          <a:bodyPr>
            <a:normAutofit fontScale="90000" lnSpcReduction="10000"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OpenClaw 🦞本质是什么？ </a:t>
            </a:r>
          </a:p>
          <a:p>
            <a:pPr lvl="1">
              <a:buFont typeface="Wingdings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通过 IM 指挥 claude code</a:t>
            </a:r>
          </a:p>
          <a:p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怎么实现的？ </a:t>
            </a:r>
          </a:p>
          <a:p>
            <a:pPr lvl="1">
              <a:buFont typeface="Wingdings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agent sdk + skills + 定时任务 + im 连接器 + 基于</a:t>
            </a:r>
            <a:r>
              <a:rPr lang="en-US" altLang="zh-CN" dirty="0">
                <a:solidFill>
                  <a:schemeClr val="tx1"/>
                </a:solidFill>
              </a:rPr>
              <a:t>Markdown</a:t>
            </a:r>
            <a:r>
              <a:rPr lang="zh-CN" altLang="en-US" dirty="0">
                <a:solidFill>
                  <a:schemeClr val="tx1"/>
                </a:solidFill>
              </a:rPr>
              <a:t>文档的记忆</a:t>
            </a:r>
          </a:p>
          <a:p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解决了什么问题？ </a:t>
            </a:r>
          </a:p>
          <a:p>
            <a:pPr lvl="1">
              <a:buFont typeface="Wingdings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满足了情绪价值和 AI 厂商 Token 卖不出去的问题</a:t>
            </a:r>
          </a:p>
          <a:p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适合拿来做什么？（</a:t>
            </a:r>
            <a:r>
              <a:rPr lang="zh-CN" altLang="en-US" dirty="0">
                <a:solidFill>
                  <a:schemeClr val="tx1"/>
                </a:solidFill>
                <a:ea typeface="宋体" charset="-122"/>
              </a:rPr>
              <a:t>算力</a:t>
            </a:r>
            <a:r>
              <a:rPr lang="en-US" altLang="zh-CN" dirty="0">
                <a:solidFill>
                  <a:schemeClr val="tx1"/>
                </a:solidFill>
                <a:ea typeface="宋体" charset="-122"/>
              </a:rPr>
              <a:t>token</a:t>
            </a:r>
            <a:r>
              <a:rPr lang="zh-CN" altLang="en-US" dirty="0">
                <a:solidFill>
                  <a:schemeClr val="tx1"/>
                </a:solidFill>
                <a:ea typeface="宋体" charset="-122"/>
              </a:rPr>
              <a:t>、</a:t>
            </a:r>
            <a:r>
              <a:rPr lang="en-US" altLang="zh-CN" dirty="0" err="1">
                <a:solidFill>
                  <a:schemeClr val="tx1"/>
                </a:solidFill>
                <a:ea typeface="宋体" charset="-122"/>
              </a:rPr>
              <a:t>算法</a:t>
            </a:r>
            <a:r>
              <a:rPr lang="zh-CN" altLang="en-US" dirty="0">
                <a:solidFill>
                  <a:schemeClr val="tx1"/>
                </a:solidFill>
                <a:ea typeface="宋体" charset="-122"/>
              </a:rPr>
              <a:t>和数据</a:t>
            </a:r>
            <a:r>
              <a:rPr lang="en-US" altLang="zh-CN" dirty="0" err="1">
                <a:solidFill>
                  <a:schemeClr val="tx1"/>
                </a:solidFill>
                <a:ea typeface="宋体" charset="-122"/>
              </a:rPr>
              <a:t>包括数据</a:t>
            </a:r>
            <a:r>
              <a:rPr lang="zh-CN" altLang="en-US" dirty="0">
                <a:solidFill>
                  <a:schemeClr val="tx1"/>
                </a:solidFill>
                <a:ea typeface="宋体" charset="-122"/>
              </a:rPr>
              <a:t>库或半</a:t>
            </a:r>
            <a:r>
              <a:rPr lang="en-US" altLang="zh-CN" dirty="0" err="1">
                <a:solidFill>
                  <a:schemeClr val="tx1"/>
                </a:solidFill>
                <a:ea typeface="宋体" charset="-122"/>
              </a:rPr>
              <a:t>结构</a:t>
            </a:r>
            <a:r>
              <a:rPr lang="zh-CN" altLang="en-US" dirty="0">
                <a:solidFill>
                  <a:schemeClr val="tx1"/>
                </a:solidFill>
                <a:ea typeface="宋体" charset="-122"/>
              </a:rPr>
              <a:t>化数据）</a:t>
            </a:r>
            <a:r>
              <a:rPr lang="en-US" altLang="zh-CN" dirty="0" err="1">
                <a:solidFill>
                  <a:schemeClr val="tx1"/>
                </a:solidFill>
                <a:ea typeface="宋体" charset="-122"/>
              </a:rPr>
              <a:t>Python底座</a:t>
            </a:r>
            <a:endParaRPr lang="en-US" altLang="zh-CN" dirty="0">
              <a:solidFill>
                <a:schemeClr val="tx1"/>
              </a:solidFill>
              <a:ea typeface="宋体" charset="-122"/>
            </a:endParaRPr>
          </a:p>
          <a:p>
            <a:pPr lvl="1">
              <a:buFont typeface="Wingdings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装逼和赛博念经</a:t>
            </a:r>
          </a:p>
          <a:p>
            <a:pPr lvl="1">
              <a:buFont typeface="Wingdings" charset="2"/>
              <a:buChar char="Ø"/>
            </a:pPr>
            <a:r>
              <a:rPr lang="zh-CN" altLang="en-US" dirty="0">
                <a:solidFill>
                  <a:schemeClr val="tx1"/>
                </a:solidFill>
              </a:rPr>
              <a:t>龙虾帮约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87" y="0"/>
            <a:ext cx="10931625" cy="6858000"/>
          </a:xfrm>
          <a:prstGeom prst="rect">
            <a:avLst/>
          </a:prstGeom>
        </p:spPr>
      </p:pic>
      <p:sp>
        <p:nvSpPr>
          <p:cNvPr id="6" name="矩形: 圆角 5"/>
          <p:cNvSpPr/>
          <p:nvPr/>
        </p:nvSpPr>
        <p:spPr>
          <a:xfrm>
            <a:off x="8644839" y="2191732"/>
            <a:ext cx="2629619" cy="88140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配置：文件让</a:t>
            </a:r>
            <a:r>
              <a:rPr lang="en-US" altLang="zh-CN" dirty="0"/>
              <a:t>AI</a:t>
            </a:r>
            <a:r>
              <a:rPr lang="zh-CN" altLang="en-US" dirty="0"/>
              <a:t>帮你搞定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示例</a:t>
            </a:r>
            <a:r>
              <a:rPr lang="zh-CN" altLang="en-US" dirty="0"/>
              <a:t>：</a:t>
            </a:r>
            <a:r>
              <a:rPr lang="en-US" altLang="zh-CN" dirty="0"/>
              <a:t>"C:\Users\NUC\.openclaw\openclaw.json“</a:t>
            </a:r>
          </a:p>
          <a:p>
            <a:endParaRPr lang="en-US" altLang="zh-CN" dirty="0"/>
          </a:p>
          <a:p>
            <a:r>
              <a:rPr lang="zh-CN" altLang="en-US" dirty="0"/>
              <a:t>用记事本打开修改报错的内容，人不要动，</a:t>
            </a:r>
            <a:r>
              <a:rPr lang="en-US" altLang="zh-CN" dirty="0"/>
              <a:t>AI</a:t>
            </a:r>
            <a:r>
              <a:rPr lang="zh-CN" altLang="en-US" dirty="0"/>
              <a:t>来改。</a:t>
            </a:r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你自己做配置，可以省好多钱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脚本复制到</a:t>
            </a:r>
            <a:r>
              <a:rPr lang="en-US" altLang="zh-CN" dirty="0"/>
              <a:t>AI</a:t>
            </a:r>
            <a:r>
              <a:rPr lang="zh-CN" altLang="en-US" dirty="0"/>
              <a:t>，如</a:t>
            </a:r>
            <a:r>
              <a:rPr lang="en-US" altLang="zh-CN" dirty="0" err="1"/>
              <a:t>DeepSeek</a:t>
            </a:r>
            <a:r>
              <a:rPr lang="zh-CN" altLang="en-US" dirty="0"/>
              <a:t>，告诉修改要求，改完复制回来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主要是上下文设置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2995"/>
            <a:ext cx="10515600" cy="923826"/>
          </a:xfrm>
        </p:spPr>
        <p:txBody>
          <a:bodyPr/>
          <a:lstStyle/>
          <a:p>
            <a:r>
              <a:rPr lang="zh-CN" altLang="en-US" dirty="0"/>
              <a:t>技能包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3347" y="1073366"/>
            <a:ext cx="7558364" cy="5784633"/>
          </a:xfrm>
        </p:spPr>
      </p:pic>
      <p:sp>
        <p:nvSpPr>
          <p:cNvPr id="3" name="矩形: 圆角 2"/>
          <p:cNvSpPr/>
          <p:nvPr/>
        </p:nvSpPr>
        <p:spPr>
          <a:xfrm>
            <a:off x="4949072" y="4920792"/>
            <a:ext cx="3124986" cy="37235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053"/>
            <a:ext cx="12192000" cy="6767893"/>
          </a:xfrm>
          <a:prstGeom prst="rect">
            <a:avLst/>
          </a:prstGeom>
        </p:spPr>
      </p:pic>
      <p:sp>
        <p:nvSpPr>
          <p:cNvPr id="6" name="矩形: 圆角 5"/>
          <p:cNvSpPr/>
          <p:nvPr/>
        </p:nvSpPr>
        <p:spPr>
          <a:xfrm>
            <a:off x="4369324" y="2606511"/>
            <a:ext cx="3124986" cy="37235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7872953" y="3600491"/>
            <a:ext cx="3124986" cy="37235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4369324" y="4106944"/>
            <a:ext cx="3124986" cy="37235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505905" y="3600491"/>
            <a:ext cx="3505199" cy="4008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/>
        </p:nvSpPr>
        <p:spPr>
          <a:xfrm>
            <a:off x="528686" y="4620705"/>
            <a:ext cx="3124986" cy="37235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2" y="0"/>
            <a:ext cx="10942395" cy="6858000"/>
          </a:xfrm>
          <a:prstGeom prst="rect">
            <a:avLst/>
          </a:prstGeom>
        </p:spPr>
      </p:pic>
      <p:sp>
        <p:nvSpPr>
          <p:cNvPr id="6" name="矩形: 圆角 5"/>
          <p:cNvSpPr/>
          <p:nvPr/>
        </p:nvSpPr>
        <p:spPr>
          <a:xfrm>
            <a:off x="8620812" y="2111605"/>
            <a:ext cx="2732988" cy="9662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Zotero+Opencode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超级个体</a:t>
            </a:r>
          </a:p>
          <a:p>
            <a:endParaRPr lang="zh-CN" altLang="en-US" dirty="0"/>
          </a:p>
          <a:p>
            <a:r>
              <a:rPr lang="en-US" altLang="zh-CN" dirty="0"/>
              <a:t>早期智能体</a:t>
            </a:r>
            <a:r>
              <a:rPr lang="zh-CN" altLang="en-US" dirty="0">
                <a:ea typeface="宋体" charset="-122"/>
              </a:rPr>
              <a:t>：</a:t>
            </a:r>
            <a:r>
              <a:rPr lang="en-US" altLang="zh-CN" dirty="0"/>
              <a:t>程序</a:t>
            </a:r>
            <a:r>
              <a:rPr lang="zh-CN" altLang="en-US" dirty="0">
                <a:ea typeface="宋体" charset="-122"/>
              </a:rPr>
              <a:t>让</a:t>
            </a:r>
            <a:r>
              <a:rPr lang="en-US" altLang="zh-CN" dirty="0">
                <a:ea typeface="宋体" charset="-122"/>
              </a:rPr>
              <a:t>AI页面</a:t>
            </a:r>
            <a:r>
              <a:rPr lang="zh-CN" altLang="en-US" dirty="0">
                <a:ea typeface="宋体" charset="-122"/>
              </a:rPr>
              <a:t>先写，</a:t>
            </a:r>
            <a:r>
              <a:rPr lang="en-US" altLang="zh-CN" dirty="0" err="1">
                <a:ea typeface="宋体" charset="-122"/>
              </a:rPr>
              <a:t>工作区</a:t>
            </a:r>
            <a:r>
              <a:rPr lang="zh-CN" altLang="en-US" dirty="0">
                <a:ea typeface="宋体" charset="-122"/>
              </a:rPr>
              <a:t>让智能体跑</a:t>
            </a:r>
          </a:p>
          <a:p>
            <a:endParaRPr lang="zh-CN" altLang="en-US" dirty="0">
              <a:ea typeface="宋体" charset="-122"/>
            </a:endParaRPr>
          </a:p>
          <a:p>
            <a:r>
              <a:rPr lang="en-US" altLang="zh-CN" dirty="0">
                <a:ea typeface="宋体" charset="-122"/>
              </a:rPr>
              <a:t>分步实施</a:t>
            </a:r>
            <a:r>
              <a:rPr lang="zh-CN" altLang="en-US" dirty="0">
                <a:ea typeface="宋体" charset="-122"/>
              </a:rPr>
              <a:t>：</a:t>
            </a:r>
            <a:r>
              <a:rPr lang="en-US" altLang="zh-CN" dirty="0">
                <a:ea typeface="宋体" charset="-122"/>
              </a:rPr>
              <a:t>搜索</a:t>
            </a:r>
            <a:r>
              <a:rPr lang="zh-CN" altLang="en-US" dirty="0">
                <a:ea typeface="宋体" charset="-122"/>
              </a:rPr>
              <a:t>、</a:t>
            </a:r>
            <a:r>
              <a:rPr lang="en-US" altLang="zh-CN" dirty="0">
                <a:ea typeface="宋体" charset="-122"/>
              </a:rPr>
              <a:t>大纲</a:t>
            </a:r>
            <a:r>
              <a:rPr lang="zh-CN" altLang="en-US" dirty="0">
                <a:ea typeface="宋体" charset="-122"/>
              </a:rPr>
              <a:t>、</a:t>
            </a:r>
            <a:r>
              <a:rPr lang="en-US" altLang="zh-CN" dirty="0">
                <a:ea typeface="宋体" charset="-122"/>
              </a:rPr>
              <a:t>写作包括图表功能</a:t>
            </a:r>
            <a:r>
              <a:rPr lang="zh-CN" altLang="en-US" dirty="0">
                <a:ea typeface="宋体" charset="-122"/>
              </a:rPr>
              <a:t>和</a:t>
            </a:r>
            <a:r>
              <a:rPr lang="en-US" altLang="zh-CN" dirty="0">
                <a:ea typeface="宋体" charset="-122"/>
              </a:rPr>
              <a:t>参考文献</a:t>
            </a:r>
          </a:p>
          <a:p>
            <a:endParaRPr lang="en-US" altLang="zh-CN" dirty="0">
              <a:ea typeface="宋体" charset="-122"/>
            </a:endParaRPr>
          </a:p>
          <a:p>
            <a:r>
              <a:rPr lang="en-US" altLang="zh-CN" dirty="0">
                <a:ea typeface="宋体" charset="-122"/>
              </a:rPr>
              <a:t>数据分析</a:t>
            </a:r>
            <a:r>
              <a:rPr lang="zh-CN" altLang="en-US" dirty="0">
                <a:ea typeface="宋体" charset="-122"/>
              </a:rPr>
              <a:t>和</a:t>
            </a:r>
            <a:r>
              <a:rPr lang="en-US" altLang="zh-CN" dirty="0">
                <a:ea typeface="宋体" charset="-122"/>
              </a:rPr>
              <a:t>可视</a:t>
            </a:r>
            <a:r>
              <a:rPr lang="zh-CN" altLang="en-US" dirty="0">
                <a:ea typeface="宋体" charset="-122"/>
              </a:rPr>
              <a:t>化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16" y="0"/>
            <a:ext cx="1087276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272" y="0"/>
            <a:ext cx="82434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2210"/>
            <a:ext cx="12192000" cy="5293579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659" y="0"/>
            <a:ext cx="988868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266" y="0"/>
            <a:ext cx="747546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Zotero</a:t>
            </a:r>
            <a:r>
              <a:rPr lang="zh-CN" altLang="en-US" dirty="0"/>
              <a:t>：人工建库有价值？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能不能做？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AI</a:t>
            </a:r>
            <a:r>
              <a:rPr lang="zh-CN" altLang="en-US" dirty="0"/>
              <a:t>的价格能否接受？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人类智能方向感更好？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参考文献解析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提示词：生成</a:t>
            </a:r>
            <a:r>
              <a:rPr lang="en-US" altLang="zh-CN" dirty="0" err="1"/>
              <a:t>BibTex</a:t>
            </a:r>
            <a:r>
              <a:rPr lang="zh-CN" altLang="en-US" dirty="0"/>
              <a:t>。也可以让每篇文献</a:t>
            </a:r>
            <a:r>
              <a:rPr lang="en-US" altLang="zh-CN" dirty="0"/>
              <a:t>AI</a:t>
            </a:r>
            <a:r>
              <a:rPr lang="zh-CN" altLang="en-US" dirty="0"/>
              <a:t>换行，不使用</a:t>
            </a:r>
            <a:r>
              <a:rPr lang="en-US" altLang="zh-CN" dirty="0"/>
              <a:t>Markdown</a:t>
            </a:r>
            <a:r>
              <a:rPr lang="zh-CN" altLang="en-US" dirty="0"/>
              <a:t>格式，再用</a:t>
            </a:r>
            <a:r>
              <a:rPr lang="en-US" altLang="zh-CN" dirty="0" err="1"/>
              <a:t>AnyStyle</a:t>
            </a:r>
            <a:r>
              <a:rPr lang="zh-CN" altLang="en-US" dirty="0"/>
              <a:t>转</a:t>
            </a:r>
            <a:r>
              <a:rPr lang="en-US" altLang="zh-CN" dirty="0" err="1"/>
              <a:t>BibTex</a:t>
            </a:r>
            <a:r>
              <a:rPr lang="zh-CN" altLang="en-US" dirty="0"/>
              <a:t>。当然</a:t>
            </a:r>
            <a:r>
              <a:rPr lang="en-US" altLang="zh-CN" dirty="0"/>
              <a:t>RIS</a:t>
            </a:r>
            <a:r>
              <a:rPr lang="zh-CN" altLang="en-US" dirty="0"/>
              <a:t>格式更好些。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61" y="0"/>
            <a:ext cx="114264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1673268" cy="5954256"/>
          </a:xfrm>
        </p:spPr>
        <p:txBody>
          <a:bodyPr/>
          <a:lstStyle/>
          <a:p>
            <a:r>
              <a:rPr lang="en-US" altLang="zh-CN" dirty="0"/>
              <a:t>https://anystyle.io</a:t>
            </a:r>
            <a:endParaRPr lang="zh-CN" alt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4527" y="-24172"/>
            <a:ext cx="3695178" cy="6811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实操四：内容备份同步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文件命名形式影响索引，年份命名最实用</a:t>
            </a:r>
            <a:endParaRPr lang="en-US" altLang="zh-CN" dirty="0"/>
          </a:p>
          <a:p>
            <a:r>
              <a:rPr lang="zh-CN" altLang="en-US" dirty="0"/>
              <a:t>因为需要同步文件，自动命名的文件是唯一标识符。</a:t>
            </a:r>
            <a:endParaRPr lang="en-US" altLang="zh-CN" dirty="0"/>
          </a:p>
          <a:p>
            <a:pPr lvl="1"/>
            <a:r>
              <a:rPr lang="zh-CN" altLang="en-US" dirty="0"/>
              <a:t>这些字符串看起来像是文件或者数据的唯一标识符（或者是</a:t>
            </a:r>
            <a:r>
              <a:rPr lang="en-US" altLang="zh-CN" dirty="0"/>
              <a:t>GUID</a:t>
            </a:r>
            <a:r>
              <a:rPr lang="zh-CN" altLang="en-US" dirty="0"/>
              <a:t>）。通常情况下，随机字符串或者类似上述字符串的格式是为了确保数据的唯一性，避免重复或者冲突。这种情况下，这些字符串可能是根据某种算法生成的，如使用时间戳、随机数或者特定算法等。需要注意的是，这种命名方式并不依赖于任何有意义的或有规律可循的信息，而是纯粹为了保证唯一性。</a:t>
            </a:r>
            <a:endParaRPr lang="en-US" altLang="zh-CN" dirty="0"/>
          </a:p>
          <a:p>
            <a:r>
              <a:rPr lang="zh-CN" altLang="en-US" dirty="0"/>
              <a:t>通过插件实现备份</a:t>
            </a:r>
            <a:endParaRPr lang="en-US" altLang="zh-CN" dirty="0"/>
          </a:p>
          <a:p>
            <a:pPr lvl="1"/>
            <a:r>
              <a:rPr lang="zh-CN" altLang="en-US" dirty="0"/>
              <a:t>对象类型→期刊名称→年份</a:t>
            </a:r>
            <a:r>
              <a:rPr lang="en-US" altLang="zh-CN" dirty="0"/>
              <a:t>_</a:t>
            </a:r>
            <a:r>
              <a:rPr lang="zh-CN" altLang="en-US" dirty="0"/>
              <a:t>作者</a:t>
            </a:r>
            <a:r>
              <a:rPr lang="en-US" altLang="zh-CN" dirty="0"/>
              <a:t>_</a:t>
            </a:r>
            <a:r>
              <a:rPr lang="zh-CN" altLang="en-US" dirty="0"/>
              <a:t>标题</a:t>
            </a:r>
            <a:r>
              <a:rPr lang="en-US" altLang="zh-CN" dirty="0"/>
              <a:t>.PDF</a:t>
            </a:r>
            <a:endParaRPr lang="zh-CN" altLang="en-US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备份功能：导出分类</a:t>
            </a:r>
          </a:p>
        </p:txBody>
      </p:sp>
      <p:pic>
        <p:nvPicPr>
          <p:cNvPr id="9" name="内容占位符 8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15441" y="1420506"/>
            <a:ext cx="3832964" cy="5436978"/>
          </a:xfrm>
        </p:spPr>
      </p:pic>
      <p:pic>
        <p:nvPicPr>
          <p:cNvPr id="7" name="内容占位符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229990" y="2480153"/>
            <a:ext cx="3247854" cy="2880987"/>
          </a:xfr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复制备份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955480"/>
            <a:ext cx="10515600" cy="2091627"/>
          </a:xfr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Zotero</a:t>
            </a:r>
            <a:r>
              <a:rPr lang="zh-CN" altLang="en-US" dirty="0"/>
              <a:t>的盈利功能：</a:t>
            </a:r>
            <a:br>
              <a:rPr lang="en-US" altLang="zh-CN" dirty="0"/>
            </a:br>
            <a:r>
              <a:rPr lang="zh-CN" altLang="en-US" dirty="0"/>
              <a:t>云同步功能（</a:t>
            </a:r>
            <a:r>
              <a:rPr lang="en-US" altLang="zh-CN" dirty="0"/>
              <a:t>Zotero</a:t>
            </a:r>
            <a:r>
              <a:rPr lang="zh-CN" altLang="en-US" dirty="0"/>
              <a:t>帐号先注册上）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200" y="2060531"/>
            <a:ext cx="10515600" cy="4116431"/>
          </a:xfrm>
        </p:spPr>
        <p:txBody>
          <a:bodyPr/>
          <a:lstStyle/>
          <a:p>
            <a:r>
              <a:rPr lang="en-US" altLang="zh-CN" dirty="0" err="1">
                <a:hlinkClick r:id="rId2"/>
              </a:rPr>
              <a:t>Zotero|InfiniCLOUD</a:t>
            </a:r>
            <a:r>
              <a:rPr lang="en-US" altLang="zh-CN" dirty="0">
                <a:hlinkClick r:id="rId2"/>
              </a:rPr>
              <a:t> | All-In-One Cloud Storage | Get 20GB Free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第三方</a:t>
            </a:r>
            <a:r>
              <a:rPr lang="zh-CN" altLang="en-US" sz="2800" dirty="0"/>
              <a:t>云同步可以在数据库完成后再来设置（</a:t>
            </a:r>
            <a:r>
              <a:rPr lang="en-US" altLang="zh-CN" sz="2800" dirty="0"/>
              <a:t>20G</a:t>
            </a:r>
            <a:r>
              <a:rPr lang="zh-CN" altLang="en-US" sz="2800" dirty="0"/>
              <a:t>）。</a:t>
            </a:r>
            <a:endParaRPr lang="en-US" altLang="zh-CN" sz="2800" dirty="0"/>
          </a:p>
          <a:p>
            <a:endParaRPr lang="en-US" altLang="zh-CN" dirty="0"/>
          </a:p>
          <a:p>
            <a:r>
              <a:rPr lang="zh-CN" altLang="en-US" dirty="0"/>
              <a:t>电子书、手机、多台电脑均可同步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云端其实有一份数据：浏览器演示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09" y="0"/>
            <a:ext cx="1137398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步骤 </a:t>
            </a:r>
            <a:r>
              <a:rPr lang="en-US" altLang="zh-CN" b="1" dirty="0"/>
              <a:t>1</a:t>
            </a:r>
            <a:r>
              <a:rPr lang="zh-CN" altLang="en-US" b="1" dirty="0"/>
              <a:t>：准备 </a:t>
            </a:r>
            <a:r>
              <a:rPr lang="en-US" altLang="zh-CN" b="1" dirty="0"/>
              <a:t>WebDAV </a:t>
            </a:r>
            <a:r>
              <a:rPr lang="zh-CN" altLang="en-US" b="1" dirty="0"/>
              <a:t>服务</a:t>
            </a:r>
            <a:endParaRPr lang="zh-CN" altLang="en-US" dirty="0"/>
          </a:p>
        </p:txBody>
      </p:sp>
      <p:sp>
        <p:nvSpPr>
          <p:cNvPr id="4" name="Rectangle 1"/>
          <p:cNvSpPr>
            <a:spLocks noGrp="1"/>
          </p:cNvSpPr>
          <p:nvPr>
            <p:ph idx="1"/>
          </p:nvPr>
        </p:nvSpPr>
        <p:spPr bwMode="auto">
          <a:xfrm>
            <a:off x="331088" y="2451138"/>
            <a:ext cx="1152982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确保你有一个可用的 WebDAV 服务，并获取以下信息：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WebDAV 地址</a:t>
            </a:r>
            <a:r>
              <a:rPr kumimoji="0" lang="zh-CN" altLang="zh-CN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（如坚果云：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https://dav.jianguoyun.com/dav/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）</a:t>
            </a:r>
            <a:endParaRPr kumimoji="0" lang="zh-CN" altLang="zh-CN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用户名</a:t>
            </a:r>
            <a:r>
              <a:rPr kumimoji="0" lang="zh-CN" altLang="zh-CN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（通常是注册邮箱）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密码</a:t>
            </a:r>
            <a:r>
              <a:rPr kumimoji="0" lang="zh-CN" altLang="zh-CN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（或应用密码，如坚果云需单独生成）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常见 </a:t>
            </a:r>
            <a:r>
              <a:rPr lang="en-US" altLang="zh-CN" b="1" dirty="0"/>
              <a:t>WebDAV </a:t>
            </a:r>
            <a:r>
              <a:rPr lang="zh-CN" altLang="en-US" b="1" dirty="0"/>
              <a:t>服务：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</a:pPr>
            <a:r>
              <a:rPr lang="zh-CN" altLang="en-US" b="1" dirty="0"/>
              <a:t>坚果云</a:t>
            </a:r>
            <a:r>
              <a:rPr lang="zh-CN" altLang="en-US" dirty="0"/>
              <a:t>（免费，推荐国内用户）需在「账户信息」→「安全选项」中生成「第三方应用密码」。</a:t>
            </a:r>
          </a:p>
          <a:p>
            <a:pPr>
              <a:buFont typeface="Arial" charset="0"/>
              <a:buChar char="•"/>
            </a:pPr>
            <a:r>
              <a:rPr lang="en-US" altLang="zh-CN" b="1" dirty="0" err="1">
                <a:solidFill>
                  <a:srgbClr val="000000"/>
                </a:solidFill>
                <a:effectLst/>
              </a:rPr>
              <a:t>InfiniCLOUD</a:t>
            </a:r>
            <a:r>
              <a:rPr lang="zh-CN" altLang="en-US" dirty="0">
                <a:solidFill>
                  <a:srgbClr val="000000"/>
                </a:solidFill>
                <a:effectLst/>
              </a:rPr>
              <a:t>（本人推荐）</a:t>
            </a:r>
            <a:endParaRPr lang="zh-CN" altLang="en-US" dirty="0"/>
          </a:p>
          <a:p>
            <a:pPr>
              <a:buFont typeface="Arial" charset="0"/>
              <a:buChar char="•"/>
            </a:pPr>
            <a:r>
              <a:rPr lang="en-US" altLang="zh-CN" b="1" dirty="0" err="1"/>
              <a:t>Nextcloud</a:t>
            </a:r>
            <a:r>
              <a:rPr lang="en-US" altLang="zh-CN" b="1" dirty="0"/>
              <a:t>/</a:t>
            </a:r>
            <a:r>
              <a:rPr lang="en-US" altLang="zh-CN" b="1" dirty="0" err="1"/>
              <a:t>ownCloud</a:t>
            </a:r>
            <a:r>
              <a:rPr lang="zh-CN" altLang="en-US" dirty="0"/>
              <a:t>（自建服务器）</a:t>
            </a:r>
          </a:p>
          <a:p>
            <a:pPr>
              <a:buFont typeface="Arial" charset="0"/>
              <a:buChar char="•"/>
            </a:pPr>
            <a:r>
              <a:rPr lang="en-US" altLang="zh-CN" b="1" dirty="0"/>
              <a:t>Box/Dropbox</a:t>
            </a:r>
            <a:r>
              <a:rPr lang="zh-CN" altLang="en-US" dirty="0"/>
              <a:t>（需通过第三方工具支持 </a:t>
            </a:r>
            <a:r>
              <a:rPr lang="en-US" altLang="zh-CN" dirty="0"/>
              <a:t>WebDAV</a:t>
            </a:r>
            <a:r>
              <a:rPr lang="zh-CN" altLang="en-US" dirty="0"/>
              <a:t>）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6367"/>
            <a:ext cx="10515600" cy="1064713"/>
          </a:xfrm>
        </p:spPr>
        <p:txBody>
          <a:bodyPr/>
          <a:lstStyle/>
          <a:p>
            <a:r>
              <a:rPr lang="zh-CN" altLang="en-US" b="1" dirty="0"/>
              <a:t>步骤 </a:t>
            </a:r>
            <a:r>
              <a:rPr lang="en-US" altLang="zh-CN" b="1" dirty="0"/>
              <a:t>2</a:t>
            </a:r>
            <a:r>
              <a:rPr lang="zh-CN" altLang="en-US" b="1" dirty="0"/>
              <a:t>：设置 </a:t>
            </a:r>
            <a:r>
              <a:rPr lang="en-US" altLang="zh-CN" b="1" dirty="0"/>
              <a:t>WebDAV </a:t>
            </a:r>
            <a:r>
              <a:rPr lang="zh-CN" altLang="en-US" b="1" dirty="0"/>
              <a:t>同步</a:t>
            </a:r>
            <a:endParaRPr lang="zh-CN" altLang="en-US" dirty="0"/>
          </a:p>
        </p:txBody>
      </p:sp>
      <p:sp>
        <p:nvSpPr>
          <p:cNvPr id="4" name="Rectangle 1"/>
          <p:cNvSpPr>
            <a:spLocks noGrp="1"/>
          </p:cNvSpPr>
          <p:nvPr>
            <p:ph idx="1"/>
          </p:nvPr>
        </p:nvSpPr>
        <p:spPr bwMode="auto">
          <a:xfrm>
            <a:off x="400833" y="1000476"/>
            <a:ext cx="11442525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打开 Zotero 首选项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Windows/Linux：顶部菜单栏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工具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设置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。</a:t>
            </a:r>
            <a:endParaRPr kumimoji="0" lang="zh-CN" altLang="zh-CN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macOS：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Zotero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Preferences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。</a:t>
            </a:r>
            <a:endParaRPr kumimoji="0" lang="zh-CN" altLang="zh-CN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设置同步账户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切换到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同步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标签页。</a:t>
            </a:r>
            <a:endParaRPr kumimoji="0" lang="zh-CN" altLang="zh-CN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在「账号」栏输入你的 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Zotero 账号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（没有需先注册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hlinkClick r:id="rId2"/>
              </a:rPr>
              <a:t>官网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）。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勾选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同步文献库中的内容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。</a:t>
            </a:r>
            <a:endParaRPr kumimoji="0" lang="zh-CN" altLang="zh-CN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配置 WebDAV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取消勾选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使用 Zotero 服务器存储附件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（否则附件会存到 Zotero 的免费空间，限制 300MB）。</a:t>
            </a:r>
            <a:endParaRPr kumimoji="0" lang="zh-CN" altLang="zh-CN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勾选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自定义 WebDAV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，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填写以下信息：</a:t>
            </a:r>
            <a:endParaRPr kumimoji="0" lang="zh-CN" altLang="zh-CN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服务器地址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：你的 WebDAV URL（如坚果云：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https://dav.jianguoyun.com/dav/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）。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用户名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：WebDAV 服务的账号（如坚果云邮箱）。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密码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：WebDAV 密码（坚果云需用「第三方应用密码」）。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点击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验证服务器</a:t>
            </a: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，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确认提示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成功</a:t>
            </a: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。</a:t>
            </a:r>
            <a:endParaRPr kumimoji="0" lang="zh-CN" altLang="zh-CN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完成设置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点击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确定</a:t>
            </a: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保存设置。</a:t>
            </a:r>
            <a:endParaRPr kumimoji="0" lang="zh-CN" altLang="zh-CN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手动触发同步：点击右上角绿色同步图标（或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工具</a:t>
            </a: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同步文献库</a:t>
            </a: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）。</a:t>
            </a:r>
            <a:endParaRPr kumimoji="0" lang="zh-CN" altLang="zh-CN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步骤 </a:t>
            </a:r>
            <a:r>
              <a:rPr lang="en-US" altLang="zh-CN" b="1" dirty="0"/>
              <a:t>3</a:t>
            </a:r>
            <a:r>
              <a:rPr lang="zh-CN" altLang="en-US" b="1" dirty="0"/>
              <a:t>：验证同步</a:t>
            </a:r>
            <a:endParaRPr lang="zh-CN" altLang="en-US" dirty="0"/>
          </a:p>
        </p:txBody>
      </p:sp>
      <p:sp>
        <p:nvSpPr>
          <p:cNvPr id="5" name="Rectangle 2"/>
          <p:cNvSpPr>
            <a:spLocks noGrp="1"/>
          </p:cNvSpPr>
          <p:nvPr>
            <p:ph idx="1"/>
          </p:nvPr>
        </p:nvSpPr>
        <p:spPr bwMode="auto">
          <a:xfrm>
            <a:off x="118851" y="2448987"/>
            <a:ext cx="11954298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检查附件存储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在 Zotero 中右键任意文献，选择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查看附件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打开文件位置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。</a:t>
            </a:r>
            <a:endParaRPr kumimoji="0" lang="zh-CN" altLang="zh-CN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确认附件保存在本地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Zotero/storage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文件夹中，且文件名是随机字符串（WebDAV 同步成功后会同步此目录）</a:t>
            </a: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。</a:t>
            </a:r>
            <a:endParaRPr kumimoji="0" lang="zh-CN" altLang="zh-CN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观察同步状态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首次同步可能需要较长时间（尤其是附件较多时）。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同步完成后，在其他设备登录同一 Zotero 账号并配置相同的 WebDAV，即可自动同步文献和附件。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常见问题解决</a:t>
            </a:r>
            <a:endParaRPr lang="zh-CN" altLang="en-US" dirty="0"/>
          </a:p>
        </p:txBody>
      </p:sp>
      <p:sp>
        <p:nvSpPr>
          <p:cNvPr id="4" name="Rectangle 1"/>
          <p:cNvSpPr>
            <a:spLocks noGrp="1"/>
          </p:cNvSpPr>
          <p:nvPr>
            <p:ph idx="1"/>
          </p:nvPr>
        </p:nvSpPr>
        <p:spPr bwMode="auto">
          <a:xfrm>
            <a:off x="838200" y="1739138"/>
            <a:ext cx="1047158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提示“WebDAV 验证失败”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检查地址是否以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/dav/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结尾（如坚果云必须包含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/dav/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）。</a:t>
            </a:r>
            <a:endParaRPr kumimoji="0" lang="zh-CN" altLang="zh-CN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确认密码是否正确（坚果云需用「第三方应用密码」而非账号密码）。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尝试在浏览器中直接访问 WebDAV 地址，输入账号密码确认能否登录。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附件未同步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确保未勾选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使用 Zotero 服务器存储附件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。</a:t>
            </a:r>
            <a:endParaRPr kumimoji="0" lang="zh-CN" altLang="zh-CN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手动重置同步：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高级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设置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重置同步数据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。</a:t>
            </a:r>
            <a:endParaRPr kumimoji="0" lang="zh-CN" altLang="zh-CN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同步速度慢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WebDAV 服务器在国内推荐坚果云，海外可用 Nextcloud。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大附件建议通过 Zotero 的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分组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功能分批同步。</a:t>
            </a:r>
            <a:endParaRPr kumimoji="0" lang="zh-CN" altLang="zh-CN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备份建议</a:t>
            </a:r>
            <a:endParaRPr lang="zh-CN" altLang="en-US" dirty="0"/>
          </a:p>
        </p:txBody>
      </p:sp>
      <p:sp>
        <p:nvSpPr>
          <p:cNvPr id="4" name="Rectangle 1"/>
          <p:cNvSpPr>
            <a:spLocks noGrp="1"/>
          </p:cNvSpPr>
          <p:nvPr>
            <p:ph idx="1"/>
          </p:nvPr>
        </p:nvSpPr>
        <p:spPr bwMode="auto">
          <a:xfrm>
            <a:off x="231061" y="2017298"/>
            <a:ext cx="11729878" cy="2590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双重备份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：定期导出 Zotero 库为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Zotero RDF</a:t>
            </a: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文件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（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文件</a:t>
            </a: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导出文献库</a:t>
            </a: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）。</a:t>
            </a:r>
            <a:endParaRPr kumimoji="0" lang="zh-CN" altLang="zh-CN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坚果云同步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：直接将 Zotero 本地文件夹（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Zotero/storage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）放入坚果云同步目录，作为额外备份。</a:t>
            </a:r>
            <a:endParaRPr kumimoji="0" lang="zh-CN" altLang="zh-CN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通过以上设置，你的文献库和附件将自动通过 WebDAV 同步，避免依赖 Zotero 官方的有限存储空间。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万一出问题可恢复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数据库文件自动生成了备份文献</a:t>
            </a:r>
            <a:endParaRPr lang="en-US" altLang="zh-CN" dirty="0"/>
          </a:p>
          <a:p>
            <a:r>
              <a:rPr lang="zh-CN" altLang="en-US" dirty="0"/>
              <a:t>整个</a:t>
            </a:r>
            <a:r>
              <a:rPr lang="en-US" altLang="zh-CN" dirty="0"/>
              <a:t>Zotero</a:t>
            </a:r>
            <a:r>
              <a:rPr lang="zh-CN" altLang="en-US" dirty="0"/>
              <a:t>文件也可以完整拷贝使用</a:t>
            </a:r>
            <a:endParaRPr lang="en-US" altLang="zh-CN" dirty="0"/>
          </a:p>
          <a:p>
            <a:r>
              <a:rPr lang="zh-CN" altLang="en-US" dirty="0"/>
              <a:t>不同的设备之间不用云，其实这个更方便</a:t>
            </a:r>
            <a:endParaRPr lang="en-US" altLang="zh-CN" dirty="0"/>
          </a:p>
          <a:p>
            <a:r>
              <a:rPr lang="zh-CN" altLang="en-US" dirty="0"/>
              <a:t>云同步的时候也可以重设，一定要注意是谁覆盖谁，</a:t>
            </a:r>
            <a:r>
              <a:rPr lang="en-US" altLang="zh-CN" dirty="0"/>
              <a:t>A</a:t>
            </a:r>
            <a:r>
              <a:rPr lang="zh-CN" altLang="en-US" dirty="0"/>
              <a:t>到</a:t>
            </a:r>
            <a:r>
              <a:rPr lang="en-US" altLang="zh-CN" dirty="0"/>
              <a:t>B</a:t>
            </a:r>
            <a:r>
              <a:rPr lang="zh-CN" altLang="en-US" dirty="0"/>
              <a:t>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这软件可谓考虑非常周到了。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最后检查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云端的检查</a:t>
            </a:r>
            <a:endParaRPr lang="en-US" altLang="zh-CN" dirty="0"/>
          </a:p>
          <a:p>
            <a:r>
              <a:rPr lang="zh-CN" altLang="en-US" dirty="0"/>
              <a:t>本地的检索</a:t>
            </a:r>
            <a:endParaRPr lang="en-US" altLang="zh-CN" dirty="0"/>
          </a:p>
          <a:p>
            <a:r>
              <a:rPr lang="zh-CN" altLang="en-US" dirty="0"/>
              <a:t>文件夹的存放</a:t>
            </a:r>
            <a:endParaRPr lang="en-US" altLang="zh-CN" dirty="0"/>
          </a:p>
          <a:p>
            <a:pPr lvl="1"/>
            <a:r>
              <a:rPr lang="zh-CN" altLang="en-US" dirty="0"/>
              <a:t>文献类型</a:t>
            </a:r>
            <a:r>
              <a:rPr lang="en-US" altLang="zh-CN" dirty="0"/>
              <a:t>/</a:t>
            </a:r>
            <a:r>
              <a:rPr lang="zh-CN" altLang="en-US" dirty="0"/>
              <a:t>期刊名</a:t>
            </a:r>
            <a:r>
              <a:rPr lang="en-US" altLang="zh-CN" dirty="0"/>
              <a:t>/</a:t>
            </a:r>
            <a:r>
              <a:rPr lang="zh-CN" altLang="en-US" dirty="0"/>
              <a:t>文件名：年份</a:t>
            </a:r>
            <a:r>
              <a:rPr lang="en-US" altLang="zh-CN" dirty="0"/>
              <a:t>+</a:t>
            </a:r>
            <a:r>
              <a:rPr lang="zh-CN" altLang="en-US" dirty="0"/>
              <a:t>作者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所有的事情看你的电脑性能，不然的话时间还是很长的，就是数据的拷贝过程。</a:t>
            </a:r>
            <a:endParaRPr lang="en-US" altLang="zh-CN" dirty="0"/>
          </a:p>
          <a:p>
            <a:pPr lvl="1"/>
            <a:r>
              <a:rPr lang="zh-CN" altLang="en-US" dirty="0"/>
              <a:t>好电脑才能快（第一：固态硬盘 第二：新一代的</a:t>
            </a:r>
            <a:r>
              <a:rPr lang="en-US" altLang="zh-CN" dirty="0"/>
              <a:t>CPU</a:t>
            </a:r>
            <a:r>
              <a:rPr lang="zh-CN" altLang="en-US" dirty="0"/>
              <a:t>）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附件管理：位置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Zotero</a:t>
            </a:r>
            <a:r>
              <a:rPr lang="zh-CN" altLang="en-US" dirty="0"/>
              <a:t>自带的</a:t>
            </a:r>
            <a:r>
              <a:rPr lang="en-US" altLang="zh-CN" dirty="0"/>
              <a:t>storage</a:t>
            </a:r>
            <a:r>
              <a:rPr lang="zh-CN" altLang="en-US" dirty="0"/>
              <a:t>下</a:t>
            </a:r>
            <a:endParaRPr lang="en-US" altLang="zh-CN" dirty="0"/>
          </a:p>
          <a:p>
            <a:pPr marL="457200" lvl="1" indent="0">
              <a:buNone/>
            </a:pPr>
            <a:r>
              <a:rPr lang="it-IT" altLang="zh-CN" dirty="0"/>
              <a:t>"C:\Users\DELL\Zotero\storage“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也可以安装到</a:t>
            </a:r>
            <a:r>
              <a:rPr lang="en-US" altLang="zh-CN" dirty="0"/>
              <a:t>D</a:t>
            </a:r>
            <a:r>
              <a:rPr lang="zh-CN" altLang="en-US" dirty="0"/>
              <a:t>盘，因为它里面的文件夹和文件要进行云同步，因而在文件命名时运用了同步的命名规则，可能为了保证唯一性。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、可以用</a:t>
            </a:r>
            <a:r>
              <a:rPr lang="en-US" altLang="zh-CN" dirty="0" err="1"/>
              <a:t>ZotMoov</a:t>
            </a:r>
            <a:r>
              <a:rPr lang="zh-CN" altLang="en-US" dirty="0"/>
              <a:t>进行文件管理，重新命名，转移到其他地方，这些操作都是系统自动完成，这样才能保证链接的完整。有了这个你可以转移到</a:t>
            </a:r>
            <a:r>
              <a:rPr lang="en-US" altLang="zh-CN" dirty="0"/>
              <a:t>iCloud</a:t>
            </a:r>
            <a:r>
              <a:rPr lang="zh-CN" altLang="en-US" dirty="0"/>
              <a:t>或</a:t>
            </a:r>
            <a:r>
              <a:rPr lang="en-US" altLang="zh-CN" dirty="0"/>
              <a:t>OneDrive</a:t>
            </a:r>
            <a:r>
              <a:rPr lang="zh-CN" altLang="en-US" dirty="0"/>
              <a:t>，这个看自己偏好，有苹果手机自然是</a:t>
            </a:r>
            <a:r>
              <a:rPr lang="en-US" altLang="zh-CN" dirty="0"/>
              <a:t>iCloud</a:t>
            </a:r>
            <a:r>
              <a:rPr lang="zh-CN" altLang="en-US" dirty="0"/>
              <a:t>方便。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storage</a:t>
            </a:r>
            <a:r>
              <a:rPr lang="zh-CN" altLang="en-US" dirty="0"/>
              <a:t>里面的附件可以用</a:t>
            </a:r>
            <a:r>
              <a:rPr lang="en-US" altLang="zh-CN" dirty="0" err="1"/>
              <a:t>zotero</a:t>
            </a:r>
            <a:r>
              <a:rPr lang="zh-CN" altLang="en-US" dirty="0"/>
              <a:t>的自家服务来同步，免费空间</a:t>
            </a:r>
            <a:r>
              <a:rPr lang="en-US" altLang="zh-CN" dirty="0"/>
              <a:t>200M</a:t>
            </a:r>
            <a:r>
              <a:rPr lang="zh-CN" altLang="en-US" dirty="0"/>
              <a:t>，超过的付费。当然可以用</a:t>
            </a:r>
            <a:r>
              <a:rPr lang="en-US" altLang="zh-CN" dirty="0" err="1"/>
              <a:t>webDav</a:t>
            </a:r>
            <a:r>
              <a:rPr lang="zh-CN" altLang="en-US" dirty="0"/>
              <a:t>来实现同步，国内是坚果云，我用</a:t>
            </a:r>
            <a:r>
              <a:rPr lang="en-US" altLang="zh-CN" dirty="0" err="1">
                <a:solidFill>
                  <a:srgbClr val="FF0000"/>
                </a:solidFill>
              </a:rPr>
              <a:t>InfiniCloud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演示：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PDF</a:t>
            </a:r>
            <a:r>
              <a:rPr lang="zh-CN" altLang="en-US" dirty="0"/>
              <a:t>附件有图标显示，如果是虚的表示链接有问题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/>
              <a:t>可以用附件来排序找出有问题的附件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preset"/>
  <p:tag name="KSO_WM_TEMPLATE_INDEX" val="11"/>
  <p:tag name="KSO_WM_TAG_VERSION" val="1.0"/>
  <p:tag name="KSO_WM_SLIDE_ID" val="preset11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66*144"/>
  <p:tag name="KSO_WM_SLIDE_SIZE" val="828*34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preset"/>
  <p:tag name="KSO_WM_TEMPLATE_INDEX" val="11"/>
  <p:tag name="KSO_WM_UNIT_TYPE" val="a"/>
  <p:tag name="KSO_WM_UNIT_INDEX" val="1"/>
  <p:tag name="KSO_WM_UNIT_ID" val="259*a*1"/>
  <p:tag name="KSO_WM_UNIT_CLEAR" val="1"/>
  <p:tag name="KSO_WM_UNIT_LAYERLEVEL" val="1"/>
  <p:tag name="KSO_WM_UNIT_VALUE" val="40"/>
  <p:tag name="KSO_WM_UNIT_ISCONTENTSTITLE" val="0"/>
  <p:tag name="KSO_WM_UNIT_HIGHLIGHT" val="0"/>
  <p:tag name="KSO_WM_UNIT_COMPATIBLE" val="0"/>
  <p:tag name="KSO_WM_UNIT_PRESET_TEXT" val="请在此处添加标题"/>
  <p:tag name="KSO_WM_BEAUTIFY_FLAG" val="#wm#"/>
  <p:tag name="KSO_WM_TAG_VERSION" val="1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preset"/>
  <p:tag name="KSO_WM_TEMPLATE_INDEX" val="11"/>
  <p:tag name="KSO_WM_UNIT_TYPE" val="f"/>
  <p:tag name="KSO_WM_UNIT_INDEX" val="1"/>
  <p:tag name="KSO_WM_UNIT_ID" val="259*f*1"/>
  <p:tag name="KSO_WM_UNIT_CLEAR" val="1"/>
  <p:tag name="KSO_WM_UNIT_LAYERLEVEL" val="1"/>
  <p:tag name="KSO_WM_UNIT_VALUE" val="319"/>
  <p:tag name="KSO_WM_UNIT_HIGHLIGHT" val="0"/>
  <p:tag name="KSO_WM_UNIT_COMPATIBLE" val="0"/>
  <p:tag name="KSO_WM_UNIT_PRESET_TEXT" val="请在此处添加文本"/>
  <p:tag name="KSO_WM_BEAUTIFY_FLAG" val="#wm#"/>
  <p:tag name="KSO_WM_TAG_VERSION" val="1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preset"/>
  <p:tag name="KSO_WM_TEMPLATE_INDEX" val="11"/>
  <p:tag name="KSO_WM_TAG_VERSION" val="1.0"/>
  <p:tag name="KSO_WM_SLIDE_ID" val="preset11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66*144"/>
  <p:tag name="KSO_WM_SLIDE_SIZE" val="828*34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preset"/>
  <p:tag name="KSO_WM_TEMPLATE_INDEX" val="11"/>
  <p:tag name="KSO_WM_UNIT_TYPE" val="a"/>
  <p:tag name="KSO_WM_UNIT_INDEX" val="1"/>
  <p:tag name="KSO_WM_UNIT_ID" val="259*a*1"/>
  <p:tag name="KSO_WM_UNIT_CLEAR" val="1"/>
  <p:tag name="KSO_WM_UNIT_LAYERLEVEL" val="1"/>
  <p:tag name="KSO_WM_UNIT_VALUE" val="40"/>
  <p:tag name="KSO_WM_UNIT_ISCONTENTSTITLE" val="0"/>
  <p:tag name="KSO_WM_UNIT_HIGHLIGHT" val="0"/>
  <p:tag name="KSO_WM_UNIT_COMPATIBLE" val="0"/>
  <p:tag name="KSO_WM_UNIT_PRESET_TEXT" val="请在此处添加标题"/>
  <p:tag name="KSO_WM_BEAUTIFY_FLAG" val="#wm#"/>
  <p:tag name="KSO_WM_TAG_VERSION" val="1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preset"/>
  <p:tag name="KSO_WM_TEMPLATE_INDEX" val="11"/>
  <p:tag name="KSO_WM_UNIT_TYPE" val="f"/>
  <p:tag name="KSO_WM_UNIT_INDEX" val="1"/>
  <p:tag name="KSO_WM_UNIT_ID" val="259*f*1"/>
  <p:tag name="KSO_WM_UNIT_CLEAR" val="1"/>
  <p:tag name="KSO_WM_UNIT_LAYERLEVEL" val="1"/>
  <p:tag name="KSO_WM_UNIT_VALUE" val="319"/>
  <p:tag name="KSO_WM_UNIT_HIGHLIGHT" val="0"/>
  <p:tag name="KSO_WM_UNIT_COMPATIBLE" val="0"/>
  <p:tag name="KSO_WM_UNIT_PRESET_TEXT" val="请在此处添加文本"/>
  <p:tag name="KSO_WM_BEAUTIFY_FLAG" val="#wm#"/>
  <p:tag name="KSO_WM_TAG_VERSION" val="1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preset"/>
  <p:tag name="KSO_WM_TEMPLATE_INDEX" val="11"/>
  <p:tag name="KSO_WM_TAG_VERSION" val="1.0"/>
  <p:tag name="KSO_WM_SLIDE_ID" val="preset11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66*144"/>
  <p:tag name="KSO_WM_SLIDE_SIZE" val="828*34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preset"/>
  <p:tag name="KSO_WM_TEMPLATE_INDEX" val="11"/>
  <p:tag name="KSO_WM_UNIT_TYPE" val="a"/>
  <p:tag name="KSO_WM_UNIT_INDEX" val="1"/>
  <p:tag name="KSO_WM_UNIT_ID" val="259*a*1"/>
  <p:tag name="KSO_WM_UNIT_CLEAR" val="1"/>
  <p:tag name="KSO_WM_UNIT_LAYERLEVEL" val="1"/>
  <p:tag name="KSO_WM_UNIT_VALUE" val="40"/>
  <p:tag name="KSO_WM_UNIT_ISCONTENTSTITLE" val="0"/>
  <p:tag name="KSO_WM_UNIT_HIGHLIGHT" val="0"/>
  <p:tag name="KSO_WM_UNIT_COMPATIBLE" val="0"/>
  <p:tag name="KSO_WM_UNIT_PRESET_TEXT" val="请在此处添加标题"/>
  <p:tag name="KSO_WM_BEAUTIFY_FLAG" val="#wm#"/>
  <p:tag name="KSO_WM_TAG_VERSION" val="1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preset"/>
  <p:tag name="KSO_WM_TEMPLATE_INDEX" val="11"/>
  <p:tag name="KSO_WM_UNIT_TYPE" val="f"/>
  <p:tag name="KSO_WM_UNIT_INDEX" val="1"/>
  <p:tag name="KSO_WM_UNIT_ID" val="259*f*1"/>
  <p:tag name="KSO_WM_UNIT_CLEAR" val="1"/>
  <p:tag name="KSO_WM_UNIT_LAYERLEVEL" val="1"/>
  <p:tag name="KSO_WM_UNIT_VALUE" val="319"/>
  <p:tag name="KSO_WM_UNIT_HIGHLIGHT" val="0"/>
  <p:tag name="KSO_WM_UNIT_COMPATIBLE" val="0"/>
  <p:tag name="KSO_WM_UNIT_PRESET_TEXT" val="请在此处添加文本"/>
  <p:tag name="KSO_WM_BEAUTIFY_FLAG" val="#wm#"/>
  <p:tag name="KSO_WM_TAG_VERSION" val="1.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23684</Words>
  <Application>Microsoft Office PowerPoint</Application>
  <PresentationFormat>宽屏</PresentationFormat>
  <Paragraphs>1600</Paragraphs>
  <Slides>281</Slides>
  <Notes>0</Notes>
  <HiddenSlides>0</HiddenSlides>
  <MMClips>2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281</vt:i4>
      </vt:variant>
    </vt:vector>
  </HeadingPairs>
  <TitlesOfParts>
    <vt:vector size="307" baseType="lpstr">
      <vt:lpstr>.AppleSystemUIFont</vt:lpstr>
      <vt:lpstr>.PingFang SC</vt:lpstr>
      <vt:lpstr>.PingFangSC-Regular</vt:lpstr>
      <vt:lpstr>.SFUI-Regular_wdth_opsz110000_GRAD_wght</vt:lpstr>
      <vt:lpstr>-apple-system</vt:lpstr>
      <vt:lpstr>Arial Unicode MS</vt:lpstr>
      <vt:lpstr>Helvetica Neue</vt:lpstr>
      <vt:lpstr>Lucida Grande</vt:lpstr>
      <vt:lpstr>Microsoft JhengHei UI Light</vt:lpstr>
      <vt:lpstr>PingFang SC</vt:lpstr>
      <vt:lpstr>PingFangSC-Regular</vt:lpstr>
      <vt:lpstr>PingFangSC-Semibold</vt:lpstr>
      <vt:lpstr>Roboto</vt:lpstr>
      <vt:lpstr>SFMono-Regular</vt:lpstr>
      <vt:lpstr>system-ui</vt:lpstr>
      <vt:lpstr>UICTFontTextStyleBody</vt:lpstr>
      <vt:lpstr>UICTFontTextStyleEmphasizedBody</vt:lpstr>
      <vt:lpstr>v-sans</vt:lpstr>
      <vt:lpstr>等线</vt:lpstr>
      <vt:lpstr>等线 Light</vt:lpstr>
      <vt:lpstr>宋体</vt:lpstr>
      <vt:lpstr>Microsoft YaHei</vt:lpstr>
      <vt:lpstr>Arial</vt:lpstr>
      <vt:lpstr>Times New Roman</vt:lpstr>
      <vt:lpstr>Wingdings</vt:lpstr>
      <vt:lpstr>Office 主题​​</vt:lpstr>
      <vt:lpstr>数字内容管理  Zotero x OpenCode</vt:lpstr>
      <vt:lpstr>余  浩  教授、博导</vt:lpstr>
      <vt:lpstr>第一天： 上午：导论与配置 下午：组织与引用</vt:lpstr>
      <vt:lpstr>导论：数字化学习——长期主义选择</vt:lpstr>
      <vt:lpstr>数字内容管理内容</vt:lpstr>
      <vt:lpstr>PowerPoint 演示文稿</vt:lpstr>
      <vt:lpstr>数字化基础</vt:lpstr>
      <vt:lpstr>数字化概念：从模拟到数字、从记录到创作</vt:lpstr>
      <vt:lpstr>国内现状</vt:lpstr>
      <vt:lpstr>PowerPoint 演示文稿</vt:lpstr>
      <vt:lpstr>PowerPoint 演示文稿</vt:lpstr>
      <vt:lpstr>多模态应用（文本、图表和音视频）</vt:lpstr>
      <vt:lpstr>知识库资料来源——小白学术： https://www.sssam.com/</vt:lpstr>
      <vt:lpstr>语音输入（2026方案）</vt:lpstr>
      <vt:lpstr>PowerPoint 演示文稿</vt:lpstr>
      <vt:lpstr>PowerPoint 演示文稿</vt:lpstr>
      <vt:lpstr>智能绘图2025方案——AI Draw Nexus https://ai-draw-nexus.aizhi.site/</vt:lpstr>
      <vt:lpstr>PowerPoint 演示文稿</vt:lpstr>
      <vt:lpstr>https://tiktokenizer.f2api.com/</vt:lpstr>
      <vt:lpstr>文档解析神器——MinerU: https://mineru.net/</vt:lpstr>
      <vt:lpstr>开源软件 Zotero定制：中台概念 （Endnote、Mendeley、Papers for Mac皆可转移至 Zotero）</vt:lpstr>
      <vt:lpstr>选择Zotero（平台工具）</vt:lpstr>
      <vt:lpstr>靶心文章选择（PDF格式）</vt:lpstr>
      <vt:lpstr>必读精品 （涌现结果：过去、现在和将来）</vt:lpstr>
      <vt:lpstr>PDF根据不同期刊有单栏、双栏甚至三栏</vt:lpstr>
      <vt:lpstr>PDF可抓取大量的信息</vt:lpstr>
      <vt:lpstr>文章状态</vt:lpstr>
      <vt:lpstr>数字信息重要</vt:lpstr>
      <vt:lpstr>实操一：组件引擎配置</vt:lpstr>
      <vt:lpstr>PowerPoint 演示文稿</vt:lpstr>
      <vt:lpstr>下载及添加插件的方式</vt:lpstr>
      <vt:lpstr>插件添加（Plugins）</vt:lpstr>
      <vt:lpstr>Zotero 插件商店 | Zotero 中文社区</vt:lpstr>
      <vt:lpstr>PowerPoint 演示文稿</vt:lpstr>
      <vt:lpstr>PowerPoint 演示文稿</vt:lpstr>
      <vt:lpstr>PowerPoint 演示文稿</vt:lpstr>
      <vt:lpstr>搜索引擎添加</vt:lpstr>
      <vt:lpstr>修改数据文件夹的引擎文件</vt:lpstr>
      <vt:lpstr>图谱分析（Connected Papers）</vt:lpstr>
      <vt:lpstr>PowerPoint 演示文稿</vt:lpstr>
      <vt:lpstr>关联文献补充（semanticscholar）</vt:lpstr>
      <vt:lpstr>PowerPoint 演示文稿</vt:lpstr>
      <vt:lpstr>PowerPoint 演示文稿</vt:lpstr>
      <vt:lpstr>实操二：分类条目创建</vt:lpstr>
      <vt:lpstr>PowerPoint 演示文稿</vt:lpstr>
      <vt:lpstr>现有信息学习</vt:lpstr>
      <vt:lpstr>相关信息如何拓展</vt:lpstr>
      <vt:lpstr>题录获取：第一种方式</vt:lpstr>
      <vt:lpstr>题录获取：第二种方式</vt:lpstr>
      <vt:lpstr>如何更新题录</vt:lpstr>
      <vt:lpstr>PowerPoint 演示文稿</vt:lpstr>
      <vt:lpstr>PowerPoint 演示文稿</vt:lpstr>
      <vt:lpstr>PowerPoint 演示文稿</vt:lpstr>
      <vt:lpstr>文献下载</vt:lpstr>
      <vt:lpstr>举例：先题录后PDF，还是先PDF后题录</vt:lpstr>
      <vt:lpstr>实操三：引用格式添加</vt:lpstr>
      <vt:lpstr>添加所需要的格式</vt:lpstr>
      <vt:lpstr>简单引用</vt:lpstr>
      <vt:lpstr>同一位置批量添加引用</vt:lpstr>
      <vt:lpstr>文献数据库建立</vt:lpstr>
      <vt:lpstr>PowerPoint 演示文稿</vt:lpstr>
      <vt:lpstr>第二天： 上午：备份与同步 下午：索引与检索</vt:lpstr>
      <vt:lpstr>电脑经验</vt:lpstr>
      <vt:lpstr>练习：</vt:lpstr>
      <vt:lpstr>Opencode x Zotero</vt:lpstr>
      <vt:lpstr>资源出处：GitHub让你保持领先</vt:lpstr>
      <vt:lpstr>请在此处添加标题</vt:lpstr>
      <vt:lpstr>四个基本问题</vt:lpstr>
      <vt:lpstr>PowerPoint 演示文稿</vt:lpstr>
      <vt:lpstr>配置：文件让AI帮你搞定</vt:lpstr>
      <vt:lpstr>技能包</vt:lpstr>
      <vt:lpstr>PowerPoint 演示文稿</vt:lpstr>
      <vt:lpstr>PowerPoint 演示文稿</vt:lpstr>
      <vt:lpstr>Zotero+Opencode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Zotero：人工建库有价值？</vt:lpstr>
      <vt:lpstr>参考文献解析</vt:lpstr>
      <vt:lpstr>PowerPoint 演示文稿</vt:lpstr>
      <vt:lpstr>https://anystyle.io</vt:lpstr>
      <vt:lpstr>实操四：内容备份同步</vt:lpstr>
      <vt:lpstr>备份功能：导出分类</vt:lpstr>
      <vt:lpstr>复制备份</vt:lpstr>
      <vt:lpstr>Zotero的盈利功能： 云同步功能（Zotero帐号先注册上）</vt:lpstr>
      <vt:lpstr>PowerPoint 演示文稿</vt:lpstr>
      <vt:lpstr>步骤 1：准备 WebDAV 服务</vt:lpstr>
      <vt:lpstr>常见 WebDAV 服务：</vt:lpstr>
      <vt:lpstr>步骤 2：设置 WebDAV 同步</vt:lpstr>
      <vt:lpstr>步骤 3：验证同步</vt:lpstr>
      <vt:lpstr>常见问题解决</vt:lpstr>
      <vt:lpstr>备份建议</vt:lpstr>
      <vt:lpstr>万一出问题可恢复</vt:lpstr>
      <vt:lpstr>最后检查</vt:lpstr>
      <vt:lpstr>附件管理：位置</vt:lpstr>
      <vt:lpstr>演示：</vt:lpstr>
      <vt:lpstr>实操五：全局检索</vt:lpstr>
      <vt:lpstr>学习自动标签</vt:lpstr>
      <vt:lpstr>全文搜索（Zotero自带功能）</vt:lpstr>
      <vt:lpstr>先采用普通搜索：分三类</vt:lpstr>
      <vt:lpstr>运用标签去全文搜索</vt:lpstr>
      <vt:lpstr>全文搜索实现</vt:lpstr>
      <vt:lpstr>PowerPoint 演示文稿</vt:lpstr>
      <vt:lpstr>如何解决未检索的文献</vt:lpstr>
      <vt:lpstr>解决未索引的文件——数字搜索</vt:lpstr>
      <vt:lpstr>未检索文献来源</vt:lpstr>
      <vt:lpstr>简洁命名</vt:lpstr>
      <vt:lpstr>检索机制</vt:lpstr>
      <vt:lpstr>2. 搜索语法</vt:lpstr>
      <vt:lpstr>3. 快速筛选与保存</vt:lpstr>
      <vt:lpstr>4. 检索效率技巧</vt:lpstr>
      <vt:lpstr>文献管理合适量</vt:lpstr>
      <vt:lpstr>2. Zotero 的软性限制</vt:lpstr>
      <vt:lpstr>3. 用户场景建议</vt:lpstr>
      <vt:lpstr>第三天： 上午：翻译与笔记 下午：内容生成</vt:lpstr>
      <vt:lpstr>PowerPoint 演示文稿</vt:lpstr>
      <vt:lpstr>为何选择生成式人工智能（GenAI）</vt:lpstr>
      <vt:lpstr>生成式人工智能 (Generative AI)：算命先生</vt:lpstr>
      <vt:lpstr>概念定义</vt:lpstr>
      <vt:lpstr>离散数学中的自然语言处理相关知识</vt:lpstr>
      <vt:lpstr>表1：各国GenAI典型代表</vt:lpstr>
      <vt:lpstr>表2 自然语言处理（NLP）部分科学里程碑（Bouschery et al., 2023）</vt:lpstr>
      <vt:lpstr>大语言模型创新框架（Sundberg L 等, 2024）</vt:lpstr>
      <vt:lpstr>四大功能的解释（Sundberg L 等, 2024）</vt:lpstr>
      <vt:lpstr>情景问题？</vt:lpstr>
      <vt:lpstr>Mariani M, Dwivedi Y K, 2024. Generative artificial intelligence in innovation management: a preview of future research developments[J]. Journal of Business Research, 175(3): 114542.</vt:lpstr>
      <vt:lpstr>PowerPoint 演示文稿</vt:lpstr>
      <vt:lpstr>学术领域的观点</vt:lpstr>
      <vt:lpstr>图2. 人工智能准备度(AIR)的概念模型(Tehrani 等, 2024, p. 7)</vt:lpstr>
      <vt:lpstr>AI准备度可以归纳为八个关键维度：</vt:lpstr>
      <vt:lpstr>Moving from prediction to creativity: implications of generative AI on measurement of success</vt:lpstr>
      <vt:lpstr>PowerPoint 演示文稿</vt:lpstr>
      <vt:lpstr>Bahoo S, Cucculelli M, Qamar D, 2023. Artificial intelligence and corporate innovation: a review and research agenda[J]. Technological Forecasting and Social Change, 188(3): 122264.</vt:lpstr>
      <vt:lpstr>PowerPoint 演示文稿</vt:lpstr>
      <vt:lpstr>PowerPoint 演示文稿</vt:lpstr>
      <vt:lpstr>主要共识：</vt:lpstr>
      <vt:lpstr>PowerPoint 演示文稿</vt:lpstr>
      <vt:lpstr>实操六：智能翻译（ Zotero PDF Tranlate ）</vt:lpstr>
      <vt:lpstr>PowerPoint 演示文稿</vt:lpstr>
      <vt:lpstr>阅读基础：智能翻译</vt:lpstr>
      <vt:lpstr>PowerPoint 演示文稿</vt:lpstr>
      <vt:lpstr>Kindle精读应用背景</vt:lpstr>
      <vt:lpstr>设备越狱</vt:lpstr>
      <vt:lpstr>KUAL界面</vt:lpstr>
      <vt:lpstr>进入文件管理器</vt:lpstr>
      <vt:lpstr>KOReader印象笔记功能</vt:lpstr>
      <vt:lpstr>狗耳朵日报推送功能</vt:lpstr>
      <vt:lpstr>Kindle的字典功能与标注功能</vt:lpstr>
      <vt:lpstr>修改hosts文件——智能翻译</vt:lpstr>
      <vt:lpstr>解决谷歌翻译问题</vt:lpstr>
      <vt:lpstr>Mac修改hosts文档</vt:lpstr>
      <vt:lpstr>实操七：数字笔记（ Zotero Better Notes ）</vt:lpstr>
      <vt:lpstr>Markdown笔记的主要规则包括：</vt:lpstr>
      <vt:lpstr>Better Notes (BN) is a plugin for Zotero.</vt:lpstr>
      <vt:lpstr>文字内容</vt:lpstr>
      <vt:lpstr>表格内容</vt:lpstr>
      <vt:lpstr>PowerPoint 演示文稿</vt:lpstr>
      <vt:lpstr>图片内容</vt:lpstr>
      <vt:lpstr>PowerPoint 演示文稿</vt:lpstr>
      <vt:lpstr>公式生成</vt:lpstr>
      <vt:lpstr>实操八：内容生成（ Zotero GPT）</vt:lpstr>
      <vt:lpstr>PowerPoint 演示文稿</vt:lpstr>
      <vt:lpstr>PowerPoint 演示文稿</vt:lpstr>
      <vt:lpstr>PowerPoint 演示文稿</vt:lpstr>
      <vt:lpstr>PowerPoint 演示文稿</vt:lpstr>
      <vt:lpstr>LLM，是继数据库和搜索引擎之后的“全新⼀代知识表示和调⽤⽅式”， 将会极⼤改善⼈类的专业能⼒之间的交互⽅式。</vt:lpstr>
      <vt:lpstr>AI应用三角定律：语料、算力、算法</vt:lpstr>
      <vt:lpstr>PowerPoint 演示文稿</vt:lpstr>
      <vt:lpstr>编程技能：</vt:lpstr>
      <vt:lpstr>Quick Commands</vt:lpstr>
      <vt:lpstr>About Tag</vt:lpstr>
      <vt:lpstr>Improve writing</vt:lpstr>
      <vt:lpstr>Selection</vt:lpstr>
      <vt:lpstr>Items</vt:lpstr>
      <vt:lpstr>AskPDF</vt:lpstr>
      <vt:lpstr>About Input Text</vt:lpstr>
      <vt:lpstr>PowerPoint 演示文稿</vt:lpstr>
      <vt:lpstr>PowerPoint 演示文稿</vt:lpstr>
      <vt:lpstr>DeepSeek: 能力细节（文本、非视觉模型）</vt:lpstr>
      <vt:lpstr>长文本与跨文本</vt:lpstr>
      <vt:lpstr>脚本改进：代码解密</vt:lpstr>
      <vt:lpstr>PowerPoint 演示文稿</vt:lpstr>
      <vt:lpstr>提示词元素</vt:lpstr>
      <vt:lpstr>GPT使用策略</vt:lpstr>
      <vt:lpstr>ChatGPT谈战略与创新：交互式问题</vt:lpstr>
      <vt:lpstr>测试问题</vt:lpstr>
      <vt:lpstr>主要判据</vt:lpstr>
      <vt:lpstr>对于一般理论的提问：以惯例研究为例</vt:lpstr>
      <vt:lpstr>相关法律条款问题</vt:lpstr>
      <vt:lpstr>数字内容生成</vt:lpstr>
      <vt:lpstr>写作法则</vt:lpstr>
      <vt:lpstr>数据质量判定——内容生成</vt:lpstr>
      <vt:lpstr>JavaScript主要特点</vt:lpstr>
      <vt:lpstr>JavaScript学习资源</vt:lpstr>
      <vt:lpstr>数据库结构</vt:lpstr>
      <vt:lpstr>SQLite数据库</vt:lpstr>
      <vt:lpstr>完全功能的PDF电子书</vt:lpstr>
      <vt:lpstr>确保 PDF 内容不被修改</vt:lpstr>
      <vt:lpstr>要获取 PDF 文件的元数据：</vt:lpstr>
      <vt:lpstr>结论：官网AI效果最佳（比如OpenAI）</vt:lpstr>
      <vt:lpstr>第四天： 上午：本地RAG 下午：分组交流</vt:lpstr>
      <vt:lpstr>生成式AI的残酷真相</vt:lpstr>
      <vt:lpstr>剖析95%的失败：四大“天坑”如何吞噬企业的AI雄心</vt:lpstr>
      <vt:lpstr>解码5%的成功者：穿越鸿沟的四大黄金法则</vt:lpstr>
      <vt:lpstr>“影子AI”成为真正的生产力引擎</vt:lpstr>
      <vt:lpstr>AI技能不再是加分项，而是必备项</vt:lpstr>
      <vt:lpstr>一、无尽的提问</vt:lpstr>
      <vt:lpstr>PowerPoint 演示文稿</vt:lpstr>
      <vt:lpstr>PowerPoint 演示文稿</vt:lpstr>
      <vt:lpstr>二、提示词元素</vt:lpstr>
      <vt:lpstr>AI的⽐喻：超级热情但缺乏经验的实习⽣</vt:lpstr>
      <vt:lpstr>Context Engineering（上下⽂⼯程）</vt:lpstr>
      <vt:lpstr>三、提示词技巧</vt:lpstr>
      <vt:lpstr>1、Few-Shot Prompting（少样本示例）</vt:lpstr>
      <vt:lpstr>2、Chain-of-Thought（思维链推理）</vt:lpstr>
      <vt:lpstr>3、Reverse Prompting（反向提问）</vt:lpstr>
      <vt:lpstr>4、Role Assignment（⻆⾊赋能）</vt:lpstr>
      <vt:lpstr>四、三种思维训练</vt:lpstr>
      <vt:lpstr>模拟困难对话</vt:lpstr>
      <vt:lpstr>严苛批评</vt:lpstr>
      <vt:lpstr>扩展想象⼒</vt:lpstr>
      <vt:lpstr>训练案例</vt:lpstr>
      <vt:lpstr>PowerPoint 演示文稿</vt:lpstr>
      <vt:lpstr>AI Snake Oil《AI蛇油》  Arvind Narayanan &amp; Sayash Kapoor Princeton Univ. Press (2024)</vt:lpstr>
      <vt:lpstr>PowerPoint 演示文稿</vt:lpstr>
      <vt:lpstr>“混合型角色”的崛起</vt:lpstr>
      <vt:lpstr>术语介绍</vt:lpstr>
      <vt:lpstr>检索增强生成(Retrieval-augmented generation)</vt:lpstr>
      <vt:lpstr>技术简介</vt:lpstr>
      <vt:lpstr>RAG 流程应用于问答的代表性实例。它主要包括 3 个步骤。1）索引。将文档拆分成块，编码成向量，并存储在向量数据库中。2）检索。根据语义相似性检索与问题最相关的 Top k 个块。3)生成。将原始问题和检索到的块一起输入 LLM 以生成最终答案。</vt:lpstr>
      <vt:lpstr>以下是 RAG 发展的几个版本：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技术框架</vt:lpstr>
      <vt:lpstr>RAG 技术编程领域实现原理</vt:lpstr>
      <vt:lpstr>https://tiktokenizer.f2api.com/</vt:lpstr>
      <vt:lpstr>文档解析神器——MinerU: https://mineru.net/</vt:lpstr>
      <vt:lpstr>LLM训练数据集的选择与清洗：从Common Crawl到高质量语料库</vt:lpstr>
      <vt:lpstr>分词挑战：词级与字符级的权衡</vt:lpstr>
      <vt:lpstr>字节对编码：GPT模型的分词选择</vt:lpstr>
      <vt:lpstr>对话格式与特殊标记的应用</vt:lpstr>
      <vt:lpstr>训练数据准备：上下文窗口与标签错位</vt:lpstr>
      <vt:lpstr>GPT系列模型的数据规模演进</vt:lpstr>
      <vt:lpstr>数据准备与分词处理结论</vt:lpstr>
      <vt:lpstr>机器学习中的文本数据转换基础</vt:lpstr>
      <vt:lpstr>独热编码：解决数值排序问题的方法</vt:lpstr>
      <vt:lpstr>词袋模型与n元语法：添加上下文信息</vt:lpstr>
      <vt:lpstr>词嵌入：捕捉词语语义的密集向量表示</vt:lpstr>
      <vt:lpstr>Word2Vec：训练词嵌入的经典方法</vt:lpstr>
      <vt:lpstr>Transformer中的词嵌入机制</vt:lpstr>
      <vt:lpstr>位置编码：添加序列信息</vt:lpstr>
      <vt:lpstr>结论：词嵌入在自然语言处理中的关键作用</vt:lpstr>
      <vt:lpstr>知识库AI——ima.copilot      https://ima.qq.com/</vt:lpstr>
      <vt:lpstr>知识库：从Zotero整体添加（Moov Add-on）</vt:lpstr>
      <vt:lpstr>PowerPoint 演示文稿</vt:lpstr>
      <vt:lpstr>PowerPoint 演示文稿</vt:lpstr>
      <vt:lpstr>AI-Butler: 文献自动全文解读 （Deepseek，185元看完我的4500篇）</vt:lpstr>
      <vt:lpstr>AI时代重要工具：数字笔记（Markdown）</vt:lpstr>
      <vt:lpstr>AI与知识库部署模式矩阵</vt:lpstr>
      <vt:lpstr>PowerPoint 演示文稿</vt:lpstr>
      <vt:lpstr>生成播客：Hambrick D C, 1994. What if the academy actually mattered?[J]. Academy of Management Review, 19(1): 11-16. </vt:lpstr>
      <vt:lpstr>本科项目管理大作业：用AI看45分钟纪录片视频写观后感（语音、文本、图片结合）</vt:lpstr>
      <vt:lpstr>PowerPoint 演示文稿</vt:lpstr>
      <vt:lpstr>PowerPoint 演示文稿</vt:lpstr>
      <vt:lpstr>PowerPoint 演示文稿</vt:lpstr>
      <vt:lpstr>总结：</vt:lpstr>
      <vt:lpstr>如果用Python，装个anaconda，Jupyter Notebook教学好用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启示：</vt:lpstr>
      <vt:lpstr>结语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数字化写作</dc:title>
  <dc:creator>DELL</dc:creator>
  <cp:lastModifiedBy>Hao Yu</cp:lastModifiedBy>
  <cp:revision>389</cp:revision>
  <dcterms:created xsi:type="dcterms:W3CDTF">1900-01-01T00:00:00Z</dcterms:created>
  <dcterms:modified xsi:type="dcterms:W3CDTF">2026-08-20T11:53:38Z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1CE3D73E368C493CE8B903658A64F986_32</vt:lpwstr>
  </property>
  <property fmtid="{D5CDD505-2E9C-101B-9397-08002B2CF9AE}" pid="3" name="KSOProductBuildVer">
    <vt:lpwstr>2052-12.41.0</vt:lpwstr>
  </property>
</Properties>
</file>