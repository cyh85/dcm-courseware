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0" r:id="rId164"/>
    <p:sldId id="473" r:id="rId165"/>
    <p:sldId id="472" r:id="rId166"/>
    <p:sldId id="874" r:id="rId167"/>
    <p:sldId id="875" r:id="rId168"/>
    <p:sldId id="294" r:id="rId169"/>
    <p:sldId id="340" r:id="rId170"/>
    <p:sldId id="866" r:id="rId171"/>
    <p:sldId id="867" r:id="rId172"/>
    <p:sldId id="457" r:id="rId173"/>
    <p:sldId id="458" r:id="rId174"/>
    <p:sldId id="467" r:id="rId175"/>
    <p:sldId id="468" r:id="rId176"/>
    <p:sldId id="469" r:id="rId177"/>
    <p:sldId id="470" r:id="rId178"/>
    <p:sldId id="459" r:id="rId179"/>
    <p:sldId id="868" r:id="rId180"/>
    <p:sldId id="869" r:id="rId181"/>
    <p:sldId id="870" r:id="rId182"/>
    <p:sldId id="871" r:id="rId183"/>
    <p:sldId id="872" r:id="rId184"/>
    <p:sldId id="335" r:id="rId185"/>
    <p:sldId id="873" r:id="rId186"/>
    <p:sldId id="471" r:id="rId187"/>
    <p:sldId id="298" r:id="rId188"/>
    <p:sldId id="299" r:id="rId189"/>
    <p:sldId id="300" r:id="rId190"/>
    <p:sldId id="301" r:id="rId191"/>
    <p:sldId id="302" r:id="rId192"/>
    <p:sldId id="474" r:id="rId193"/>
    <p:sldId id="439" r:id="rId194"/>
    <p:sldId id="264" r:id="rId195"/>
    <p:sldId id="271" r:id="rId196"/>
    <p:sldId id="269" r:id="rId197"/>
    <p:sldId id="260" r:id="rId198"/>
    <p:sldId id="267" r:id="rId199"/>
    <p:sldId id="275" r:id="rId200"/>
    <p:sldId id="276" r:id="rId201"/>
    <p:sldId id="277" r:id="rId202"/>
    <p:sldId id="339" r:id="rId20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7252" autoAdjust="0"/>
    <p:restoredTop sz="94660"/>
  </p:normalViewPr>
  <p:slideViewPr>
    <p:cSldViewPr snapToGrid="0" showGuides="1">
      <p:cViewPr varScale="1">
        <p:scale>
          <a:sx n="60" d="100"/>
          <a:sy n="60" d="100"/>
        </p:scale>
        <p:origin x="27" y="525"/>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slide" Target="slides/slide194.xml"/><Relationship Id="rId196" Type="http://schemas.openxmlformats.org/officeDocument/2006/relationships/slide" Target="slides/slide195.xml"/><Relationship Id="rId197" Type="http://schemas.openxmlformats.org/officeDocument/2006/relationships/slide" Target="slides/slide196.xml"/><Relationship Id="rId198" Type="http://schemas.openxmlformats.org/officeDocument/2006/relationships/slide" Target="slides/slide197.xml"/><Relationship Id="rId199" Type="http://schemas.openxmlformats.org/officeDocument/2006/relationships/slide" Target="slides/slide198.xml"/><Relationship Id="rId200" Type="http://schemas.openxmlformats.org/officeDocument/2006/relationships/slide" Target="slides/slide199.xml"/><Relationship Id="rId201" Type="http://schemas.openxmlformats.org/officeDocument/2006/relationships/slide" Target="slides/slide200.xml"/><Relationship Id="rId202" Type="http://schemas.openxmlformats.org/officeDocument/2006/relationships/slide" Target="slides/slide201.xml"/><Relationship Id="rId203" Type="http://schemas.openxmlformats.org/officeDocument/2006/relationships/slide" Target="slides/slide202.xml"/><Relationship Id="rId283" Type="http://schemas.openxmlformats.org/officeDocument/2006/relationships/presProps" Target="presProps.xml"/><Relationship Id="rId284" Type="http://schemas.openxmlformats.org/officeDocument/2006/relationships/viewProps" Target="viewProps.xml"/><Relationship Id="rId285" Type="http://schemas.openxmlformats.org/officeDocument/2006/relationships/theme" Target="theme/theme1.xml"/><Relationship Id="rId286"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BA03BB3-B2AA-4365-8D21-2931F66B5648}" type="slidenum">
              <a:rPr lang="zh-CN" altLang="en-US" smtClean="0"/>
              <a:t>‹#›</a:t>
            </a:fld>
            <a:endParaRPr lang="zh-CN" alt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7" name="Rectangle 4"/>
          <p:cNvSpPr>
            <a:spLocks noGrp="1"/>
          </p:cNvSpPr>
          <p:nvPr>
            <p:ph type="dt" sz="half" idx="10"/>
          </p:nvPr>
        </p:nvSpPr>
        <p:spPr/>
        <p:txBody>
          <a:bodyPr/>
          <a:lstStyle>
            <a:lvl1pPr>
              <a:defRPr/>
            </a:lvl1pPr>
          </a:lstStyle>
          <a:p>
            <a:pPr>
              <a:defRPr/>
            </a:pPr>
            <a:fld id="{BB962C8B-B14F-4D97-AF65-F5344CB8AC3E}" type="datetime1">
              <a:rPr lang="en-US" altLang="zh-CN"/>
              <a:t>8/20/2026</a:t>
            </a:fld>
            <a:endParaRPr lang="en-US" altLang="zh-CN"/>
          </a:p>
        </p:txBody>
      </p:sp>
      <p:sp>
        <p:nvSpPr>
          <p:cNvPr id="8" name="Rectangle 5"/>
          <p:cNvSpPr>
            <a:spLocks noGrp="1"/>
          </p:cNvSpPr>
          <p:nvPr>
            <p:ph type="ftr" sz="quarter" idx="11"/>
          </p:nvPr>
        </p:nvSpPr>
        <p:spPr/>
        <p:txBody>
          <a:bodyPr/>
          <a:lstStyle>
            <a:lvl1pPr>
              <a:defRPr/>
            </a:lvl1pPr>
          </a:lstStyle>
          <a:p>
            <a:pPr>
              <a:defRPr/>
            </a:pPr>
            <a:endParaRPr lang="en-US" altLang="zh-CN"/>
          </a:p>
        </p:txBody>
      </p:sp>
      <p:sp>
        <p:nvSpPr>
          <p:cNvPr id="9" name="Rectangle 6"/>
          <p:cNvSpPr>
            <a:spLocks noGrp="1"/>
          </p:cNvSpPr>
          <p:nvPr>
            <p:ph type="sldNum" sz="quarter" idx="12"/>
          </p:nvPr>
        </p:nvSpPr>
        <p:spPr/>
        <p:txBody>
          <a:bodyPr/>
          <a:lstStyle>
            <a:lvl1pPr>
              <a:defRPr smtClean="0"/>
            </a:lvl1pPr>
          </a:lstStyle>
          <a:p>
            <a:pPr>
              <a:defRPr/>
            </a:pPr>
            <a:fld id="{59BA1AF2-122D-413B-9A6F-A4FE069461D2}" type="slidenum">
              <a:rPr lang="en-US" altLang="zh-CN"/>
              <a:t>‹#›</a:t>
            </a:fld>
            <a:endParaRPr lang="en-US" altLang="zh-CN" dirty="0"/>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48FF56-40DD-471D-9572-94446A225DB0}" type="datetime1">
              <a:rPr lang="zh-CN" altLang="en-US" smtClean="0"/>
              <a:t>2026/8/20</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A03BB3-B2AA-4365-8D21-2931F66B5648}"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zhuanlan.zhihu.com/p/610229253" TargetMode="External"/><Relationship Id="rId3" Type="http://schemas.openxmlformats.org/officeDocument/2006/relationships/hyperlink" Target="https://zhuanlan.zhihu.com/p/610435858" TargetMode="External"/><Relationship Id="rId4" Type="http://schemas.openxmlformats.org/officeDocument/2006/relationships/hyperlink" Target="https://aws.amazon.com/cn/campaigns/aigc/?sc_channel=PS&amp;sc_campaign=acquisition_CN&amp;sc_category=mult&amp;sc_geo=chna&amp;sc_outcome=field&amp;sc_matchtype=exact&amp;sc_country=CN&amp;sc_publisher=baidu&amp;sc_segment=2023071901715&amp;sc_medium=%E5%86%85%E5%AE%B9AIGC_DG&amp;sc_content=AIGC&amp;sc_detail=aigc%E5%85%A8%E7%B3%BB%E5%88%97%E7%AE%97%E6%B3%95&amp;trk=baidu|%E5%86%85%E5%AE%B9AIGC_DG|AIGC|aigc%E5%85%A8%E7%B3%BB%E5%88%97%E7%AE%97%E6%B3%95&amp;bd_vid=12446156884724520568" TargetMode="External"/><Relationship Id="rId5" Type="http://schemas.openxmlformats.org/officeDocument/2006/relationships/hyperlink" Target="https://github.com/chatanywhere/GPT_API_free" TargetMode="External"/><Relationship Id="rId6" Type="http://schemas.openxmlformats.org/officeDocument/2006/relationships/hyperlink" Target="https://peiqi.shop/" TargetMode="Externa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7.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8.png"/></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9.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5.png"/></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6.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api-docs.deepseek.com/zh-cn/guides/json_mode" TargetMode="External"/><Relationship Id="rId3" Type="http://schemas.openxmlformats.org/officeDocument/2006/relationships/hyperlink" Target="https://api-docs.deepseek.com/zh-cn/guides/function_calling" TargetMode="External"/><Relationship Id="rId4" Type="http://schemas.openxmlformats.org/officeDocument/2006/relationships/hyperlink" Target="https://api-docs.deepseek.com/zh-cn/guides/chat_prefix_completion" TargetMode="External"/><Relationship Id="rId5" Type="http://schemas.openxmlformats.org/officeDocument/2006/relationships/hyperlink" Target="https://api-docs.deepseek.com/zh-cn/guides/fim_completion" TargetMode="Externa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87.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javascript.info/" TargetMode="Externa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实操八：内容生成（</a:t>
            </a:r>
            <a:r>
              <a:rPr lang="en-US" altLang="zh-CN" dirty="0"/>
              <a:t> Zotero GPT</a:t>
            </a:r>
            <a:r>
              <a:rPr lang="zh-CN" altLang="en-US" dirty="0"/>
              <a:t>）</a:t>
            </a:r>
          </a:p>
        </p:txBody>
      </p:sp>
      <p:sp>
        <p:nvSpPr>
          <p:cNvPr id="3" name="内容占位符 2"/>
          <p:cNvSpPr>
            <a:spLocks noGrp="1"/>
          </p:cNvSpPr>
          <p:nvPr>
            <p:ph idx="1"/>
          </p:nvPr>
        </p:nvSpPr>
        <p:spPr/>
        <p:txBody>
          <a:bodyPr>
            <a:normAutofit fontScale="92500" lnSpcReduction="10000"/>
          </a:bodyPr>
          <a:lstStyle/>
          <a:p>
            <a:r>
              <a:rPr lang="en-US" altLang="zh-CN" dirty="0">
                <a:hlinkClick r:id="rId2"/>
              </a:rPr>
              <a:t>AIGC</a:t>
            </a:r>
            <a:r>
              <a:rPr lang="zh-CN" altLang="en-US" dirty="0">
                <a:hlinkClick r:id="rId2"/>
              </a:rPr>
              <a:t>：入门 </a:t>
            </a:r>
            <a:r>
              <a:rPr lang="en-US" altLang="zh-CN" dirty="0">
                <a:hlinkClick r:id="rId2"/>
              </a:rPr>
              <a:t>- </a:t>
            </a:r>
            <a:r>
              <a:rPr lang="zh-CN" altLang="en-US" dirty="0">
                <a:hlinkClick r:id="rId2"/>
              </a:rPr>
              <a:t>知乎 </a:t>
            </a:r>
            <a:r>
              <a:rPr lang="en-US" altLang="zh-CN" dirty="0">
                <a:hlinkClick r:id="rId2"/>
              </a:rPr>
              <a:t>(zhihu.com)</a:t>
            </a:r>
            <a:endParaRPr lang="en-US" altLang="zh-CN" dirty="0"/>
          </a:p>
          <a:p>
            <a:r>
              <a:rPr lang="en-US" altLang="zh-CN" dirty="0">
                <a:hlinkClick r:id="rId3"/>
              </a:rPr>
              <a:t>AIGC </a:t>
            </a:r>
            <a:r>
              <a:rPr lang="zh-CN" altLang="en-US" dirty="0">
                <a:hlinkClick r:id="rId3"/>
              </a:rPr>
              <a:t>算法？看这几篇论文就够了 </a:t>
            </a:r>
            <a:r>
              <a:rPr lang="en-US" altLang="zh-CN" dirty="0">
                <a:hlinkClick r:id="rId3"/>
              </a:rPr>
              <a:t>- </a:t>
            </a:r>
            <a:r>
              <a:rPr lang="zh-CN" altLang="en-US" dirty="0">
                <a:hlinkClick r:id="rId3"/>
              </a:rPr>
              <a:t>知乎 </a:t>
            </a:r>
            <a:r>
              <a:rPr lang="en-US" altLang="zh-CN" dirty="0">
                <a:hlinkClick r:id="rId3"/>
              </a:rPr>
              <a:t>(zhihu.com)</a:t>
            </a:r>
            <a:r>
              <a:rPr lang="en-US" altLang="zh-CN" dirty="0">
                <a:hlinkClick r:id="rId4"/>
              </a:rPr>
              <a:t> </a:t>
            </a:r>
            <a:endParaRPr lang="en-US" altLang="zh-CN" dirty="0"/>
          </a:p>
          <a:p>
            <a:r>
              <a:rPr lang="en-US" altLang="zh-CN" dirty="0">
                <a:hlinkClick r:id="rId4"/>
              </a:rPr>
              <a:t>AIGC</a:t>
            </a:r>
            <a:r>
              <a:rPr lang="zh-CN" altLang="en-US" dirty="0">
                <a:hlinkClick r:id="rId4"/>
              </a:rPr>
              <a:t>是什么</a:t>
            </a:r>
            <a:r>
              <a:rPr lang="en-US" altLang="zh-CN" dirty="0">
                <a:hlinkClick r:id="rId4"/>
              </a:rPr>
              <a:t>_AI</a:t>
            </a:r>
            <a:r>
              <a:rPr lang="zh-CN" altLang="en-US" dirty="0">
                <a:hlinkClick r:id="rId4"/>
              </a:rPr>
              <a:t>自动内容生成解决方案 </a:t>
            </a:r>
            <a:r>
              <a:rPr lang="en-US" altLang="zh-CN" dirty="0">
                <a:hlinkClick r:id="rId4"/>
              </a:rPr>
              <a:t>- AWS</a:t>
            </a:r>
            <a:r>
              <a:rPr lang="zh-CN" altLang="en-US" dirty="0">
                <a:hlinkClick r:id="rId4"/>
              </a:rPr>
              <a:t>云服务 </a:t>
            </a:r>
            <a:r>
              <a:rPr lang="en-US" altLang="zh-CN" dirty="0">
                <a:hlinkClick r:id="rId4"/>
              </a:rPr>
              <a:t>(amazon.com)</a:t>
            </a:r>
            <a:endParaRPr lang="en-US" altLang="zh-CN" dirty="0"/>
          </a:p>
          <a:p>
            <a:r>
              <a:rPr lang="en-US" altLang="zh-CN" dirty="0" err="1">
                <a:hlinkClick r:id="rId5"/>
              </a:rPr>
              <a:t>chatanywhere</a:t>
            </a:r>
            <a:r>
              <a:rPr lang="en-US" altLang="zh-CN" dirty="0">
                <a:hlinkClick r:id="rId5"/>
              </a:rPr>
              <a:t>/</a:t>
            </a:r>
            <a:r>
              <a:rPr lang="en-US" altLang="zh-CN" dirty="0" err="1">
                <a:hlinkClick r:id="rId5"/>
              </a:rPr>
              <a:t>GPT_API_free</a:t>
            </a:r>
            <a:r>
              <a:rPr lang="en-US" altLang="zh-CN" dirty="0">
                <a:hlinkClick r:id="rId5"/>
              </a:rPr>
              <a:t>: Free ChatGPT API Key</a:t>
            </a:r>
            <a:r>
              <a:rPr lang="zh-CN" altLang="en-US" dirty="0">
                <a:hlinkClick r:id="rId5"/>
              </a:rPr>
              <a:t>，免费</a:t>
            </a:r>
            <a:r>
              <a:rPr lang="en-US" altLang="zh-CN" dirty="0">
                <a:hlinkClick r:id="rId5"/>
              </a:rPr>
              <a:t>ChatGPT API</a:t>
            </a:r>
            <a:r>
              <a:rPr lang="zh-CN" altLang="en-US" dirty="0">
                <a:hlinkClick r:id="rId5"/>
              </a:rPr>
              <a:t>，</a:t>
            </a:r>
            <a:r>
              <a:rPr lang="en-US" altLang="zh-CN" dirty="0">
                <a:hlinkClick r:id="rId5"/>
              </a:rPr>
              <a:t>ChatGPT</a:t>
            </a:r>
            <a:r>
              <a:rPr lang="zh-CN" altLang="en-US" dirty="0">
                <a:hlinkClick r:id="rId5"/>
              </a:rPr>
              <a:t>国内可用免费转发</a:t>
            </a:r>
            <a:r>
              <a:rPr lang="en-US" altLang="zh-CN" dirty="0">
                <a:hlinkClick r:id="rId5"/>
              </a:rPr>
              <a:t>API</a:t>
            </a:r>
            <a:r>
              <a:rPr lang="zh-CN" altLang="en-US" dirty="0">
                <a:hlinkClick r:id="rId5"/>
              </a:rPr>
              <a:t>，直连无需代理。 </a:t>
            </a:r>
            <a:endParaRPr lang="en-US" altLang="zh-CN" dirty="0"/>
          </a:p>
          <a:p>
            <a:pPr lvl="1"/>
            <a:r>
              <a:rPr lang="zh-CN" altLang="en-US" dirty="0">
                <a:hlinkClick r:id="rId6"/>
              </a:rPr>
              <a:t>首页 </a:t>
            </a:r>
            <a:r>
              <a:rPr lang="en-US" altLang="zh-CN" dirty="0">
                <a:hlinkClick r:id="rId6"/>
              </a:rPr>
              <a:t>| </a:t>
            </a:r>
            <a:r>
              <a:rPr lang="zh-CN" altLang="en-US" dirty="0">
                <a:hlinkClick r:id="rId6"/>
              </a:rPr>
              <a:t>佩奇</a:t>
            </a:r>
            <a:r>
              <a:rPr lang="en-US" altLang="zh-CN" dirty="0">
                <a:hlinkClick r:id="rId6"/>
              </a:rPr>
              <a:t>GPT</a:t>
            </a:r>
            <a:r>
              <a:rPr lang="zh-CN" altLang="en-US" dirty="0">
                <a:hlinkClick r:id="rId6"/>
              </a:rPr>
              <a:t>商店 </a:t>
            </a:r>
            <a:r>
              <a:rPr lang="en-US" altLang="zh-CN" dirty="0">
                <a:hlinkClick r:id="rId6"/>
              </a:rPr>
              <a:t>(</a:t>
            </a:r>
            <a:r>
              <a:rPr lang="en-US" altLang="zh-CN" dirty="0" err="1">
                <a:hlinkClick r:id="rId6"/>
              </a:rPr>
              <a:t>peiqi.shop</a:t>
            </a:r>
            <a:r>
              <a:rPr lang="en-US" altLang="zh-CN" dirty="0">
                <a:hlinkClick r:id="rId6"/>
              </a:rPr>
              <a:t>)</a:t>
            </a:r>
            <a:r>
              <a:rPr lang="zh-CN" altLang="en-US" dirty="0"/>
              <a:t>通过这个商店可付费购买</a:t>
            </a:r>
            <a:endParaRPr lang="en-US" altLang="zh-CN" dirty="0"/>
          </a:p>
          <a:p>
            <a:r>
              <a:rPr lang="en-US" altLang="zh-CN" dirty="0" err="1"/>
              <a:t>Github</a:t>
            </a:r>
            <a:r>
              <a:rPr lang="zh-CN" altLang="en-US" dirty="0"/>
              <a:t>账号可免费获得</a:t>
            </a:r>
            <a:r>
              <a:rPr lang="en-US" altLang="zh-CN" dirty="0"/>
              <a:t>ChatGPT API key</a:t>
            </a:r>
            <a:r>
              <a:rPr lang="zh-CN" altLang="en-US" dirty="0"/>
              <a:t>（新注册用户要七天之后才行）</a:t>
            </a:r>
            <a:endParaRPr lang="en-US" altLang="zh-CN" dirty="0"/>
          </a:p>
          <a:p>
            <a:pPr lvl="1"/>
            <a:r>
              <a:rPr lang="en-US" altLang="zh-CN" dirty="0"/>
              <a:t>Sider</a:t>
            </a:r>
            <a:r>
              <a:rPr lang="zh-CN" altLang="en-US" dirty="0"/>
              <a:t>（</a:t>
            </a:r>
            <a:r>
              <a:rPr lang="en-US" altLang="zh-CN" dirty="0"/>
              <a:t>Edge</a:t>
            </a:r>
            <a:r>
              <a:rPr lang="zh-CN" altLang="en-US" dirty="0"/>
              <a:t>扩展）、</a:t>
            </a:r>
            <a:r>
              <a:rPr lang="en-US" altLang="zh-CN" dirty="0" err="1"/>
              <a:t>Chatbox</a:t>
            </a:r>
            <a:r>
              <a:rPr lang="zh-CN" altLang="en-US" dirty="0"/>
              <a:t>（桌面）、</a:t>
            </a:r>
            <a:r>
              <a:rPr lang="en-US" altLang="zh-CN" dirty="0" err="1"/>
              <a:t>ChatX</a:t>
            </a:r>
            <a:r>
              <a:rPr lang="zh-CN" altLang="en-US" dirty="0"/>
              <a:t>（</a:t>
            </a:r>
            <a:r>
              <a:rPr lang="en-US" altLang="zh-CN" dirty="0"/>
              <a:t>iOS</a:t>
            </a:r>
            <a:r>
              <a:rPr lang="zh-CN" altLang="en-US" dirty="0"/>
              <a:t>）</a:t>
            </a:r>
            <a:endParaRPr lang="en-US" altLang="zh-CN" dirty="0"/>
          </a:p>
          <a:p>
            <a:r>
              <a:rPr lang="zh-CN" altLang="en-US" dirty="0"/>
              <a:t>根据目录提纲改写和润色</a:t>
            </a:r>
            <a:endParaRPr lang="en-US" altLang="zh-CN" dirty="0"/>
          </a:p>
          <a:p>
            <a:r>
              <a:rPr lang="zh-CN" altLang="en-US" dirty="0"/>
              <a:t>使用</a:t>
            </a:r>
            <a:r>
              <a:rPr lang="en-US" altLang="zh-CN" dirty="0"/>
              <a:t>GPT</a:t>
            </a:r>
            <a:r>
              <a:rPr lang="zh-CN" altLang="en-US" dirty="0"/>
              <a:t>整理思路和逻辑</a:t>
            </a:r>
            <a:endParaRPr lang="en-US" altLang="zh-CN" dirty="0"/>
          </a:p>
          <a:p>
            <a:endParaRPr lang="en-US" altLang="zh-CN"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2938409" y="2496620"/>
            <a:ext cx="2075380" cy="367814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对角圆角 5"/>
          <p:cNvSpPr/>
          <p:nvPr/>
        </p:nvSpPr>
        <p:spPr>
          <a:xfrm>
            <a:off x="2938409" y="2496620"/>
            <a:ext cx="2075380" cy="3534310"/>
          </a:xfrm>
          <a:prstGeom prst="round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title"/>
          </p:nvPr>
        </p:nvSpPr>
        <p:spPr/>
        <p:txBody>
          <a:bodyPr/>
          <a:lstStyle/>
          <a:p>
            <a:endParaRPr lang="zh-CN" altLang="en-US"/>
          </a:p>
        </p:txBody>
      </p:sp>
      <p:pic>
        <p:nvPicPr>
          <p:cNvPr id="5" name="图片 4"/>
          <p:cNvPicPr>
            <a:picLocks noChangeAspect="1"/>
          </p:cNvPicPr>
          <p:nvPr/>
        </p:nvPicPr>
        <p:blipFill>
          <a:blip r:embed="rId2"/>
          <a:stretch>
            <a:fillRect/>
          </a:stretch>
        </p:blipFill>
        <p:spPr>
          <a:xfrm>
            <a:off x="269734" y="0"/>
            <a:ext cx="11652531" cy="6858000"/>
          </a:xfrm>
          <a:prstGeom prst="rect">
            <a:avLst/>
          </a:prstGeom>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269734" y="0"/>
            <a:ext cx="11652531" cy="6858000"/>
          </a:xfrm>
          <a:prstGeom prst="rect">
            <a:avLst/>
          </a:prstGeom>
        </p:spPr>
      </p:pic>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4F8AD1-3FE6-C72A-C1A7-0B2F12CE56DE}"/>
              </a:ext>
            </a:extLst>
          </p:cNvPr>
          <p:cNvSpPr>
            <a:spLocks noGrp="1"/>
          </p:cNvSpPr>
          <p:nvPr>
            <p:ph type="title"/>
          </p:nvPr>
        </p:nvSpPr>
        <p:spPr/>
        <p:txBody>
          <a:bodyPr/>
          <a:lstStyle/>
          <a:p>
            <a:endParaRPr lang="zh-CN" altLang="en-US"/>
          </a:p>
        </p:txBody>
      </p:sp>
      <p:sp>
        <p:nvSpPr>
          <p:cNvPr id="3" name="内容占位符 2">
            <a:extLst>
              <a:ext uri="{FF2B5EF4-FFF2-40B4-BE49-F238E27FC236}">
                <a16:creationId xmlns:a16="http://schemas.microsoft.com/office/drawing/2014/main" id="{5D1F0EBA-496B-A66E-3EBF-247D952FE988}"/>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37C58A89-DF62-DBB2-E037-0244AE08A7E7}"/>
              </a:ext>
            </a:extLst>
          </p:cNvPr>
          <p:cNvPicPr>
            <a:picLocks noChangeAspect="1"/>
          </p:cNvPicPr>
          <p:nvPr/>
        </p:nvPicPr>
        <p:blipFill>
          <a:blip r:embed="rId2"/>
          <a:stretch>
            <a:fillRect/>
          </a:stretch>
        </p:blipFill>
        <p:spPr>
          <a:xfrm>
            <a:off x="876541" y="0"/>
            <a:ext cx="10438918" cy="6858000"/>
          </a:xfrm>
          <a:prstGeom prst="rect">
            <a:avLst/>
          </a:prstGeom>
        </p:spPr>
      </p:pic>
    </p:spTree>
    <p:extLst>
      <p:ext uri="{BB962C8B-B14F-4D97-AF65-F5344CB8AC3E}">
        <p14:creationId xmlns:p14="http://schemas.microsoft.com/office/powerpoint/2010/main" val="126224297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内容占位符 9">
            <a:extLst>
              <a:ext uri="{FF2B5EF4-FFF2-40B4-BE49-F238E27FC236}">
                <a16:creationId xmlns:a16="http://schemas.microsoft.com/office/drawing/2014/main" id="{85E723E6-A136-57B1-F02A-77195B37A665}"/>
              </a:ext>
            </a:extLst>
          </p:cNvPr>
          <p:cNvPicPr>
            <a:picLocks noGrp="1" noChangeAspect="1"/>
          </p:cNvPicPr>
          <p:nvPr>
            <p:ph sz="half" idx="2"/>
          </p:nvPr>
        </p:nvPicPr>
        <p:blipFill>
          <a:blip r:embed="rId2"/>
          <a:stretch>
            <a:fillRect/>
          </a:stretch>
        </p:blipFill>
        <p:spPr>
          <a:xfrm>
            <a:off x="83074" y="43844"/>
            <a:ext cx="3244815" cy="6770312"/>
          </a:xfrm>
        </p:spPr>
      </p:pic>
      <p:pic>
        <p:nvPicPr>
          <p:cNvPr id="12" name="内容占位符 11">
            <a:extLst>
              <a:ext uri="{FF2B5EF4-FFF2-40B4-BE49-F238E27FC236}">
                <a16:creationId xmlns:a16="http://schemas.microsoft.com/office/drawing/2014/main" id="{998717CA-1BF9-FF42-0384-431D08374AA7}"/>
              </a:ext>
            </a:extLst>
          </p:cNvPr>
          <p:cNvPicPr>
            <a:picLocks noGrp="1" noChangeAspect="1"/>
          </p:cNvPicPr>
          <p:nvPr>
            <p:ph sz="quarter" idx="4"/>
          </p:nvPr>
        </p:nvPicPr>
        <p:blipFill>
          <a:blip r:embed="rId3"/>
          <a:stretch>
            <a:fillRect/>
          </a:stretch>
        </p:blipFill>
        <p:spPr>
          <a:xfrm>
            <a:off x="1865377" y="43844"/>
            <a:ext cx="3157822" cy="6733411"/>
          </a:xfrm>
        </p:spPr>
      </p:pic>
      <p:pic>
        <p:nvPicPr>
          <p:cNvPr id="14" name="图片 13">
            <a:extLst>
              <a:ext uri="{FF2B5EF4-FFF2-40B4-BE49-F238E27FC236}">
                <a16:creationId xmlns:a16="http://schemas.microsoft.com/office/drawing/2014/main" id="{5F47ADC7-B31B-3244-11E1-B858BBFF8C6F}"/>
              </a:ext>
            </a:extLst>
          </p:cNvPr>
          <p:cNvPicPr>
            <a:picLocks noChangeAspect="1"/>
          </p:cNvPicPr>
          <p:nvPr/>
        </p:nvPicPr>
        <p:blipFill>
          <a:blip r:embed="rId4"/>
          <a:stretch>
            <a:fillRect/>
          </a:stretch>
        </p:blipFill>
        <p:spPr>
          <a:xfrm>
            <a:off x="3957270" y="0"/>
            <a:ext cx="2418233" cy="6739545"/>
          </a:xfrm>
          <a:prstGeom prst="rect">
            <a:avLst/>
          </a:prstGeom>
        </p:spPr>
      </p:pic>
      <p:pic>
        <p:nvPicPr>
          <p:cNvPr id="16" name="图片 15">
            <a:extLst>
              <a:ext uri="{FF2B5EF4-FFF2-40B4-BE49-F238E27FC236}">
                <a16:creationId xmlns:a16="http://schemas.microsoft.com/office/drawing/2014/main" id="{7E5893E8-7A3E-3F0A-57A6-12408A3CD02E}"/>
              </a:ext>
            </a:extLst>
          </p:cNvPr>
          <p:cNvPicPr>
            <a:picLocks noChangeAspect="1"/>
          </p:cNvPicPr>
          <p:nvPr/>
        </p:nvPicPr>
        <p:blipFill>
          <a:blip r:embed="rId5"/>
          <a:stretch>
            <a:fillRect/>
          </a:stretch>
        </p:blipFill>
        <p:spPr>
          <a:xfrm>
            <a:off x="6096000" y="-18451"/>
            <a:ext cx="2755783" cy="6858000"/>
          </a:xfrm>
          <a:prstGeom prst="rect">
            <a:avLst/>
          </a:prstGeom>
        </p:spPr>
      </p:pic>
      <p:pic>
        <p:nvPicPr>
          <p:cNvPr id="18" name="图片 17">
            <a:extLst>
              <a:ext uri="{FF2B5EF4-FFF2-40B4-BE49-F238E27FC236}">
                <a16:creationId xmlns:a16="http://schemas.microsoft.com/office/drawing/2014/main" id="{6F05125B-5464-74B4-104C-6DFC97DB1BDE}"/>
              </a:ext>
            </a:extLst>
          </p:cNvPr>
          <p:cNvPicPr>
            <a:picLocks noChangeAspect="1"/>
          </p:cNvPicPr>
          <p:nvPr/>
        </p:nvPicPr>
        <p:blipFill>
          <a:blip r:embed="rId6"/>
          <a:stretch>
            <a:fillRect/>
          </a:stretch>
        </p:blipFill>
        <p:spPr>
          <a:xfrm>
            <a:off x="8642074" y="-18451"/>
            <a:ext cx="3226279" cy="6858000"/>
          </a:xfrm>
          <a:prstGeom prst="rect">
            <a:avLst/>
          </a:prstGeom>
        </p:spPr>
      </p:pic>
    </p:spTree>
    <p:extLst>
      <p:ext uri="{BB962C8B-B14F-4D97-AF65-F5344CB8AC3E}">
        <p14:creationId xmlns:p14="http://schemas.microsoft.com/office/powerpoint/2010/main" val="49245215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06927" y="347449"/>
            <a:ext cx="8000081" cy="1574021"/>
          </a:xfrm>
          <a:prstGeom prst="rect">
            <a:avLst/>
          </a:prstGeom>
          <a:ln w="3245">
            <a:solidFill>
              <a:srgbClr val="0070C0"/>
            </a:solidFill>
          </a:ln>
        </p:spPr>
        <p:txBody>
          <a:bodyPr vert="horz" wrap="square" lIns="0" tIns="0" rIns="0" bIns="0" rtlCol="0" anchor="ctr">
            <a:spAutoFit/>
          </a:bodyPr>
          <a:lstStyle/>
          <a:p>
            <a:pPr marL="381911" marR="22032" indent="-337841">
              <a:lnSpc>
                <a:spcPct val="124600"/>
              </a:lnSpc>
            </a:pPr>
            <a:r>
              <a:rPr sz="2800" spc="72" dirty="0">
                <a:solidFill>
                  <a:srgbClr val="0099CC"/>
                </a:solidFill>
                <a:latin typeface="Arial"/>
                <a:cs typeface="Arial"/>
              </a:rPr>
              <a:t>LLM</a:t>
            </a:r>
            <a:r>
              <a:rPr sz="2800" spc="130" dirty="0">
                <a:solidFill>
                  <a:srgbClr val="0099CC"/>
                </a:solidFill>
              </a:rPr>
              <a:t>，是继数据库和搜索引擎之后的</a:t>
            </a:r>
            <a:r>
              <a:rPr sz="2800" spc="158" dirty="0">
                <a:solidFill>
                  <a:srgbClr val="0099CC"/>
                </a:solidFill>
                <a:latin typeface="Arial"/>
                <a:cs typeface="Arial"/>
              </a:rPr>
              <a:t>“</a:t>
            </a:r>
            <a:r>
              <a:rPr sz="2800" spc="130" dirty="0">
                <a:solidFill>
                  <a:srgbClr val="FF0000"/>
                </a:solidFill>
              </a:rPr>
              <a:t>全新⼀代知识表示和调⽤⽅式</a:t>
            </a:r>
            <a:r>
              <a:rPr sz="2800" spc="158" dirty="0">
                <a:solidFill>
                  <a:srgbClr val="0099CC"/>
                </a:solidFill>
                <a:latin typeface="Arial"/>
                <a:cs typeface="Arial"/>
              </a:rPr>
              <a:t>”</a:t>
            </a:r>
            <a:r>
              <a:rPr sz="2800" spc="86" dirty="0">
                <a:solidFill>
                  <a:srgbClr val="0099CC"/>
                </a:solidFill>
              </a:rPr>
              <a:t>， 将会极⼤改善⼈类的专业能⼒之间的</a:t>
            </a:r>
            <a:r>
              <a:rPr sz="2800" spc="86" dirty="0">
                <a:solidFill>
                  <a:srgbClr val="FF0000"/>
                </a:solidFill>
              </a:rPr>
              <a:t>交互</a:t>
            </a:r>
            <a:r>
              <a:rPr sz="2800" spc="86" dirty="0">
                <a:solidFill>
                  <a:srgbClr val="0099CC"/>
                </a:solidFill>
              </a:rPr>
              <a:t>⽅式。</a:t>
            </a:r>
            <a:endParaRPr sz="2800" dirty="0">
              <a:latin typeface="Arial"/>
              <a:cs typeface="Arial"/>
            </a:endParaRPr>
          </a:p>
        </p:txBody>
      </p:sp>
      <p:graphicFrame>
        <p:nvGraphicFramePr>
          <p:cNvPr id="3" name="object 3"/>
          <p:cNvGraphicFramePr>
            <a:graphicFrameLocks noGrp="1"/>
          </p:cNvGraphicFramePr>
          <p:nvPr/>
        </p:nvGraphicFramePr>
        <p:xfrm>
          <a:off x="932793" y="2215056"/>
          <a:ext cx="10326413" cy="4390185"/>
        </p:xfrm>
        <a:graphic>
          <a:graphicData uri="http://schemas.openxmlformats.org/drawingml/2006/table">
            <a:tbl>
              <a:tblPr firstRow="1" bandRow="1">
                <a:tableStyleId>{7DF18680-E054-41AD-8BC1-D1AEF772440D}</a:tableStyleId>
              </a:tblPr>
              <a:tblGrid>
                <a:gridCol w="2243996">
                  <a:extLst>
                    <a:ext uri="{9D8B030D-6E8A-4147-A177-3AD203B41FA5}">
                      <a16:colId xmlns:a16="http://schemas.microsoft.com/office/drawing/2014/main" val="20000"/>
                    </a:ext>
                  </a:extLst>
                </a:gridCol>
                <a:gridCol w="1747234">
                  <a:extLst>
                    <a:ext uri="{9D8B030D-6E8A-4147-A177-3AD203B41FA5}">
                      <a16:colId xmlns:a16="http://schemas.microsoft.com/office/drawing/2014/main" val="20001"/>
                    </a:ext>
                  </a:extLst>
                </a:gridCol>
                <a:gridCol w="2193701">
                  <a:extLst>
                    <a:ext uri="{9D8B030D-6E8A-4147-A177-3AD203B41FA5}">
                      <a16:colId xmlns:a16="http://schemas.microsoft.com/office/drawing/2014/main" val="20002"/>
                    </a:ext>
                  </a:extLst>
                </a:gridCol>
                <a:gridCol w="1790163">
                  <a:extLst>
                    <a:ext uri="{9D8B030D-6E8A-4147-A177-3AD203B41FA5}">
                      <a16:colId xmlns:a16="http://schemas.microsoft.com/office/drawing/2014/main" val="20003"/>
                    </a:ext>
                  </a:extLst>
                </a:gridCol>
                <a:gridCol w="2351319">
                  <a:extLst>
                    <a:ext uri="{9D8B030D-6E8A-4147-A177-3AD203B41FA5}">
                      <a16:colId xmlns:a16="http://schemas.microsoft.com/office/drawing/2014/main" val="20004"/>
                    </a:ext>
                  </a:extLst>
                </a:gridCol>
              </a:tblGrid>
              <a:tr h="789989">
                <a:tc>
                  <a:txBody>
                    <a:bodyPr/>
                    <a:lstStyle/>
                    <a:p>
                      <a:pPr marL="49530" algn="ctr">
                        <a:lnSpc>
                          <a:spcPct val="100000"/>
                        </a:lnSpc>
                      </a:pPr>
                      <a:r>
                        <a:rPr sz="2400" b="0" dirty="0">
                          <a:solidFill>
                            <a:srgbClr val="FFC000"/>
                          </a:solidFill>
                        </a:rPr>
                        <a:t>知识表示⽅式</a:t>
                      </a:r>
                      <a:endParaRPr sz="2400" dirty="0">
                        <a:solidFill>
                          <a:srgbClr val="FFC000"/>
                        </a:solidFill>
                        <a:latin typeface="Microsoft JhengHei UI Light"/>
                        <a:cs typeface="Microsoft JhengHei UI Light"/>
                      </a:endParaRPr>
                    </a:p>
                  </a:txBody>
                  <a:tcPr marL="0" marR="0" marT="0" marB="0"/>
                </a:tc>
                <a:tc>
                  <a:txBody>
                    <a:bodyPr/>
                    <a:lstStyle/>
                    <a:p>
                      <a:pPr marL="71120" algn="ctr">
                        <a:lnSpc>
                          <a:spcPct val="100000"/>
                        </a:lnSpc>
                      </a:pPr>
                      <a:r>
                        <a:rPr sz="2400" b="0" dirty="0">
                          <a:solidFill>
                            <a:srgbClr val="FFC000"/>
                          </a:solidFill>
                        </a:rPr>
                        <a:t>调⽤⽅式</a:t>
                      </a:r>
                      <a:endParaRPr sz="2400" dirty="0">
                        <a:solidFill>
                          <a:srgbClr val="FFC000"/>
                        </a:solidFill>
                        <a:latin typeface="Microsoft JhengHei UI Light"/>
                        <a:cs typeface="Microsoft JhengHei UI Light"/>
                      </a:endParaRPr>
                    </a:p>
                  </a:txBody>
                  <a:tcPr marL="0" marR="0" marT="0" marB="0"/>
                </a:tc>
                <a:tc>
                  <a:txBody>
                    <a:bodyPr/>
                    <a:lstStyle/>
                    <a:p>
                      <a:pPr marL="123189" algn="ctr">
                        <a:lnSpc>
                          <a:spcPct val="100000"/>
                        </a:lnSpc>
                      </a:pPr>
                      <a:r>
                        <a:rPr sz="2400" b="0" dirty="0">
                          <a:solidFill>
                            <a:srgbClr val="FFC000"/>
                          </a:solidFill>
                        </a:rPr>
                        <a:t>研究领域</a:t>
                      </a:r>
                      <a:endParaRPr sz="2400" dirty="0">
                        <a:solidFill>
                          <a:srgbClr val="FFC000"/>
                        </a:solidFill>
                        <a:latin typeface="Microsoft JhengHei UI Light"/>
                        <a:cs typeface="Microsoft JhengHei UI Light"/>
                      </a:endParaRPr>
                    </a:p>
                  </a:txBody>
                  <a:tcPr marL="0" marR="0" marT="0" marB="0"/>
                </a:tc>
                <a:tc>
                  <a:txBody>
                    <a:bodyPr/>
                    <a:lstStyle/>
                    <a:p>
                      <a:pPr marL="71120" algn="ctr">
                        <a:lnSpc>
                          <a:spcPct val="100000"/>
                        </a:lnSpc>
                      </a:pPr>
                      <a:r>
                        <a:rPr sz="2400" b="0" dirty="0">
                          <a:solidFill>
                            <a:srgbClr val="FFC000"/>
                          </a:solidFill>
                        </a:rPr>
                        <a:t>代表应⽤</a:t>
                      </a:r>
                      <a:endParaRPr sz="2400" dirty="0">
                        <a:solidFill>
                          <a:srgbClr val="FFC000"/>
                        </a:solidFill>
                        <a:latin typeface="Microsoft JhengHei UI Light"/>
                        <a:cs typeface="Microsoft JhengHei UI Light"/>
                      </a:endParaRPr>
                    </a:p>
                  </a:txBody>
                  <a:tcPr marL="0" marR="0" marT="0" marB="0"/>
                </a:tc>
                <a:tc>
                  <a:txBody>
                    <a:bodyPr/>
                    <a:lstStyle/>
                    <a:p>
                      <a:pPr marL="97155" algn="ctr">
                        <a:lnSpc>
                          <a:spcPct val="100000"/>
                        </a:lnSpc>
                      </a:pPr>
                      <a:r>
                        <a:rPr sz="2400" b="0" dirty="0">
                          <a:solidFill>
                            <a:srgbClr val="FFC000"/>
                          </a:solidFill>
                        </a:rPr>
                        <a:t>代表公司</a:t>
                      </a:r>
                      <a:endParaRPr sz="2400" dirty="0">
                        <a:solidFill>
                          <a:srgbClr val="FFC000"/>
                        </a:solidFill>
                        <a:latin typeface="Microsoft JhengHei UI Light"/>
                        <a:cs typeface="Microsoft JhengHei UI Light"/>
                      </a:endParaRPr>
                    </a:p>
                  </a:txBody>
                  <a:tcPr marL="0" marR="0" marT="0" marB="0"/>
                </a:tc>
                <a:extLst>
                  <a:ext uri="{0D108BD9-81ED-4DB2-BD59-A6C34878D82A}">
                    <a16:rowId xmlns:a16="http://schemas.microsoft.com/office/drawing/2014/main" val="10000"/>
                  </a:ext>
                </a:extLst>
              </a:tr>
              <a:tr h="983631">
                <a:tc>
                  <a:txBody>
                    <a:bodyPr/>
                    <a:lstStyle/>
                    <a:p>
                      <a:pPr marL="116205" algn="ctr">
                        <a:lnSpc>
                          <a:spcPct val="100000"/>
                        </a:lnSpc>
                      </a:pPr>
                      <a:r>
                        <a:rPr sz="1800" b="0" dirty="0">
                          <a:solidFill>
                            <a:srgbClr val="0070C0"/>
                          </a:solidFill>
                        </a:rPr>
                        <a:t>关系数据库</a:t>
                      </a:r>
                      <a:endParaRPr sz="1800">
                        <a:latin typeface="Microsoft JhengHei UI Light"/>
                        <a:cs typeface="Microsoft JhengHei UI Light"/>
                      </a:endParaRPr>
                    </a:p>
                  </a:txBody>
                  <a:tcPr marL="0" marR="0" marT="0" marB="0"/>
                </a:tc>
                <a:tc>
                  <a:txBody>
                    <a:bodyPr/>
                    <a:lstStyle/>
                    <a:p>
                      <a:pPr algn="ctr">
                        <a:lnSpc>
                          <a:spcPct val="100000"/>
                        </a:lnSpc>
                      </a:pPr>
                      <a:r>
                        <a:rPr sz="1800" dirty="0">
                          <a:solidFill>
                            <a:srgbClr val="0070C0"/>
                          </a:solidFill>
                        </a:rPr>
                        <a:t>SQL</a:t>
                      </a:r>
                      <a:endParaRPr sz="1800" dirty="0">
                        <a:latin typeface="Arial"/>
                        <a:cs typeface="Arial"/>
                      </a:endParaRPr>
                    </a:p>
                  </a:txBody>
                  <a:tcPr marL="0" marR="0" marT="0" marB="0"/>
                </a:tc>
                <a:tc>
                  <a:txBody>
                    <a:bodyPr/>
                    <a:lstStyle/>
                    <a:p>
                      <a:pPr marL="181610" algn="ctr">
                        <a:lnSpc>
                          <a:spcPct val="100000"/>
                        </a:lnSpc>
                      </a:pPr>
                      <a:r>
                        <a:rPr sz="1800" b="0" dirty="0">
                          <a:solidFill>
                            <a:srgbClr val="0070C0"/>
                          </a:solidFill>
                        </a:rPr>
                        <a:t>数据库</a:t>
                      </a:r>
                      <a:endParaRPr sz="1800">
                        <a:latin typeface="Microsoft JhengHei UI Light"/>
                        <a:cs typeface="Microsoft JhengHei UI Light"/>
                      </a:endParaRPr>
                    </a:p>
                  </a:txBody>
                  <a:tcPr marL="0" marR="0" marT="0" marB="0"/>
                </a:tc>
                <a:tc>
                  <a:txBody>
                    <a:bodyPr/>
                    <a:lstStyle/>
                    <a:p>
                      <a:pPr marL="135890" algn="ctr">
                        <a:lnSpc>
                          <a:spcPct val="100000"/>
                        </a:lnSpc>
                      </a:pPr>
                      <a:r>
                        <a:rPr sz="1800" dirty="0">
                          <a:solidFill>
                            <a:srgbClr val="0070C0"/>
                          </a:solidFill>
                        </a:rPr>
                        <a:t>DBMS</a:t>
                      </a:r>
                      <a:endParaRPr sz="1800">
                        <a:latin typeface="Arial"/>
                        <a:cs typeface="Arial"/>
                      </a:endParaRPr>
                    </a:p>
                  </a:txBody>
                  <a:tcPr marL="0" marR="0" marT="0" marB="0"/>
                </a:tc>
                <a:tc>
                  <a:txBody>
                    <a:bodyPr/>
                    <a:lstStyle/>
                    <a:p>
                      <a:pPr marL="107314" marR="99695" indent="45720" algn="ctr">
                        <a:lnSpc>
                          <a:spcPct val="118300"/>
                        </a:lnSpc>
                      </a:pPr>
                      <a:r>
                        <a:rPr sz="1800" dirty="0">
                          <a:solidFill>
                            <a:srgbClr val="0070C0"/>
                          </a:solidFill>
                        </a:rPr>
                        <a:t>O</a:t>
                      </a:r>
                      <a:r>
                        <a:rPr sz="1800" spc="-10" dirty="0">
                          <a:solidFill>
                            <a:srgbClr val="0070C0"/>
                          </a:solidFill>
                        </a:rPr>
                        <a:t>r</a:t>
                      </a:r>
                      <a:r>
                        <a:rPr sz="1800" dirty="0">
                          <a:solidFill>
                            <a:srgbClr val="0070C0"/>
                          </a:solidFill>
                        </a:rPr>
                        <a:t>acle Mic</a:t>
                      </a:r>
                      <a:r>
                        <a:rPr sz="1800" spc="-15" dirty="0">
                          <a:solidFill>
                            <a:srgbClr val="0070C0"/>
                          </a:solidFill>
                        </a:rPr>
                        <a:t>r</a:t>
                      </a:r>
                      <a:r>
                        <a:rPr sz="1800" dirty="0">
                          <a:solidFill>
                            <a:srgbClr val="0070C0"/>
                          </a:solidFill>
                        </a:rPr>
                        <a:t>oso</a:t>
                      </a:r>
                      <a:r>
                        <a:rPr sz="1800" spc="-10" dirty="0">
                          <a:solidFill>
                            <a:srgbClr val="0070C0"/>
                          </a:solidFill>
                        </a:rPr>
                        <a:t>f</a:t>
                      </a:r>
                      <a:r>
                        <a:rPr sz="1800" dirty="0">
                          <a:solidFill>
                            <a:srgbClr val="0070C0"/>
                          </a:solidFill>
                        </a:rPr>
                        <a:t>t</a:t>
                      </a:r>
                      <a:endParaRPr sz="1800">
                        <a:latin typeface="Arial"/>
                        <a:cs typeface="Arial"/>
                      </a:endParaRPr>
                    </a:p>
                  </a:txBody>
                  <a:tcPr marL="0" marR="0" marT="0" marB="0"/>
                </a:tc>
                <a:extLst>
                  <a:ext uri="{0D108BD9-81ED-4DB2-BD59-A6C34878D82A}">
                    <a16:rowId xmlns:a16="http://schemas.microsoft.com/office/drawing/2014/main" val="10001"/>
                  </a:ext>
                </a:extLst>
              </a:tr>
              <a:tr h="1247239">
                <a:tc>
                  <a:txBody>
                    <a:bodyPr/>
                    <a:lstStyle/>
                    <a:p>
                      <a:pPr marL="192405" algn="ctr">
                        <a:lnSpc>
                          <a:spcPct val="100000"/>
                        </a:lnSpc>
                      </a:pPr>
                      <a:r>
                        <a:rPr sz="1800" b="0" dirty="0" err="1">
                          <a:solidFill>
                            <a:srgbClr val="0070C0"/>
                          </a:solidFill>
                        </a:rPr>
                        <a:t>互联</a:t>
                      </a:r>
                      <a:r>
                        <a:rPr sz="1800" b="0" dirty="0">
                          <a:solidFill>
                            <a:srgbClr val="0070C0"/>
                          </a:solidFill>
                        </a:rPr>
                        <a:t>⽹</a:t>
                      </a:r>
                      <a:r>
                        <a:rPr lang="zh-CN" altLang="en-US" sz="1800" b="0" dirty="0">
                          <a:solidFill>
                            <a:srgbClr val="0070C0"/>
                          </a:solidFill>
                        </a:rPr>
                        <a:t>（</a:t>
                      </a:r>
                      <a:r>
                        <a:rPr lang="en-US" altLang="zh-CN" sz="1800" b="0" dirty="0">
                          <a:solidFill>
                            <a:srgbClr val="0070C0"/>
                          </a:solidFill>
                        </a:rPr>
                        <a:t>Web</a:t>
                      </a:r>
                      <a:r>
                        <a:rPr lang="zh-CN" altLang="en-US" sz="1800" b="0" dirty="0">
                          <a:solidFill>
                            <a:srgbClr val="0070C0"/>
                          </a:solidFill>
                        </a:rPr>
                        <a:t>技术）</a:t>
                      </a:r>
                      <a:endParaRPr sz="1800" dirty="0">
                        <a:latin typeface="Microsoft JhengHei UI Light"/>
                        <a:cs typeface="Microsoft JhengHei UI Light"/>
                      </a:endParaRPr>
                    </a:p>
                  </a:txBody>
                  <a:tcPr marL="0" marR="0" marT="0" marB="0"/>
                </a:tc>
                <a:tc>
                  <a:txBody>
                    <a:bodyPr/>
                    <a:lstStyle/>
                    <a:p>
                      <a:pPr marL="71120" algn="ctr">
                        <a:lnSpc>
                          <a:spcPct val="100000"/>
                        </a:lnSpc>
                      </a:pPr>
                      <a:r>
                        <a:rPr sz="1800" spc="-20" dirty="0">
                          <a:solidFill>
                            <a:srgbClr val="0070C0"/>
                          </a:solidFill>
                        </a:rPr>
                        <a:t>K</a:t>
                      </a:r>
                      <a:r>
                        <a:rPr sz="1800" dirty="0">
                          <a:solidFill>
                            <a:srgbClr val="0070C0"/>
                          </a:solidFill>
                        </a:rPr>
                        <a:t>eywo</a:t>
                      </a:r>
                      <a:r>
                        <a:rPr sz="1800" spc="-15" dirty="0">
                          <a:solidFill>
                            <a:srgbClr val="0070C0"/>
                          </a:solidFill>
                        </a:rPr>
                        <a:t>r</a:t>
                      </a:r>
                      <a:r>
                        <a:rPr sz="1800" dirty="0">
                          <a:solidFill>
                            <a:srgbClr val="0070C0"/>
                          </a:solidFill>
                        </a:rPr>
                        <a:t>ds</a:t>
                      </a:r>
                      <a:endParaRPr sz="1800" dirty="0">
                        <a:latin typeface="Arial"/>
                        <a:cs typeface="Arial"/>
                      </a:endParaRPr>
                    </a:p>
                  </a:txBody>
                  <a:tcPr marL="0" marR="0" marT="0" marB="0"/>
                </a:tc>
                <a:tc>
                  <a:txBody>
                    <a:bodyPr/>
                    <a:lstStyle/>
                    <a:p>
                      <a:pPr marL="140335" algn="ctr">
                        <a:lnSpc>
                          <a:spcPct val="100000"/>
                        </a:lnSpc>
                      </a:pPr>
                      <a:r>
                        <a:rPr sz="1800" b="0" dirty="0">
                          <a:solidFill>
                            <a:srgbClr val="FF0000"/>
                          </a:solidFill>
                        </a:rPr>
                        <a:t>信息检索</a:t>
                      </a:r>
                      <a:endParaRPr sz="1800" dirty="0">
                        <a:solidFill>
                          <a:srgbClr val="FF0000"/>
                        </a:solidFill>
                        <a:latin typeface="Microsoft JhengHei UI Light"/>
                        <a:cs typeface="Microsoft JhengHei UI Light"/>
                      </a:endParaRPr>
                    </a:p>
                  </a:txBody>
                  <a:tcPr marL="0" marR="0" marT="0" marB="0"/>
                </a:tc>
                <a:tc>
                  <a:txBody>
                    <a:bodyPr/>
                    <a:lstStyle/>
                    <a:p>
                      <a:pPr marL="88265" algn="ctr">
                        <a:lnSpc>
                          <a:spcPct val="100000"/>
                        </a:lnSpc>
                      </a:pPr>
                      <a:r>
                        <a:rPr sz="1800" b="0" dirty="0">
                          <a:solidFill>
                            <a:srgbClr val="0070C0"/>
                          </a:solidFill>
                        </a:rPr>
                        <a:t>搜索引擎</a:t>
                      </a:r>
                      <a:endParaRPr sz="1800">
                        <a:latin typeface="Microsoft JhengHei UI Light"/>
                        <a:cs typeface="Microsoft JhengHei UI Light"/>
                      </a:endParaRPr>
                    </a:p>
                  </a:txBody>
                  <a:tcPr marL="0" marR="0" marT="0" marB="0"/>
                </a:tc>
                <a:tc>
                  <a:txBody>
                    <a:bodyPr/>
                    <a:lstStyle/>
                    <a:p>
                      <a:pPr marL="104775" marR="97155" indent="30480" algn="ctr">
                        <a:lnSpc>
                          <a:spcPct val="118300"/>
                        </a:lnSpc>
                      </a:pPr>
                      <a:r>
                        <a:rPr sz="1800" dirty="0">
                          <a:solidFill>
                            <a:srgbClr val="0070C0"/>
                          </a:solidFill>
                        </a:rPr>
                        <a:t>Google Mic</a:t>
                      </a:r>
                      <a:r>
                        <a:rPr sz="1800" spc="-15" dirty="0">
                          <a:solidFill>
                            <a:srgbClr val="0070C0"/>
                          </a:solidFill>
                        </a:rPr>
                        <a:t>r</a:t>
                      </a:r>
                      <a:r>
                        <a:rPr sz="1800" dirty="0">
                          <a:solidFill>
                            <a:srgbClr val="0070C0"/>
                          </a:solidFill>
                        </a:rPr>
                        <a:t>oso</a:t>
                      </a:r>
                      <a:r>
                        <a:rPr sz="1800" spc="-10" dirty="0">
                          <a:solidFill>
                            <a:srgbClr val="0070C0"/>
                          </a:solidFill>
                        </a:rPr>
                        <a:t>f</a:t>
                      </a:r>
                      <a:r>
                        <a:rPr sz="1800" dirty="0">
                          <a:solidFill>
                            <a:srgbClr val="0070C0"/>
                          </a:solidFill>
                        </a:rPr>
                        <a:t>t</a:t>
                      </a:r>
                      <a:endParaRPr sz="1800">
                        <a:latin typeface="Arial"/>
                        <a:cs typeface="Arial"/>
                      </a:endParaRPr>
                    </a:p>
                  </a:txBody>
                  <a:tcPr marL="0" marR="0" marT="0" marB="0"/>
                </a:tc>
                <a:extLst>
                  <a:ext uri="{0D108BD9-81ED-4DB2-BD59-A6C34878D82A}">
                    <a16:rowId xmlns:a16="http://schemas.microsoft.com/office/drawing/2014/main" val="10002"/>
                  </a:ext>
                </a:extLst>
              </a:tr>
              <a:tr h="1369326">
                <a:tc>
                  <a:txBody>
                    <a:bodyPr/>
                    <a:lstStyle/>
                    <a:p>
                      <a:pPr marL="116205" algn="ctr">
                        <a:lnSpc>
                          <a:spcPct val="100000"/>
                        </a:lnSpc>
                      </a:pPr>
                      <a:r>
                        <a:rPr sz="1800" b="0" dirty="0">
                          <a:solidFill>
                            <a:srgbClr val="FF0000"/>
                          </a:solidFill>
                        </a:rPr>
                        <a:t>⼤</a:t>
                      </a:r>
                      <a:r>
                        <a:rPr sz="1800" b="0" dirty="0" err="1">
                          <a:solidFill>
                            <a:srgbClr val="FF0000"/>
                          </a:solidFill>
                        </a:rPr>
                        <a:t>语⾔模型</a:t>
                      </a:r>
                      <a:endParaRPr lang="en-US" sz="1800" b="0" dirty="0">
                        <a:solidFill>
                          <a:srgbClr val="FF0000"/>
                        </a:solidFill>
                      </a:endParaRPr>
                    </a:p>
                    <a:p>
                      <a:pPr marL="116205" algn="ctr">
                        <a:lnSpc>
                          <a:spcPct val="100000"/>
                        </a:lnSpc>
                      </a:pPr>
                      <a:r>
                        <a:rPr lang="zh-CN" altLang="en-US" sz="1800" b="0" dirty="0">
                          <a:solidFill>
                            <a:srgbClr val="FF0000"/>
                          </a:solidFill>
                          <a:latin typeface="Microsoft JhengHei UI Light"/>
                          <a:cs typeface="Microsoft JhengHei UI Light"/>
                        </a:rPr>
                        <a:t>（</a:t>
                      </a:r>
                      <a:r>
                        <a:rPr lang="en-US" altLang="zh-CN" sz="1800" b="0" dirty="0">
                          <a:solidFill>
                            <a:srgbClr val="FF0000"/>
                          </a:solidFill>
                          <a:latin typeface="Microsoft JhengHei UI Light"/>
                          <a:cs typeface="Microsoft JhengHei UI Light"/>
                        </a:rPr>
                        <a:t>LLM</a:t>
                      </a:r>
                      <a:r>
                        <a:rPr lang="zh-CN" altLang="en-US" sz="1800" b="0" dirty="0">
                          <a:solidFill>
                            <a:srgbClr val="FF0000"/>
                          </a:solidFill>
                          <a:latin typeface="Microsoft JhengHei UI Light"/>
                          <a:cs typeface="Microsoft JhengHei UI Light"/>
                        </a:rPr>
                        <a:t>）</a:t>
                      </a:r>
                      <a:endParaRPr sz="1800" dirty="0">
                        <a:latin typeface="Microsoft JhengHei UI Light"/>
                        <a:cs typeface="Microsoft JhengHei UI Light"/>
                      </a:endParaRPr>
                    </a:p>
                  </a:txBody>
                  <a:tcPr marL="0" marR="0" marT="0" marB="0"/>
                </a:tc>
                <a:tc>
                  <a:txBody>
                    <a:bodyPr/>
                    <a:lstStyle/>
                    <a:p>
                      <a:pPr marL="90805" algn="ctr">
                        <a:lnSpc>
                          <a:spcPct val="100000"/>
                        </a:lnSpc>
                      </a:pPr>
                      <a:r>
                        <a:rPr sz="1800" b="0" dirty="0">
                          <a:solidFill>
                            <a:srgbClr val="FF0000"/>
                          </a:solidFill>
                        </a:rPr>
                        <a:t>⾃然语⾔</a:t>
                      </a:r>
                      <a:endParaRPr sz="1800">
                        <a:latin typeface="Microsoft JhengHei UI Light"/>
                        <a:cs typeface="Microsoft JhengHei UI Light"/>
                      </a:endParaRPr>
                    </a:p>
                  </a:txBody>
                  <a:tcPr marL="0" marR="0" marT="0" marB="0"/>
                </a:tc>
                <a:tc>
                  <a:txBody>
                    <a:bodyPr/>
                    <a:lstStyle/>
                    <a:p>
                      <a:pPr marL="64769" algn="ctr">
                        <a:lnSpc>
                          <a:spcPct val="100000"/>
                        </a:lnSpc>
                      </a:pPr>
                      <a:r>
                        <a:rPr sz="1800" b="0" dirty="0">
                          <a:solidFill>
                            <a:srgbClr val="FF0000"/>
                          </a:solidFill>
                        </a:rPr>
                        <a:t>⾃</a:t>
                      </a:r>
                      <a:r>
                        <a:rPr sz="1800" b="0" dirty="0" err="1">
                          <a:solidFill>
                            <a:srgbClr val="FF0000"/>
                          </a:solidFill>
                        </a:rPr>
                        <a:t>然语⾔理解</a:t>
                      </a:r>
                      <a:endParaRPr lang="en-US" sz="1800" b="0" dirty="0">
                        <a:solidFill>
                          <a:srgbClr val="FF0000"/>
                        </a:solidFill>
                      </a:endParaRPr>
                    </a:p>
                    <a:p>
                      <a:pPr marL="64769" algn="ctr">
                        <a:lnSpc>
                          <a:spcPct val="100000"/>
                        </a:lnSpc>
                      </a:pPr>
                      <a:r>
                        <a:rPr lang="en-US" sz="1800" b="0" dirty="0">
                          <a:solidFill>
                            <a:srgbClr val="FF0000"/>
                          </a:solidFill>
                          <a:latin typeface="Microsoft JhengHei UI Light"/>
                          <a:cs typeface="Microsoft JhengHei UI Light"/>
                        </a:rPr>
                        <a:t>(NLP)</a:t>
                      </a:r>
                      <a:endParaRPr sz="1800" dirty="0">
                        <a:latin typeface="Microsoft JhengHei UI Light"/>
                        <a:cs typeface="Microsoft JhengHei UI Light"/>
                      </a:endParaRPr>
                    </a:p>
                  </a:txBody>
                  <a:tcPr marL="0" marR="0" marT="0" marB="0"/>
                </a:tc>
                <a:tc>
                  <a:txBody>
                    <a:bodyPr/>
                    <a:lstStyle/>
                    <a:p>
                      <a:pPr marL="87630" algn="ctr">
                        <a:lnSpc>
                          <a:spcPct val="100000"/>
                        </a:lnSpc>
                      </a:pPr>
                      <a:r>
                        <a:rPr sz="1800" kern="1200" dirty="0" err="1">
                          <a:solidFill>
                            <a:srgbClr val="FF0000"/>
                          </a:solidFill>
                          <a:latin typeface="Arial"/>
                          <a:ea typeface="+mn-ea"/>
                          <a:cs typeface="Arial"/>
                        </a:rPr>
                        <a:t>ChatGPT</a:t>
                      </a:r>
                      <a:endParaRPr lang="en-US" sz="1800" kern="1200" dirty="0">
                        <a:solidFill>
                          <a:srgbClr val="FF0000"/>
                        </a:solidFill>
                        <a:latin typeface="Arial"/>
                        <a:ea typeface="+mn-ea"/>
                        <a:cs typeface="Arial"/>
                      </a:endParaRPr>
                    </a:p>
                    <a:p>
                      <a:pPr marL="87630" algn="ctr">
                        <a:lnSpc>
                          <a:spcPct val="100000"/>
                        </a:lnSpc>
                      </a:pPr>
                      <a:r>
                        <a:rPr lang="en-US" altLang="zh-CN" sz="1800" dirty="0" err="1">
                          <a:solidFill>
                            <a:srgbClr val="FF0000"/>
                          </a:solidFill>
                          <a:latin typeface="Arial"/>
                          <a:cs typeface="Arial"/>
                        </a:rPr>
                        <a:t>DeepSeek</a:t>
                      </a:r>
                      <a:endParaRPr lang="en-US" altLang="zh-CN" sz="1800" dirty="0">
                        <a:solidFill>
                          <a:srgbClr val="FF0000"/>
                        </a:solidFill>
                        <a:latin typeface="Arial"/>
                        <a:cs typeface="Arial"/>
                      </a:endParaRPr>
                    </a:p>
                    <a:p>
                      <a:pPr marL="87630" algn="ctr">
                        <a:lnSpc>
                          <a:spcPct val="100000"/>
                        </a:lnSpc>
                      </a:pPr>
                      <a:r>
                        <a:rPr lang="en-US" sz="1800" dirty="0">
                          <a:solidFill>
                            <a:srgbClr val="FF0000"/>
                          </a:solidFill>
                          <a:latin typeface="Arial"/>
                          <a:cs typeface="Arial"/>
                        </a:rPr>
                        <a:t>Gemini</a:t>
                      </a:r>
                      <a:endParaRPr sz="1800" dirty="0">
                        <a:latin typeface="Arial"/>
                        <a:cs typeface="Arial"/>
                      </a:endParaRPr>
                    </a:p>
                  </a:txBody>
                  <a:tcPr marL="0" marR="0" marT="0" marB="0"/>
                </a:tc>
                <a:tc>
                  <a:txBody>
                    <a:bodyPr/>
                    <a:lstStyle/>
                    <a:p>
                      <a:pPr marL="87630" marR="99695" algn="ctr" defTabSz="914400" rtl="0" eaLnBrk="1" latinLnBrk="0" hangingPunct="1">
                        <a:lnSpc>
                          <a:spcPct val="100000"/>
                        </a:lnSpc>
                      </a:pPr>
                      <a:r>
                        <a:rPr sz="1800" kern="1200" dirty="0">
                          <a:solidFill>
                            <a:srgbClr val="FF0000"/>
                          </a:solidFill>
                          <a:latin typeface="Arial"/>
                          <a:ea typeface="+mn-ea"/>
                          <a:cs typeface="Arial"/>
                        </a:rPr>
                        <a:t>OpenAI Microsoft Google</a:t>
                      </a:r>
                    </a:p>
                  </a:txBody>
                  <a:tcPr marL="0" marR="0" marT="0" marB="0"/>
                </a:tc>
                <a:extLst>
                  <a:ext uri="{0D108BD9-81ED-4DB2-BD59-A6C34878D82A}">
                    <a16:rowId xmlns:a16="http://schemas.microsoft.com/office/drawing/2014/main" val="10003"/>
                  </a:ext>
                </a:extLst>
              </a:tr>
            </a:tbl>
          </a:graphicData>
        </a:graphic>
      </p:graphicFrame>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FA8F29-1615-4E3C-A73F-E34307BA5AEC}"/>
              </a:ext>
            </a:extLst>
          </p:cNvPr>
          <p:cNvSpPr>
            <a:spLocks noGrp="1"/>
          </p:cNvSpPr>
          <p:nvPr>
            <p:ph type="title"/>
          </p:nvPr>
        </p:nvSpPr>
        <p:spPr/>
        <p:txBody>
          <a:bodyPr/>
          <a:lstStyle/>
          <a:p>
            <a:pPr algn="ctr"/>
            <a:r>
              <a:rPr lang="en-US" altLang="zh-CN" dirty="0"/>
              <a:t>AI</a:t>
            </a:r>
            <a:r>
              <a:rPr lang="zh-CN" altLang="en-US" dirty="0"/>
              <a:t>应用三角定律：语料、算力、算法</a:t>
            </a:r>
          </a:p>
        </p:txBody>
      </p:sp>
      <p:sp>
        <p:nvSpPr>
          <p:cNvPr id="3" name="内容占位符 2">
            <a:extLst>
              <a:ext uri="{FF2B5EF4-FFF2-40B4-BE49-F238E27FC236}">
                <a16:creationId xmlns:a16="http://schemas.microsoft.com/office/drawing/2014/main" id="{603CCD45-7420-4211-BEA9-9C5E30DBA686}"/>
              </a:ext>
            </a:extLst>
          </p:cNvPr>
          <p:cNvSpPr>
            <a:spLocks noGrp="1"/>
          </p:cNvSpPr>
          <p:nvPr>
            <p:ph idx="1"/>
          </p:nvPr>
        </p:nvSpPr>
        <p:spPr>
          <a:xfrm>
            <a:off x="838200" y="1785870"/>
            <a:ext cx="10515600" cy="2313905"/>
          </a:xfrm>
        </p:spPr>
        <p:txBody>
          <a:bodyPr>
            <a:normAutofit fontScale="85000" lnSpcReduction="20000"/>
          </a:bodyPr>
          <a:lstStyle/>
          <a:p>
            <a:pPr algn="ctr"/>
            <a:endParaRPr lang="en-US" altLang="zh-CN" dirty="0"/>
          </a:p>
          <a:p>
            <a:pPr algn="ctr"/>
            <a:r>
              <a:rPr lang="zh-CN" altLang="en-US" dirty="0"/>
              <a:t>语料：本地文献；算力：</a:t>
            </a:r>
            <a:r>
              <a:rPr lang="en-US" altLang="zh-CN" dirty="0"/>
              <a:t>API</a:t>
            </a:r>
            <a:r>
              <a:rPr lang="zh-CN" altLang="en-US" dirty="0"/>
              <a:t>；算法：</a:t>
            </a:r>
            <a:r>
              <a:rPr lang="en-US" altLang="zh-CN" dirty="0"/>
              <a:t> Transformer</a:t>
            </a:r>
          </a:p>
          <a:p>
            <a:pPr algn="ctr"/>
            <a:endParaRPr lang="en-US" altLang="zh-CN" dirty="0"/>
          </a:p>
          <a:p>
            <a:pPr algn="ctr"/>
            <a:r>
              <a:rPr lang="zh-CN" altLang="en-US" dirty="0"/>
              <a:t>实质是利用</a:t>
            </a:r>
            <a:r>
              <a:rPr lang="en-US" altLang="zh-CN" dirty="0"/>
              <a:t>Transformer</a:t>
            </a:r>
            <a:r>
              <a:rPr lang="zh-CN" altLang="en-US" dirty="0"/>
              <a:t>中的多头注意力机制</a:t>
            </a:r>
            <a:endParaRPr lang="en-US" altLang="zh-CN" dirty="0"/>
          </a:p>
          <a:p>
            <a:pPr algn="ctr"/>
            <a:endParaRPr lang="en-US" altLang="zh-CN" dirty="0"/>
          </a:p>
          <a:p>
            <a:pPr algn="ctr"/>
            <a:r>
              <a:rPr lang="zh-CN" altLang="en-US" dirty="0"/>
              <a:t>其实就帮助整理一下文字</a:t>
            </a:r>
          </a:p>
        </p:txBody>
      </p:sp>
      <p:graphicFrame>
        <p:nvGraphicFramePr>
          <p:cNvPr id="4" name="表格 4">
            <a:extLst>
              <a:ext uri="{FF2B5EF4-FFF2-40B4-BE49-F238E27FC236}">
                <a16:creationId xmlns:a16="http://schemas.microsoft.com/office/drawing/2014/main" id="{2E380AC9-A6C8-4D64-9417-386A8C1B7AA2}"/>
              </a:ext>
            </a:extLst>
          </p:cNvPr>
          <p:cNvGraphicFramePr>
            <a:graphicFrameLocks noGrp="1"/>
          </p:cNvGraphicFramePr>
          <p:nvPr/>
        </p:nvGraphicFramePr>
        <p:xfrm>
          <a:off x="2096395" y="4235598"/>
          <a:ext cx="8127999" cy="1854200"/>
        </p:xfrm>
        <a:graphic>
          <a:graphicData uri="http://schemas.openxmlformats.org/drawingml/2006/table">
            <a:tbl>
              <a:tblPr firstRow="1" bandRow="1">
                <a:tableStyleId>{5C22544A-7EE6-4342-B048-85BDC9FD1C3A}</a:tableStyleId>
              </a:tblPr>
              <a:tblGrid>
                <a:gridCol w="2024845">
                  <a:extLst>
                    <a:ext uri="{9D8B030D-6E8A-4147-A177-3AD203B41FA5}">
                      <a16:colId xmlns:a16="http://schemas.microsoft.com/office/drawing/2014/main" val="2214477799"/>
                    </a:ext>
                  </a:extLst>
                </a:gridCol>
                <a:gridCol w="2228045">
                  <a:extLst>
                    <a:ext uri="{9D8B030D-6E8A-4147-A177-3AD203B41FA5}">
                      <a16:colId xmlns:a16="http://schemas.microsoft.com/office/drawing/2014/main" val="3992762191"/>
                    </a:ext>
                  </a:extLst>
                </a:gridCol>
                <a:gridCol w="3875109">
                  <a:extLst>
                    <a:ext uri="{9D8B030D-6E8A-4147-A177-3AD203B41FA5}">
                      <a16:colId xmlns:a16="http://schemas.microsoft.com/office/drawing/2014/main" val="3093412067"/>
                    </a:ext>
                  </a:extLst>
                </a:gridCol>
              </a:tblGrid>
              <a:tr h="370840">
                <a:tc>
                  <a:txBody>
                    <a:bodyPr/>
                    <a:lstStyle/>
                    <a:p>
                      <a:pPr algn="ctr"/>
                      <a:r>
                        <a:rPr lang="zh-CN" altLang="en-US" dirty="0"/>
                        <a:t>类型</a:t>
                      </a:r>
                    </a:p>
                  </a:txBody>
                  <a:tcPr/>
                </a:tc>
                <a:tc>
                  <a:txBody>
                    <a:bodyPr/>
                    <a:lstStyle/>
                    <a:p>
                      <a:pPr algn="ctr"/>
                      <a:r>
                        <a:rPr lang="en-US" altLang="zh-CN" dirty="0"/>
                        <a:t>API</a:t>
                      </a:r>
                      <a:endParaRPr lang="zh-CN" altLang="en-US" dirty="0"/>
                    </a:p>
                  </a:txBody>
                  <a:tcPr/>
                </a:tc>
                <a:tc>
                  <a:txBody>
                    <a:bodyPr/>
                    <a:lstStyle/>
                    <a:p>
                      <a:pPr algn="ctr"/>
                      <a:r>
                        <a:rPr lang="zh-CN" altLang="en-US" dirty="0"/>
                        <a:t>模型</a:t>
                      </a:r>
                    </a:p>
                  </a:txBody>
                  <a:tcPr/>
                </a:tc>
                <a:extLst>
                  <a:ext uri="{0D108BD9-81ED-4DB2-BD59-A6C34878D82A}">
                    <a16:rowId xmlns:a16="http://schemas.microsoft.com/office/drawing/2014/main" val="1147593897"/>
                  </a:ext>
                </a:extLst>
              </a:tr>
              <a:tr h="370840">
                <a:tc>
                  <a:txBody>
                    <a:bodyPr/>
                    <a:lstStyle/>
                    <a:p>
                      <a:pPr algn="ctr"/>
                      <a:r>
                        <a:rPr lang="zh-CN" altLang="en-US" dirty="0"/>
                        <a:t>文本</a:t>
                      </a:r>
                    </a:p>
                  </a:txBody>
                  <a:tcPr/>
                </a:tc>
                <a:tc>
                  <a:txBody>
                    <a:bodyPr/>
                    <a:lstStyle/>
                    <a:p>
                      <a:pPr algn="ctr"/>
                      <a:r>
                        <a:rPr lang="en-US" altLang="zh-CN" dirty="0" err="1"/>
                        <a:t>DeepSeek</a:t>
                      </a:r>
                      <a:endParaRPr lang="zh-CN" altLang="en-US" dirty="0"/>
                    </a:p>
                  </a:txBody>
                  <a:tcPr/>
                </a:tc>
                <a:tc>
                  <a:txBody>
                    <a:bodyPr/>
                    <a:lstStyle/>
                    <a:p>
                      <a:pPr algn="ctr"/>
                      <a:r>
                        <a:rPr lang="en-US" altLang="zh-CN" dirty="0"/>
                        <a:t>Chat</a:t>
                      </a:r>
                      <a:endParaRPr lang="zh-CN" altLang="en-US" dirty="0"/>
                    </a:p>
                  </a:txBody>
                  <a:tcPr/>
                </a:tc>
                <a:extLst>
                  <a:ext uri="{0D108BD9-81ED-4DB2-BD59-A6C34878D82A}">
                    <a16:rowId xmlns:a16="http://schemas.microsoft.com/office/drawing/2014/main" val="1729013536"/>
                  </a:ext>
                </a:extLst>
              </a:tr>
              <a:tr h="370840">
                <a:tc>
                  <a:txBody>
                    <a:bodyPr/>
                    <a:lstStyle/>
                    <a:p>
                      <a:pPr algn="ctr"/>
                      <a:r>
                        <a:rPr lang="zh-CN" altLang="en-US" dirty="0"/>
                        <a:t>图片</a:t>
                      </a:r>
                    </a:p>
                  </a:txBody>
                  <a:tcPr/>
                </a:tc>
                <a:tc>
                  <a:txBody>
                    <a:bodyPr/>
                    <a:lstStyle/>
                    <a:p>
                      <a:pPr algn="ctr"/>
                      <a:r>
                        <a:rPr lang="zh-CN" altLang="en-US" dirty="0"/>
                        <a:t>硅基流动</a:t>
                      </a:r>
                    </a:p>
                  </a:txBody>
                  <a:tcPr/>
                </a:tc>
                <a:tc>
                  <a:txBody>
                    <a:bodyPr/>
                    <a:lstStyle/>
                    <a:p>
                      <a:pPr algn="ctr"/>
                      <a:r>
                        <a:rPr lang="en-US" altLang="zh-CN" sz="1800" b="0" i="0" kern="1200" dirty="0" err="1">
                          <a:solidFill>
                            <a:schemeClr val="dk1"/>
                          </a:solidFill>
                          <a:effectLst/>
                          <a:latin typeface="+mn-lt"/>
                          <a:ea typeface="+mn-ea"/>
                          <a:cs typeface="+mn-cs"/>
                        </a:rPr>
                        <a:t>stepfun</a:t>
                      </a:r>
                      <a:r>
                        <a:rPr lang="en-US" altLang="zh-CN" sz="1800" b="0" i="0" kern="1200" dirty="0">
                          <a:solidFill>
                            <a:schemeClr val="dk1"/>
                          </a:solidFill>
                          <a:effectLst/>
                          <a:latin typeface="+mn-lt"/>
                          <a:ea typeface="+mn-ea"/>
                          <a:cs typeface="+mn-cs"/>
                        </a:rPr>
                        <a:t>-ai/step3</a:t>
                      </a:r>
                      <a:endParaRPr lang="zh-CN" altLang="en-US" dirty="0"/>
                    </a:p>
                  </a:txBody>
                  <a:tcPr/>
                </a:tc>
                <a:extLst>
                  <a:ext uri="{0D108BD9-81ED-4DB2-BD59-A6C34878D82A}">
                    <a16:rowId xmlns:a16="http://schemas.microsoft.com/office/drawing/2014/main" val="2943574527"/>
                  </a:ext>
                </a:extLst>
              </a:tr>
              <a:tr h="370840">
                <a:tc>
                  <a:txBody>
                    <a:bodyPr/>
                    <a:lstStyle/>
                    <a:p>
                      <a:pPr algn="ctr"/>
                      <a:r>
                        <a:rPr lang="zh-CN" altLang="en-US" dirty="0"/>
                        <a:t>词嵌入</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硅基流动</a:t>
                      </a:r>
                    </a:p>
                  </a:txBody>
                  <a:tcPr/>
                </a:tc>
                <a:tc>
                  <a:txBody>
                    <a:bodyPr/>
                    <a:lstStyle/>
                    <a:p>
                      <a:pPr algn="ctr"/>
                      <a:r>
                        <a:rPr lang="en-US" altLang="zh-CN" dirty="0" err="1"/>
                        <a:t>Qwen</a:t>
                      </a:r>
                      <a:r>
                        <a:rPr lang="en-US" altLang="zh-CN" dirty="0"/>
                        <a:t>/Qwen3-Embedding-8B</a:t>
                      </a:r>
                      <a:endParaRPr lang="zh-CN" altLang="en-US" dirty="0"/>
                    </a:p>
                  </a:txBody>
                  <a:tcPr/>
                </a:tc>
                <a:extLst>
                  <a:ext uri="{0D108BD9-81ED-4DB2-BD59-A6C34878D82A}">
                    <a16:rowId xmlns:a16="http://schemas.microsoft.com/office/drawing/2014/main" val="1528572310"/>
                  </a:ext>
                </a:extLst>
              </a:tr>
              <a:tr h="370840">
                <a:tc>
                  <a:txBody>
                    <a:bodyPr/>
                    <a:lstStyle/>
                    <a:p>
                      <a:pPr algn="ctr"/>
                      <a:r>
                        <a:rPr lang="zh-CN" altLang="en-US" dirty="0"/>
                        <a:t>重排</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硅基流动</a:t>
                      </a:r>
                    </a:p>
                  </a:txBody>
                  <a:tcPr/>
                </a:tc>
                <a:tc>
                  <a:txBody>
                    <a:bodyPr/>
                    <a:lstStyle/>
                    <a:p>
                      <a:pPr algn="ctr"/>
                      <a:r>
                        <a:rPr lang="en-US" altLang="zh-CN" dirty="0"/>
                        <a:t>Pro/BAAI/bge-reranker-v2-m3</a:t>
                      </a:r>
                      <a:endParaRPr lang="zh-CN" altLang="en-US" dirty="0"/>
                    </a:p>
                  </a:txBody>
                  <a:tcPr/>
                </a:tc>
                <a:extLst>
                  <a:ext uri="{0D108BD9-81ED-4DB2-BD59-A6C34878D82A}">
                    <a16:rowId xmlns:a16="http://schemas.microsoft.com/office/drawing/2014/main" val="3139443381"/>
                  </a:ext>
                </a:extLst>
              </a:tr>
            </a:tbl>
          </a:graphicData>
        </a:graphic>
      </p:graphicFrame>
    </p:spTree>
    <p:extLst>
      <p:ext uri="{BB962C8B-B14F-4D97-AF65-F5344CB8AC3E}">
        <p14:creationId xmlns:p14="http://schemas.microsoft.com/office/powerpoint/2010/main" val="288158438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5">
            <a:extLst>
              <a:ext uri="{FF2B5EF4-FFF2-40B4-BE49-F238E27FC236}">
                <a16:creationId xmlns:a16="http://schemas.microsoft.com/office/drawing/2014/main" id="{E6F400E6-463F-435B-81B2-F76439D9D934}"/>
              </a:ext>
            </a:extLst>
          </p:cNvPr>
          <p:cNvGraphicFramePr>
            <a:graphicFrameLocks noGrp="1"/>
          </p:cNvGraphicFramePr>
          <p:nvPr>
            <p:ph idx="1"/>
          </p:nvPr>
        </p:nvGraphicFramePr>
        <p:xfrm>
          <a:off x="2747492" y="1691425"/>
          <a:ext cx="6714188" cy="3222724"/>
        </p:xfrm>
        <a:graphic>
          <a:graphicData uri="http://schemas.openxmlformats.org/drawingml/2006/table">
            <a:tbl>
              <a:tblPr firstRow="1" bandRow="1">
                <a:tableStyleId>{5C22544A-7EE6-4342-B048-85BDC9FD1C3A}</a:tableStyleId>
              </a:tblPr>
              <a:tblGrid>
                <a:gridCol w="3357094">
                  <a:extLst>
                    <a:ext uri="{9D8B030D-6E8A-4147-A177-3AD203B41FA5}">
                      <a16:colId xmlns:a16="http://schemas.microsoft.com/office/drawing/2014/main" val="2013271065"/>
                    </a:ext>
                  </a:extLst>
                </a:gridCol>
                <a:gridCol w="3357094">
                  <a:extLst>
                    <a:ext uri="{9D8B030D-6E8A-4147-A177-3AD203B41FA5}">
                      <a16:colId xmlns:a16="http://schemas.microsoft.com/office/drawing/2014/main" val="906910123"/>
                    </a:ext>
                  </a:extLst>
                </a:gridCol>
              </a:tblGrid>
              <a:tr h="14853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摘要无、关键词有</a:t>
                      </a:r>
                      <a:endParaRPr lang="en-US" altLang="zh-CN"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（极少量文献，用</a:t>
                      </a:r>
                      <a:r>
                        <a:rPr lang="en-US" altLang="zh-CN" dirty="0"/>
                        <a:t>AI</a:t>
                      </a:r>
                      <a:r>
                        <a:rPr lang="zh-CN" altLang="en-US" dirty="0"/>
                        <a:t>生成全文概括）</a:t>
                      </a:r>
                      <a:endParaRPr lang="en-US" altLang="zh-CN" dirty="0"/>
                    </a:p>
                    <a:p>
                      <a:pPr algn="ctr"/>
                      <a:endParaRPr lang="zh-CN" altLang="en-US" dirty="0"/>
                    </a:p>
                  </a:txBody>
                  <a:tcPr anchor="ctr"/>
                </a:tc>
                <a:tc>
                  <a:txBody>
                    <a:bodyPr/>
                    <a:lstStyle/>
                    <a:p>
                      <a:pPr algn="ctr"/>
                      <a:r>
                        <a:rPr lang="zh-CN" altLang="en-US" dirty="0"/>
                        <a:t>摘要有、关键词有</a:t>
                      </a:r>
                      <a:endParaRPr lang="en-US" altLang="zh-CN" dirty="0"/>
                    </a:p>
                    <a:p>
                      <a:pPr algn="ctr"/>
                      <a:r>
                        <a:rPr lang="zh-CN" altLang="en-US" dirty="0"/>
                        <a:t>（近年的规范期刊）</a:t>
                      </a:r>
                    </a:p>
                  </a:txBody>
                  <a:tcPr anchor="ctr"/>
                </a:tc>
                <a:extLst>
                  <a:ext uri="{0D108BD9-81ED-4DB2-BD59-A6C34878D82A}">
                    <a16:rowId xmlns:a16="http://schemas.microsoft.com/office/drawing/2014/main" val="1461310970"/>
                  </a:ext>
                </a:extLst>
              </a:tr>
              <a:tr h="14853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摘要无、关键词无</a:t>
                      </a:r>
                      <a:endParaRPr lang="en-US" altLang="zh-CN"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（早期文献大量存在）</a:t>
                      </a:r>
                      <a:endParaRPr lang="en-US" altLang="zh-CN"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（先用</a:t>
                      </a:r>
                      <a:r>
                        <a:rPr lang="en-US" altLang="zh-CN" dirty="0"/>
                        <a:t>AI</a:t>
                      </a:r>
                      <a:r>
                        <a:rPr lang="zh-CN" altLang="en-US" dirty="0"/>
                        <a:t>生成全文概括、再用</a:t>
                      </a:r>
                      <a:r>
                        <a:rPr lang="en-US" altLang="zh-CN" dirty="0"/>
                        <a:t>AI</a:t>
                      </a:r>
                      <a:r>
                        <a:rPr lang="zh-CN" altLang="en-US" dirty="0"/>
                        <a:t>生成关键词，两者都具有随机性）</a:t>
                      </a:r>
                      <a:endParaRPr lang="en-US" altLang="zh-CN" dirty="0"/>
                    </a:p>
                    <a:p>
                      <a:pPr algn="ctr"/>
                      <a:endParaRPr lang="zh-CN" altLang="en-US"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摘要有、关键词无</a:t>
                      </a:r>
                      <a:endParaRPr lang="en-US" altLang="zh-CN"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（用</a:t>
                      </a:r>
                      <a:r>
                        <a:rPr lang="en-US" altLang="zh-CN" dirty="0"/>
                        <a:t>AI</a:t>
                      </a:r>
                      <a:r>
                        <a:rPr lang="zh-CN" altLang="en-US" dirty="0"/>
                        <a:t>生成关键词、随机性）</a:t>
                      </a:r>
                      <a:endParaRPr lang="en-US" altLang="zh-CN" dirty="0"/>
                    </a:p>
                    <a:p>
                      <a:pPr algn="ctr"/>
                      <a:endParaRPr lang="zh-CN" altLang="en-US" dirty="0"/>
                    </a:p>
                  </a:txBody>
                  <a:tcPr anchor="ctr"/>
                </a:tc>
                <a:extLst>
                  <a:ext uri="{0D108BD9-81ED-4DB2-BD59-A6C34878D82A}">
                    <a16:rowId xmlns:a16="http://schemas.microsoft.com/office/drawing/2014/main" val="1885588157"/>
                  </a:ext>
                </a:extLst>
              </a:tr>
            </a:tbl>
          </a:graphicData>
        </a:graphic>
      </p:graphicFrame>
      <p:sp>
        <p:nvSpPr>
          <p:cNvPr id="6" name="文本框 5">
            <a:extLst>
              <a:ext uri="{FF2B5EF4-FFF2-40B4-BE49-F238E27FC236}">
                <a16:creationId xmlns:a16="http://schemas.microsoft.com/office/drawing/2014/main" id="{9E68906E-3E32-408B-A453-EFDB98D33460}"/>
              </a:ext>
            </a:extLst>
          </p:cNvPr>
          <p:cNvSpPr txBox="1"/>
          <p:nvPr/>
        </p:nvSpPr>
        <p:spPr>
          <a:xfrm>
            <a:off x="4760890" y="4915437"/>
            <a:ext cx="2884868" cy="369332"/>
          </a:xfrm>
          <a:prstGeom prst="rect">
            <a:avLst/>
          </a:prstGeom>
          <a:noFill/>
        </p:spPr>
        <p:txBody>
          <a:bodyPr wrap="square" rtlCol="0">
            <a:spAutoFit/>
          </a:bodyPr>
          <a:lstStyle/>
          <a:p>
            <a:pPr algn="ctr"/>
            <a:r>
              <a:rPr lang="zh-CN" altLang="en-US" dirty="0"/>
              <a:t>文献是否有摘要</a:t>
            </a:r>
          </a:p>
        </p:txBody>
      </p:sp>
      <p:sp>
        <p:nvSpPr>
          <p:cNvPr id="7" name="文本框 6">
            <a:extLst>
              <a:ext uri="{FF2B5EF4-FFF2-40B4-BE49-F238E27FC236}">
                <a16:creationId xmlns:a16="http://schemas.microsoft.com/office/drawing/2014/main" id="{6F0372BE-3DBC-4918-9503-E152C4B18063}"/>
              </a:ext>
            </a:extLst>
          </p:cNvPr>
          <p:cNvSpPr txBox="1"/>
          <p:nvPr/>
        </p:nvSpPr>
        <p:spPr>
          <a:xfrm>
            <a:off x="2191383" y="2245217"/>
            <a:ext cx="461665" cy="2034862"/>
          </a:xfrm>
          <a:prstGeom prst="rect">
            <a:avLst/>
          </a:prstGeom>
          <a:noFill/>
        </p:spPr>
        <p:txBody>
          <a:bodyPr vert="eaVert" wrap="square" rtlCol="0">
            <a:spAutoFit/>
          </a:bodyPr>
          <a:lstStyle/>
          <a:p>
            <a:r>
              <a:rPr lang="zh-CN" altLang="en-US" dirty="0"/>
              <a:t>文献是否有关键词</a:t>
            </a:r>
          </a:p>
        </p:txBody>
      </p:sp>
      <p:sp>
        <p:nvSpPr>
          <p:cNvPr id="9" name="文本框 8">
            <a:extLst>
              <a:ext uri="{FF2B5EF4-FFF2-40B4-BE49-F238E27FC236}">
                <a16:creationId xmlns:a16="http://schemas.microsoft.com/office/drawing/2014/main" id="{527A5582-6042-4FEA-9047-EE9010BBDDC2}"/>
              </a:ext>
            </a:extLst>
          </p:cNvPr>
          <p:cNvSpPr txBox="1"/>
          <p:nvPr/>
        </p:nvSpPr>
        <p:spPr>
          <a:xfrm>
            <a:off x="2781837" y="5816958"/>
            <a:ext cx="6958884" cy="646331"/>
          </a:xfrm>
          <a:prstGeom prst="rect">
            <a:avLst/>
          </a:prstGeom>
          <a:noFill/>
        </p:spPr>
        <p:txBody>
          <a:bodyPr wrap="square" rtlCol="0">
            <a:spAutoFit/>
          </a:bodyPr>
          <a:lstStyle/>
          <a:p>
            <a:r>
              <a:rPr lang="zh-CN" altLang="en-US" dirty="0"/>
              <a:t>注意：根据摘要与关键词的四种分类，关键词标签</a:t>
            </a:r>
            <a:r>
              <a:rPr lang="en-US" altLang="zh-CN" dirty="0"/>
              <a:t>Zotero</a:t>
            </a:r>
            <a:r>
              <a:rPr lang="zh-CN" altLang="en-US" dirty="0"/>
              <a:t>自动标注。</a:t>
            </a:r>
            <a:r>
              <a:rPr lang="en-US" altLang="zh-CN" dirty="0"/>
              <a:t>Meta</a:t>
            </a:r>
            <a:r>
              <a:rPr lang="zh-CN" altLang="en-US" dirty="0"/>
              <a:t>数据来生成，正版</a:t>
            </a:r>
            <a:r>
              <a:rPr lang="en-US" altLang="zh-CN" dirty="0"/>
              <a:t>PDF</a:t>
            </a:r>
            <a:r>
              <a:rPr lang="zh-CN" altLang="en-US" dirty="0"/>
              <a:t>十分重要。</a:t>
            </a:r>
          </a:p>
        </p:txBody>
      </p:sp>
    </p:spTree>
    <p:extLst>
      <p:ext uri="{BB962C8B-B14F-4D97-AF65-F5344CB8AC3E}">
        <p14:creationId xmlns:p14="http://schemas.microsoft.com/office/powerpoint/2010/main" val="1470732015"/>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6E3324-244D-4D82-BAA6-CB1DA337094D}"/>
              </a:ext>
            </a:extLst>
          </p:cNvPr>
          <p:cNvSpPr>
            <a:spLocks noGrp="1"/>
          </p:cNvSpPr>
          <p:nvPr>
            <p:ph type="title"/>
          </p:nvPr>
        </p:nvSpPr>
        <p:spPr/>
        <p:txBody>
          <a:bodyPr/>
          <a:lstStyle/>
          <a:p>
            <a:r>
              <a:rPr lang="zh-CN" altLang="en-US" b="1" dirty="0"/>
              <a:t>编程</a:t>
            </a:r>
            <a:r>
              <a:rPr lang="zh-CN" altLang="en-US" b="1" dirty="0">
                <a:effectLst/>
              </a:rPr>
              <a:t>技能：</a:t>
            </a:r>
            <a:endParaRPr lang="zh-CN" altLang="en-US" dirty="0"/>
          </a:p>
        </p:txBody>
      </p:sp>
      <p:sp>
        <p:nvSpPr>
          <p:cNvPr id="3" name="内容占位符 2">
            <a:extLst>
              <a:ext uri="{FF2B5EF4-FFF2-40B4-BE49-F238E27FC236}">
                <a16:creationId xmlns:a16="http://schemas.microsoft.com/office/drawing/2014/main" id="{43D0827F-A9B2-4073-A542-282B62F79F2A}"/>
              </a:ext>
            </a:extLst>
          </p:cNvPr>
          <p:cNvSpPr>
            <a:spLocks noGrp="1"/>
          </p:cNvSpPr>
          <p:nvPr>
            <p:ph idx="1"/>
          </p:nvPr>
        </p:nvSpPr>
        <p:spPr/>
        <p:txBody>
          <a:bodyPr/>
          <a:lstStyle/>
          <a:p>
            <a:r>
              <a:rPr lang="en-US" altLang="zh-CN" dirty="0">
                <a:solidFill>
                  <a:srgbClr val="EB5757"/>
                </a:solidFill>
                <a:effectLst/>
                <a:latin typeface="SFMono-Regular"/>
              </a:rPr>
              <a:t>Literature Review</a:t>
            </a:r>
            <a:r>
              <a:rPr lang="zh-CN" altLang="en-US" dirty="0"/>
              <a:t> 不需要输入问题，选中多篇文献后直接点击即可总结，这是因为具体问题</a:t>
            </a:r>
            <a:r>
              <a:rPr lang="en-US" altLang="zh-CN" dirty="0"/>
              <a:t>/</a:t>
            </a:r>
            <a:r>
              <a:rPr lang="zh-CN" altLang="en-US" dirty="0"/>
              <a:t>指令被写入</a:t>
            </a:r>
            <a:r>
              <a:rPr lang="en-US" altLang="zh-CN" dirty="0"/>
              <a:t>GPT</a:t>
            </a:r>
            <a:r>
              <a:rPr lang="zh-CN" altLang="en-US" dirty="0"/>
              <a:t>标签</a:t>
            </a:r>
            <a:r>
              <a:rPr lang="en-US" altLang="zh-CN" dirty="0"/>
              <a:t>/</a:t>
            </a:r>
            <a:r>
              <a:rPr lang="zh-CN" altLang="en-US" dirty="0"/>
              <a:t>提示词内部，你可以</a:t>
            </a:r>
            <a:r>
              <a:rPr lang="zh-CN" altLang="en-US" dirty="0">
                <a:solidFill>
                  <a:srgbClr val="EB5757"/>
                </a:solidFill>
                <a:effectLst/>
                <a:latin typeface="SFMono-Regular"/>
              </a:rPr>
              <a:t>右键</a:t>
            </a:r>
            <a:r>
              <a:rPr lang="en-US" altLang="zh-CN" dirty="0">
                <a:solidFill>
                  <a:srgbClr val="EB5757"/>
                </a:solidFill>
                <a:effectLst/>
                <a:latin typeface="SFMono-Regular"/>
              </a:rPr>
              <a:t>-Edit</a:t>
            </a:r>
            <a:r>
              <a:rPr lang="zh-CN" altLang="en-US" dirty="0"/>
              <a:t>进行编辑，然后</a:t>
            </a:r>
            <a:r>
              <a:rPr lang="en-US" altLang="zh-CN" dirty="0" err="1"/>
              <a:t>Ctrl+S</a:t>
            </a:r>
            <a:r>
              <a:rPr lang="zh-CN" altLang="en-US" dirty="0"/>
              <a:t>保存，以满足你的需求。</a:t>
            </a:r>
            <a:endParaRPr lang="en-US" altLang="zh-CN" dirty="0"/>
          </a:p>
          <a:p>
            <a:endParaRPr lang="en-US" altLang="zh-CN" dirty="0"/>
          </a:p>
          <a:p>
            <a:r>
              <a:rPr lang="zh-CN" altLang="en-US" dirty="0"/>
              <a:t>需要以研究主题列表输出</a:t>
            </a:r>
            <a:endParaRPr lang="en-US" altLang="zh-CN" dirty="0"/>
          </a:p>
          <a:p>
            <a:endParaRPr lang="en-US" altLang="zh-CN" dirty="0"/>
          </a:p>
          <a:p>
            <a:r>
              <a:rPr lang="zh-CN" altLang="en-US" dirty="0"/>
              <a:t>具体见：脚本改进，全部不需要输入问题，即点即用。</a:t>
            </a:r>
          </a:p>
          <a:p>
            <a:pPr marL="0" indent="0">
              <a:buNone/>
            </a:pPr>
            <a:endParaRPr lang="zh-CN" altLang="en-US" dirty="0"/>
          </a:p>
        </p:txBody>
      </p:sp>
    </p:spTree>
    <p:extLst>
      <p:ext uri="{BB962C8B-B14F-4D97-AF65-F5344CB8AC3E}">
        <p14:creationId xmlns:p14="http://schemas.microsoft.com/office/powerpoint/2010/main" val="226719991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Quick Commands</a:t>
            </a:r>
            <a:endParaRPr lang="zh-CN" altLang="en-US" dirty="0"/>
          </a:p>
        </p:txBody>
      </p:sp>
      <p:sp>
        <p:nvSpPr>
          <p:cNvPr id="3" name="内容占位符 2"/>
          <p:cNvSpPr>
            <a:spLocks noGrp="1"/>
          </p:cNvSpPr>
          <p:nvPr>
            <p:ph idx="1"/>
          </p:nvPr>
        </p:nvSpPr>
        <p:spPr/>
        <p:txBody>
          <a:bodyPr>
            <a:normAutofit fontScale="55000" lnSpcReduction="20000"/>
          </a:bodyPr>
          <a:lstStyle/>
          <a:p>
            <a:r>
              <a:rPr lang="en-US" altLang="zh-CN" dirty="0"/>
              <a:t>/help Show all commands.</a:t>
            </a:r>
          </a:p>
          <a:p>
            <a:r>
              <a:rPr lang="en-US" altLang="zh-CN" dirty="0"/>
              <a:t>/clear </a:t>
            </a:r>
            <a:r>
              <a:rPr lang="en-US" altLang="zh-CN" dirty="0" err="1"/>
              <a:t>Clear</a:t>
            </a:r>
            <a:r>
              <a:rPr lang="en-US" altLang="zh-CN" dirty="0"/>
              <a:t> history conversation.</a:t>
            </a:r>
          </a:p>
          <a:p>
            <a:r>
              <a:rPr lang="en-US" altLang="zh-CN" dirty="0"/>
              <a:t>/report Run this and copy the output content to give feedback to the developer.</a:t>
            </a:r>
          </a:p>
          <a:p>
            <a:r>
              <a:rPr lang="en-US" altLang="zh-CN" dirty="0"/>
              <a:t>/</a:t>
            </a:r>
            <a:r>
              <a:rPr lang="en-US" altLang="zh-CN" dirty="0" err="1"/>
              <a:t>secretKey</a:t>
            </a:r>
            <a:r>
              <a:rPr lang="en-US" altLang="zh-CN" dirty="0"/>
              <a:t> </a:t>
            </a:r>
            <a:r>
              <a:rPr lang="en-US" altLang="zh-CN" dirty="0" err="1"/>
              <a:t>sk</a:t>
            </a:r>
            <a:r>
              <a:rPr lang="en-US" altLang="zh-CN" dirty="0"/>
              <a:t>-xxx Set GPT secret key. Generate it in https://platform.openai.com/account/api-keys.</a:t>
            </a:r>
          </a:p>
          <a:p>
            <a:r>
              <a:rPr lang="en-US" altLang="zh-CN" dirty="0"/>
              <a:t>/</a:t>
            </a:r>
            <a:r>
              <a:rPr lang="en-US" altLang="zh-CN" dirty="0" err="1"/>
              <a:t>api</a:t>
            </a:r>
            <a:r>
              <a:rPr lang="en-US" altLang="zh-CN" dirty="0"/>
              <a:t> https://api.openai.com Set API.</a:t>
            </a:r>
          </a:p>
          <a:p>
            <a:r>
              <a:rPr lang="en-US" altLang="zh-CN" dirty="0"/>
              <a:t>/model gpt-4/gpt-3.5-turbo Set GPT model. For example, /model gpt-3.5-turbo.</a:t>
            </a:r>
          </a:p>
          <a:p>
            <a:r>
              <a:rPr lang="en-US" altLang="zh-CN" dirty="0"/>
              <a:t>/temperature 1.0 Set GPT temperature. Controls the randomness and diversity of generated text, specified within a range of 0 to 1.</a:t>
            </a:r>
          </a:p>
          <a:p>
            <a:r>
              <a:rPr lang="en-US" altLang="zh-CN" dirty="0"/>
              <a:t>/</a:t>
            </a:r>
            <a:r>
              <a:rPr lang="en-US" altLang="zh-CN" dirty="0" err="1"/>
              <a:t>chatNumber</a:t>
            </a:r>
            <a:r>
              <a:rPr lang="en-US" altLang="zh-CN" dirty="0"/>
              <a:t> 3 Set the number of saved historical conversations.</a:t>
            </a:r>
          </a:p>
          <a:p>
            <a:r>
              <a:rPr lang="en-US" altLang="zh-CN" dirty="0"/>
              <a:t>/</a:t>
            </a:r>
            <a:r>
              <a:rPr lang="en-US" altLang="zh-CN" dirty="0" err="1"/>
              <a:t>relatedNumber</a:t>
            </a:r>
            <a:r>
              <a:rPr lang="en-US" altLang="zh-CN" dirty="0"/>
              <a:t> 5 Set the number of most relevant text. For example, the number of paragraphs referenced while using </a:t>
            </a:r>
            <a:r>
              <a:rPr lang="en-US" altLang="zh-CN" dirty="0" err="1"/>
              <a:t>askPDF</a:t>
            </a:r>
            <a:r>
              <a:rPr lang="en-US" altLang="zh-CN" dirty="0"/>
              <a:t>.</a:t>
            </a:r>
          </a:p>
          <a:p>
            <a:r>
              <a:rPr lang="en-US" altLang="zh-CN" dirty="0"/>
              <a:t>/</a:t>
            </a:r>
            <a:r>
              <a:rPr lang="en-US" altLang="zh-CN" dirty="0" err="1"/>
              <a:t>deltaTime</a:t>
            </a:r>
            <a:r>
              <a:rPr lang="en-US" altLang="zh-CN" dirty="0"/>
              <a:t> 100 Control GPT smoothness (</a:t>
            </a:r>
            <a:r>
              <a:rPr lang="en-US" altLang="zh-CN" dirty="0" err="1"/>
              <a:t>ms</a:t>
            </a:r>
            <a:r>
              <a:rPr lang="en-US" altLang="zh-CN" dirty="0"/>
              <a:t>).</a:t>
            </a:r>
          </a:p>
          <a:p>
            <a:r>
              <a:rPr lang="en-US" altLang="zh-CN" dirty="0"/>
              <a:t>/width 32% Control GPT UI width (pct).</a:t>
            </a:r>
          </a:p>
          <a:p>
            <a:r>
              <a:rPr lang="en-US" altLang="zh-CN" dirty="0"/>
              <a:t>/</a:t>
            </a:r>
            <a:r>
              <a:rPr lang="en-US" altLang="zh-CN" dirty="0" err="1"/>
              <a:t>tagsMore</a:t>
            </a:r>
            <a:r>
              <a:rPr lang="en-US" altLang="zh-CN" dirty="0"/>
              <a:t> expand/scroll Set mode to display more tags.</a:t>
            </a:r>
          </a:p>
          <a:p>
            <a:r>
              <a:rPr lang="en-US" altLang="zh-CN" dirty="0"/>
              <a:t>/key default Restore the variable values above to their default values (if have).</a:t>
            </a:r>
            <a:endParaRPr lang="zh-CN" altLang="en-US"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About Tag</a:t>
            </a:r>
            <a:endParaRPr lang="zh-CN" altLang="en-US" dirty="0"/>
          </a:p>
        </p:txBody>
      </p:sp>
      <p:sp>
        <p:nvSpPr>
          <p:cNvPr id="3" name="内容占位符 2"/>
          <p:cNvSpPr>
            <a:spLocks noGrp="1"/>
          </p:cNvSpPr>
          <p:nvPr>
            <p:ph idx="1"/>
          </p:nvPr>
        </p:nvSpPr>
        <p:spPr/>
        <p:txBody>
          <a:bodyPr/>
          <a:lstStyle/>
          <a:p>
            <a:r>
              <a:rPr lang="en-US" altLang="zh-CN" dirty="0"/>
              <a:t>You can long click on the tag below to see its internal pseudo-code.</a:t>
            </a:r>
          </a:p>
          <a:p>
            <a:endParaRPr lang="en-US" altLang="zh-CN" dirty="0"/>
          </a:p>
          <a:p>
            <a:r>
              <a:rPr lang="en-US" altLang="zh-CN" dirty="0"/>
              <a:t>You can type #xxx and press Enter to create a tag. And save it with Ctrl + S, during which you can execute it with Ctrl + R.</a:t>
            </a:r>
          </a:p>
          <a:p>
            <a:endParaRPr lang="en-US" altLang="zh-CN" dirty="0"/>
          </a:p>
          <a:p>
            <a:r>
              <a:rPr lang="en-US" altLang="zh-CN" dirty="0"/>
              <a:t>You can right-long-click a tag to delete it.</a:t>
            </a:r>
            <a:endParaRPr lang="zh-CN" altLang="en-US"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Improve writing</a:t>
            </a:r>
            <a:endParaRPr lang="zh-CN" altLang="en-US" dirty="0"/>
          </a:p>
        </p:txBody>
      </p:sp>
      <p:sp>
        <p:nvSpPr>
          <p:cNvPr id="3" name="内容占位符 2"/>
          <p:cNvSpPr>
            <a:spLocks noGrp="1"/>
          </p:cNvSpPr>
          <p:nvPr>
            <p:ph idx="1"/>
          </p:nvPr>
        </p:nvSpPr>
        <p:spPr/>
        <p:txBody>
          <a:bodyPr>
            <a:normAutofit lnSpcReduction="10000"/>
          </a:bodyPr>
          <a:lstStyle/>
          <a:p>
            <a:pPr marL="0" indent="0">
              <a:buNone/>
            </a:pPr>
            <a:r>
              <a:rPr lang="en-US" altLang="zh-CN" dirty="0"/>
              <a:t>#✨Improve writing[position=12][color=#8e44ad][trigger=/^</a:t>
            </a:r>
            <a:r>
              <a:rPr lang="zh-CN" altLang="en-US" dirty="0"/>
              <a:t>润色</a:t>
            </a:r>
            <a:r>
              <a:rPr lang="en-US" altLang="zh-CN" dirty="0"/>
              <a:t>/]</a:t>
            </a:r>
          </a:p>
          <a:p>
            <a:pPr marL="0" indent="0">
              <a:buNone/>
            </a:pPr>
            <a:r>
              <a:rPr lang="en-US" altLang="zh-CN" dirty="0"/>
              <a:t>Below is a paragraph from an academic paper. Polish the writing to meet the academic style, improve the spelling, grammar, clarity, concision and overall readability. When necessary, rewrite the whole sentence. Furthermore, list all modification and explain the reasons to do so in markdown table. If those content are included </a:t>
            </a:r>
            <a:r>
              <a:rPr lang="en-US" altLang="zh-CN" dirty="0" err="1"/>
              <a:t>chinese</a:t>
            </a:r>
            <a:r>
              <a:rPr lang="en-US" altLang="zh-CN" dirty="0"/>
              <a:t>, give out all in </a:t>
            </a:r>
            <a:r>
              <a:rPr lang="en-US" altLang="zh-CN" dirty="0" err="1"/>
              <a:t>chinese</a:t>
            </a:r>
            <a:r>
              <a:rPr lang="en-US" altLang="zh-CN" dirty="0"/>
              <a:t>. Paragraph: "${</a:t>
            </a:r>
          </a:p>
          <a:p>
            <a:pPr marL="0" indent="0">
              <a:buNone/>
            </a:pPr>
            <a:r>
              <a:rPr lang="en-US" altLang="zh-CN" dirty="0" err="1"/>
              <a:t>Meet.Global.input.replace</a:t>
            </a:r>
            <a:r>
              <a:rPr lang="en-US" altLang="zh-CN" dirty="0"/>
              <a:t>("</a:t>
            </a:r>
            <a:r>
              <a:rPr lang="zh-CN" altLang="en-US" dirty="0"/>
              <a:t>润色</a:t>
            </a:r>
            <a:r>
              <a:rPr lang="en-US" altLang="zh-CN" dirty="0"/>
              <a:t>", "") ||</a:t>
            </a:r>
          </a:p>
          <a:p>
            <a:pPr marL="0" indent="0">
              <a:buNone/>
            </a:pPr>
            <a:r>
              <a:rPr lang="en-US" altLang="zh-CN" dirty="0" err="1"/>
              <a:t>Meet.Global.views.messages</a:t>
            </a:r>
            <a:r>
              <a:rPr lang="en-US" altLang="zh-CN" dirty="0"/>
              <a:t>[0].content</a:t>
            </a:r>
          </a:p>
          <a:p>
            <a:pPr marL="0" indent="0">
              <a:buNone/>
            </a:pPr>
            <a:r>
              <a:rPr lang="en-US" altLang="zh-CN" dirty="0"/>
              <a:t>}"</a:t>
            </a:r>
            <a:endParaRPr lang="zh-CN" altLang="en-US"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Selection</a:t>
            </a:r>
            <a:endParaRPr lang="zh-CN" altLang="en-US" dirty="0"/>
          </a:p>
        </p:txBody>
      </p:sp>
      <p:sp>
        <p:nvSpPr>
          <p:cNvPr id="3" name="内容占位符 2"/>
          <p:cNvSpPr>
            <a:spLocks noGrp="1"/>
          </p:cNvSpPr>
          <p:nvPr>
            <p:ph idx="1"/>
          </p:nvPr>
        </p:nvSpPr>
        <p:spPr/>
        <p:txBody>
          <a:bodyPr>
            <a:normAutofit fontScale="92500" lnSpcReduction="10000"/>
          </a:bodyPr>
          <a:lstStyle/>
          <a:p>
            <a:pPr marL="0" indent="0">
              <a:buNone/>
            </a:pPr>
            <a:r>
              <a:rPr lang="en-US" altLang="zh-CN" dirty="0"/>
              <a:t>#Selection[position=15][color=#D14D72][trigger=/^(</a:t>
            </a:r>
            <a:r>
              <a:rPr lang="zh-CN" altLang="en-US" dirty="0"/>
              <a:t>这段</a:t>
            </a:r>
            <a:r>
              <a:rPr lang="en-US" altLang="zh-CN" dirty="0"/>
              <a:t>|</a:t>
            </a:r>
            <a:r>
              <a:rPr lang="zh-CN" altLang="en-US" dirty="0"/>
              <a:t>选中</a:t>
            </a:r>
            <a:r>
              <a:rPr lang="en-US" altLang="zh-CN" dirty="0"/>
              <a:t>)(</a:t>
            </a:r>
            <a:r>
              <a:rPr lang="zh-CN" altLang="en-US" dirty="0"/>
              <a:t>文本</a:t>
            </a:r>
            <a:r>
              <a:rPr lang="en-US" altLang="zh-CN" dirty="0"/>
              <a:t>|</a:t>
            </a:r>
            <a:r>
              <a:rPr lang="zh-CN" altLang="en-US" dirty="0"/>
              <a:t>话</a:t>
            </a:r>
            <a:r>
              <a:rPr lang="en-US" altLang="zh-CN" dirty="0"/>
              <a:t>|</a:t>
            </a:r>
            <a:r>
              <a:rPr lang="zh-CN" altLang="en-US" dirty="0"/>
              <a:t>文字</a:t>
            </a:r>
            <a:r>
              <a:rPr lang="en-US" altLang="zh-CN" dirty="0"/>
              <a:t>|</a:t>
            </a:r>
            <a:r>
              <a:rPr lang="zh-CN" altLang="en-US" dirty="0"/>
              <a:t>描述</a:t>
            </a:r>
            <a:r>
              <a:rPr lang="en-US" altLang="zh-CN" dirty="0"/>
              <a:t>)/]</a:t>
            </a:r>
          </a:p>
          <a:p>
            <a:pPr marL="0" indent="0">
              <a:buNone/>
            </a:pPr>
            <a:r>
              <a:rPr lang="en-US" altLang="zh-CN" dirty="0"/>
              <a:t>Read these content:</a:t>
            </a:r>
          </a:p>
          <a:p>
            <a:pPr marL="0" indent="0">
              <a:buNone/>
            </a:pPr>
            <a:r>
              <a:rPr lang="en-US" altLang="zh-CN" dirty="0"/>
              <a:t>${</a:t>
            </a:r>
          </a:p>
          <a:p>
            <a:pPr marL="0" indent="0">
              <a:buNone/>
            </a:pPr>
            <a:r>
              <a:rPr lang="en-US" altLang="zh-CN" dirty="0" err="1"/>
              <a:t>Meet.Zotero.getPDFSelection</a:t>
            </a:r>
            <a:r>
              <a:rPr lang="en-US" altLang="zh-CN" dirty="0"/>
              <a:t>() ||</a:t>
            </a:r>
          </a:p>
          <a:p>
            <a:pPr marL="0" indent="0">
              <a:buNone/>
            </a:pPr>
            <a:r>
              <a:rPr lang="en-US" altLang="zh-CN" dirty="0" err="1"/>
              <a:t>Meet.Global.views.messages</a:t>
            </a:r>
            <a:r>
              <a:rPr lang="en-US" altLang="zh-CN" dirty="0"/>
              <a:t>[0].content</a:t>
            </a:r>
          </a:p>
          <a:p>
            <a:pPr marL="0" indent="0">
              <a:buNone/>
            </a:pPr>
            <a:r>
              <a:rPr lang="en-US" altLang="zh-CN" dirty="0"/>
              <a:t>}</a:t>
            </a:r>
          </a:p>
          <a:p>
            <a:pPr marL="0" indent="0">
              <a:buNone/>
            </a:pPr>
            <a:r>
              <a:rPr lang="en-US" altLang="zh-CN" dirty="0"/>
              <a:t>---</a:t>
            </a:r>
          </a:p>
          <a:p>
            <a:pPr marL="0" indent="0">
              <a:buNone/>
            </a:pPr>
            <a:r>
              <a:rPr lang="en-US" altLang="zh-CN" dirty="0"/>
              <a:t>Answer me in the language of my question. This is my question: ${</a:t>
            </a:r>
            <a:r>
              <a:rPr lang="en-US" altLang="zh-CN" dirty="0" err="1"/>
              <a:t>Meet.Global.input</a:t>
            </a:r>
            <a:r>
              <a:rPr lang="en-US" altLang="zh-CN" dirty="0"/>
              <a:t>}</a:t>
            </a:r>
            <a:endParaRPr lang="zh-CN" altLang="en-US"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Items</a:t>
            </a:r>
            <a:endParaRPr lang="zh-CN" altLang="en-US" dirty="0"/>
          </a:p>
        </p:txBody>
      </p:sp>
      <p:sp>
        <p:nvSpPr>
          <p:cNvPr id="3" name="内容占位符 2"/>
          <p:cNvSpPr>
            <a:spLocks noGrp="1"/>
          </p:cNvSpPr>
          <p:nvPr>
            <p:ph idx="1"/>
          </p:nvPr>
        </p:nvSpPr>
        <p:spPr/>
        <p:txBody>
          <a:bodyPr>
            <a:normAutofit fontScale="55000" lnSpcReduction="20000"/>
          </a:bodyPr>
          <a:lstStyle/>
          <a:p>
            <a:pPr marL="0" indent="0">
              <a:buNone/>
            </a:pPr>
            <a:r>
              <a:rPr lang="en-US" altLang="zh-CN" dirty="0"/>
              <a:t>#Items[position=17][color=#159895][trigger=/</a:t>
            </a:r>
            <a:r>
              <a:rPr lang="zh-CN" altLang="en-US" dirty="0"/>
              <a:t>这</a:t>
            </a:r>
            <a:r>
              <a:rPr lang="en-US" altLang="zh-CN" dirty="0"/>
              <a:t>(</a:t>
            </a:r>
            <a:r>
              <a:rPr lang="zh-CN" altLang="en-US" dirty="0"/>
              <a:t>个</a:t>
            </a:r>
            <a:r>
              <a:rPr lang="en-US" altLang="zh-CN" dirty="0"/>
              <a:t>|</a:t>
            </a:r>
            <a:r>
              <a:rPr lang="zh-CN" altLang="en-US" dirty="0"/>
              <a:t>些</a:t>
            </a:r>
            <a:r>
              <a:rPr lang="en-US" altLang="zh-CN" dirty="0"/>
              <a:t>|</a:t>
            </a:r>
            <a:r>
              <a:rPr lang="zh-CN" altLang="en-US" dirty="0"/>
              <a:t>篇</a:t>
            </a:r>
            <a:r>
              <a:rPr lang="en-US" altLang="zh-CN" dirty="0"/>
              <a:t>)(</a:t>
            </a:r>
            <a:r>
              <a:rPr lang="zh-CN" altLang="en-US" dirty="0"/>
              <a:t>文献</a:t>
            </a:r>
            <a:r>
              <a:rPr lang="en-US" altLang="zh-CN" dirty="0"/>
              <a:t>|</a:t>
            </a:r>
            <a:r>
              <a:rPr lang="zh-CN" altLang="en-US" dirty="0"/>
              <a:t>论文</a:t>
            </a:r>
            <a:r>
              <a:rPr lang="en-US" altLang="zh-CN" dirty="0"/>
              <a:t>|</a:t>
            </a:r>
            <a:r>
              <a:rPr lang="zh-CN" altLang="en-US" dirty="0"/>
              <a:t>文章</a:t>
            </a:r>
            <a:r>
              <a:rPr lang="en-US" altLang="zh-CN" dirty="0"/>
              <a:t>)/]</a:t>
            </a:r>
          </a:p>
          <a:p>
            <a:pPr marL="0" indent="0">
              <a:buNone/>
            </a:pPr>
            <a:r>
              <a:rPr lang="en-US" altLang="zh-CN" dirty="0"/>
              <a:t>These are Zotero item </a:t>
            </a:r>
            <a:r>
              <a:rPr lang="en-US" altLang="zh-CN" dirty="0" err="1"/>
              <a:t>informations</a:t>
            </a:r>
            <a:r>
              <a:rPr lang="en-US" altLang="zh-CN" dirty="0"/>
              <a:t>:</a:t>
            </a:r>
          </a:p>
          <a:p>
            <a:pPr marL="0" indent="0">
              <a:buNone/>
            </a:pPr>
            <a:r>
              <a:rPr lang="en-US" altLang="zh-CN" dirty="0"/>
              <a:t>```</a:t>
            </a:r>
            <a:r>
              <a:rPr lang="en-US" altLang="zh-CN" dirty="0" err="1"/>
              <a:t>js</a:t>
            </a:r>
            <a:endParaRPr lang="en-US" altLang="zh-CN" dirty="0"/>
          </a:p>
          <a:p>
            <a:pPr marL="0" indent="0">
              <a:buNone/>
            </a:pPr>
            <a:r>
              <a:rPr lang="en-US" altLang="zh-CN" dirty="0"/>
              <a:t>const docs = Meet.Zotero.selectedItems2documents("temp")</a:t>
            </a:r>
          </a:p>
          <a:p>
            <a:pPr marL="0" indent="0">
              <a:buNone/>
            </a:pPr>
            <a:r>
              <a:rPr lang="en-US" altLang="zh-CN" dirty="0" err="1"/>
              <a:t>Zotero.ZoteroGPT.views.insertAuxiliary</a:t>
            </a:r>
            <a:r>
              <a:rPr lang="en-US" altLang="zh-CN" dirty="0"/>
              <a:t>(docs)</a:t>
            </a:r>
          </a:p>
          <a:p>
            <a:pPr marL="0" indent="0">
              <a:buNone/>
            </a:pPr>
            <a:r>
              <a:rPr lang="en-US" altLang="zh-CN" dirty="0" err="1"/>
              <a:t>docs.map</a:t>
            </a:r>
            <a:r>
              <a:rPr lang="en-US" altLang="zh-CN" dirty="0"/>
              <a:t>(</a:t>
            </a:r>
          </a:p>
          <a:p>
            <a:pPr marL="0" indent="0">
              <a:buNone/>
            </a:pPr>
            <a:r>
              <a:rPr lang="en-US" altLang="zh-CN" dirty="0"/>
              <a:t>  (doc, index) =&gt; `[${ index + 1}]${ </a:t>
            </a:r>
            <a:r>
              <a:rPr lang="en-US" altLang="zh-CN" dirty="0" err="1"/>
              <a:t>doc.pageContent</a:t>
            </a:r>
            <a:r>
              <a:rPr lang="en-US" altLang="zh-CN" dirty="0"/>
              <a:t> }`</a:t>
            </a:r>
          </a:p>
          <a:p>
            <a:pPr marL="0" indent="0">
              <a:buNone/>
            </a:pPr>
            <a:r>
              <a:rPr lang="en-US" altLang="zh-CN" dirty="0"/>
              <a:t>).join("\n\n")</a:t>
            </a:r>
          </a:p>
          <a:p>
            <a:pPr marL="0" indent="0">
              <a:buNone/>
            </a:pPr>
            <a:r>
              <a:rPr lang="en-US" altLang="zh-CN" dirty="0"/>
              <a:t>```</a:t>
            </a:r>
          </a:p>
          <a:p>
            <a:pPr marL="0" indent="0">
              <a:buNone/>
            </a:pPr>
            <a:endParaRPr lang="en-US" altLang="zh-CN" dirty="0"/>
          </a:p>
          <a:p>
            <a:pPr marL="0" indent="0">
              <a:buNone/>
            </a:pPr>
            <a:r>
              <a:rPr lang="en-US" altLang="zh-CN" dirty="0"/>
              <a:t>---</a:t>
            </a:r>
          </a:p>
          <a:p>
            <a:pPr marL="0" indent="0">
              <a:buNone/>
            </a:pPr>
            <a:endParaRPr lang="en-US" altLang="zh-CN" dirty="0"/>
          </a:p>
          <a:p>
            <a:pPr marL="0" indent="0">
              <a:buNone/>
            </a:pPr>
            <a:r>
              <a:rPr lang="en-US" altLang="zh-CN" dirty="0"/>
              <a:t>Please answer me using the </a:t>
            </a:r>
            <a:r>
              <a:rPr lang="en-US" altLang="zh-CN" dirty="0" err="1"/>
              <a:t>lanaguage</a:t>
            </a:r>
            <a:r>
              <a:rPr lang="en-US" altLang="zh-CN" dirty="0"/>
              <a:t> as same as my question. Make sure to cite results using [number] notation after the reference. </a:t>
            </a:r>
          </a:p>
          <a:p>
            <a:pPr marL="0" indent="0">
              <a:buNone/>
            </a:pPr>
            <a:r>
              <a:rPr lang="en-US" altLang="zh-CN" dirty="0"/>
              <a:t>My question is: ${</a:t>
            </a:r>
            <a:r>
              <a:rPr lang="en-US" altLang="zh-CN" dirty="0" err="1"/>
              <a:t>Meet.Global.input</a:t>
            </a:r>
            <a:r>
              <a:rPr lang="en-US" altLang="zh-CN" dirty="0"/>
              <a:t>}</a:t>
            </a:r>
            <a:endParaRPr lang="zh-CN" altLang="en-US"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AskPDF</a:t>
            </a:r>
            <a:endParaRPr lang="zh-CN" altLang="en-US" dirty="0"/>
          </a:p>
        </p:txBody>
      </p:sp>
      <p:sp>
        <p:nvSpPr>
          <p:cNvPr id="3" name="内容占位符 2"/>
          <p:cNvSpPr>
            <a:spLocks noGrp="1"/>
          </p:cNvSpPr>
          <p:nvPr>
            <p:ph idx="1"/>
          </p:nvPr>
        </p:nvSpPr>
        <p:spPr/>
        <p:txBody>
          <a:bodyPr>
            <a:normAutofit fontScale="70000" lnSpcReduction="20000"/>
          </a:bodyPr>
          <a:lstStyle/>
          <a:p>
            <a:pPr marL="0" indent="0">
              <a:buNone/>
            </a:pPr>
            <a:r>
              <a:rPr lang="en-US" altLang="zh-CN" dirty="0"/>
              <a:t>#</a:t>
            </a:r>
            <a:r>
              <a:rPr lang="zh-CN" altLang="en-US" dirty="0"/>
              <a:t>🪐</a:t>
            </a:r>
            <a:r>
              <a:rPr lang="en-US" altLang="zh-CN" dirty="0" err="1"/>
              <a:t>AskPDF</a:t>
            </a:r>
            <a:r>
              <a:rPr lang="en-US" altLang="zh-CN" dirty="0"/>
              <a:t>[position=10][color=#0EA293][trigger=/^(</a:t>
            </a:r>
            <a:r>
              <a:rPr lang="zh-CN" altLang="en-US" dirty="0"/>
              <a:t>本文</a:t>
            </a:r>
            <a:r>
              <a:rPr lang="en-US" altLang="zh-CN" dirty="0"/>
              <a:t>|</a:t>
            </a:r>
            <a:r>
              <a:rPr lang="zh-CN" altLang="en-US" dirty="0"/>
              <a:t>这篇文章</a:t>
            </a:r>
            <a:r>
              <a:rPr lang="en-US" altLang="zh-CN" dirty="0"/>
              <a:t>|</a:t>
            </a:r>
            <a:r>
              <a:rPr lang="zh-CN" altLang="en-US" dirty="0"/>
              <a:t>论文</a:t>
            </a:r>
            <a:r>
              <a:rPr lang="en-US" altLang="zh-CN" dirty="0"/>
              <a:t>)/]</a:t>
            </a:r>
          </a:p>
          <a:p>
            <a:pPr marL="0" indent="0">
              <a:buNone/>
            </a:pPr>
            <a:r>
              <a:rPr lang="en-US" altLang="zh-CN" dirty="0"/>
              <a:t>You are a helpful assistant. Context information is below.</a:t>
            </a:r>
          </a:p>
          <a:p>
            <a:pPr marL="0" indent="0">
              <a:buNone/>
            </a:pPr>
            <a:r>
              <a:rPr lang="en-US" altLang="zh-CN" dirty="0"/>
              <a:t>${</a:t>
            </a:r>
          </a:p>
          <a:p>
            <a:pPr marL="0" indent="0">
              <a:buNone/>
            </a:pPr>
            <a:r>
              <a:rPr lang="en-US" altLang="zh-CN" dirty="0" err="1"/>
              <a:t>Meet.Zotero.getRelatedText</a:t>
            </a:r>
            <a:r>
              <a:rPr lang="en-US" altLang="zh-CN" dirty="0"/>
              <a:t>(</a:t>
            </a:r>
            <a:r>
              <a:rPr lang="en-US" altLang="zh-CN" dirty="0" err="1"/>
              <a:t>Meet.Global.input</a:t>
            </a:r>
            <a:r>
              <a:rPr lang="en-US" altLang="zh-CN" dirty="0"/>
              <a:t>)</a:t>
            </a:r>
          </a:p>
          <a:p>
            <a:pPr marL="0" indent="0">
              <a:buNone/>
            </a:pPr>
            <a:r>
              <a:rPr lang="en-US" altLang="zh-CN" dirty="0"/>
              <a:t>}</a:t>
            </a:r>
          </a:p>
          <a:p>
            <a:pPr marL="0" indent="0">
              <a:buNone/>
            </a:pPr>
            <a:r>
              <a:rPr lang="en-US" altLang="zh-CN" dirty="0"/>
              <a:t>Using the provided context information, write a comprehensive reply to the given query. Make sure to cite results using [number] notation after the reference. If the provided context information refer to multiple subjects with the same name, write separate answers for each subject. Use prior knowledge only if the given context didn't provide enough information.</a:t>
            </a:r>
          </a:p>
          <a:p>
            <a:pPr marL="0" indent="0">
              <a:buNone/>
            </a:pPr>
            <a:endParaRPr lang="en-US" altLang="zh-CN" dirty="0"/>
          </a:p>
          <a:p>
            <a:pPr marL="0" indent="0">
              <a:buNone/>
            </a:pPr>
            <a:r>
              <a:rPr lang="en-US" altLang="zh-CN" dirty="0"/>
              <a:t>Answer the question: ${</a:t>
            </a:r>
            <a:r>
              <a:rPr lang="en-US" altLang="zh-CN" dirty="0" err="1"/>
              <a:t>Meet.Global.input</a:t>
            </a:r>
            <a:r>
              <a:rPr lang="en-US" altLang="zh-CN" dirty="0"/>
              <a:t>}</a:t>
            </a:r>
          </a:p>
          <a:p>
            <a:pPr marL="0" indent="0">
              <a:buNone/>
            </a:pPr>
            <a:endParaRPr lang="en-US" altLang="zh-CN" dirty="0"/>
          </a:p>
          <a:p>
            <a:pPr marL="0" indent="0">
              <a:buNone/>
            </a:pPr>
            <a:r>
              <a:rPr lang="en-US" altLang="zh-CN" dirty="0"/>
              <a:t>Reply in </a:t>
            </a:r>
            <a:r>
              <a:rPr lang="en-US" altLang="zh-CN" dirty="0" err="1"/>
              <a:t>zh</a:t>
            </a:r>
            <a:r>
              <a:rPr lang="en-US" altLang="zh-CN" dirty="0"/>
              <a:t>-CN</a:t>
            </a:r>
            <a:endParaRPr lang="zh-CN" altLang="en-US"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About Input Text</a:t>
            </a:r>
            <a:endParaRPr lang="zh-CN" altLang="en-US" dirty="0"/>
          </a:p>
        </p:txBody>
      </p:sp>
      <p:sp>
        <p:nvSpPr>
          <p:cNvPr id="3" name="内容占位符 2"/>
          <p:cNvSpPr>
            <a:spLocks noGrp="1"/>
          </p:cNvSpPr>
          <p:nvPr>
            <p:ph idx="1"/>
          </p:nvPr>
        </p:nvSpPr>
        <p:spPr/>
        <p:txBody>
          <a:bodyPr>
            <a:normAutofit fontScale="92500" lnSpcReduction="10000"/>
          </a:bodyPr>
          <a:lstStyle/>
          <a:p>
            <a:r>
              <a:rPr lang="en-US" altLang="zh-CN" dirty="0"/>
              <a:t>You can exit me by pressing Esc above my head and wake me up by pressing Shift + / or Shift + ? in the Zotero main window.</a:t>
            </a:r>
          </a:p>
          <a:p>
            <a:endParaRPr lang="en-US" altLang="zh-CN" dirty="0"/>
          </a:p>
          <a:p>
            <a:r>
              <a:rPr lang="en-US" altLang="zh-CN" dirty="0"/>
              <a:t>You can type the question in my header, then press Enter to ask me.</a:t>
            </a:r>
          </a:p>
          <a:p>
            <a:endParaRPr lang="en-US" altLang="zh-CN" dirty="0"/>
          </a:p>
          <a:p>
            <a:r>
              <a:rPr lang="en-US" altLang="zh-CN" dirty="0"/>
              <a:t>You can press Ctrl + Enter to execute last executed command tag again.</a:t>
            </a:r>
          </a:p>
          <a:p>
            <a:endParaRPr lang="en-US" altLang="zh-CN" dirty="0"/>
          </a:p>
          <a:p>
            <a:r>
              <a:rPr lang="en-US" altLang="zh-CN" dirty="0"/>
              <a:t>You can press Shift + Enter to enter long text editing mode and press Ctrl + R to execute long text.</a:t>
            </a:r>
            <a:endParaRPr lang="zh-CN" altLang="en-US"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9EF44ACA-5038-49E5-A44D-A79CCA188C5A}"/>
              </a:ext>
            </a:extLst>
          </p:cNvPr>
          <p:cNvPicPr>
            <a:picLocks noChangeAspect="1"/>
          </p:cNvPicPr>
          <p:nvPr/>
        </p:nvPicPr>
        <p:blipFill>
          <a:blip r:embed="rId2"/>
          <a:stretch>
            <a:fillRect/>
          </a:stretch>
        </p:blipFill>
        <p:spPr>
          <a:xfrm>
            <a:off x="1013732" y="0"/>
            <a:ext cx="10164536" cy="6858000"/>
          </a:xfrm>
          <a:prstGeom prst="rect">
            <a:avLst/>
          </a:prstGeom>
        </p:spPr>
      </p:pic>
      <p:sp>
        <p:nvSpPr>
          <p:cNvPr id="7" name="文本框 6">
            <a:extLst>
              <a:ext uri="{FF2B5EF4-FFF2-40B4-BE49-F238E27FC236}">
                <a16:creationId xmlns:a16="http://schemas.microsoft.com/office/drawing/2014/main" id="{978905F1-29C0-432E-89FB-E8E586FA9195}"/>
              </a:ext>
            </a:extLst>
          </p:cNvPr>
          <p:cNvSpPr txBox="1"/>
          <p:nvPr/>
        </p:nvSpPr>
        <p:spPr>
          <a:xfrm>
            <a:off x="3550276" y="47223"/>
            <a:ext cx="4760890" cy="369332"/>
          </a:xfrm>
          <a:prstGeom prst="rect">
            <a:avLst/>
          </a:prstGeom>
          <a:noFill/>
        </p:spPr>
        <p:txBody>
          <a:bodyPr wrap="square" rtlCol="0">
            <a:spAutoFit/>
          </a:bodyPr>
          <a:lstStyle/>
          <a:p>
            <a:r>
              <a:rPr lang="zh-CN" altLang="en-US" dirty="0"/>
              <a:t>用高级搜索根据</a:t>
            </a:r>
            <a:r>
              <a:rPr lang="zh-CN" altLang="en-US" dirty="0">
                <a:solidFill>
                  <a:srgbClr val="FF0000"/>
                </a:solidFill>
              </a:rPr>
              <a:t>关键词</a:t>
            </a:r>
            <a:r>
              <a:rPr lang="zh-CN" altLang="en-US" dirty="0"/>
              <a:t>选择需要的多篇文献！</a:t>
            </a:r>
          </a:p>
        </p:txBody>
      </p:sp>
    </p:spTree>
    <p:extLst>
      <p:ext uri="{BB962C8B-B14F-4D97-AF65-F5344CB8AC3E}">
        <p14:creationId xmlns:p14="http://schemas.microsoft.com/office/powerpoint/2010/main" val="3296521662"/>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7EC609A0-314B-4A34-AE55-946F74F7B009}"/>
              </a:ext>
            </a:extLst>
          </p:cNvPr>
          <p:cNvSpPr>
            <a:spLocks noGrp="1"/>
          </p:cNvSpPr>
          <p:nvPr>
            <p:ph idx="1"/>
          </p:nvPr>
        </p:nvSpPr>
        <p:spPr/>
        <p:txBody>
          <a:bodyPr/>
          <a:lstStyle/>
          <a:p>
            <a:endParaRPr lang="zh-CN" altLang="en-US"/>
          </a:p>
        </p:txBody>
      </p:sp>
      <p:sp>
        <p:nvSpPr>
          <p:cNvPr id="8" name="标题 7">
            <a:extLst>
              <a:ext uri="{FF2B5EF4-FFF2-40B4-BE49-F238E27FC236}">
                <a16:creationId xmlns:a16="http://schemas.microsoft.com/office/drawing/2014/main" id="{04391690-0985-4989-9872-293663879D42}"/>
              </a:ext>
            </a:extLst>
          </p:cNvPr>
          <p:cNvSpPr>
            <a:spLocks noGrp="1"/>
          </p:cNvSpPr>
          <p:nvPr>
            <p:ph type="title"/>
          </p:nvPr>
        </p:nvSpPr>
        <p:spPr/>
        <p:txBody>
          <a:bodyPr/>
          <a:lstStyle/>
          <a:p>
            <a:endParaRPr lang="zh-CN" altLang="en-US"/>
          </a:p>
        </p:txBody>
      </p:sp>
      <p:pic>
        <p:nvPicPr>
          <p:cNvPr id="10" name="图片 9">
            <a:extLst>
              <a:ext uri="{FF2B5EF4-FFF2-40B4-BE49-F238E27FC236}">
                <a16:creationId xmlns:a16="http://schemas.microsoft.com/office/drawing/2014/main" id="{4CEA18FF-1351-45CF-868E-2D8F42728C61}"/>
              </a:ext>
            </a:extLst>
          </p:cNvPr>
          <p:cNvPicPr>
            <a:picLocks noChangeAspect="1"/>
          </p:cNvPicPr>
          <p:nvPr/>
        </p:nvPicPr>
        <p:blipFill>
          <a:blip r:embed="rId2"/>
          <a:stretch>
            <a:fillRect/>
          </a:stretch>
        </p:blipFill>
        <p:spPr>
          <a:xfrm>
            <a:off x="213372" y="0"/>
            <a:ext cx="11765255" cy="6858000"/>
          </a:xfrm>
          <a:prstGeom prst="rect">
            <a:avLst/>
          </a:prstGeom>
        </p:spPr>
      </p:pic>
      <p:pic>
        <p:nvPicPr>
          <p:cNvPr id="3" name="图片 2">
            <a:extLst>
              <a:ext uri="{FF2B5EF4-FFF2-40B4-BE49-F238E27FC236}">
                <a16:creationId xmlns:a16="http://schemas.microsoft.com/office/drawing/2014/main" id="{FB871E76-1865-B4DC-6CBF-EC48C8C37CC4}"/>
              </a:ext>
            </a:extLst>
          </p:cNvPr>
          <p:cNvPicPr>
            <a:picLocks noChangeAspect="1"/>
          </p:cNvPicPr>
          <p:nvPr/>
        </p:nvPicPr>
        <p:blipFill>
          <a:blip r:embed="rId2"/>
          <a:stretch>
            <a:fillRect/>
          </a:stretch>
        </p:blipFill>
        <p:spPr>
          <a:xfrm>
            <a:off x="213372" y="0"/>
            <a:ext cx="11765255" cy="6858000"/>
          </a:xfrm>
          <a:prstGeom prst="rect">
            <a:avLst/>
          </a:prstGeom>
        </p:spPr>
      </p:pic>
    </p:spTree>
    <p:extLst>
      <p:ext uri="{BB962C8B-B14F-4D97-AF65-F5344CB8AC3E}">
        <p14:creationId xmlns:p14="http://schemas.microsoft.com/office/powerpoint/2010/main" val="171294716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EFF222-F2BF-4871-A8A4-894F67FFB367}"/>
              </a:ext>
            </a:extLst>
          </p:cNvPr>
          <p:cNvSpPr>
            <a:spLocks noGrp="1"/>
          </p:cNvSpPr>
          <p:nvPr>
            <p:ph type="title"/>
          </p:nvPr>
        </p:nvSpPr>
        <p:spPr/>
        <p:txBody>
          <a:bodyPr/>
          <a:lstStyle/>
          <a:p>
            <a:r>
              <a:rPr lang="en-US" altLang="zh-CN" b="1" i="0" dirty="0" err="1">
                <a:solidFill>
                  <a:srgbClr val="1C1E21"/>
                </a:solidFill>
                <a:effectLst/>
                <a:latin typeface="system-ui"/>
              </a:rPr>
              <a:t>DeepSeek</a:t>
            </a:r>
            <a:r>
              <a:rPr lang="en-US" altLang="zh-CN" b="1" i="0" dirty="0">
                <a:solidFill>
                  <a:srgbClr val="1C1E21"/>
                </a:solidFill>
                <a:effectLst/>
                <a:latin typeface="system-ui"/>
              </a:rPr>
              <a:t>: </a:t>
            </a:r>
            <a:r>
              <a:rPr lang="zh-CN" altLang="en-US" b="1" i="0" dirty="0">
                <a:solidFill>
                  <a:srgbClr val="1C1E21"/>
                </a:solidFill>
                <a:effectLst/>
                <a:latin typeface="system-ui"/>
              </a:rPr>
              <a:t>能力细节（文本、非视觉模型）</a:t>
            </a:r>
            <a:endParaRPr lang="zh-CN" altLang="en-US" dirty="0"/>
          </a:p>
        </p:txBody>
      </p:sp>
      <p:graphicFrame>
        <p:nvGraphicFramePr>
          <p:cNvPr id="5" name="内容占位符 4">
            <a:extLst>
              <a:ext uri="{FF2B5EF4-FFF2-40B4-BE49-F238E27FC236}">
                <a16:creationId xmlns:a16="http://schemas.microsoft.com/office/drawing/2014/main" id="{1CEE149D-0A75-4D57-A762-9FC030DD7C85}"/>
              </a:ext>
            </a:extLst>
          </p:cNvPr>
          <p:cNvGraphicFramePr>
            <a:graphicFrameLocks noGrp="1"/>
          </p:cNvGraphicFramePr>
          <p:nvPr>
            <p:ph idx="1"/>
          </p:nvPr>
        </p:nvGraphicFramePr>
        <p:xfrm>
          <a:off x="1481620" y="1804001"/>
          <a:ext cx="9228760" cy="4394586"/>
        </p:xfrm>
        <a:graphic>
          <a:graphicData uri="http://schemas.openxmlformats.org/drawingml/2006/table">
            <a:tbl>
              <a:tblPr>
                <a:tableStyleId>{7DF18680-E054-41AD-8BC1-D1AEF772440D}</a:tableStyleId>
              </a:tblPr>
              <a:tblGrid>
                <a:gridCol w="2307190">
                  <a:extLst>
                    <a:ext uri="{9D8B030D-6E8A-4147-A177-3AD203B41FA5}">
                      <a16:colId xmlns:a16="http://schemas.microsoft.com/office/drawing/2014/main" val="4235509713"/>
                    </a:ext>
                  </a:extLst>
                </a:gridCol>
                <a:gridCol w="2307190">
                  <a:extLst>
                    <a:ext uri="{9D8B030D-6E8A-4147-A177-3AD203B41FA5}">
                      <a16:colId xmlns:a16="http://schemas.microsoft.com/office/drawing/2014/main" val="1081196999"/>
                    </a:ext>
                  </a:extLst>
                </a:gridCol>
                <a:gridCol w="2307190">
                  <a:extLst>
                    <a:ext uri="{9D8B030D-6E8A-4147-A177-3AD203B41FA5}">
                      <a16:colId xmlns:a16="http://schemas.microsoft.com/office/drawing/2014/main" val="3370017966"/>
                    </a:ext>
                  </a:extLst>
                </a:gridCol>
                <a:gridCol w="2307190">
                  <a:extLst>
                    <a:ext uri="{9D8B030D-6E8A-4147-A177-3AD203B41FA5}">
                      <a16:colId xmlns:a16="http://schemas.microsoft.com/office/drawing/2014/main" val="1138429914"/>
                    </a:ext>
                  </a:extLst>
                </a:gridCol>
              </a:tblGrid>
              <a:tr h="329917">
                <a:tc gridSpan="2">
                  <a:txBody>
                    <a:bodyPr/>
                    <a:lstStyle/>
                    <a:p>
                      <a:pPr algn="ctr"/>
                      <a:r>
                        <a:rPr lang="zh-CN" altLang="en-US" sz="1600" dirty="0">
                          <a:solidFill>
                            <a:srgbClr val="1C1E21"/>
                          </a:solidFill>
                          <a:effectLst/>
                        </a:rPr>
                        <a:t>模型</a:t>
                      </a:r>
                    </a:p>
                  </a:txBody>
                  <a:tcPr marL="44583" marR="44583" marT="44583" marB="44583" anchor="ctr">
                    <a:pattFill prst="lgCheck">
                      <a:fgClr>
                        <a:schemeClr val="accent5">
                          <a:tint val="20000"/>
                        </a:schemeClr>
                      </a:fgClr>
                      <a:bgClr>
                        <a:schemeClr val="bg1"/>
                      </a:bgClr>
                    </a:pattFill>
                  </a:tcPr>
                </a:tc>
                <a:tc hMerge="1">
                  <a:txBody>
                    <a:bodyPr/>
                    <a:lstStyle/>
                    <a:p>
                      <a:endParaRPr lang="zh-CN" altLang="en-US"/>
                    </a:p>
                  </a:txBody>
                  <a:tcPr/>
                </a:tc>
                <a:tc>
                  <a:txBody>
                    <a:bodyPr/>
                    <a:lstStyle/>
                    <a:p>
                      <a:r>
                        <a:rPr lang="en-US" sz="1600" dirty="0" err="1">
                          <a:solidFill>
                            <a:srgbClr val="1C1E21"/>
                          </a:solidFill>
                          <a:effectLst/>
                        </a:rPr>
                        <a:t>deepseek</a:t>
                      </a:r>
                      <a:r>
                        <a:rPr lang="en-US" sz="1600" dirty="0">
                          <a:solidFill>
                            <a:srgbClr val="1C1E21"/>
                          </a:solidFill>
                          <a:effectLst/>
                        </a:rPr>
                        <a:t>-chat</a:t>
                      </a:r>
                    </a:p>
                  </a:txBody>
                  <a:tcPr marL="44583" marR="44583" marT="44583" marB="44583" anchor="ctr">
                    <a:pattFill prst="lgCheck">
                      <a:fgClr>
                        <a:schemeClr val="accent5">
                          <a:tint val="20000"/>
                        </a:schemeClr>
                      </a:fgClr>
                      <a:bgClr>
                        <a:schemeClr val="bg1"/>
                      </a:bgClr>
                    </a:pattFill>
                  </a:tcPr>
                </a:tc>
                <a:tc>
                  <a:txBody>
                    <a:bodyPr/>
                    <a:lstStyle/>
                    <a:p>
                      <a:r>
                        <a:rPr lang="en-US" sz="1600" dirty="0" err="1">
                          <a:solidFill>
                            <a:srgbClr val="1C1E21"/>
                          </a:solidFill>
                          <a:effectLst/>
                        </a:rPr>
                        <a:t>deepseek</a:t>
                      </a:r>
                      <a:r>
                        <a:rPr lang="en-US" sz="1600" dirty="0">
                          <a:solidFill>
                            <a:srgbClr val="1C1E21"/>
                          </a:solidFill>
                          <a:effectLst/>
                        </a:rPr>
                        <a:t>-reasoner</a:t>
                      </a:r>
                    </a:p>
                  </a:txBody>
                  <a:tcPr marL="44583" marR="44583" marT="44583" marB="44583" anchor="ctr">
                    <a:pattFill prst="lgCheck">
                      <a:fgClr>
                        <a:schemeClr val="accent5">
                          <a:tint val="20000"/>
                        </a:schemeClr>
                      </a:fgClr>
                      <a:bgClr>
                        <a:schemeClr val="bg1"/>
                      </a:bgClr>
                    </a:pattFill>
                  </a:tcPr>
                </a:tc>
                <a:extLst>
                  <a:ext uri="{0D108BD9-81ED-4DB2-BD59-A6C34878D82A}">
                    <a16:rowId xmlns:a16="http://schemas.microsoft.com/office/drawing/2014/main" val="669785334"/>
                  </a:ext>
                </a:extLst>
              </a:tr>
              <a:tr h="570667">
                <a:tc gridSpan="2">
                  <a:txBody>
                    <a:bodyPr/>
                    <a:lstStyle/>
                    <a:p>
                      <a:pPr algn="ctr"/>
                      <a:r>
                        <a:rPr lang="zh-CN" altLang="en-US" sz="1600">
                          <a:solidFill>
                            <a:srgbClr val="1C1E21"/>
                          </a:solidFill>
                          <a:effectLst/>
                        </a:rPr>
                        <a:t>模型版本</a:t>
                      </a:r>
                    </a:p>
                  </a:txBody>
                  <a:tcPr marL="44583" marR="44583" marT="44583" marB="44583" anchor="ctr"/>
                </a:tc>
                <a:tc hMerge="1">
                  <a:txBody>
                    <a:bodyPr/>
                    <a:lstStyle/>
                    <a:p>
                      <a:endParaRPr lang="zh-CN" altLang="en-US"/>
                    </a:p>
                  </a:txBody>
                  <a:tcPr/>
                </a:tc>
                <a:tc>
                  <a:txBody>
                    <a:bodyPr/>
                    <a:lstStyle/>
                    <a:p>
                      <a:r>
                        <a:rPr lang="en-US" sz="1600">
                          <a:solidFill>
                            <a:srgbClr val="1C1E21"/>
                          </a:solidFill>
                          <a:effectLst/>
                        </a:rPr>
                        <a:t>DeepSeek-V3.2-Exp</a:t>
                      </a:r>
                      <a:br>
                        <a:rPr lang="en-US" sz="1600">
                          <a:solidFill>
                            <a:srgbClr val="1C1E21"/>
                          </a:solidFill>
                          <a:effectLst/>
                        </a:rPr>
                      </a:br>
                      <a:r>
                        <a:rPr lang="en-US" sz="1600">
                          <a:solidFill>
                            <a:srgbClr val="1C1E21"/>
                          </a:solidFill>
                          <a:effectLst/>
                        </a:rPr>
                        <a:t>（</a:t>
                      </a:r>
                      <a:r>
                        <a:rPr lang="zh-CN" altLang="en-US" sz="1600">
                          <a:solidFill>
                            <a:srgbClr val="1C1E21"/>
                          </a:solidFill>
                          <a:effectLst/>
                        </a:rPr>
                        <a:t>非思考模式）</a:t>
                      </a:r>
                    </a:p>
                  </a:txBody>
                  <a:tcPr marL="44583" marR="44583" marT="44583" marB="44583" anchor="ctr"/>
                </a:tc>
                <a:tc>
                  <a:txBody>
                    <a:bodyPr/>
                    <a:lstStyle/>
                    <a:p>
                      <a:r>
                        <a:rPr lang="en-US" sz="1600">
                          <a:solidFill>
                            <a:srgbClr val="1C1E21"/>
                          </a:solidFill>
                          <a:effectLst/>
                        </a:rPr>
                        <a:t>DeepSeek-V3.2-Exp</a:t>
                      </a:r>
                      <a:br>
                        <a:rPr lang="en-US" sz="1600">
                          <a:solidFill>
                            <a:srgbClr val="1C1E21"/>
                          </a:solidFill>
                          <a:effectLst/>
                        </a:rPr>
                      </a:br>
                      <a:r>
                        <a:rPr lang="en-US" sz="1600">
                          <a:solidFill>
                            <a:srgbClr val="1C1E21"/>
                          </a:solidFill>
                          <a:effectLst/>
                        </a:rPr>
                        <a:t>（</a:t>
                      </a:r>
                      <a:r>
                        <a:rPr lang="zh-CN" altLang="en-US" sz="1600">
                          <a:solidFill>
                            <a:srgbClr val="1C1E21"/>
                          </a:solidFill>
                          <a:effectLst/>
                        </a:rPr>
                        <a:t>思考模式）</a:t>
                      </a:r>
                    </a:p>
                  </a:txBody>
                  <a:tcPr marL="44583" marR="44583" marT="44583" marB="44583" anchor="ctr"/>
                </a:tc>
                <a:extLst>
                  <a:ext uri="{0D108BD9-81ED-4DB2-BD59-A6C34878D82A}">
                    <a16:rowId xmlns:a16="http://schemas.microsoft.com/office/drawing/2014/main" val="4141296688"/>
                  </a:ext>
                </a:extLst>
              </a:tr>
              <a:tr h="329917">
                <a:tc gridSpan="2">
                  <a:txBody>
                    <a:bodyPr/>
                    <a:lstStyle/>
                    <a:p>
                      <a:r>
                        <a:rPr lang="zh-CN" altLang="en-US" sz="1600">
                          <a:solidFill>
                            <a:srgbClr val="1C1E21"/>
                          </a:solidFill>
                          <a:effectLst/>
                        </a:rPr>
                        <a:t>上下文长度</a:t>
                      </a:r>
                    </a:p>
                  </a:txBody>
                  <a:tcPr marL="44583" marR="44583" marT="44583" marB="44583" anchor="ctr"/>
                </a:tc>
                <a:tc hMerge="1">
                  <a:txBody>
                    <a:bodyPr/>
                    <a:lstStyle/>
                    <a:p>
                      <a:endParaRPr lang="zh-CN" altLang="en-US"/>
                    </a:p>
                  </a:txBody>
                  <a:tcPr/>
                </a:tc>
                <a:tc gridSpan="2">
                  <a:txBody>
                    <a:bodyPr/>
                    <a:lstStyle/>
                    <a:p>
                      <a:r>
                        <a:rPr lang="en-US" sz="1600">
                          <a:solidFill>
                            <a:srgbClr val="1C1E21"/>
                          </a:solidFill>
                          <a:effectLst/>
                        </a:rPr>
                        <a:t>128K</a:t>
                      </a:r>
                    </a:p>
                  </a:txBody>
                  <a:tcPr marL="44583" marR="44583" marT="44583" marB="44583" anchor="ctr"/>
                </a:tc>
                <a:tc hMerge="1">
                  <a:txBody>
                    <a:bodyPr/>
                    <a:lstStyle/>
                    <a:p>
                      <a:endParaRPr lang="zh-CN" altLang="en-US"/>
                    </a:p>
                  </a:txBody>
                  <a:tcPr/>
                </a:tc>
                <a:extLst>
                  <a:ext uri="{0D108BD9-81ED-4DB2-BD59-A6C34878D82A}">
                    <a16:rowId xmlns:a16="http://schemas.microsoft.com/office/drawing/2014/main" val="2332905844"/>
                  </a:ext>
                </a:extLst>
              </a:tr>
              <a:tr h="329917">
                <a:tc gridSpan="2">
                  <a:txBody>
                    <a:bodyPr/>
                    <a:lstStyle/>
                    <a:p>
                      <a:r>
                        <a:rPr lang="zh-CN" altLang="en-US" sz="1600">
                          <a:solidFill>
                            <a:srgbClr val="1C1E21"/>
                          </a:solidFill>
                          <a:effectLst/>
                        </a:rPr>
                        <a:t>输出长度</a:t>
                      </a:r>
                    </a:p>
                  </a:txBody>
                  <a:tcPr marL="44583" marR="44583" marT="44583" marB="44583" anchor="ctr"/>
                </a:tc>
                <a:tc hMerge="1">
                  <a:txBody>
                    <a:bodyPr/>
                    <a:lstStyle/>
                    <a:p>
                      <a:endParaRPr lang="zh-CN" altLang="en-US"/>
                    </a:p>
                  </a:txBody>
                  <a:tcPr/>
                </a:tc>
                <a:tc>
                  <a:txBody>
                    <a:bodyPr/>
                    <a:lstStyle/>
                    <a:p>
                      <a:r>
                        <a:rPr lang="zh-CN" altLang="en-US" sz="1600">
                          <a:solidFill>
                            <a:srgbClr val="1C1E21"/>
                          </a:solidFill>
                          <a:effectLst/>
                        </a:rPr>
                        <a:t>默认 </a:t>
                      </a:r>
                      <a:r>
                        <a:rPr lang="en-US" altLang="zh-CN" sz="1600">
                          <a:solidFill>
                            <a:srgbClr val="1C1E21"/>
                          </a:solidFill>
                          <a:effectLst/>
                        </a:rPr>
                        <a:t>4</a:t>
                      </a:r>
                      <a:r>
                        <a:rPr lang="en-US" sz="1600">
                          <a:solidFill>
                            <a:srgbClr val="1C1E21"/>
                          </a:solidFill>
                          <a:effectLst/>
                        </a:rPr>
                        <a:t>K，</a:t>
                      </a:r>
                      <a:r>
                        <a:rPr lang="zh-CN" altLang="en-US" sz="1600">
                          <a:solidFill>
                            <a:srgbClr val="1C1E21"/>
                          </a:solidFill>
                          <a:effectLst/>
                        </a:rPr>
                        <a:t>最大 </a:t>
                      </a:r>
                      <a:r>
                        <a:rPr lang="en-US" altLang="zh-CN" sz="1600">
                          <a:solidFill>
                            <a:srgbClr val="1C1E21"/>
                          </a:solidFill>
                          <a:effectLst/>
                        </a:rPr>
                        <a:t>8</a:t>
                      </a:r>
                      <a:r>
                        <a:rPr lang="en-US" sz="1600">
                          <a:solidFill>
                            <a:srgbClr val="1C1E21"/>
                          </a:solidFill>
                          <a:effectLst/>
                        </a:rPr>
                        <a:t>K</a:t>
                      </a:r>
                    </a:p>
                  </a:txBody>
                  <a:tcPr marL="44583" marR="44583" marT="44583" marB="44583" anchor="ctr"/>
                </a:tc>
                <a:tc>
                  <a:txBody>
                    <a:bodyPr/>
                    <a:lstStyle/>
                    <a:p>
                      <a:r>
                        <a:rPr lang="zh-CN" altLang="en-US" sz="1600">
                          <a:solidFill>
                            <a:srgbClr val="1C1E21"/>
                          </a:solidFill>
                          <a:effectLst/>
                        </a:rPr>
                        <a:t>默认 </a:t>
                      </a:r>
                      <a:r>
                        <a:rPr lang="en-US" altLang="zh-CN" sz="1600">
                          <a:solidFill>
                            <a:srgbClr val="1C1E21"/>
                          </a:solidFill>
                          <a:effectLst/>
                        </a:rPr>
                        <a:t>32</a:t>
                      </a:r>
                      <a:r>
                        <a:rPr lang="en-US" sz="1600">
                          <a:solidFill>
                            <a:srgbClr val="1C1E21"/>
                          </a:solidFill>
                          <a:effectLst/>
                        </a:rPr>
                        <a:t>K，</a:t>
                      </a:r>
                      <a:r>
                        <a:rPr lang="zh-CN" altLang="en-US" sz="1600">
                          <a:solidFill>
                            <a:srgbClr val="1C1E21"/>
                          </a:solidFill>
                          <a:effectLst/>
                        </a:rPr>
                        <a:t>最大 </a:t>
                      </a:r>
                      <a:r>
                        <a:rPr lang="en-US" altLang="zh-CN" sz="1600">
                          <a:solidFill>
                            <a:srgbClr val="1C1E21"/>
                          </a:solidFill>
                          <a:effectLst/>
                        </a:rPr>
                        <a:t>64</a:t>
                      </a:r>
                      <a:r>
                        <a:rPr lang="en-US" sz="1600">
                          <a:solidFill>
                            <a:srgbClr val="1C1E21"/>
                          </a:solidFill>
                          <a:effectLst/>
                        </a:rPr>
                        <a:t>K</a:t>
                      </a:r>
                    </a:p>
                  </a:txBody>
                  <a:tcPr marL="44583" marR="44583" marT="44583" marB="44583" anchor="ctr"/>
                </a:tc>
                <a:extLst>
                  <a:ext uri="{0D108BD9-81ED-4DB2-BD59-A6C34878D82A}">
                    <a16:rowId xmlns:a16="http://schemas.microsoft.com/office/drawing/2014/main" val="396861700"/>
                  </a:ext>
                </a:extLst>
              </a:tr>
              <a:tr h="329917">
                <a:tc rowSpan="4">
                  <a:txBody>
                    <a:bodyPr/>
                    <a:lstStyle/>
                    <a:p>
                      <a:r>
                        <a:rPr lang="zh-CN" altLang="en-US" sz="1600">
                          <a:solidFill>
                            <a:srgbClr val="1C1E21"/>
                          </a:solidFill>
                          <a:effectLst/>
                        </a:rPr>
                        <a:t>功能</a:t>
                      </a:r>
                    </a:p>
                  </a:txBody>
                  <a:tcPr marL="44583" marR="44583" marT="44583" marB="44583" anchor="ctr"/>
                </a:tc>
                <a:tc>
                  <a:txBody>
                    <a:bodyPr/>
                    <a:lstStyle/>
                    <a:p>
                      <a:r>
                        <a:rPr lang="en-US" sz="1600">
                          <a:solidFill>
                            <a:srgbClr val="007AFF"/>
                          </a:solidFill>
                          <a:effectLst/>
                          <a:hlinkClick r:id="rId2"/>
                        </a:rPr>
                        <a:t>Json Output</a:t>
                      </a:r>
                      <a:endParaRPr lang="en-US" sz="1600">
                        <a:solidFill>
                          <a:srgbClr val="1C1E21"/>
                        </a:solidFill>
                        <a:effectLst/>
                      </a:endParaRPr>
                    </a:p>
                  </a:txBody>
                  <a:tcPr marL="44583" marR="44583" marT="44583" marB="44583" anchor="ctr"/>
                </a:tc>
                <a:tc>
                  <a:txBody>
                    <a:bodyPr/>
                    <a:lstStyle/>
                    <a:p>
                      <a:r>
                        <a:rPr lang="zh-CN" altLang="en-US" sz="1600">
                          <a:solidFill>
                            <a:srgbClr val="1C1E21"/>
                          </a:solidFill>
                          <a:effectLst/>
                        </a:rPr>
                        <a:t>支持</a:t>
                      </a:r>
                    </a:p>
                  </a:txBody>
                  <a:tcPr marL="44583" marR="44583" marT="44583" marB="44583" anchor="ctr"/>
                </a:tc>
                <a:tc>
                  <a:txBody>
                    <a:bodyPr/>
                    <a:lstStyle/>
                    <a:p>
                      <a:r>
                        <a:rPr lang="zh-CN" altLang="en-US" sz="1600">
                          <a:solidFill>
                            <a:srgbClr val="1C1E21"/>
                          </a:solidFill>
                          <a:effectLst/>
                        </a:rPr>
                        <a:t>支持</a:t>
                      </a:r>
                    </a:p>
                  </a:txBody>
                  <a:tcPr marL="44583" marR="44583" marT="44583" marB="44583" anchor="ctr"/>
                </a:tc>
                <a:extLst>
                  <a:ext uri="{0D108BD9-81ED-4DB2-BD59-A6C34878D82A}">
                    <a16:rowId xmlns:a16="http://schemas.microsoft.com/office/drawing/2014/main" val="932752963"/>
                  </a:ext>
                </a:extLst>
              </a:tr>
              <a:tr h="329917">
                <a:tc vMerge="1">
                  <a:txBody>
                    <a:bodyPr/>
                    <a:lstStyle/>
                    <a:p>
                      <a:endParaRPr lang="zh-CN" altLang="en-US"/>
                    </a:p>
                  </a:txBody>
                  <a:tcPr/>
                </a:tc>
                <a:tc>
                  <a:txBody>
                    <a:bodyPr/>
                    <a:lstStyle/>
                    <a:p>
                      <a:r>
                        <a:rPr lang="en-US" sz="1600">
                          <a:solidFill>
                            <a:srgbClr val="007AFF"/>
                          </a:solidFill>
                          <a:effectLst/>
                          <a:hlinkClick r:id="rId3"/>
                        </a:rPr>
                        <a:t>Function Calling</a:t>
                      </a:r>
                      <a:endParaRPr lang="en-US" sz="1600">
                        <a:solidFill>
                          <a:srgbClr val="1C1E21"/>
                        </a:solidFill>
                        <a:effectLst/>
                      </a:endParaRPr>
                    </a:p>
                  </a:txBody>
                  <a:tcPr marL="44583" marR="44583" marT="44583" marB="44583" anchor="ctr"/>
                </a:tc>
                <a:tc>
                  <a:txBody>
                    <a:bodyPr/>
                    <a:lstStyle/>
                    <a:p>
                      <a:r>
                        <a:rPr lang="zh-CN" altLang="en-US" sz="1600">
                          <a:solidFill>
                            <a:srgbClr val="1C1E21"/>
                          </a:solidFill>
                          <a:effectLst/>
                        </a:rPr>
                        <a:t>支持</a:t>
                      </a:r>
                    </a:p>
                  </a:txBody>
                  <a:tcPr marL="44583" marR="44583" marT="44583" marB="44583" anchor="ctr"/>
                </a:tc>
                <a:tc>
                  <a:txBody>
                    <a:bodyPr/>
                    <a:lstStyle/>
                    <a:p>
                      <a:r>
                        <a:rPr lang="zh-CN" altLang="en-US" sz="1600">
                          <a:solidFill>
                            <a:srgbClr val="1C1E21"/>
                          </a:solidFill>
                          <a:effectLst/>
                        </a:rPr>
                        <a:t>不支持</a:t>
                      </a:r>
                      <a:r>
                        <a:rPr lang="en-US" altLang="zh-CN" sz="1600" baseline="30000">
                          <a:solidFill>
                            <a:srgbClr val="1C1E21"/>
                          </a:solidFill>
                          <a:effectLst/>
                        </a:rPr>
                        <a:t>(1)</a:t>
                      </a:r>
                      <a:endParaRPr lang="zh-CN" altLang="en-US" sz="1600">
                        <a:solidFill>
                          <a:srgbClr val="1C1E21"/>
                        </a:solidFill>
                        <a:effectLst/>
                      </a:endParaRPr>
                    </a:p>
                  </a:txBody>
                  <a:tcPr marL="44583" marR="44583" marT="44583" marB="44583" anchor="ctr"/>
                </a:tc>
                <a:extLst>
                  <a:ext uri="{0D108BD9-81ED-4DB2-BD59-A6C34878D82A}">
                    <a16:rowId xmlns:a16="http://schemas.microsoft.com/office/drawing/2014/main" val="1123932818"/>
                  </a:ext>
                </a:extLst>
              </a:tr>
              <a:tr h="329917">
                <a:tc vMerge="1">
                  <a:txBody>
                    <a:bodyPr/>
                    <a:lstStyle/>
                    <a:p>
                      <a:endParaRPr lang="zh-CN" altLang="en-US"/>
                    </a:p>
                  </a:txBody>
                  <a:tcPr/>
                </a:tc>
                <a:tc>
                  <a:txBody>
                    <a:bodyPr/>
                    <a:lstStyle/>
                    <a:p>
                      <a:r>
                        <a:rPr lang="zh-CN" altLang="en-US" sz="1600">
                          <a:solidFill>
                            <a:srgbClr val="007AFF"/>
                          </a:solidFill>
                          <a:effectLst/>
                          <a:hlinkClick r:id="rId4"/>
                        </a:rPr>
                        <a:t>对话前缀续写（</a:t>
                      </a:r>
                      <a:r>
                        <a:rPr lang="en-US" altLang="zh-CN" sz="1600">
                          <a:solidFill>
                            <a:srgbClr val="007AFF"/>
                          </a:solidFill>
                          <a:effectLst/>
                          <a:hlinkClick r:id="rId4"/>
                        </a:rPr>
                        <a:t>Beta</a:t>
                      </a:r>
                      <a:r>
                        <a:rPr lang="zh-CN" altLang="en-US" sz="1600">
                          <a:solidFill>
                            <a:srgbClr val="007AFF"/>
                          </a:solidFill>
                          <a:effectLst/>
                          <a:hlinkClick r:id="rId4"/>
                        </a:rPr>
                        <a:t>）</a:t>
                      </a:r>
                      <a:endParaRPr lang="zh-CN" altLang="en-US" sz="1600">
                        <a:solidFill>
                          <a:srgbClr val="1C1E21"/>
                        </a:solidFill>
                        <a:effectLst/>
                      </a:endParaRPr>
                    </a:p>
                  </a:txBody>
                  <a:tcPr marL="44583" marR="44583" marT="44583" marB="44583" anchor="ctr"/>
                </a:tc>
                <a:tc>
                  <a:txBody>
                    <a:bodyPr/>
                    <a:lstStyle/>
                    <a:p>
                      <a:r>
                        <a:rPr lang="zh-CN" altLang="en-US" sz="1600">
                          <a:solidFill>
                            <a:srgbClr val="1C1E21"/>
                          </a:solidFill>
                          <a:effectLst/>
                        </a:rPr>
                        <a:t>支持</a:t>
                      </a:r>
                    </a:p>
                  </a:txBody>
                  <a:tcPr marL="44583" marR="44583" marT="44583" marB="44583" anchor="ctr"/>
                </a:tc>
                <a:tc>
                  <a:txBody>
                    <a:bodyPr/>
                    <a:lstStyle/>
                    <a:p>
                      <a:r>
                        <a:rPr lang="zh-CN" altLang="en-US" sz="1600">
                          <a:solidFill>
                            <a:srgbClr val="1C1E21"/>
                          </a:solidFill>
                          <a:effectLst/>
                        </a:rPr>
                        <a:t>支持</a:t>
                      </a:r>
                    </a:p>
                  </a:txBody>
                  <a:tcPr marL="44583" marR="44583" marT="44583" marB="44583" anchor="ctr"/>
                </a:tc>
                <a:extLst>
                  <a:ext uri="{0D108BD9-81ED-4DB2-BD59-A6C34878D82A}">
                    <a16:rowId xmlns:a16="http://schemas.microsoft.com/office/drawing/2014/main" val="87139430"/>
                  </a:ext>
                </a:extLst>
              </a:tr>
              <a:tr h="329917">
                <a:tc vMerge="1">
                  <a:txBody>
                    <a:bodyPr/>
                    <a:lstStyle/>
                    <a:p>
                      <a:endParaRPr lang="zh-CN" altLang="en-US"/>
                    </a:p>
                  </a:txBody>
                  <a:tcPr/>
                </a:tc>
                <a:tc>
                  <a:txBody>
                    <a:bodyPr/>
                    <a:lstStyle/>
                    <a:p>
                      <a:r>
                        <a:rPr lang="en-US" sz="1600">
                          <a:solidFill>
                            <a:srgbClr val="007AFF"/>
                          </a:solidFill>
                          <a:effectLst/>
                          <a:hlinkClick r:id="rId5"/>
                        </a:rPr>
                        <a:t>FIM </a:t>
                      </a:r>
                      <a:r>
                        <a:rPr lang="zh-CN" altLang="en-US" sz="1600">
                          <a:solidFill>
                            <a:srgbClr val="007AFF"/>
                          </a:solidFill>
                          <a:effectLst/>
                          <a:hlinkClick r:id="rId5"/>
                        </a:rPr>
                        <a:t>补全（</a:t>
                      </a:r>
                      <a:r>
                        <a:rPr lang="en-US" sz="1600">
                          <a:solidFill>
                            <a:srgbClr val="007AFF"/>
                          </a:solidFill>
                          <a:effectLst/>
                          <a:hlinkClick r:id="rId5"/>
                        </a:rPr>
                        <a:t>Beta）</a:t>
                      </a:r>
                      <a:endParaRPr lang="en-US" sz="1600">
                        <a:solidFill>
                          <a:srgbClr val="1C1E21"/>
                        </a:solidFill>
                        <a:effectLst/>
                      </a:endParaRPr>
                    </a:p>
                  </a:txBody>
                  <a:tcPr marL="44583" marR="44583" marT="44583" marB="44583" anchor="ctr"/>
                </a:tc>
                <a:tc>
                  <a:txBody>
                    <a:bodyPr/>
                    <a:lstStyle/>
                    <a:p>
                      <a:r>
                        <a:rPr lang="zh-CN" altLang="en-US" sz="1600">
                          <a:solidFill>
                            <a:srgbClr val="1C1E21"/>
                          </a:solidFill>
                          <a:effectLst/>
                        </a:rPr>
                        <a:t>支持</a:t>
                      </a:r>
                    </a:p>
                  </a:txBody>
                  <a:tcPr marL="44583" marR="44583" marT="44583" marB="44583" anchor="ctr"/>
                </a:tc>
                <a:tc>
                  <a:txBody>
                    <a:bodyPr/>
                    <a:lstStyle/>
                    <a:p>
                      <a:r>
                        <a:rPr lang="zh-CN" altLang="en-US" sz="1600">
                          <a:solidFill>
                            <a:srgbClr val="1C1E21"/>
                          </a:solidFill>
                          <a:effectLst/>
                        </a:rPr>
                        <a:t>不支持</a:t>
                      </a:r>
                    </a:p>
                  </a:txBody>
                  <a:tcPr marL="44583" marR="44583" marT="44583" marB="44583" anchor="ctr"/>
                </a:tc>
                <a:extLst>
                  <a:ext uri="{0D108BD9-81ED-4DB2-BD59-A6C34878D82A}">
                    <a16:rowId xmlns:a16="http://schemas.microsoft.com/office/drawing/2014/main" val="40299532"/>
                  </a:ext>
                </a:extLst>
              </a:tr>
              <a:tr h="570667">
                <a:tc rowSpan="3">
                  <a:txBody>
                    <a:bodyPr/>
                    <a:lstStyle/>
                    <a:p>
                      <a:r>
                        <a:rPr lang="zh-CN" altLang="en-US" sz="1600">
                          <a:solidFill>
                            <a:srgbClr val="1C1E21"/>
                          </a:solidFill>
                          <a:effectLst/>
                        </a:rPr>
                        <a:t>价格</a:t>
                      </a:r>
                    </a:p>
                  </a:txBody>
                  <a:tcPr marL="44583" marR="44583" marT="44583" marB="44583" anchor="ctr"/>
                </a:tc>
                <a:tc>
                  <a:txBody>
                    <a:bodyPr/>
                    <a:lstStyle/>
                    <a:p>
                      <a:r>
                        <a:rPr lang="zh-CN" altLang="en-US" sz="1600">
                          <a:solidFill>
                            <a:srgbClr val="1C1E21"/>
                          </a:solidFill>
                          <a:effectLst/>
                        </a:rPr>
                        <a:t>百万</a:t>
                      </a:r>
                      <a:r>
                        <a:rPr lang="en-US" altLang="zh-CN" sz="1600">
                          <a:solidFill>
                            <a:srgbClr val="1C1E21"/>
                          </a:solidFill>
                          <a:effectLst/>
                        </a:rPr>
                        <a:t>tokens</a:t>
                      </a:r>
                      <a:r>
                        <a:rPr lang="zh-CN" altLang="en-US" sz="1600">
                          <a:solidFill>
                            <a:srgbClr val="1C1E21"/>
                          </a:solidFill>
                          <a:effectLst/>
                        </a:rPr>
                        <a:t>输入（缓存命中）</a:t>
                      </a:r>
                    </a:p>
                  </a:txBody>
                  <a:tcPr marL="44583" marR="44583" marT="44583" marB="44583" anchor="ctr"/>
                </a:tc>
                <a:tc gridSpan="2">
                  <a:txBody>
                    <a:bodyPr/>
                    <a:lstStyle/>
                    <a:p>
                      <a:r>
                        <a:rPr lang="en-US" altLang="zh-CN" sz="1600">
                          <a:solidFill>
                            <a:srgbClr val="1C1E21"/>
                          </a:solidFill>
                          <a:effectLst/>
                        </a:rPr>
                        <a:t>0.2</a:t>
                      </a:r>
                      <a:r>
                        <a:rPr lang="zh-CN" altLang="en-US" sz="1600">
                          <a:solidFill>
                            <a:srgbClr val="1C1E21"/>
                          </a:solidFill>
                          <a:effectLst/>
                        </a:rPr>
                        <a:t>元</a:t>
                      </a:r>
                    </a:p>
                  </a:txBody>
                  <a:tcPr marL="44583" marR="44583" marT="44583" marB="44583" anchor="ctr"/>
                </a:tc>
                <a:tc hMerge="1">
                  <a:txBody>
                    <a:bodyPr/>
                    <a:lstStyle/>
                    <a:p>
                      <a:endParaRPr lang="zh-CN" altLang="en-US"/>
                    </a:p>
                  </a:txBody>
                  <a:tcPr/>
                </a:tc>
                <a:extLst>
                  <a:ext uri="{0D108BD9-81ED-4DB2-BD59-A6C34878D82A}">
                    <a16:rowId xmlns:a16="http://schemas.microsoft.com/office/drawing/2014/main" val="1341203127"/>
                  </a:ext>
                </a:extLst>
              </a:tr>
              <a:tr h="570667">
                <a:tc vMerge="1">
                  <a:txBody>
                    <a:bodyPr/>
                    <a:lstStyle/>
                    <a:p>
                      <a:endParaRPr lang="zh-CN" altLang="en-US"/>
                    </a:p>
                  </a:txBody>
                  <a:tcPr/>
                </a:tc>
                <a:tc>
                  <a:txBody>
                    <a:bodyPr/>
                    <a:lstStyle/>
                    <a:p>
                      <a:r>
                        <a:rPr lang="zh-CN" altLang="en-US" sz="1600">
                          <a:solidFill>
                            <a:srgbClr val="1C1E21"/>
                          </a:solidFill>
                          <a:effectLst/>
                        </a:rPr>
                        <a:t>百万</a:t>
                      </a:r>
                      <a:r>
                        <a:rPr lang="en-US" altLang="zh-CN" sz="1600">
                          <a:solidFill>
                            <a:srgbClr val="1C1E21"/>
                          </a:solidFill>
                          <a:effectLst/>
                        </a:rPr>
                        <a:t>tokens</a:t>
                      </a:r>
                      <a:r>
                        <a:rPr lang="zh-CN" altLang="en-US" sz="1600">
                          <a:solidFill>
                            <a:srgbClr val="1C1E21"/>
                          </a:solidFill>
                          <a:effectLst/>
                        </a:rPr>
                        <a:t>输入（缓存未命中）</a:t>
                      </a:r>
                    </a:p>
                  </a:txBody>
                  <a:tcPr marL="44583" marR="44583" marT="44583" marB="44583" anchor="ctr"/>
                </a:tc>
                <a:tc gridSpan="2">
                  <a:txBody>
                    <a:bodyPr/>
                    <a:lstStyle/>
                    <a:p>
                      <a:r>
                        <a:rPr lang="en-US" altLang="zh-CN" sz="1600">
                          <a:solidFill>
                            <a:srgbClr val="1C1E21"/>
                          </a:solidFill>
                          <a:effectLst/>
                        </a:rPr>
                        <a:t>2</a:t>
                      </a:r>
                      <a:r>
                        <a:rPr lang="zh-CN" altLang="en-US" sz="1600">
                          <a:solidFill>
                            <a:srgbClr val="1C1E21"/>
                          </a:solidFill>
                          <a:effectLst/>
                        </a:rPr>
                        <a:t>元</a:t>
                      </a:r>
                    </a:p>
                  </a:txBody>
                  <a:tcPr marL="44583" marR="44583" marT="44583" marB="44583" anchor="ctr"/>
                </a:tc>
                <a:tc hMerge="1">
                  <a:txBody>
                    <a:bodyPr/>
                    <a:lstStyle/>
                    <a:p>
                      <a:endParaRPr lang="zh-CN" altLang="en-US"/>
                    </a:p>
                  </a:txBody>
                  <a:tcPr/>
                </a:tc>
                <a:extLst>
                  <a:ext uri="{0D108BD9-81ED-4DB2-BD59-A6C34878D82A}">
                    <a16:rowId xmlns:a16="http://schemas.microsoft.com/office/drawing/2014/main" val="409658699"/>
                  </a:ext>
                </a:extLst>
              </a:tr>
              <a:tr h="329917">
                <a:tc vMerge="1">
                  <a:txBody>
                    <a:bodyPr/>
                    <a:lstStyle/>
                    <a:p>
                      <a:endParaRPr lang="zh-CN" altLang="en-US"/>
                    </a:p>
                  </a:txBody>
                  <a:tcPr/>
                </a:tc>
                <a:tc>
                  <a:txBody>
                    <a:bodyPr/>
                    <a:lstStyle/>
                    <a:p>
                      <a:r>
                        <a:rPr lang="zh-CN" altLang="en-US" sz="1600">
                          <a:solidFill>
                            <a:srgbClr val="1C1E21"/>
                          </a:solidFill>
                          <a:effectLst/>
                        </a:rPr>
                        <a:t>百万</a:t>
                      </a:r>
                      <a:r>
                        <a:rPr lang="en-US" sz="1600">
                          <a:solidFill>
                            <a:srgbClr val="1C1E21"/>
                          </a:solidFill>
                          <a:effectLst/>
                        </a:rPr>
                        <a:t>tokens</a:t>
                      </a:r>
                      <a:r>
                        <a:rPr lang="zh-CN" altLang="en-US" sz="1600">
                          <a:solidFill>
                            <a:srgbClr val="1C1E21"/>
                          </a:solidFill>
                          <a:effectLst/>
                        </a:rPr>
                        <a:t>输出</a:t>
                      </a:r>
                    </a:p>
                  </a:txBody>
                  <a:tcPr marL="44583" marR="44583" marT="44583" marB="44583" anchor="ctr"/>
                </a:tc>
                <a:tc gridSpan="2">
                  <a:txBody>
                    <a:bodyPr/>
                    <a:lstStyle/>
                    <a:p>
                      <a:r>
                        <a:rPr lang="en-US" altLang="zh-CN" sz="1600" dirty="0">
                          <a:solidFill>
                            <a:srgbClr val="1C1E21"/>
                          </a:solidFill>
                          <a:effectLst/>
                        </a:rPr>
                        <a:t>3</a:t>
                      </a:r>
                      <a:r>
                        <a:rPr lang="zh-CN" altLang="en-US" sz="1600" dirty="0">
                          <a:solidFill>
                            <a:srgbClr val="1C1E21"/>
                          </a:solidFill>
                          <a:effectLst/>
                        </a:rPr>
                        <a:t>元</a:t>
                      </a:r>
                    </a:p>
                  </a:txBody>
                  <a:tcPr marL="44583" marR="44583" marT="44583" marB="44583" anchor="ctr"/>
                </a:tc>
                <a:tc hMerge="1">
                  <a:txBody>
                    <a:bodyPr/>
                    <a:lstStyle/>
                    <a:p>
                      <a:endParaRPr lang="zh-CN" altLang="en-US"/>
                    </a:p>
                  </a:txBody>
                  <a:tcPr/>
                </a:tc>
                <a:extLst>
                  <a:ext uri="{0D108BD9-81ED-4DB2-BD59-A6C34878D82A}">
                    <a16:rowId xmlns:a16="http://schemas.microsoft.com/office/drawing/2014/main" val="2147849246"/>
                  </a:ext>
                </a:extLst>
              </a:tr>
            </a:tbl>
          </a:graphicData>
        </a:graphic>
      </p:graphicFrame>
    </p:spTree>
    <p:extLst>
      <p:ext uri="{BB962C8B-B14F-4D97-AF65-F5344CB8AC3E}">
        <p14:creationId xmlns:p14="http://schemas.microsoft.com/office/powerpoint/2010/main" val="3176921640"/>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65D115-53F6-4FA4-AF69-EEA33427640E}"/>
              </a:ext>
            </a:extLst>
          </p:cNvPr>
          <p:cNvSpPr>
            <a:spLocks noGrp="1"/>
          </p:cNvSpPr>
          <p:nvPr>
            <p:ph type="title"/>
          </p:nvPr>
        </p:nvSpPr>
        <p:spPr/>
        <p:txBody>
          <a:bodyPr/>
          <a:lstStyle/>
          <a:p>
            <a:r>
              <a:rPr lang="zh-CN" altLang="en-US" dirty="0"/>
              <a:t>长文本与跨文本</a:t>
            </a:r>
          </a:p>
        </p:txBody>
      </p:sp>
      <p:graphicFrame>
        <p:nvGraphicFramePr>
          <p:cNvPr id="4" name="表格 4">
            <a:extLst>
              <a:ext uri="{FF2B5EF4-FFF2-40B4-BE49-F238E27FC236}">
                <a16:creationId xmlns:a16="http://schemas.microsoft.com/office/drawing/2014/main" id="{5F265FF1-BDD0-466B-B6BD-6E852054C769}"/>
              </a:ext>
            </a:extLst>
          </p:cNvPr>
          <p:cNvGraphicFramePr>
            <a:graphicFrameLocks noGrp="1"/>
          </p:cNvGraphicFramePr>
          <p:nvPr>
            <p:ph idx="1"/>
          </p:nvPr>
        </p:nvGraphicFramePr>
        <p:xfrm>
          <a:off x="838200" y="1825625"/>
          <a:ext cx="10515597" cy="239268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4081454584"/>
                    </a:ext>
                  </a:extLst>
                </a:gridCol>
                <a:gridCol w="3505199">
                  <a:extLst>
                    <a:ext uri="{9D8B030D-6E8A-4147-A177-3AD203B41FA5}">
                      <a16:colId xmlns:a16="http://schemas.microsoft.com/office/drawing/2014/main" val="2042889117"/>
                    </a:ext>
                  </a:extLst>
                </a:gridCol>
                <a:gridCol w="3505199">
                  <a:extLst>
                    <a:ext uri="{9D8B030D-6E8A-4147-A177-3AD203B41FA5}">
                      <a16:colId xmlns:a16="http://schemas.microsoft.com/office/drawing/2014/main" val="3562379010"/>
                    </a:ext>
                  </a:extLst>
                </a:gridCol>
              </a:tblGrid>
              <a:tr h="370840">
                <a:tc>
                  <a:txBody>
                    <a:bodyPr/>
                    <a:lstStyle/>
                    <a:p>
                      <a:endParaRPr lang="zh-CN" altLang="en-US" dirty="0"/>
                    </a:p>
                  </a:txBody>
                  <a:tcPr/>
                </a:tc>
                <a:tc>
                  <a:txBody>
                    <a:bodyPr/>
                    <a:lstStyle/>
                    <a:p>
                      <a:r>
                        <a:rPr lang="zh-CN" altLang="en-US" dirty="0"/>
                        <a:t>字数</a:t>
                      </a:r>
                    </a:p>
                  </a:txBody>
                  <a:tcPr/>
                </a:tc>
                <a:tc>
                  <a:txBody>
                    <a:bodyPr/>
                    <a:lstStyle/>
                    <a:p>
                      <a:r>
                        <a:rPr lang="zh-CN" altLang="en-US" dirty="0"/>
                        <a:t>提示词关注要点</a:t>
                      </a:r>
                    </a:p>
                  </a:txBody>
                  <a:tcPr/>
                </a:tc>
                <a:extLst>
                  <a:ext uri="{0D108BD9-81ED-4DB2-BD59-A6C34878D82A}">
                    <a16:rowId xmlns:a16="http://schemas.microsoft.com/office/drawing/2014/main" val="3545810423"/>
                  </a:ext>
                </a:extLst>
              </a:tr>
              <a:tr h="370840">
                <a:tc>
                  <a:txBody>
                    <a:bodyPr/>
                    <a:lstStyle/>
                    <a:p>
                      <a:r>
                        <a:rPr lang="zh-CN" altLang="en-US" dirty="0"/>
                        <a:t>条目</a:t>
                      </a:r>
                      <a:r>
                        <a:rPr lang="zh-CN" altLang="en-US"/>
                        <a:t>生成（如批量综述、文献综述、文献矩阵之类</a:t>
                      </a:r>
                      <a:r>
                        <a:rPr lang="en-US" altLang="zh-CN"/>
                        <a:t>Items</a:t>
                      </a:r>
                      <a:r>
                        <a:rPr lang="zh-CN" altLang="en-US"/>
                        <a:t>）</a:t>
                      </a:r>
                      <a:endParaRPr lang="zh-CN" altLang="en-US" dirty="0"/>
                    </a:p>
                  </a:txBody>
                  <a:tcPr/>
                </a:tc>
                <a:tc>
                  <a:txBody>
                    <a:bodyPr/>
                    <a:lstStyle/>
                    <a:p>
                      <a:r>
                        <a:rPr lang="en-US" altLang="zh-CN" dirty="0"/>
                        <a:t>1K/</a:t>
                      </a:r>
                      <a:r>
                        <a:rPr lang="zh-CN" altLang="en-US" dirty="0"/>
                        <a:t>条</a:t>
                      </a:r>
                    </a:p>
                  </a:txBody>
                  <a:tcPr/>
                </a:tc>
                <a:tc>
                  <a:txBody>
                    <a:bodyPr/>
                    <a:lstStyle/>
                    <a:p>
                      <a:r>
                        <a:rPr lang="zh-CN" altLang="en-US" dirty="0"/>
                        <a:t>主题</a:t>
                      </a:r>
                    </a:p>
                  </a:txBody>
                  <a:tcPr/>
                </a:tc>
                <a:extLst>
                  <a:ext uri="{0D108BD9-81ED-4DB2-BD59-A6C34878D82A}">
                    <a16:rowId xmlns:a16="http://schemas.microsoft.com/office/drawing/2014/main" val="1663177963"/>
                  </a:ext>
                </a:extLst>
              </a:tr>
              <a:tr h="370840">
                <a:tc>
                  <a:txBody>
                    <a:bodyPr/>
                    <a:lstStyle/>
                    <a:p>
                      <a:r>
                        <a:rPr lang="en-US" altLang="zh-CN" dirty="0" err="1"/>
                        <a:t>AskPDF</a:t>
                      </a:r>
                      <a:r>
                        <a:rPr lang="zh-CN" altLang="en-US" dirty="0"/>
                        <a:t>（语义搜索，</a:t>
                      </a:r>
                      <a:r>
                        <a:rPr lang="en-US" altLang="zh-CN" dirty="0"/>
                        <a:t>RAG</a:t>
                      </a:r>
                      <a:r>
                        <a:rPr lang="zh-CN" altLang="en-US" dirty="0"/>
                        <a:t>）</a:t>
                      </a:r>
                    </a:p>
                  </a:txBody>
                  <a:tcPr/>
                </a:tc>
                <a:tc>
                  <a:txBody>
                    <a:bodyPr/>
                    <a:lstStyle/>
                    <a:p>
                      <a:r>
                        <a:rPr lang="zh-CN" altLang="en-US" dirty="0"/>
                        <a:t>跨文本是</a:t>
                      </a:r>
                      <a:r>
                        <a:rPr lang="en-US" altLang="zh-CN" dirty="0"/>
                        <a:t>5</a:t>
                      </a:r>
                      <a:r>
                        <a:rPr lang="zh-CN" altLang="en-US" dirty="0"/>
                        <a:t>处搜索，每处</a:t>
                      </a:r>
                      <a:r>
                        <a:rPr lang="en-US" altLang="zh-CN" dirty="0"/>
                        <a:t>1K</a:t>
                      </a:r>
                    </a:p>
                    <a:p>
                      <a:r>
                        <a:rPr lang="zh-CN" altLang="en-US" dirty="0"/>
                        <a:t>单文本可设为</a:t>
                      </a:r>
                      <a:r>
                        <a:rPr lang="en-US" altLang="zh-CN" dirty="0"/>
                        <a:t>30</a:t>
                      </a:r>
                      <a:r>
                        <a:rPr lang="zh-CN" altLang="en-US" dirty="0"/>
                        <a:t>处，效果较好</a:t>
                      </a:r>
                    </a:p>
                  </a:txBody>
                  <a:tcPr/>
                </a:tc>
                <a:tc>
                  <a:txBody>
                    <a:bodyPr/>
                    <a:lstStyle/>
                    <a:p>
                      <a:r>
                        <a:rPr lang="zh-CN" altLang="en-US" dirty="0"/>
                        <a:t>单篇逐一还是其他？</a:t>
                      </a:r>
                    </a:p>
                  </a:txBody>
                  <a:tcPr/>
                </a:tc>
                <a:extLst>
                  <a:ext uri="{0D108BD9-81ED-4DB2-BD59-A6C34878D82A}">
                    <a16:rowId xmlns:a16="http://schemas.microsoft.com/office/drawing/2014/main" val="88437431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a:t>AskPDF(FullText)</a:t>
                      </a:r>
                      <a:r>
                        <a:rPr lang="zh-CN" altLang="en-US"/>
                        <a:t>（</a:t>
                      </a:r>
                      <a:r>
                        <a:rPr lang="zh-CN" altLang="en-US" dirty="0"/>
                        <a:t>全文搜索）</a:t>
                      </a:r>
                    </a:p>
                  </a:txBody>
                  <a:tcPr/>
                </a:tc>
                <a:tc>
                  <a:txBody>
                    <a:bodyPr/>
                    <a:lstStyle/>
                    <a:p>
                      <a:r>
                        <a:rPr lang="zh-CN" altLang="en-US" dirty="0"/>
                        <a:t>全部上传</a:t>
                      </a:r>
                    </a:p>
                  </a:txBody>
                  <a:tcPr/>
                </a:tc>
                <a:tc>
                  <a:txBody>
                    <a:bodyPr/>
                    <a:lstStyle/>
                    <a:p>
                      <a:r>
                        <a:rPr lang="zh-CN" altLang="en-US" dirty="0"/>
                        <a:t>长文本会超，报错</a:t>
                      </a:r>
                    </a:p>
                  </a:txBody>
                  <a:tcPr/>
                </a:tc>
                <a:extLst>
                  <a:ext uri="{0D108BD9-81ED-4DB2-BD59-A6C34878D82A}">
                    <a16:rowId xmlns:a16="http://schemas.microsoft.com/office/drawing/2014/main" val="3437271369"/>
                  </a:ext>
                </a:extLst>
              </a:tr>
              <a:tr h="370840">
                <a:tc>
                  <a:txBody>
                    <a:bodyPr/>
                    <a:lstStyle/>
                    <a:p>
                      <a:r>
                        <a:rPr lang="zh-CN" altLang="en-US" dirty="0"/>
                        <a:t>脚本改进</a:t>
                      </a:r>
                    </a:p>
                  </a:txBody>
                  <a:tcPr/>
                </a:tc>
                <a:tc>
                  <a:txBody>
                    <a:bodyPr/>
                    <a:lstStyle/>
                    <a:p>
                      <a:r>
                        <a:rPr lang="zh-CN" altLang="en-US" dirty="0"/>
                        <a:t>基于</a:t>
                      </a:r>
                      <a:r>
                        <a:rPr lang="en-US" altLang="zh-CN" dirty="0" err="1"/>
                        <a:t>AskPDF</a:t>
                      </a:r>
                      <a:endParaRPr lang="zh-CN" altLang="en-US" dirty="0"/>
                    </a:p>
                  </a:txBody>
                  <a:tcPr/>
                </a:tc>
                <a:tc>
                  <a:txBody>
                    <a:bodyPr/>
                    <a:lstStyle/>
                    <a:p>
                      <a:r>
                        <a:rPr lang="zh-CN" altLang="en-US" dirty="0"/>
                        <a:t>符合需要，提示词改进</a:t>
                      </a:r>
                    </a:p>
                  </a:txBody>
                  <a:tcPr/>
                </a:tc>
                <a:extLst>
                  <a:ext uri="{0D108BD9-81ED-4DB2-BD59-A6C34878D82A}">
                    <a16:rowId xmlns:a16="http://schemas.microsoft.com/office/drawing/2014/main" val="1745094049"/>
                  </a:ext>
                </a:extLst>
              </a:tr>
            </a:tbl>
          </a:graphicData>
        </a:graphic>
      </p:graphicFrame>
      <p:sp>
        <p:nvSpPr>
          <p:cNvPr id="5" name="文本框 4">
            <a:extLst>
              <a:ext uri="{FF2B5EF4-FFF2-40B4-BE49-F238E27FC236}">
                <a16:creationId xmlns:a16="http://schemas.microsoft.com/office/drawing/2014/main" id="{B953F148-C5E7-4F89-ABE8-63AAED723A02}"/>
              </a:ext>
            </a:extLst>
          </p:cNvPr>
          <p:cNvSpPr txBox="1"/>
          <p:nvPr/>
        </p:nvSpPr>
        <p:spPr>
          <a:xfrm>
            <a:off x="4518734" y="4989250"/>
            <a:ext cx="5468645" cy="1200329"/>
          </a:xfrm>
          <a:prstGeom prst="rect">
            <a:avLst/>
          </a:prstGeom>
          <a:noFill/>
        </p:spPr>
        <p:txBody>
          <a:bodyPr wrap="square" rtlCol="0">
            <a:spAutoFit/>
          </a:bodyPr>
          <a:lstStyle/>
          <a:p>
            <a:r>
              <a:rPr lang="en-US" altLang="zh-CN" dirty="0"/>
              <a:t>64K=2</a:t>
            </a:r>
            <a:r>
              <a:rPr lang="zh-CN" altLang="en-US" dirty="0"/>
              <a:t>的</a:t>
            </a:r>
            <a:r>
              <a:rPr lang="en-US" altLang="zh-CN" dirty="0"/>
              <a:t>16</a:t>
            </a:r>
            <a:r>
              <a:rPr lang="zh-CN" altLang="en-US" dirty="0"/>
              <a:t>次方  </a:t>
            </a:r>
            <a:r>
              <a:rPr lang="en-US" altLang="zh-CN" dirty="0"/>
              <a:t>65536</a:t>
            </a:r>
            <a:r>
              <a:rPr lang="zh-CN" altLang="en-US" dirty="0"/>
              <a:t>的</a:t>
            </a:r>
            <a:r>
              <a:rPr lang="en-US" altLang="zh-CN" dirty="0"/>
              <a:t>token</a:t>
            </a:r>
          </a:p>
          <a:p>
            <a:r>
              <a:rPr lang="en-US" altLang="zh-CN" dirty="0"/>
              <a:t>Token</a:t>
            </a:r>
            <a:r>
              <a:rPr lang="zh-CN" altLang="en-US" dirty="0"/>
              <a:t>数的经验公式：</a:t>
            </a:r>
            <a:endParaRPr lang="en-US" altLang="zh-CN" dirty="0"/>
          </a:p>
          <a:p>
            <a:r>
              <a:rPr lang="en-US" altLang="zh-CN" dirty="0"/>
              <a:t>                 </a:t>
            </a:r>
            <a:r>
              <a:rPr lang="zh-CN" altLang="en-US" dirty="0"/>
              <a:t>中文字数除</a:t>
            </a:r>
            <a:r>
              <a:rPr lang="en-US" altLang="zh-CN" dirty="0"/>
              <a:t>1.5</a:t>
            </a:r>
          </a:p>
          <a:p>
            <a:r>
              <a:rPr lang="zh-CN" altLang="en-US" dirty="0"/>
              <a:t>                 英文字数除</a:t>
            </a:r>
            <a:r>
              <a:rPr lang="en-US" altLang="zh-CN" dirty="0"/>
              <a:t>3</a:t>
            </a:r>
            <a:endParaRPr lang="zh-CN" altLang="en-US" dirty="0"/>
          </a:p>
        </p:txBody>
      </p:sp>
    </p:spTree>
    <p:extLst>
      <p:ext uri="{BB962C8B-B14F-4D97-AF65-F5344CB8AC3E}">
        <p14:creationId xmlns:p14="http://schemas.microsoft.com/office/powerpoint/2010/main" val="4086012321"/>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755E3B6-2669-D6CC-77FC-8F5C358FDF7E}"/>
              </a:ext>
            </a:extLst>
          </p:cNvPr>
          <p:cNvSpPr>
            <a:spLocks noGrp="1"/>
          </p:cNvSpPr>
          <p:nvPr>
            <p:ph type="title"/>
          </p:nvPr>
        </p:nvSpPr>
        <p:spPr/>
        <p:txBody>
          <a:bodyPr/>
          <a:lstStyle/>
          <a:p>
            <a:r>
              <a:rPr lang="zh-CN" altLang="en-US" dirty="0"/>
              <a:t>脚本改进：代码解密</a:t>
            </a:r>
          </a:p>
        </p:txBody>
      </p:sp>
      <p:sp>
        <p:nvSpPr>
          <p:cNvPr id="6" name="内容占位符 5">
            <a:extLst>
              <a:ext uri="{FF2B5EF4-FFF2-40B4-BE49-F238E27FC236}">
                <a16:creationId xmlns:a16="http://schemas.microsoft.com/office/drawing/2014/main" id="{D3CC1CE3-1534-2B4F-F3A2-782139F04483}"/>
              </a:ext>
            </a:extLst>
          </p:cNvPr>
          <p:cNvSpPr>
            <a:spLocks noGrp="1"/>
          </p:cNvSpPr>
          <p:nvPr>
            <p:ph sz="half" idx="1"/>
          </p:nvPr>
        </p:nvSpPr>
        <p:spPr/>
        <p:txBody>
          <a:bodyPr>
            <a:normAutofit fontScale="55000" lnSpcReduction="20000"/>
          </a:bodyPr>
          <a:lstStyle/>
          <a:p>
            <a:pPr marL="0" indent="0">
              <a:buNone/>
            </a:pPr>
            <a:r>
              <a:rPr lang="en-US" altLang="zh-CN" dirty="0"/>
              <a:t>${</a:t>
            </a:r>
          </a:p>
          <a:p>
            <a:pPr marL="0" indent="0">
              <a:buNone/>
            </a:pPr>
            <a:r>
              <a:rPr lang="en-US" altLang="zh-CN" dirty="0" err="1"/>
              <a:t>Meet.Global.input.</a:t>
            </a:r>
            <a:r>
              <a:rPr lang="en-US" altLang="zh-CN" dirty="0" err="1">
                <a:highlight>
                  <a:srgbClr val="FFFF00"/>
                </a:highlight>
              </a:rPr>
              <a:t>replace</a:t>
            </a:r>
            <a:r>
              <a:rPr lang="en-US" altLang="zh-CN" dirty="0"/>
              <a:t>(" ", "") ||</a:t>
            </a:r>
          </a:p>
          <a:p>
            <a:pPr marL="0" indent="0">
              <a:buNone/>
            </a:pPr>
            <a:r>
              <a:rPr lang="en-US" altLang="zh-CN" dirty="0" err="1"/>
              <a:t>Meet.Zotero.getPDFSelection</a:t>
            </a:r>
            <a:r>
              <a:rPr lang="en-US" altLang="zh-CN" dirty="0"/>
              <a:t>() ||</a:t>
            </a:r>
          </a:p>
          <a:p>
            <a:pPr marL="0" indent="0">
              <a:buNone/>
            </a:pPr>
            <a:r>
              <a:rPr lang="en-US" altLang="zh-CN" dirty="0" err="1"/>
              <a:t>Meet.Global.views.messages</a:t>
            </a:r>
            <a:r>
              <a:rPr lang="en-US" altLang="zh-CN" dirty="0"/>
              <a:t>[0].content</a:t>
            </a:r>
          </a:p>
          <a:p>
            <a:pPr marL="0" indent="0">
              <a:buNone/>
            </a:pPr>
            <a:r>
              <a:rPr lang="en-US" altLang="zh-CN" dirty="0"/>
              <a:t>}$</a:t>
            </a:r>
          </a:p>
          <a:p>
            <a:endParaRPr lang="en-US" altLang="zh-CN" dirty="0"/>
          </a:p>
          <a:p>
            <a:pPr marL="0" indent="0">
              <a:buNone/>
            </a:pPr>
            <a:r>
              <a:rPr lang="en-US" altLang="zh-CN" sz="5100" dirty="0">
                <a:highlight>
                  <a:srgbClr val="FFFF00"/>
                </a:highlight>
              </a:rPr>
              <a:t>/help </a:t>
            </a:r>
            <a:r>
              <a:rPr lang="zh-CN" altLang="en-US" sz="5100" dirty="0">
                <a:highlight>
                  <a:srgbClr val="FFFF00"/>
                </a:highlight>
              </a:rPr>
              <a:t>可以</a:t>
            </a:r>
            <a:r>
              <a:rPr lang="zh-CN" altLang="en-US" sz="5100">
                <a:highlight>
                  <a:srgbClr val="FFFF00"/>
                </a:highlight>
              </a:rPr>
              <a:t>学习操作</a:t>
            </a:r>
          </a:p>
          <a:p>
            <a:pPr marL="0" indent="0">
              <a:buNone/>
            </a:pPr>
            <a:endParaRPr lang="zh-CN" altLang="en-US" sz="5100">
              <a:highlight>
                <a:srgbClr val="FFFF00"/>
              </a:highlight>
            </a:endParaRPr>
          </a:p>
          <a:p>
            <a:pPr marL="0" indent="0">
              <a:buNone/>
            </a:pPr>
            <a:r>
              <a:rPr lang="zh-CN" altLang="en-US" sz="5100">
                <a:highlight>
                  <a:srgbClr val="FFFF00"/>
                </a:highlight>
              </a:rPr>
              <a:t>练习：添加提示词</a:t>
            </a:r>
            <a:endParaRPr lang="zh-CN" altLang="en-US" sz="5100" dirty="0">
              <a:highlight>
                <a:srgbClr val="FFFF00"/>
              </a:highlight>
            </a:endParaRPr>
          </a:p>
        </p:txBody>
      </p:sp>
      <p:sp>
        <p:nvSpPr>
          <p:cNvPr id="2" name="内容占位符 1">
            <a:extLst>
              <a:ext uri="{FF2B5EF4-FFF2-40B4-BE49-F238E27FC236}">
                <a16:creationId xmlns:a16="http://schemas.microsoft.com/office/drawing/2014/main" id="{E241A703-95EB-F257-7627-4D0FFEB0F107}"/>
              </a:ext>
            </a:extLst>
          </p:cNvPr>
          <p:cNvSpPr>
            <a:spLocks noGrp="1"/>
          </p:cNvSpPr>
          <p:nvPr>
            <p:ph sz="half" idx="2"/>
          </p:nvPr>
        </p:nvSpPr>
        <p:spPr/>
        <p:txBody>
          <a:bodyPr>
            <a:normAutofit fontScale="55000" lnSpcReduction="20000"/>
          </a:bodyPr>
          <a:lstStyle/>
          <a:p>
            <a:pPr marL="0" indent="0">
              <a:buNone/>
            </a:pPr>
            <a:r>
              <a:rPr lang="en-US" altLang="zh-CN" dirty="0"/>
              <a:t>#</a:t>
            </a:r>
            <a:r>
              <a:rPr lang="zh-CN" altLang="en-US" dirty="0"/>
              <a:t>📖概括</a:t>
            </a:r>
            <a:r>
              <a:rPr lang="en-US" altLang="zh-CN" dirty="0"/>
              <a:t>[position=1][color=#D13F8C][trigger=/(</a:t>
            </a:r>
            <a:r>
              <a:rPr lang="zh-CN" altLang="en-US" dirty="0"/>
              <a:t>概括</a:t>
            </a:r>
            <a:r>
              <a:rPr lang="en-US" altLang="zh-CN" dirty="0"/>
              <a:t>)/]</a:t>
            </a:r>
          </a:p>
          <a:p>
            <a:pPr marL="0" indent="0">
              <a:buNone/>
            </a:pPr>
            <a:r>
              <a:rPr lang="en-US" altLang="zh-CN" dirty="0"/>
              <a:t>Read these content:</a:t>
            </a:r>
          </a:p>
          <a:p>
            <a:pPr marL="0" indent="0">
              <a:buNone/>
            </a:pPr>
            <a:endParaRPr lang="en-US" altLang="zh-CN" dirty="0"/>
          </a:p>
          <a:p>
            <a:pPr marL="0" indent="0">
              <a:buNone/>
            </a:pPr>
            <a:r>
              <a:rPr lang="en-US" altLang="zh-CN" sz="4200" dirty="0"/>
              <a:t>${</a:t>
            </a:r>
          </a:p>
          <a:p>
            <a:pPr marL="0" indent="0">
              <a:buNone/>
            </a:pPr>
            <a:r>
              <a:rPr lang="en-US" altLang="zh-CN" sz="4200" dirty="0" err="1"/>
              <a:t>Meet.Global.input</a:t>
            </a:r>
            <a:r>
              <a:rPr lang="en-US" altLang="zh-CN" sz="4200" dirty="0"/>
              <a:t> ||</a:t>
            </a:r>
          </a:p>
          <a:p>
            <a:pPr marL="0" indent="0">
              <a:buNone/>
            </a:pPr>
            <a:r>
              <a:rPr lang="en-US" altLang="zh-CN" sz="4200" dirty="0" err="1"/>
              <a:t>Meet.Zotero.getPDFSelection</a:t>
            </a:r>
            <a:r>
              <a:rPr lang="en-US" altLang="zh-CN" sz="4200" dirty="0"/>
              <a:t>() ||</a:t>
            </a:r>
          </a:p>
          <a:p>
            <a:pPr marL="0" indent="0">
              <a:buNone/>
            </a:pPr>
            <a:r>
              <a:rPr lang="en-US" altLang="zh-CN" sz="4200" dirty="0" err="1">
                <a:highlight>
                  <a:srgbClr val="FFFF00"/>
                </a:highlight>
              </a:rPr>
              <a:t>Meet.Global.views.messages</a:t>
            </a:r>
            <a:r>
              <a:rPr lang="en-US" altLang="zh-CN" sz="4200" dirty="0">
                <a:highlight>
                  <a:srgbClr val="FFFF00"/>
                </a:highlight>
              </a:rPr>
              <a:t>[0].content</a:t>
            </a:r>
          </a:p>
          <a:p>
            <a:pPr marL="0" indent="0">
              <a:buNone/>
            </a:pPr>
            <a:r>
              <a:rPr lang="en-US" altLang="zh-CN" sz="4200" dirty="0"/>
              <a:t>}$</a:t>
            </a:r>
          </a:p>
          <a:p>
            <a:pPr marL="0" indent="0">
              <a:buNone/>
            </a:pPr>
            <a:endParaRPr lang="en-US" altLang="zh-CN" dirty="0"/>
          </a:p>
          <a:p>
            <a:pPr marL="0" indent="0">
              <a:buNone/>
            </a:pPr>
            <a:r>
              <a:rPr lang="zh-CN" altLang="en-US" dirty="0"/>
              <a:t>现在我在撰写学术论文，想引用这段文字，但它内容太长，现需要你尽可能概括这段文字，概括后的文字表达要准确，简洁。</a:t>
            </a:r>
          </a:p>
          <a:p>
            <a:pPr marL="0" indent="0">
              <a:buNone/>
            </a:pPr>
            <a:endParaRPr lang="zh-CN" altLang="en-US" dirty="0"/>
          </a:p>
          <a:p>
            <a:pPr marL="0" indent="0">
              <a:buNone/>
            </a:pPr>
            <a:r>
              <a:rPr lang="en-US" altLang="zh-CN" dirty="0"/>
              <a:t>Reply in &lt;code&gt;</a:t>
            </a:r>
            <a:r>
              <a:rPr lang="en-US" altLang="zh-CN" dirty="0" err="1"/>
              <a:t>Zotero.locale</a:t>
            </a:r>
            <a:r>
              <a:rPr lang="en-US" altLang="zh-CN" dirty="0"/>
              <a:t>&lt;/code&gt;</a:t>
            </a:r>
            <a:endParaRPr lang="zh-CN" altLang="en-US" dirty="0"/>
          </a:p>
        </p:txBody>
      </p:sp>
    </p:spTree>
    <p:extLst>
      <p:ext uri="{BB962C8B-B14F-4D97-AF65-F5344CB8AC3E}">
        <p14:creationId xmlns:p14="http://schemas.microsoft.com/office/powerpoint/2010/main" val="1155897734"/>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0302BEA9-C661-4D6F-8061-2C2524FA5F25}"/>
              </a:ext>
            </a:extLst>
          </p:cNvPr>
          <p:cNvPicPr>
            <a:picLocks noChangeAspect="1"/>
          </p:cNvPicPr>
          <p:nvPr/>
        </p:nvPicPr>
        <p:blipFill>
          <a:blip r:embed="rId2"/>
          <a:stretch>
            <a:fillRect/>
          </a:stretch>
        </p:blipFill>
        <p:spPr>
          <a:xfrm>
            <a:off x="0" y="320124"/>
            <a:ext cx="12192000" cy="6217752"/>
          </a:xfrm>
          <a:prstGeom prst="rect">
            <a:avLst/>
          </a:prstGeom>
        </p:spPr>
      </p:pic>
    </p:spTree>
    <p:extLst>
      <p:ext uri="{BB962C8B-B14F-4D97-AF65-F5344CB8AC3E}">
        <p14:creationId xmlns:p14="http://schemas.microsoft.com/office/powerpoint/2010/main" val="1370199614"/>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C96FFA5-A313-44D9-BF38-6C05F56878E4}"/>
              </a:ext>
            </a:extLst>
          </p:cNvPr>
          <p:cNvSpPr>
            <a:spLocks noGrp="1"/>
          </p:cNvSpPr>
          <p:nvPr>
            <p:ph type="title"/>
          </p:nvPr>
        </p:nvSpPr>
        <p:spPr/>
        <p:txBody>
          <a:bodyPr/>
          <a:lstStyle/>
          <a:p>
            <a:r>
              <a:rPr lang="zh-CN" altLang="en-US" b="1" dirty="0"/>
              <a:t>提示词元素</a:t>
            </a:r>
            <a:endParaRPr lang="zh-CN" altLang="en-US" dirty="0"/>
          </a:p>
        </p:txBody>
      </p:sp>
      <p:sp>
        <p:nvSpPr>
          <p:cNvPr id="3" name="内容占位符 2">
            <a:extLst>
              <a:ext uri="{FF2B5EF4-FFF2-40B4-BE49-F238E27FC236}">
                <a16:creationId xmlns:a16="http://schemas.microsoft.com/office/drawing/2014/main" id="{EBC21DBC-4D5C-41E6-99E7-CA8F085563D0}"/>
              </a:ext>
            </a:extLst>
          </p:cNvPr>
          <p:cNvSpPr>
            <a:spLocks noGrp="1"/>
          </p:cNvSpPr>
          <p:nvPr>
            <p:ph idx="1"/>
          </p:nvPr>
        </p:nvSpPr>
        <p:spPr/>
        <p:txBody>
          <a:bodyPr>
            <a:normAutofit fontScale="85000" lnSpcReduction="20000"/>
          </a:bodyPr>
          <a:lstStyle/>
          <a:p>
            <a:pPr>
              <a:lnSpc>
                <a:spcPct val="150000"/>
              </a:lnSpc>
            </a:pPr>
            <a:r>
              <a:rPr lang="zh-CN" altLang="en-US" dirty="0"/>
              <a:t>设计精良的提示词通常由</a:t>
            </a:r>
            <a:r>
              <a:rPr lang="zh-CN" altLang="en-US" dirty="0">
                <a:solidFill>
                  <a:srgbClr val="FF2020"/>
                </a:solidFill>
                <a:effectLst/>
              </a:rPr>
              <a:t>任务说明、上下文、问题、输出格式</a:t>
            </a:r>
            <a:r>
              <a:rPr lang="zh-CN" altLang="en-US" dirty="0"/>
              <a:t>四个基本元素组成：</a:t>
            </a:r>
          </a:p>
          <a:p>
            <a:pPr lvl="1">
              <a:lnSpc>
                <a:spcPct val="150000"/>
              </a:lnSpc>
            </a:pPr>
            <a:r>
              <a:rPr lang="zh-CN" altLang="en-US" sz="2000" dirty="0"/>
              <a:t>任务说明</a:t>
            </a:r>
            <a:r>
              <a:rPr lang="en-US" altLang="zh-CN" sz="2000" dirty="0"/>
              <a:t>——</a:t>
            </a:r>
            <a:r>
              <a:rPr lang="zh-CN" altLang="en-US" sz="2000" dirty="0"/>
              <a:t>向模型明确提出具体的任务要求。任务说明应当清晰、直接</a:t>
            </a:r>
            <a:r>
              <a:rPr lang="en-US" altLang="zh-CN" sz="2000" dirty="0"/>
              <a:t>, </a:t>
            </a:r>
            <a:r>
              <a:rPr lang="zh-CN" altLang="en-US" sz="2000" dirty="0"/>
              <a:t>并尽可能详细地描述期望模型完成的任务。</a:t>
            </a:r>
          </a:p>
          <a:p>
            <a:pPr lvl="1">
              <a:lnSpc>
                <a:spcPct val="150000"/>
              </a:lnSpc>
            </a:pPr>
            <a:r>
              <a:rPr lang="zh-CN" altLang="en-US" sz="2000" dirty="0">
                <a:solidFill>
                  <a:srgbClr val="FF2020"/>
                </a:solidFill>
                <a:effectLst/>
              </a:rPr>
              <a:t>上下文</a:t>
            </a:r>
            <a:r>
              <a:rPr lang="en-US" altLang="zh-CN" sz="2000" dirty="0"/>
              <a:t>——</a:t>
            </a:r>
            <a:r>
              <a:rPr lang="zh-CN" altLang="en-US" sz="2000" dirty="0"/>
              <a:t>向模型提供的任务相关背景信息</a:t>
            </a:r>
            <a:r>
              <a:rPr lang="en-US" altLang="zh-CN" sz="2000" dirty="0"/>
              <a:t>,</a:t>
            </a:r>
            <a:r>
              <a:rPr lang="zh-CN" altLang="en-US" sz="2000" dirty="0"/>
              <a:t>用以增强其对任务的理解以及提供解决任务的思路。上下文可以包括特定的知识前提、目标受众的背景、 相关任务的示例，或任何有助于模型更好地理解任务的信息。</a:t>
            </a:r>
          </a:p>
          <a:p>
            <a:pPr lvl="1">
              <a:lnSpc>
                <a:spcPct val="150000"/>
              </a:lnSpc>
            </a:pPr>
            <a:r>
              <a:rPr lang="zh-CN" altLang="en-US" sz="2000" dirty="0"/>
              <a:t>问题</a:t>
            </a:r>
            <a:r>
              <a:rPr lang="en-US" altLang="zh-CN" sz="2000" dirty="0"/>
              <a:t>——</a:t>
            </a:r>
            <a:r>
              <a:rPr lang="zh-CN" altLang="en-US" sz="2000" dirty="0"/>
              <a:t>向模型描述用户的具体问题或需要处理的信息。这部分应直接涉及用户的查询或任务，为模型提供一个明确的起点。问题可以是显式的提问，也可以是隐式的陈述句，用以表达用户的潜在疑问。</a:t>
            </a:r>
          </a:p>
          <a:p>
            <a:pPr lvl="1">
              <a:lnSpc>
                <a:spcPct val="150000"/>
              </a:lnSpc>
            </a:pPr>
            <a:r>
              <a:rPr lang="zh-CN" altLang="en-US" sz="2000" dirty="0"/>
              <a:t>输出格式</a:t>
            </a:r>
            <a:r>
              <a:rPr lang="en-US" altLang="zh-CN" sz="2000" dirty="0"/>
              <a:t>——</a:t>
            </a:r>
            <a:r>
              <a:rPr lang="zh-CN" altLang="en-US" sz="2000" dirty="0"/>
              <a:t>期望模型给出的回答的展示形式。这包括输出的格式，以及任何特定的细节要求，如简洁性或详细程度。例如，可以指示模型以</a:t>
            </a:r>
            <a:r>
              <a:rPr lang="en-US" altLang="zh-CN" sz="2000" dirty="0"/>
              <a:t>JSON</a:t>
            </a:r>
            <a:r>
              <a:rPr lang="zh-CN" altLang="en-US" sz="2000" dirty="0"/>
              <a:t>格式输出结果。</a:t>
            </a:r>
          </a:p>
        </p:txBody>
      </p:sp>
    </p:spTree>
    <p:extLst>
      <p:ext uri="{BB962C8B-B14F-4D97-AF65-F5344CB8AC3E}">
        <p14:creationId xmlns:p14="http://schemas.microsoft.com/office/powerpoint/2010/main" val="407139766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GPT</a:t>
            </a:r>
            <a:r>
              <a:rPr lang="zh-CN" altLang="en-US" dirty="0"/>
              <a:t>使用策略</a:t>
            </a:r>
          </a:p>
        </p:txBody>
      </p:sp>
      <p:sp>
        <p:nvSpPr>
          <p:cNvPr id="3" name="内容占位符 2"/>
          <p:cNvSpPr>
            <a:spLocks noGrp="1"/>
          </p:cNvSpPr>
          <p:nvPr>
            <p:ph idx="1"/>
          </p:nvPr>
        </p:nvSpPr>
        <p:spPr/>
        <p:txBody>
          <a:bodyPr/>
          <a:lstStyle/>
          <a:p>
            <a:r>
              <a:rPr lang="zh-CN" altLang="en-US" dirty="0"/>
              <a:t>因为其实是需要流量的，因而不用来翻译，翻译请用谷歌</a:t>
            </a:r>
            <a:endParaRPr lang="en-US" altLang="zh-CN" dirty="0"/>
          </a:p>
          <a:p>
            <a:r>
              <a:rPr lang="en-US" altLang="zh-CN" dirty="0"/>
              <a:t>GPT</a:t>
            </a:r>
            <a:r>
              <a:rPr lang="zh-CN" altLang="en-US" dirty="0"/>
              <a:t>就是人工辅助，你可以提出自己要求：比如不用回答，只学习文本；比如文本内容的方法如何用于其他研究；提定回答的语言，比较交叉语言的对话；</a:t>
            </a:r>
            <a:endParaRPr lang="en-US" altLang="zh-CN" dirty="0"/>
          </a:p>
          <a:p>
            <a:r>
              <a:rPr lang="en-US" altLang="zh-CN" dirty="0"/>
              <a:t>GPT</a:t>
            </a:r>
            <a:r>
              <a:rPr lang="zh-CN" altLang="en-US" dirty="0"/>
              <a:t>只是中间产品，而非最终产品，它不用对你负责。</a:t>
            </a:r>
            <a:endParaRPr lang="en-US" altLang="zh-CN" dirty="0"/>
          </a:p>
          <a:p>
            <a:r>
              <a:rPr lang="en-US" altLang="zh-CN" dirty="0"/>
              <a:t>GPT</a:t>
            </a:r>
            <a:r>
              <a:rPr lang="zh-CN" altLang="en-US" dirty="0"/>
              <a:t>中的幻像问题一定存在。</a:t>
            </a:r>
            <a:endParaRPr lang="en-US" altLang="zh-CN" dirty="0"/>
          </a:p>
          <a:p>
            <a:r>
              <a:rPr lang="zh-CN" altLang="en-US" dirty="0"/>
              <a:t>你同样可以</a:t>
            </a:r>
            <a:r>
              <a:rPr lang="en-US" altLang="zh-CN" dirty="0"/>
              <a:t>PUA</a:t>
            </a:r>
            <a:r>
              <a:rPr lang="zh-CN" altLang="en-US" dirty="0"/>
              <a:t>它。</a:t>
            </a:r>
            <a:endParaRPr lang="en-US" altLang="zh-CN" dirty="0"/>
          </a:p>
          <a:p>
            <a:r>
              <a:rPr lang="zh-CN" altLang="en-US" dirty="0"/>
              <a:t>学会提出些学术问题。</a:t>
            </a: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ChatGPT</a:t>
            </a:r>
            <a:r>
              <a:rPr lang="zh-CN" altLang="en-US" dirty="0"/>
              <a:t>谈战略与创新：交互式问题</a:t>
            </a:r>
          </a:p>
        </p:txBody>
      </p:sp>
      <p:sp>
        <p:nvSpPr>
          <p:cNvPr id="3" name="内容占位符 2"/>
          <p:cNvSpPr>
            <a:spLocks noGrp="1"/>
          </p:cNvSpPr>
          <p:nvPr>
            <p:ph idx="1"/>
          </p:nvPr>
        </p:nvSpPr>
        <p:spPr/>
        <p:txBody>
          <a:bodyPr/>
          <a:lstStyle/>
          <a:p>
            <a:r>
              <a:rPr lang="zh-CN" altLang="en-US" dirty="0"/>
              <a:t>学术式交流</a:t>
            </a:r>
            <a:endParaRPr lang="en-US" altLang="zh-CN" dirty="0"/>
          </a:p>
          <a:p>
            <a:r>
              <a:rPr lang="zh-CN" altLang="en-US" dirty="0"/>
              <a:t>概念方面界定清楚</a:t>
            </a:r>
            <a:endParaRPr lang="en-US" altLang="zh-CN" dirty="0"/>
          </a:p>
          <a:p>
            <a:r>
              <a:rPr lang="zh-CN" altLang="en-US" dirty="0"/>
              <a:t>连续式提问</a:t>
            </a:r>
            <a:endParaRPr lang="en-US" altLang="zh-CN" dirty="0"/>
          </a:p>
          <a:p>
            <a:r>
              <a:rPr lang="zh-CN" altLang="en-US" dirty="0"/>
              <a:t>解决学习中的概念的内涵与外延</a:t>
            </a:r>
            <a:endParaRPr lang="en-US" altLang="zh-CN" dirty="0"/>
          </a:p>
          <a:p>
            <a:r>
              <a:rPr lang="zh-CN" altLang="en-US" dirty="0"/>
              <a:t>为</a:t>
            </a:r>
            <a:r>
              <a:rPr lang="en-US" altLang="zh-CN" dirty="0"/>
              <a:t>Zotero</a:t>
            </a:r>
            <a:r>
              <a:rPr lang="zh-CN" altLang="en-US" dirty="0"/>
              <a:t>的目录建立起作用</a:t>
            </a:r>
            <a:endParaRPr lang="en-US" altLang="zh-CN" dirty="0"/>
          </a:p>
          <a:p>
            <a:r>
              <a:rPr lang="zh-CN" altLang="en-US" dirty="0"/>
              <a:t>为论文展开写作起作用</a:t>
            </a:r>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测试问题</a:t>
            </a:r>
          </a:p>
        </p:txBody>
      </p:sp>
      <p:sp>
        <p:nvSpPr>
          <p:cNvPr id="3" name="内容占位符 2"/>
          <p:cNvSpPr>
            <a:spLocks noGrp="1"/>
          </p:cNvSpPr>
          <p:nvPr>
            <p:ph idx="1"/>
          </p:nvPr>
        </p:nvSpPr>
        <p:spPr/>
        <p:txBody>
          <a:bodyPr>
            <a:normAutofit lnSpcReduction="10000"/>
          </a:bodyPr>
          <a:lstStyle/>
          <a:p>
            <a:r>
              <a:rPr lang="en-US" altLang="zh-CN" dirty="0"/>
              <a:t>1</a:t>
            </a:r>
            <a:r>
              <a:rPr lang="zh-CN" altLang="en-US" dirty="0"/>
              <a:t>、创新是能力还是产出？</a:t>
            </a:r>
            <a:endParaRPr lang="en-US" altLang="zh-CN" dirty="0"/>
          </a:p>
          <a:p>
            <a:r>
              <a:rPr lang="en-US" altLang="zh-CN" dirty="0"/>
              <a:t>2</a:t>
            </a:r>
            <a:r>
              <a:rPr lang="zh-CN" altLang="en-US" dirty="0"/>
              <a:t>、战略的定义？</a:t>
            </a:r>
            <a:endParaRPr lang="en-US" altLang="zh-CN" dirty="0"/>
          </a:p>
          <a:p>
            <a:r>
              <a:rPr lang="en-US" altLang="zh-CN" dirty="0"/>
              <a:t>3</a:t>
            </a:r>
            <a:r>
              <a:rPr lang="zh-CN" altLang="en-US" dirty="0"/>
              <a:t>、组织学习是否属于动态能力范畴？</a:t>
            </a:r>
            <a:endParaRPr lang="en-US" altLang="zh-CN" dirty="0"/>
          </a:p>
          <a:p>
            <a:r>
              <a:rPr lang="en-US" altLang="zh-CN" dirty="0"/>
              <a:t>4</a:t>
            </a:r>
            <a:r>
              <a:rPr lang="zh-CN" altLang="en-US" dirty="0"/>
              <a:t>、后平台时代的解释？</a:t>
            </a:r>
            <a:endParaRPr lang="en-US" altLang="zh-CN" dirty="0"/>
          </a:p>
          <a:p>
            <a:r>
              <a:rPr lang="en-US" altLang="zh-CN" dirty="0"/>
              <a:t>5</a:t>
            </a:r>
            <a:r>
              <a:rPr lang="zh-CN" altLang="en-US" dirty="0"/>
              <a:t>、</a:t>
            </a:r>
            <a:r>
              <a:rPr lang="en-US" altLang="zh-CN" dirty="0" err="1"/>
              <a:t>OpenAI</a:t>
            </a:r>
            <a:r>
              <a:rPr lang="zh-CN" altLang="en-US" dirty="0"/>
              <a:t>的愿景、目标和价值观？</a:t>
            </a:r>
            <a:endParaRPr lang="en-US" altLang="zh-CN" dirty="0"/>
          </a:p>
          <a:p>
            <a:r>
              <a:rPr lang="en-US" altLang="zh-CN" dirty="0"/>
              <a:t>6</a:t>
            </a:r>
            <a:r>
              <a:rPr lang="zh-CN" altLang="en-US" dirty="0"/>
              <a:t>、</a:t>
            </a:r>
            <a:r>
              <a:rPr lang="en-US" altLang="zh-CN" dirty="0" err="1"/>
              <a:t>Github</a:t>
            </a:r>
            <a:r>
              <a:rPr lang="zh-CN" altLang="en-US" dirty="0"/>
              <a:t>的当前估值是多少？为何收购价这么高？</a:t>
            </a:r>
            <a:endParaRPr lang="en-US" altLang="zh-CN" dirty="0"/>
          </a:p>
          <a:p>
            <a:r>
              <a:rPr lang="zh-CN" altLang="en-US" dirty="0"/>
              <a:t>大家分别测试一下，可以让它将所以问题汇总一下，可以全部以英语作答，各种方式，对于后续研究很有帮助。</a:t>
            </a:r>
            <a:endParaRPr lang="en-US" altLang="zh-CN" dirty="0"/>
          </a:p>
          <a:p>
            <a:r>
              <a:rPr lang="zh-CN" altLang="en-US" dirty="0"/>
              <a:t>它没有文献出处，只适合学习，不能用于写作发表。</a:t>
            </a:r>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主要判据</a:t>
            </a:r>
          </a:p>
        </p:txBody>
      </p:sp>
      <p:sp>
        <p:nvSpPr>
          <p:cNvPr id="3" name="内容占位符 2"/>
          <p:cNvSpPr>
            <a:spLocks noGrp="1"/>
          </p:cNvSpPr>
          <p:nvPr>
            <p:ph idx="1"/>
          </p:nvPr>
        </p:nvSpPr>
        <p:spPr/>
        <p:txBody>
          <a:bodyPr/>
          <a:lstStyle/>
          <a:p>
            <a:r>
              <a:rPr lang="zh-CN" altLang="en-US"/>
              <a:t>看它是否能综合不同的观点，或者说对立观点？</a:t>
            </a:r>
          </a:p>
          <a:p>
            <a:r>
              <a:rPr lang="zh-CN" altLang="en-US"/>
              <a:t>它比较坚持既有</a:t>
            </a:r>
            <a:r>
              <a:rPr lang="en-US" altLang="zh-CN"/>
              <a:t>A</a:t>
            </a:r>
            <a:r>
              <a:rPr lang="zh-CN" altLang="en-US"/>
              <a:t>又有</a:t>
            </a:r>
            <a:r>
              <a:rPr lang="en-US" altLang="zh-CN"/>
              <a:t>B</a:t>
            </a:r>
            <a:r>
              <a:rPr lang="zh-CN" altLang="en-US"/>
              <a:t>的融合表述，老奸巨滑？</a:t>
            </a:r>
          </a:p>
          <a:p>
            <a:r>
              <a:rPr lang="zh-CN" altLang="en-US"/>
              <a:t>个人隐私，</a:t>
            </a:r>
            <a:r>
              <a:rPr lang="en-US" altLang="zh-CN"/>
              <a:t>GPT</a:t>
            </a:r>
            <a:r>
              <a:rPr lang="zh-CN" altLang="en-US"/>
              <a:t>之父的问题？</a:t>
            </a:r>
          </a:p>
          <a:p>
            <a:r>
              <a:rPr lang="zh-CN" altLang="en-US"/>
              <a:t>不太会改观点，但认错也快？</a:t>
            </a:r>
          </a:p>
          <a:p>
            <a:r>
              <a:rPr lang="zh-CN" altLang="en-US"/>
              <a:t>小说分析不擅长，学术研究可以。</a:t>
            </a:r>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对于一般理论的提问：以惯例研究为例</a:t>
            </a:r>
          </a:p>
        </p:txBody>
      </p:sp>
      <p:sp>
        <p:nvSpPr>
          <p:cNvPr id="3" name="内容占位符 2"/>
          <p:cNvSpPr>
            <a:spLocks noGrp="1"/>
          </p:cNvSpPr>
          <p:nvPr>
            <p:ph idx="1"/>
          </p:nvPr>
        </p:nvSpPr>
        <p:spPr/>
        <p:txBody>
          <a:bodyPr/>
          <a:lstStyle/>
          <a:p>
            <a:r>
              <a:rPr lang="zh-CN" altLang="en-US" dirty="0"/>
              <a:t>理论的主要贡献？</a:t>
            </a:r>
            <a:endParaRPr lang="en-US" altLang="zh-CN" dirty="0"/>
          </a:p>
          <a:p>
            <a:r>
              <a:rPr lang="zh-CN" altLang="en-US" dirty="0"/>
              <a:t>有哪些知名学者？</a:t>
            </a:r>
            <a:endParaRPr lang="en-US" altLang="zh-CN" dirty="0"/>
          </a:p>
          <a:p>
            <a:r>
              <a:rPr lang="zh-CN" altLang="en-US" dirty="0"/>
              <a:t>有哪些文献可以推荐？</a:t>
            </a:r>
            <a:endParaRPr lang="en-US" altLang="zh-CN" dirty="0"/>
          </a:p>
          <a:p>
            <a:r>
              <a:rPr lang="zh-CN" altLang="en-US" dirty="0"/>
              <a:t>惯例与潜规则的二者概念区别？</a:t>
            </a:r>
            <a:endParaRPr lang="en-US" altLang="zh-CN" dirty="0"/>
          </a:p>
          <a:p>
            <a:r>
              <a:rPr lang="zh-CN" altLang="en-US" dirty="0"/>
              <a:t>未来的研究方向有</a:t>
            </a:r>
            <a:r>
              <a:rPr lang="zh-CN" altLang="en-US"/>
              <a:t>哪些？</a:t>
            </a:r>
          </a:p>
          <a:p>
            <a:r>
              <a:rPr lang="zh-CN" altLang="en-US" b="0" i="0">
                <a:effectLst/>
                <a:latin typeface=".PingFangSC-Regular"/>
              </a:rPr>
              <a:t>赢者通吃逻辑是市场逻辑吗？</a:t>
            </a:r>
          </a:p>
          <a:p>
            <a:r>
              <a:rPr lang="zh-CN" altLang="en-US" b="0" i="0">
                <a:effectLst/>
                <a:latin typeface=".PingFangSC-Regular"/>
              </a:rPr>
              <a:t>市场逻辑与专业化逻辑是相同的吗？</a:t>
            </a:r>
            <a:endParaRPr lang="zh-CN" altLang="en-US">
              <a:effectLst/>
              <a:latin typeface=".PingFang SC"/>
            </a:endParaRPr>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相关法律条款问题</a:t>
            </a:r>
          </a:p>
        </p:txBody>
      </p:sp>
      <p:sp>
        <p:nvSpPr>
          <p:cNvPr id="3" name="内容占位符 2"/>
          <p:cNvSpPr>
            <a:spLocks noGrp="1"/>
          </p:cNvSpPr>
          <p:nvPr>
            <p:ph idx="1"/>
          </p:nvPr>
        </p:nvSpPr>
        <p:spPr/>
        <p:txBody>
          <a:bodyPr/>
          <a:lstStyle/>
          <a:p>
            <a:r>
              <a:rPr lang="zh-CN" altLang="en-US" dirty="0"/>
              <a:t>之前记忆性的东西挑战太大</a:t>
            </a:r>
            <a:endParaRPr lang="en-US" altLang="zh-CN" dirty="0"/>
          </a:p>
          <a:p>
            <a:r>
              <a:rPr lang="zh-CN" altLang="en-US" dirty="0"/>
              <a:t>预学习功能强大</a:t>
            </a:r>
            <a:endParaRPr lang="en-US" altLang="zh-CN" dirty="0"/>
          </a:p>
          <a:p>
            <a:r>
              <a:rPr lang="zh-CN" altLang="en-US" dirty="0"/>
              <a:t>不可全信网络，特别中文信息质量不高</a:t>
            </a:r>
            <a:endParaRPr lang="en-US" altLang="zh-CN" dirty="0"/>
          </a:p>
          <a:p>
            <a:r>
              <a:rPr lang="en-US" altLang="zh-CN" dirty="0"/>
              <a:t>Zotero</a:t>
            </a:r>
            <a:r>
              <a:rPr lang="zh-CN" altLang="en-US" dirty="0"/>
              <a:t>问题可以问</a:t>
            </a:r>
            <a:r>
              <a:rPr lang="en-US" altLang="zh-CN" dirty="0" err="1"/>
              <a:t>zotero</a:t>
            </a:r>
            <a:r>
              <a:rPr lang="zh-CN" altLang="en-US" dirty="0"/>
              <a:t>如何更新条目信息？</a:t>
            </a:r>
            <a:endParaRPr lang="en-US" altLang="zh-CN" dirty="0"/>
          </a:p>
          <a:p>
            <a:pPr marL="0" indent="0">
              <a:buNone/>
            </a:pPr>
            <a:r>
              <a:rPr lang="en-US" altLang="zh-CN"/>
              <a:t>  </a:t>
            </a:r>
            <a:r>
              <a:rPr lang="zh-CN" altLang="en-US"/>
              <a:t>得到</a:t>
            </a:r>
            <a:r>
              <a:rPr lang="zh-CN" altLang="en-US" dirty="0"/>
              <a:t>的信息</a:t>
            </a:r>
            <a:r>
              <a:rPr lang="zh-CN" altLang="en-US"/>
              <a:t>完全错误</a:t>
            </a:r>
          </a:p>
          <a:p>
            <a:r>
              <a:rPr lang="zh-CN" altLang="en-US"/>
              <a:t>它抄袭你的话，鹦鹉学舌。</a:t>
            </a:r>
            <a:endParaRPr lang="en-US" altLang="zh-CN" dirty="0"/>
          </a:p>
          <a:p>
            <a:endParaRPr lang="en-US" altLang="zh-CN" dirty="0"/>
          </a:p>
          <a:p>
            <a:r>
              <a:rPr lang="zh-CN" altLang="en-US" dirty="0"/>
              <a:t>最后，一句话千万不要被机器骗了。</a:t>
            </a:r>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数字内容生成</a:t>
            </a:r>
            <a:endParaRPr lang="zh-CN" altLang="en-US" dirty="0"/>
          </a:p>
        </p:txBody>
      </p:sp>
      <p:sp>
        <p:nvSpPr>
          <p:cNvPr id="3" name="内容占位符 2"/>
          <p:cNvSpPr>
            <a:spLocks noGrp="1"/>
          </p:cNvSpPr>
          <p:nvPr>
            <p:ph idx="1"/>
          </p:nvPr>
        </p:nvSpPr>
        <p:spPr/>
        <p:txBody>
          <a:bodyPr>
            <a:normAutofit/>
          </a:bodyPr>
          <a:lstStyle/>
          <a:p>
            <a:pPr>
              <a:lnSpc>
                <a:spcPct val="150000"/>
              </a:lnSpc>
            </a:pPr>
            <a:r>
              <a:rPr lang="en-US" altLang="zh-CN" dirty="0"/>
              <a:t>1</a:t>
            </a:r>
            <a:r>
              <a:rPr lang="zh-CN" altLang="en-US" dirty="0"/>
              <a:t>、</a:t>
            </a:r>
            <a:r>
              <a:rPr lang="zh-CN" altLang="en-US" b="1" dirty="0"/>
              <a:t>搜索：</a:t>
            </a:r>
            <a:r>
              <a:rPr lang="zh-CN" altLang="en-US" dirty="0"/>
              <a:t>运用全文搜索的功能去突破别人的思想盲点</a:t>
            </a:r>
            <a:endParaRPr lang="en-US" altLang="zh-CN" dirty="0"/>
          </a:p>
          <a:p>
            <a:pPr>
              <a:lnSpc>
                <a:spcPct val="150000"/>
              </a:lnSpc>
            </a:pPr>
            <a:r>
              <a:rPr lang="en-US" altLang="zh-CN" dirty="0"/>
              <a:t>2</a:t>
            </a:r>
            <a:r>
              <a:rPr lang="zh-CN" altLang="en-US" dirty="0"/>
              <a:t>、</a:t>
            </a:r>
            <a:r>
              <a:rPr lang="zh-CN" altLang="en-US" b="1" dirty="0">
                <a:effectLst/>
              </a:rPr>
              <a:t>翻译：</a:t>
            </a:r>
            <a:r>
              <a:rPr lang="zh-CN" altLang="en-US" dirty="0"/>
              <a:t>外文研究变成综述和评述内容</a:t>
            </a:r>
            <a:endParaRPr lang="en-US" altLang="zh-CN" dirty="0"/>
          </a:p>
          <a:p>
            <a:pPr>
              <a:lnSpc>
                <a:spcPct val="150000"/>
              </a:lnSpc>
            </a:pPr>
            <a:r>
              <a:rPr lang="en-US" altLang="zh-CN" dirty="0"/>
              <a:t>3</a:t>
            </a:r>
            <a:r>
              <a:rPr lang="zh-CN" altLang="en-US" dirty="0"/>
              <a:t>、</a:t>
            </a:r>
            <a:r>
              <a:rPr lang="zh-CN" altLang="en-US" b="1" dirty="0">
                <a:effectLst/>
              </a:rPr>
              <a:t>笔记：</a:t>
            </a:r>
            <a:r>
              <a:rPr lang="zh-CN" altLang="en-US" dirty="0"/>
              <a:t>运用图谱网站（</a:t>
            </a:r>
            <a:r>
              <a:rPr lang="en-US" altLang="zh-CN" dirty="0"/>
              <a:t>Connected Papers</a:t>
            </a:r>
            <a:r>
              <a:rPr lang="zh-CN" altLang="en-US" dirty="0"/>
              <a:t>）、运用</a:t>
            </a:r>
            <a:r>
              <a:rPr lang="en-US" altLang="zh-CN" dirty="0"/>
              <a:t>Semantic Scholar</a:t>
            </a:r>
            <a:r>
              <a:rPr lang="zh-CN" altLang="en-US" dirty="0"/>
              <a:t>、根据论文引用数来判断研究热度，</a:t>
            </a:r>
            <a:r>
              <a:rPr lang="en-US" altLang="zh-CN" dirty="0"/>
              <a:t>AI</a:t>
            </a:r>
            <a:r>
              <a:rPr lang="zh-CN" altLang="en-US" dirty="0"/>
              <a:t>推送文献</a:t>
            </a:r>
            <a:endParaRPr lang="en-US" altLang="zh-CN" dirty="0"/>
          </a:p>
          <a:p>
            <a:pPr>
              <a:lnSpc>
                <a:spcPct val="150000"/>
              </a:lnSpc>
            </a:pPr>
            <a:r>
              <a:rPr lang="en-US" altLang="zh-CN" dirty="0"/>
              <a:t>4</a:t>
            </a:r>
            <a:r>
              <a:rPr lang="zh-CN" altLang="en-US" dirty="0"/>
              <a:t>、</a:t>
            </a:r>
            <a:r>
              <a:rPr lang="zh-CN" altLang="en-US" b="1" dirty="0"/>
              <a:t>引用：</a:t>
            </a:r>
            <a:r>
              <a:rPr lang="zh-CN" altLang="en-US" dirty="0"/>
              <a:t>多出几版，总有人会给到意见的，</a:t>
            </a:r>
            <a:r>
              <a:rPr lang="en-US" altLang="zh-CN" dirty="0"/>
              <a:t>GPT</a:t>
            </a:r>
            <a:r>
              <a:rPr lang="zh-CN" altLang="en-US" dirty="0"/>
              <a:t>辅助写作</a:t>
            </a:r>
            <a:endParaRPr lang="en-US" altLang="zh-CN"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写作法则</a:t>
            </a:r>
          </a:p>
        </p:txBody>
      </p:sp>
      <p:sp>
        <p:nvSpPr>
          <p:cNvPr id="3" name="内容占位符 2"/>
          <p:cNvSpPr>
            <a:spLocks noGrp="1"/>
          </p:cNvSpPr>
          <p:nvPr>
            <p:ph idx="1"/>
          </p:nvPr>
        </p:nvSpPr>
        <p:spPr/>
        <p:txBody>
          <a:bodyPr>
            <a:normAutofit fontScale="85000" lnSpcReduction="10000"/>
          </a:bodyPr>
          <a:lstStyle/>
          <a:p>
            <a:pPr marL="0" indent="0">
              <a:buNone/>
            </a:pPr>
            <a:r>
              <a:rPr lang="zh-CN" altLang="en-US" sz="2400" dirty="0"/>
              <a:t>可识别</a:t>
            </a:r>
            <a:r>
              <a:rPr lang="en-US" altLang="zh-CN" sz="2400" dirty="0"/>
              <a:t>PDF</a:t>
            </a:r>
            <a:r>
              <a:rPr lang="zh-CN" altLang="en-US" sz="2400" dirty="0"/>
              <a:t>（完整元数据）→完成题录→分类建库→全文搜索→金字塔结构体系（</a:t>
            </a:r>
            <a:r>
              <a:rPr lang="zh-CN" altLang="en-US" sz="2400" dirty="0">
                <a:solidFill>
                  <a:srgbClr val="FF0000"/>
                </a:solidFill>
              </a:rPr>
              <a:t>大纲目录</a:t>
            </a:r>
            <a:r>
              <a:rPr lang="zh-CN" altLang="en-US" sz="2400" dirty="0"/>
              <a:t>）→学术论文表达（主谓宾定状补） → </a:t>
            </a:r>
            <a:r>
              <a:rPr lang="en-US" altLang="zh-CN" sz="2400" dirty="0"/>
              <a:t>5W1H</a:t>
            </a:r>
            <a:r>
              <a:rPr lang="zh-CN" altLang="en-US" sz="2400" dirty="0"/>
              <a:t>分析法（是什么、为什么、怎么做）</a:t>
            </a:r>
            <a:endParaRPr lang="en-US" altLang="zh-CN" sz="2400" dirty="0"/>
          </a:p>
          <a:p>
            <a:pPr marL="0" indent="0">
              <a:buNone/>
            </a:pPr>
            <a:endParaRPr lang="en-US" altLang="zh-CN" sz="2400" dirty="0"/>
          </a:p>
          <a:p>
            <a:pPr marL="0" indent="0">
              <a:buNone/>
            </a:pPr>
            <a:r>
              <a:rPr lang="en-US" altLang="zh-CN" sz="2400" b="0" i="0" dirty="0">
                <a:solidFill>
                  <a:srgbClr val="222222"/>
                </a:solidFill>
                <a:effectLst/>
                <a:latin typeface="PingFangSC-Regular" charset="-122"/>
              </a:rPr>
              <a:t>[1]</a:t>
            </a:r>
            <a:r>
              <a:rPr lang="zh-CN" altLang="en-US" sz="2400" b="0" i="0" dirty="0">
                <a:solidFill>
                  <a:srgbClr val="222222"/>
                </a:solidFill>
                <a:effectLst/>
                <a:latin typeface="PingFangSC-Regular" charset="-122"/>
              </a:rPr>
              <a:t>明托</a:t>
            </a:r>
            <a:r>
              <a:rPr lang="en-US" altLang="zh-CN" sz="2400" b="0" i="0" dirty="0">
                <a:solidFill>
                  <a:srgbClr val="222222"/>
                </a:solidFill>
                <a:effectLst/>
                <a:latin typeface="PingFangSC-Regular" charset="-122"/>
              </a:rPr>
              <a:t>. </a:t>
            </a:r>
            <a:r>
              <a:rPr lang="zh-CN" altLang="en-US" sz="2400" b="0" i="0" dirty="0">
                <a:solidFill>
                  <a:srgbClr val="222222"/>
                </a:solidFill>
                <a:effectLst/>
                <a:latin typeface="PingFangSC-Regular" charset="-122"/>
              </a:rPr>
              <a:t>金字塔原理</a:t>
            </a:r>
            <a:r>
              <a:rPr lang="en-US" altLang="zh-CN" sz="2400" b="0" i="0" dirty="0">
                <a:solidFill>
                  <a:srgbClr val="222222"/>
                </a:solidFill>
                <a:effectLst/>
                <a:latin typeface="PingFangSC-Regular" charset="-122"/>
              </a:rPr>
              <a:t>[M]. </a:t>
            </a:r>
            <a:r>
              <a:rPr lang="zh-CN" altLang="en-US" sz="2400" b="0" i="0" dirty="0">
                <a:solidFill>
                  <a:srgbClr val="222222"/>
                </a:solidFill>
                <a:effectLst/>
                <a:latin typeface="PingFangSC-Regular" charset="-122"/>
              </a:rPr>
              <a:t>民主与建设出版社</a:t>
            </a:r>
            <a:r>
              <a:rPr lang="en-US" altLang="zh-CN" sz="2400" b="0" i="0" dirty="0">
                <a:solidFill>
                  <a:srgbClr val="222222"/>
                </a:solidFill>
                <a:effectLst/>
                <a:latin typeface="PingFangSC-Regular" charset="-122"/>
              </a:rPr>
              <a:t>, 2006.</a:t>
            </a:r>
          </a:p>
          <a:p>
            <a:pPr marL="0" indent="0">
              <a:buNone/>
            </a:pPr>
            <a:r>
              <a:rPr lang="en-US" altLang="zh-CN" sz="2400" b="0" i="0" dirty="0">
                <a:solidFill>
                  <a:srgbClr val="222222"/>
                </a:solidFill>
                <a:effectLst/>
                <a:latin typeface="PingFangSC-Regular" charset="-122"/>
              </a:rPr>
              <a:t>[2]</a:t>
            </a:r>
            <a:r>
              <a:rPr lang="zh-CN" altLang="en-US" sz="2400" b="0" i="0" dirty="0">
                <a:solidFill>
                  <a:srgbClr val="222222"/>
                </a:solidFill>
                <a:effectLst/>
                <a:latin typeface="PingFangSC-Regular" charset="-122"/>
              </a:rPr>
              <a:t>王力</a:t>
            </a:r>
            <a:r>
              <a:rPr lang="en-US" altLang="zh-CN" sz="2400" b="0" i="0" dirty="0">
                <a:solidFill>
                  <a:srgbClr val="222222"/>
                </a:solidFill>
                <a:effectLst/>
                <a:latin typeface="PingFangSC-Regular" charset="-122"/>
              </a:rPr>
              <a:t>.</a:t>
            </a:r>
            <a:r>
              <a:rPr lang="zh-CN" altLang="en-US" sz="2400" b="0" i="0" dirty="0">
                <a:solidFill>
                  <a:srgbClr val="222222"/>
                </a:solidFill>
                <a:effectLst/>
                <a:latin typeface="PingFangSC-Regular" charset="-122"/>
              </a:rPr>
              <a:t>汉语语法史（繁体）</a:t>
            </a:r>
            <a:r>
              <a:rPr lang="en-US" altLang="zh-CN" sz="2400" b="0" i="0" dirty="0">
                <a:solidFill>
                  <a:srgbClr val="222222"/>
                </a:solidFill>
                <a:effectLst/>
                <a:latin typeface="PingFangSC-Regular" charset="-122"/>
              </a:rPr>
              <a:t> [M].</a:t>
            </a:r>
            <a:r>
              <a:rPr lang="zh-CN" altLang="en-US" sz="2400" b="0" i="0" dirty="0">
                <a:solidFill>
                  <a:srgbClr val="222222"/>
                </a:solidFill>
                <a:effectLst/>
                <a:latin typeface="PingFangSC-Regular" charset="-122"/>
              </a:rPr>
              <a:t>北京联合出版公司 ，</a:t>
            </a:r>
            <a:r>
              <a:rPr lang="en-US" altLang="zh-CN" sz="2400" b="0" i="0" dirty="0">
                <a:solidFill>
                  <a:srgbClr val="222222"/>
                </a:solidFill>
                <a:effectLst/>
                <a:latin typeface="PingFangSC-Regular" charset="-122"/>
              </a:rPr>
              <a:t>2018.</a:t>
            </a:r>
          </a:p>
          <a:p>
            <a:pPr marL="0" indent="0">
              <a:buNone/>
            </a:pPr>
            <a:endParaRPr lang="en-US" altLang="zh-CN" sz="2400" dirty="0">
              <a:solidFill>
                <a:srgbClr val="222222"/>
              </a:solidFill>
              <a:latin typeface="PingFangSC-Regular" charset="-122"/>
            </a:endParaRPr>
          </a:p>
          <a:p>
            <a:pPr marL="0" indent="0">
              <a:buNone/>
            </a:pPr>
            <a:r>
              <a:rPr lang="en-US" altLang="zh-CN" sz="2400" b="0" i="0" dirty="0">
                <a:solidFill>
                  <a:srgbClr val="222222"/>
                </a:solidFill>
                <a:effectLst/>
                <a:latin typeface="PingFangSC-Regular" charset="-122"/>
              </a:rPr>
              <a:t>1</a:t>
            </a:r>
            <a:r>
              <a:rPr lang="zh-CN" altLang="en-US" sz="2400" b="0" i="0" dirty="0">
                <a:solidFill>
                  <a:srgbClr val="222222"/>
                </a:solidFill>
                <a:effectLst/>
                <a:latin typeface="PingFangSC-Regular" charset="-122"/>
              </a:rPr>
              <a:t>、总体逻辑：形式大于内容，完形再究内容</a:t>
            </a:r>
            <a:endParaRPr lang="en-US" altLang="zh-CN" sz="2400" b="0" i="0" dirty="0">
              <a:solidFill>
                <a:srgbClr val="222222"/>
              </a:solidFill>
              <a:effectLst/>
              <a:latin typeface="PingFangSC-Regular" charset="-122"/>
            </a:endParaRPr>
          </a:p>
          <a:p>
            <a:pPr marL="0" indent="0">
              <a:buNone/>
            </a:pPr>
            <a:r>
              <a:rPr lang="en-US" altLang="zh-CN" sz="2400" dirty="0">
                <a:solidFill>
                  <a:srgbClr val="222222"/>
                </a:solidFill>
                <a:latin typeface="PingFangSC-Regular" charset="-122"/>
              </a:rPr>
              <a:t>2</a:t>
            </a:r>
            <a:r>
              <a:rPr lang="zh-CN" altLang="en-US" sz="2400" dirty="0">
                <a:solidFill>
                  <a:srgbClr val="222222"/>
                </a:solidFill>
                <a:latin typeface="PingFangSC-Regular" charset="-122"/>
              </a:rPr>
              <a:t>、演化过程：计划没用的、不是命题作文、动态过程</a:t>
            </a:r>
            <a:endParaRPr lang="en-US" altLang="zh-CN" sz="2400" dirty="0">
              <a:solidFill>
                <a:srgbClr val="222222"/>
              </a:solidFill>
              <a:latin typeface="PingFangSC-Regular" charset="-122"/>
            </a:endParaRPr>
          </a:p>
          <a:p>
            <a:pPr marL="0" indent="0">
              <a:buNone/>
            </a:pPr>
            <a:r>
              <a:rPr lang="en-US" altLang="zh-CN" sz="2400" dirty="0">
                <a:solidFill>
                  <a:srgbClr val="222222"/>
                </a:solidFill>
                <a:latin typeface="PingFangSC-Regular" charset="-122"/>
              </a:rPr>
              <a:t>3</a:t>
            </a:r>
            <a:r>
              <a:rPr lang="zh-CN" altLang="en-US" sz="2400" dirty="0">
                <a:solidFill>
                  <a:srgbClr val="222222"/>
                </a:solidFill>
                <a:latin typeface="PingFangSC-Regular" charset="-122"/>
              </a:rPr>
              <a:t>、学会提问：问题永远比答案重要（需求理论为例）</a:t>
            </a:r>
            <a:endParaRPr lang="en-US" altLang="zh-CN" sz="2400" dirty="0">
              <a:solidFill>
                <a:srgbClr val="222222"/>
              </a:solidFill>
              <a:latin typeface="PingFangSC-Regular" charset="-122"/>
            </a:endParaRPr>
          </a:p>
          <a:p>
            <a:pPr marL="0" indent="0">
              <a:buNone/>
            </a:pPr>
            <a:r>
              <a:rPr lang="en-US" altLang="zh-CN" sz="2400" dirty="0">
                <a:solidFill>
                  <a:srgbClr val="222222"/>
                </a:solidFill>
                <a:latin typeface="PingFangSC-Regular" charset="-122"/>
              </a:rPr>
              <a:t>4</a:t>
            </a:r>
            <a:r>
              <a:rPr lang="zh-CN" altLang="en-US" sz="2400" dirty="0">
                <a:solidFill>
                  <a:srgbClr val="222222"/>
                </a:solidFill>
                <a:latin typeface="PingFangSC-Regular" charset="-122"/>
              </a:rPr>
              <a:t>、数字为王：数字搜索比肉眼强大不知道多少倍</a:t>
            </a:r>
            <a:endParaRPr lang="en-US" altLang="zh-CN" sz="2400" dirty="0">
              <a:solidFill>
                <a:srgbClr val="222222"/>
              </a:solidFill>
              <a:latin typeface="PingFangSC-Regular" charset="-122"/>
            </a:endParaRPr>
          </a:p>
          <a:p>
            <a:pPr marL="0" indent="0">
              <a:buNone/>
            </a:pPr>
            <a:endParaRPr lang="en-US" altLang="zh-CN" sz="2400" dirty="0">
              <a:solidFill>
                <a:srgbClr val="222222"/>
              </a:solidFill>
              <a:latin typeface="PingFangSC-Regular" charset="-122"/>
            </a:endParaRPr>
          </a:p>
          <a:p>
            <a:pPr marL="0" indent="0" algn="ctr">
              <a:buNone/>
            </a:pPr>
            <a:r>
              <a:rPr lang="zh-CN" altLang="en-US" sz="2400" b="0" i="0" dirty="0">
                <a:solidFill>
                  <a:srgbClr val="222222"/>
                </a:solidFill>
                <a:effectLst/>
                <a:latin typeface="PingFangSC-Regular" charset="-122"/>
              </a:rPr>
              <a:t>什么是未来？</a:t>
            </a:r>
            <a:endParaRPr lang="en-US" altLang="zh-CN" sz="2400" b="0" i="0" dirty="0">
              <a:solidFill>
                <a:srgbClr val="222222"/>
              </a:solidFill>
              <a:effectLst/>
              <a:latin typeface="PingFangSC-Regular" charset="-122"/>
            </a:endParaRPr>
          </a:p>
          <a:p>
            <a:pPr marL="0" indent="0">
              <a:buNone/>
            </a:pPr>
            <a:endParaRPr lang="en-US" altLang="zh-CN" sz="2400" b="0" i="0" dirty="0">
              <a:solidFill>
                <a:srgbClr val="222222"/>
              </a:solidFill>
              <a:effectLst/>
              <a:latin typeface="PingFangSC-Regular" charset="-122"/>
            </a:endParaRPr>
          </a:p>
          <a:p>
            <a:pPr marL="0" indent="0">
              <a:buNone/>
            </a:pPr>
            <a:endParaRPr lang="zh-CN" altLang="en-US" sz="2400" dirty="0"/>
          </a:p>
        </p:txBody>
      </p:sp>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数据质量判定</a:t>
            </a:r>
            <a:r>
              <a:rPr lang="en-US" altLang="zh-CN" dirty="0"/>
              <a:t>——</a:t>
            </a:r>
            <a:r>
              <a:rPr lang="zh-CN" altLang="en-US" dirty="0"/>
              <a:t>内容生成</a:t>
            </a:r>
          </a:p>
        </p:txBody>
      </p:sp>
      <p:sp>
        <p:nvSpPr>
          <p:cNvPr id="3" name="内容占位符 2"/>
          <p:cNvSpPr>
            <a:spLocks noGrp="1"/>
          </p:cNvSpPr>
          <p:nvPr>
            <p:ph idx="1"/>
          </p:nvPr>
        </p:nvSpPr>
        <p:spPr>
          <a:xfrm>
            <a:off x="838200" y="1881608"/>
            <a:ext cx="10515600" cy="4351338"/>
          </a:xfrm>
        </p:spPr>
        <p:txBody>
          <a:bodyPr/>
          <a:lstStyle/>
          <a:p>
            <a:r>
              <a:rPr lang="zh-CN" altLang="en-US"/>
              <a:t>文献库数量写</a:t>
            </a:r>
            <a:r>
              <a:rPr lang="zh-CN" altLang="en-US" dirty="0"/>
              <a:t>博士论文一千、硕士一百、</a:t>
            </a:r>
            <a:r>
              <a:rPr lang="zh-CN" altLang="en-US"/>
              <a:t>本科二十起</a:t>
            </a:r>
            <a:endParaRPr lang="en-US" altLang="zh-CN" dirty="0"/>
          </a:p>
          <a:p>
            <a:r>
              <a:rPr lang="zh-CN" altLang="en-US" dirty="0"/>
              <a:t>检索的文字二三十万起步</a:t>
            </a:r>
            <a:endParaRPr lang="en-US" altLang="zh-CN" dirty="0"/>
          </a:p>
          <a:p>
            <a:r>
              <a:rPr lang="zh-CN" altLang="en-US" dirty="0"/>
              <a:t>从量变到质变：一定要有量的积累</a:t>
            </a:r>
            <a:endParaRPr lang="en-US" altLang="zh-CN" dirty="0"/>
          </a:p>
          <a:p>
            <a:r>
              <a:rPr lang="zh-CN" altLang="en-US" dirty="0"/>
              <a:t>要有时间去训练，发现错误就行，不用去改正</a:t>
            </a:r>
            <a:endParaRPr lang="en-US" altLang="zh-CN" dirty="0"/>
          </a:p>
          <a:p>
            <a:r>
              <a:rPr lang="zh-CN" altLang="en-US" dirty="0"/>
              <a:t>从大纲目录去进一步全文搜索</a:t>
            </a:r>
            <a:endParaRPr lang="en-US" altLang="zh-CN" dirty="0"/>
          </a:p>
          <a:p>
            <a:r>
              <a:rPr lang="zh-CN" altLang="en-US" dirty="0"/>
              <a:t>更多精力关注高引用量的精品（影响因子</a:t>
            </a:r>
            <a:r>
              <a:rPr lang="en-US" altLang="zh-CN" dirty="0"/>
              <a:t>5</a:t>
            </a:r>
            <a:r>
              <a:rPr lang="zh-CN" altLang="en-US" dirty="0"/>
              <a:t>起与引用量</a:t>
            </a:r>
            <a:r>
              <a:rPr lang="en-US" altLang="zh-CN" dirty="0"/>
              <a:t>200</a:t>
            </a:r>
            <a:r>
              <a:rPr lang="zh-CN" altLang="en-US" dirty="0"/>
              <a:t>起）</a:t>
            </a:r>
          </a:p>
        </p:txBody>
      </p:sp>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b="0" i="0">
                <a:solidFill>
                  <a:srgbClr val="24292F"/>
                </a:solidFill>
                <a:effectLst/>
                <a:latin typeface="-apple-system"/>
              </a:rPr>
              <a:t>JavaScript</a:t>
            </a:r>
            <a:r>
              <a:rPr lang="zh-CN" altLang="en-US">
                <a:solidFill>
                  <a:srgbClr val="24292F"/>
                </a:solidFill>
                <a:latin typeface="-apple-system"/>
              </a:rPr>
              <a:t>主要</a:t>
            </a:r>
            <a:r>
              <a:rPr lang="zh-CN" altLang="en-US" b="0" i="0" dirty="0">
                <a:solidFill>
                  <a:srgbClr val="24292F"/>
                </a:solidFill>
                <a:effectLst/>
                <a:latin typeface="-apple-system"/>
              </a:rPr>
              <a:t>特点</a:t>
            </a:r>
            <a:endParaRPr lang="zh-CN" altLang="en-US" dirty="0"/>
          </a:p>
        </p:txBody>
      </p:sp>
      <p:sp>
        <p:nvSpPr>
          <p:cNvPr id="3" name="内容占位符 2"/>
          <p:cNvSpPr>
            <a:spLocks noGrp="1"/>
          </p:cNvSpPr>
          <p:nvPr>
            <p:ph idx="1"/>
          </p:nvPr>
        </p:nvSpPr>
        <p:spPr/>
        <p:txBody>
          <a:bodyPr>
            <a:normAutofit fontScale="77500" lnSpcReduction="20000"/>
          </a:bodyPr>
          <a:lstStyle/>
          <a:p>
            <a:pPr algn="l"/>
            <a:endParaRPr lang="en-US" altLang="zh-CN" b="0" i="0" dirty="0">
              <a:solidFill>
                <a:srgbClr val="24292F"/>
              </a:solidFill>
              <a:effectLst/>
              <a:latin typeface="-apple-system"/>
            </a:endParaRPr>
          </a:p>
          <a:p>
            <a:pPr algn="l"/>
            <a:r>
              <a:rPr lang="en-US" altLang="zh-CN" b="0" i="0" dirty="0">
                <a:solidFill>
                  <a:srgbClr val="24292F"/>
                </a:solidFill>
                <a:effectLst/>
                <a:latin typeface="-apple-system"/>
              </a:rPr>
              <a:t>JavaScript</a:t>
            </a:r>
            <a:r>
              <a:rPr lang="zh-CN" altLang="en-US" b="0" i="0" dirty="0">
                <a:solidFill>
                  <a:srgbClr val="24292F"/>
                </a:solidFill>
                <a:effectLst/>
                <a:latin typeface="-apple-system"/>
              </a:rPr>
              <a:t>是一种广泛使用的编程语言，它具有以下特点：</a:t>
            </a:r>
          </a:p>
          <a:p>
            <a:pPr lvl="1">
              <a:buFont typeface="+mj-lt"/>
              <a:buAutoNum type="arabicPeriod"/>
            </a:pPr>
            <a:r>
              <a:rPr lang="zh-CN" altLang="en-US" b="0" i="0" dirty="0">
                <a:solidFill>
                  <a:srgbClr val="24292F"/>
                </a:solidFill>
                <a:effectLst/>
                <a:latin typeface="-apple-system"/>
              </a:rPr>
              <a:t>动态性：</a:t>
            </a:r>
            <a:r>
              <a:rPr lang="en-US" altLang="zh-CN" b="0" i="0" dirty="0">
                <a:solidFill>
                  <a:srgbClr val="24292F"/>
                </a:solidFill>
                <a:effectLst/>
                <a:latin typeface="-apple-system"/>
              </a:rPr>
              <a:t>JavaScript</a:t>
            </a:r>
            <a:r>
              <a:rPr lang="zh-CN" altLang="en-US" b="0" i="0" dirty="0">
                <a:solidFill>
                  <a:srgbClr val="24292F"/>
                </a:solidFill>
                <a:effectLst/>
                <a:latin typeface="-apple-system"/>
              </a:rPr>
              <a:t>可以在运行时动态地执行代码，这使得它非常适合处理用户交互和动态内容。</a:t>
            </a:r>
          </a:p>
          <a:p>
            <a:pPr lvl="1">
              <a:buFont typeface="+mj-lt"/>
              <a:buAutoNum type="arabicPeriod"/>
            </a:pPr>
            <a:r>
              <a:rPr lang="zh-CN" altLang="en-US" b="0" i="0" dirty="0">
                <a:solidFill>
                  <a:srgbClr val="24292F"/>
                </a:solidFill>
                <a:effectLst/>
                <a:latin typeface="-apple-system"/>
              </a:rPr>
              <a:t>跨平台性：</a:t>
            </a:r>
            <a:r>
              <a:rPr lang="en-US" altLang="zh-CN" b="0" i="0" dirty="0">
                <a:solidFill>
                  <a:srgbClr val="24292F"/>
                </a:solidFill>
                <a:effectLst/>
                <a:latin typeface="-apple-system"/>
              </a:rPr>
              <a:t>JavaScript</a:t>
            </a:r>
            <a:r>
              <a:rPr lang="zh-CN" altLang="en-US" b="0" i="0" dirty="0">
                <a:solidFill>
                  <a:srgbClr val="24292F"/>
                </a:solidFill>
                <a:effectLst/>
                <a:latin typeface="-apple-system"/>
              </a:rPr>
              <a:t>可以在各种操作系统和浏览器上运行，这使得它成为一种非常流行的</a:t>
            </a:r>
            <a:r>
              <a:rPr lang="en-US" altLang="zh-CN" b="0" i="0" dirty="0">
                <a:solidFill>
                  <a:srgbClr val="24292F"/>
                </a:solidFill>
                <a:effectLst/>
                <a:latin typeface="-apple-system"/>
              </a:rPr>
              <a:t>Web</a:t>
            </a:r>
            <a:r>
              <a:rPr lang="zh-CN" altLang="en-US" b="0" i="0" dirty="0">
                <a:solidFill>
                  <a:srgbClr val="24292F"/>
                </a:solidFill>
                <a:effectLst/>
                <a:latin typeface="-apple-system"/>
              </a:rPr>
              <a:t>开发语言。</a:t>
            </a:r>
          </a:p>
          <a:p>
            <a:pPr lvl="1">
              <a:buFont typeface="+mj-lt"/>
              <a:buAutoNum type="arabicPeriod"/>
            </a:pPr>
            <a:r>
              <a:rPr lang="zh-CN" altLang="en-US" b="0" i="0" dirty="0">
                <a:solidFill>
                  <a:srgbClr val="24292F"/>
                </a:solidFill>
                <a:effectLst/>
                <a:latin typeface="-apple-system"/>
              </a:rPr>
              <a:t>面向对象：</a:t>
            </a:r>
            <a:r>
              <a:rPr lang="en-US" altLang="zh-CN" b="0" i="0" dirty="0">
                <a:solidFill>
                  <a:srgbClr val="24292F"/>
                </a:solidFill>
                <a:effectLst/>
                <a:latin typeface="-apple-system"/>
              </a:rPr>
              <a:t>JavaScript</a:t>
            </a:r>
            <a:r>
              <a:rPr lang="zh-CN" altLang="en-US" b="0" i="0" dirty="0">
                <a:solidFill>
                  <a:srgbClr val="24292F"/>
                </a:solidFill>
                <a:effectLst/>
                <a:latin typeface="-apple-system"/>
              </a:rPr>
              <a:t>是一种面向对象的编程语言，它支持类和对象的概念。 事件驱动：</a:t>
            </a:r>
            <a:r>
              <a:rPr lang="en-US" altLang="zh-CN" b="0" i="0" dirty="0">
                <a:solidFill>
                  <a:srgbClr val="24292F"/>
                </a:solidFill>
                <a:effectLst/>
                <a:latin typeface="-apple-system"/>
              </a:rPr>
              <a:t>JavaScript</a:t>
            </a:r>
            <a:r>
              <a:rPr lang="zh-CN" altLang="en-US" b="0" i="0" dirty="0">
                <a:solidFill>
                  <a:srgbClr val="24292F"/>
                </a:solidFill>
                <a:effectLst/>
                <a:latin typeface="-apple-system"/>
              </a:rPr>
              <a:t>是基于事件驱动的编程语言，它可以处理用户交互事件，例如鼠标点击和键盘输入等。</a:t>
            </a:r>
          </a:p>
          <a:p>
            <a:pPr lvl="1">
              <a:buFont typeface="+mj-lt"/>
              <a:buAutoNum type="arabicPeriod"/>
            </a:pPr>
            <a:r>
              <a:rPr lang="zh-CN" altLang="en-US" b="0" i="0" dirty="0">
                <a:solidFill>
                  <a:srgbClr val="24292F"/>
                </a:solidFill>
                <a:effectLst/>
                <a:latin typeface="-apple-system"/>
              </a:rPr>
              <a:t>简单易学：</a:t>
            </a:r>
            <a:r>
              <a:rPr lang="en-US" altLang="zh-CN" b="0" i="0" dirty="0">
                <a:solidFill>
                  <a:srgbClr val="24292F"/>
                </a:solidFill>
                <a:effectLst/>
                <a:latin typeface="-apple-system"/>
              </a:rPr>
              <a:t>JavaScript</a:t>
            </a:r>
            <a:r>
              <a:rPr lang="zh-CN" altLang="en-US" b="0" i="0" dirty="0">
                <a:solidFill>
                  <a:srgbClr val="24292F"/>
                </a:solidFill>
                <a:effectLst/>
                <a:latin typeface="-apple-system"/>
              </a:rPr>
              <a:t>是一种简单易学的编程语言，它使用基于对象的语法和易于理解的语法结构。</a:t>
            </a:r>
          </a:p>
          <a:p>
            <a:pPr lvl="1">
              <a:buFont typeface="+mj-lt"/>
              <a:buAutoNum type="arabicPeriod"/>
            </a:pPr>
            <a:r>
              <a:rPr lang="zh-CN" altLang="en-US" b="0" i="0" dirty="0">
                <a:solidFill>
                  <a:srgbClr val="24292F"/>
                </a:solidFill>
                <a:effectLst/>
                <a:latin typeface="-apple-system"/>
              </a:rPr>
              <a:t>安全性：</a:t>
            </a:r>
            <a:r>
              <a:rPr lang="en-US" altLang="zh-CN" b="0" i="0" dirty="0">
                <a:solidFill>
                  <a:srgbClr val="24292F"/>
                </a:solidFill>
                <a:effectLst/>
                <a:latin typeface="-apple-system"/>
              </a:rPr>
              <a:t>JavaScript</a:t>
            </a:r>
            <a:r>
              <a:rPr lang="zh-CN" altLang="en-US" b="0" i="0" dirty="0">
                <a:solidFill>
                  <a:srgbClr val="24292F"/>
                </a:solidFill>
                <a:effectLst/>
                <a:latin typeface="-apple-system"/>
              </a:rPr>
              <a:t>具有内置的安全机制，可以防止跨站脚本攻击（</a:t>
            </a:r>
            <a:r>
              <a:rPr lang="en-US" altLang="zh-CN" b="0" i="0" dirty="0">
                <a:solidFill>
                  <a:srgbClr val="24292F"/>
                </a:solidFill>
                <a:effectLst/>
                <a:latin typeface="-apple-system"/>
              </a:rPr>
              <a:t>XSS</a:t>
            </a:r>
            <a:r>
              <a:rPr lang="zh-CN" altLang="en-US" b="0" i="0" dirty="0">
                <a:solidFill>
                  <a:srgbClr val="24292F"/>
                </a:solidFill>
                <a:effectLst/>
                <a:latin typeface="-apple-system"/>
              </a:rPr>
              <a:t>）和其他类型的攻击。</a:t>
            </a:r>
          </a:p>
          <a:p>
            <a:pPr lvl="1">
              <a:buFont typeface="+mj-lt"/>
              <a:buAutoNum type="arabicPeriod"/>
            </a:pPr>
            <a:r>
              <a:rPr lang="zh-CN" altLang="en-US" b="0" i="0" dirty="0">
                <a:solidFill>
                  <a:srgbClr val="24292F"/>
                </a:solidFill>
                <a:effectLst/>
                <a:latin typeface="-apple-system"/>
              </a:rPr>
              <a:t>异步性：</a:t>
            </a:r>
            <a:r>
              <a:rPr lang="en-US" altLang="zh-CN" b="0" i="0" dirty="0">
                <a:solidFill>
                  <a:srgbClr val="24292F"/>
                </a:solidFill>
                <a:effectLst/>
                <a:latin typeface="-apple-system"/>
              </a:rPr>
              <a:t>JavaScript</a:t>
            </a:r>
            <a:r>
              <a:rPr lang="zh-CN" altLang="en-US" b="0" i="0" dirty="0">
                <a:solidFill>
                  <a:srgbClr val="24292F"/>
                </a:solidFill>
                <a:effectLst/>
                <a:latin typeface="-apple-system"/>
              </a:rPr>
              <a:t>是一种异步编程语言，它可以处理并发任务和异步操作，例如网络请求和文件</a:t>
            </a:r>
            <a:r>
              <a:rPr lang="en-US" altLang="zh-CN" b="0" i="0" dirty="0">
                <a:solidFill>
                  <a:srgbClr val="24292F"/>
                </a:solidFill>
                <a:effectLst/>
                <a:latin typeface="-apple-system"/>
              </a:rPr>
              <a:t>I/O</a:t>
            </a:r>
            <a:r>
              <a:rPr lang="zh-CN" altLang="en-US" b="0" i="0" dirty="0">
                <a:solidFill>
                  <a:srgbClr val="24292F"/>
                </a:solidFill>
                <a:effectLst/>
                <a:latin typeface="-apple-system"/>
              </a:rPr>
              <a:t>等。</a:t>
            </a:r>
          </a:p>
          <a:p>
            <a:pPr algn="l"/>
            <a:r>
              <a:rPr lang="zh-CN" altLang="en-US" b="0" i="0" dirty="0">
                <a:solidFill>
                  <a:srgbClr val="24292F"/>
                </a:solidFill>
                <a:effectLst/>
                <a:latin typeface="-apple-system"/>
              </a:rPr>
              <a:t>总之，</a:t>
            </a:r>
            <a:r>
              <a:rPr lang="en-US" altLang="zh-CN" b="0" i="0" dirty="0">
                <a:solidFill>
                  <a:srgbClr val="24292F"/>
                </a:solidFill>
                <a:effectLst/>
                <a:latin typeface="-apple-system"/>
              </a:rPr>
              <a:t>JavaScript</a:t>
            </a:r>
            <a:r>
              <a:rPr lang="zh-CN" altLang="en-US" b="0" i="0" dirty="0">
                <a:solidFill>
                  <a:srgbClr val="24292F"/>
                </a:solidFill>
                <a:effectLst/>
                <a:latin typeface="-apple-system"/>
              </a:rPr>
              <a:t>是一种功能强大、易于学习和广泛应用于</a:t>
            </a:r>
            <a:r>
              <a:rPr lang="en-US" altLang="zh-CN" b="0" i="0" dirty="0">
                <a:solidFill>
                  <a:srgbClr val="24292F"/>
                </a:solidFill>
                <a:effectLst/>
                <a:latin typeface="-apple-system"/>
              </a:rPr>
              <a:t>Web</a:t>
            </a:r>
            <a:r>
              <a:rPr lang="zh-CN" altLang="en-US" b="0" i="0" dirty="0">
                <a:solidFill>
                  <a:srgbClr val="24292F"/>
                </a:solidFill>
                <a:effectLst/>
                <a:latin typeface="-apple-system"/>
              </a:rPr>
              <a:t>开发的编程语言。</a:t>
            </a:r>
          </a:p>
          <a:p>
            <a:endParaRPr lang="zh-CN" altLang="en-US" dirty="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solidFill>
                  <a:srgbClr val="24292F"/>
                </a:solidFill>
                <a:latin typeface="-apple-system"/>
              </a:rPr>
              <a:t>JavaScript</a:t>
            </a:r>
            <a:r>
              <a:rPr lang="zh-CN" altLang="en-US" dirty="0">
                <a:solidFill>
                  <a:srgbClr val="24292F"/>
                </a:solidFill>
                <a:latin typeface="-apple-system"/>
              </a:rPr>
              <a:t>学习资源</a:t>
            </a:r>
            <a:endParaRPr lang="zh-CN" altLang="en-US" dirty="0"/>
          </a:p>
        </p:txBody>
      </p:sp>
      <p:sp>
        <p:nvSpPr>
          <p:cNvPr id="3" name="内容占位符 2"/>
          <p:cNvSpPr>
            <a:spLocks noGrp="1"/>
          </p:cNvSpPr>
          <p:nvPr>
            <p:ph idx="1"/>
          </p:nvPr>
        </p:nvSpPr>
        <p:spPr/>
        <p:txBody>
          <a:bodyPr>
            <a:normAutofit/>
          </a:bodyPr>
          <a:lstStyle/>
          <a:p>
            <a:pPr algn="l">
              <a:buFont typeface="+mj-lt"/>
              <a:buAutoNum type="arabicPeriod"/>
            </a:pPr>
            <a:r>
              <a:rPr lang="en-US" altLang="zh-CN" sz="2000" b="0" i="0" dirty="0">
                <a:solidFill>
                  <a:srgbClr val="24292F"/>
                </a:solidFill>
                <a:effectLst/>
                <a:latin typeface="-apple-system"/>
              </a:rPr>
              <a:t>Mozilla Developer Network (MDN) JavaScript</a:t>
            </a:r>
            <a:r>
              <a:rPr lang="zh-CN" altLang="en-US" sz="2000" b="0" i="0" dirty="0">
                <a:solidFill>
                  <a:srgbClr val="24292F"/>
                </a:solidFill>
                <a:effectLst/>
                <a:latin typeface="-apple-system"/>
              </a:rPr>
              <a:t>指南：这是一个权威且详尽的</a:t>
            </a:r>
            <a:r>
              <a:rPr lang="en-US" altLang="zh-CN" sz="2000" b="0" i="0" dirty="0">
                <a:solidFill>
                  <a:srgbClr val="24292F"/>
                </a:solidFill>
                <a:effectLst/>
                <a:latin typeface="-apple-system"/>
              </a:rPr>
              <a:t>JavaScript</a:t>
            </a:r>
            <a:r>
              <a:rPr lang="zh-CN" altLang="en-US" sz="2000" b="0" i="0" dirty="0">
                <a:solidFill>
                  <a:srgbClr val="24292F"/>
                </a:solidFill>
                <a:effectLst/>
                <a:latin typeface="-apple-system"/>
              </a:rPr>
              <a:t>文档和教程资源，适合从入门到进阶的学习者。你可以在</a:t>
            </a:r>
            <a:r>
              <a:rPr lang="en-US" altLang="zh-CN" sz="2000" b="0" i="0" dirty="0">
                <a:solidFill>
                  <a:srgbClr val="24292F"/>
                </a:solidFill>
                <a:effectLst/>
                <a:latin typeface="-apple-system"/>
              </a:rPr>
              <a:t>MDN</a:t>
            </a:r>
            <a:r>
              <a:rPr lang="zh-CN" altLang="en-US" sz="2000" b="0" i="0" dirty="0">
                <a:solidFill>
                  <a:srgbClr val="24292F"/>
                </a:solidFill>
                <a:effectLst/>
                <a:latin typeface="-apple-system"/>
              </a:rPr>
              <a:t>网站上找到各种例子、解释和练习。</a:t>
            </a:r>
          </a:p>
          <a:p>
            <a:pPr algn="l">
              <a:buFont typeface="+mj-lt"/>
              <a:buAutoNum type="arabicPeriod"/>
            </a:pPr>
            <a:r>
              <a:rPr lang="en-US" altLang="zh-CN" sz="2000" b="0" i="0" u="none" strike="noStrike" dirty="0">
                <a:solidFill>
                  <a:srgbClr val="24292F"/>
                </a:solidFill>
                <a:effectLst/>
                <a:latin typeface="-apple-system"/>
                <a:hlinkClick r:id="rId2"/>
              </a:rPr>
              <a:t>JavaScript.info</a:t>
            </a:r>
            <a:r>
              <a:rPr lang="zh-CN" altLang="en-US" sz="2000" b="0" i="0" dirty="0">
                <a:solidFill>
                  <a:srgbClr val="24292F"/>
                </a:solidFill>
                <a:effectLst/>
                <a:latin typeface="-apple-system"/>
              </a:rPr>
              <a:t>：这个网站提供了一个全面而易于理解的</a:t>
            </a:r>
            <a:r>
              <a:rPr lang="en-US" altLang="zh-CN" sz="2000" b="0" i="0" dirty="0">
                <a:solidFill>
                  <a:srgbClr val="24292F"/>
                </a:solidFill>
                <a:effectLst/>
                <a:latin typeface="-apple-system"/>
              </a:rPr>
              <a:t>JavaScript</a:t>
            </a:r>
            <a:r>
              <a:rPr lang="zh-CN" altLang="en-US" sz="2000" b="0" i="0" dirty="0">
                <a:solidFill>
                  <a:srgbClr val="24292F"/>
                </a:solidFill>
                <a:effectLst/>
                <a:latin typeface="-apple-system"/>
              </a:rPr>
              <a:t>教程。它的内容从基础知识到高级概念都涵盖了，并配有许多实际的代码示例和练习题。</a:t>
            </a:r>
          </a:p>
          <a:p>
            <a:pPr algn="l">
              <a:buFont typeface="+mj-lt"/>
              <a:buAutoNum type="arabicPeriod"/>
            </a:pPr>
            <a:r>
              <a:rPr lang="en-US" altLang="zh-CN" sz="2000" b="0" i="0" dirty="0">
                <a:solidFill>
                  <a:srgbClr val="24292F"/>
                </a:solidFill>
                <a:effectLst/>
                <a:latin typeface="-apple-system"/>
              </a:rPr>
              <a:t>W3Schools JavaScript</a:t>
            </a:r>
            <a:r>
              <a:rPr lang="zh-CN" altLang="en-US" sz="2000" b="0" i="0" dirty="0">
                <a:solidFill>
                  <a:srgbClr val="24292F"/>
                </a:solidFill>
                <a:effectLst/>
                <a:latin typeface="-apple-system"/>
              </a:rPr>
              <a:t>教程：</a:t>
            </a:r>
            <a:r>
              <a:rPr lang="en-US" altLang="zh-CN" sz="2000" b="0" i="0" dirty="0">
                <a:solidFill>
                  <a:srgbClr val="24292F"/>
                </a:solidFill>
                <a:effectLst/>
                <a:latin typeface="-apple-system"/>
              </a:rPr>
              <a:t>W3Schools</a:t>
            </a:r>
            <a:r>
              <a:rPr lang="zh-CN" altLang="en-US" sz="2000" b="0" i="0" dirty="0">
                <a:solidFill>
                  <a:srgbClr val="24292F"/>
                </a:solidFill>
                <a:effectLst/>
                <a:latin typeface="-apple-system"/>
              </a:rPr>
              <a:t>是一个非常受欢迎的网络开发教程网站，它提供了简单易懂的</a:t>
            </a:r>
            <a:r>
              <a:rPr lang="en-US" altLang="zh-CN" sz="2000" b="0" i="0" dirty="0">
                <a:solidFill>
                  <a:srgbClr val="24292F"/>
                </a:solidFill>
                <a:effectLst/>
                <a:latin typeface="-apple-system"/>
              </a:rPr>
              <a:t>JavaScript</a:t>
            </a:r>
            <a:r>
              <a:rPr lang="zh-CN" altLang="en-US" sz="2000" b="0" i="0" dirty="0">
                <a:solidFill>
                  <a:srgbClr val="24292F"/>
                </a:solidFill>
                <a:effectLst/>
                <a:latin typeface="-apple-system"/>
              </a:rPr>
              <a:t>教程、例子和在线编辑器，方便学习者进行实践。</a:t>
            </a:r>
          </a:p>
          <a:p>
            <a:pPr algn="l">
              <a:buFont typeface="+mj-lt"/>
              <a:buAutoNum type="arabicPeriod"/>
            </a:pPr>
            <a:r>
              <a:rPr lang="en-US" altLang="zh-CN" sz="2000" b="0" i="0" dirty="0">
                <a:solidFill>
                  <a:srgbClr val="24292F"/>
                </a:solidFill>
                <a:effectLst/>
                <a:latin typeface="-apple-system"/>
              </a:rPr>
              <a:t>Eloquent JavaScript</a:t>
            </a:r>
            <a:r>
              <a:rPr lang="zh-CN" altLang="en-US" sz="2000" b="0" i="0" dirty="0">
                <a:solidFill>
                  <a:srgbClr val="24292F"/>
                </a:solidFill>
                <a:effectLst/>
                <a:latin typeface="-apple-system"/>
              </a:rPr>
              <a:t>：这是一本免费的</a:t>
            </a:r>
            <a:r>
              <a:rPr lang="en-US" altLang="zh-CN" sz="2000" b="0" i="0" dirty="0">
                <a:solidFill>
                  <a:srgbClr val="24292F"/>
                </a:solidFill>
                <a:effectLst/>
                <a:latin typeface="-apple-system"/>
              </a:rPr>
              <a:t>JavaScript</a:t>
            </a:r>
            <a:r>
              <a:rPr lang="zh-CN" altLang="en-US" sz="2000" b="0" i="0" dirty="0">
                <a:solidFill>
                  <a:srgbClr val="24292F"/>
                </a:solidFill>
                <a:effectLst/>
                <a:latin typeface="-apple-system"/>
              </a:rPr>
              <a:t>编程指南，由</a:t>
            </a:r>
            <a:r>
              <a:rPr lang="en-US" altLang="zh-CN" sz="2000" b="0" i="0" dirty="0">
                <a:solidFill>
                  <a:srgbClr val="24292F"/>
                </a:solidFill>
                <a:effectLst/>
                <a:latin typeface="-apple-system"/>
              </a:rPr>
              <a:t>Marijn </a:t>
            </a:r>
            <a:r>
              <a:rPr lang="en-US" altLang="zh-CN" sz="2000" b="0" i="0" dirty="0" err="1">
                <a:solidFill>
                  <a:srgbClr val="24292F"/>
                </a:solidFill>
                <a:effectLst/>
                <a:latin typeface="-apple-system"/>
              </a:rPr>
              <a:t>Haverbeke</a:t>
            </a:r>
            <a:r>
              <a:rPr lang="zh-CN" altLang="en-US" sz="2000" b="0" i="0" dirty="0">
                <a:solidFill>
                  <a:srgbClr val="24292F"/>
                </a:solidFill>
                <a:effectLst/>
                <a:latin typeface="-apple-system"/>
              </a:rPr>
              <a:t>撰写。它以易读易懂的方式介绍了</a:t>
            </a:r>
            <a:r>
              <a:rPr lang="en-US" altLang="zh-CN" sz="2000" b="0" i="0" dirty="0">
                <a:solidFill>
                  <a:srgbClr val="24292F"/>
                </a:solidFill>
                <a:effectLst/>
                <a:latin typeface="-apple-system"/>
              </a:rPr>
              <a:t>JavaScript</a:t>
            </a:r>
            <a:r>
              <a:rPr lang="zh-CN" altLang="en-US" sz="2000" b="0" i="0" dirty="0">
                <a:solidFill>
                  <a:srgbClr val="24292F"/>
                </a:solidFill>
                <a:effectLst/>
                <a:latin typeface="-apple-system"/>
              </a:rPr>
              <a:t>的核心概念和技术，适合初学者和有经验的开发者。</a:t>
            </a:r>
          </a:p>
          <a:p>
            <a:pPr algn="l">
              <a:buFont typeface="+mj-lt"/>
              <a:buAutoNum type="arabicPeriod"/>
            </a:pPr>
            <a:r>
              <a:rPr lang="en-US" altLang="zh-CN" sz="2000" b="0" i="0" dirty="0">
                <a:solidFill>
                  <a:srgbClr val="24292F"/>
                </a:solidFill>
                <a:effectLst/>
                <a:latin typeface="-apple-system"/>
              </a:rPr>
              <a:t>JavaScript30</a:t>
            </a:r>
            <a:r>
              <a:rPr lang="zh-CN" altLang="en-US" sz="2000" b="0" i="0" dirty="0">
                <a:solidFill>
                  <a:srgbClr val="24292F"/>
                </a:solidFill>
                <a:effectLst/>
                <a:latin typeface="-apple-system"/>
              </a:rPr>
              <a:t>：这是一个由</a:t>
            </a:r>
            <a:r>
              <a:rPr lang="en-US" altLang="zh-CN" sz="2000" b="0" i="0" dirty="0">
                <a:solidFill>
                  <a:srgbClr val="24292F"/>
                </a:solidFill>
                <a:effectLst/>
                <a:latin typeface="-apple-system"/>
              </a:rPr>
              <a:t>Wes Bos</a:t>
            </a:r>
            <a:r>
              <a:rPr lang="zh-CN" altLang="en-US" sz="2000" b="0" i="0" dirty="0">
                <a:solidFill>
                  <a:srgbClr val="24292F"/>
                </a:solidFill>
                <a:effectLst/>
                <a:latin typeface="-apple-system"/>
              </a:rPr>
              <a:t>创建的免费视频教程系列，旨在通过</a:t>
            </a:r>
            <a:r>
              <a:rPr lang="en-US" altLang="zh-CN" sz="2000" b="0" i="0" dirty="0">
                <a:solidFill>
                  <a:srgbClr val="24292F"/>
                </a:solidFill>
                <a:effectLst/>
                <a:latin typeface="-apple-system"/>
              </a:rPr>
              <a:t>30</a:t>
            </a:r>
            <a:r>
              <a:rPr lang="zh-CN" altLang="en-US" sz="2000" b="0" i="0" dirty="0">
                <a:solidFill>
                  <a:srgbClr val="24292F"/>
                </a:solidFill>
                <a:effectLst/>
                <a:latin typeface="-apple-system"/>
              </a:rPr>
              <a:t>个实战项目来提高你的</a:t>
            </a:r>
            <a:r>
              <a:rPr lang="en-US" altLang="zh-CN" sz="2000" b="0" i="0" dirty="0">
                <a:solidFill>
                  <a:srgbClr val="24292F"/>
                </a:solidFill>
                <a:effectLst/>
                <a:latin typeface="-apple-system"/>
              </a:rPr>
              <a:t>JavaScript</a:t>
            </a:r>
            <a:r>
              <a:rPr lang="zh-CN" altLang="en-US" sz="2000" b="0" i="0" dirty="0">
                <a:solidFill>
                  <a:srgbClr val="24292F"/>
                </a:solidFill>
                <a:effectLst/>
                <a:latin typeface="-apple-system"/>
              </a:rPr>
              <a:t>技能。每个教程都有视频解释和完整的代码示例。</a:t>
            </a:r>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数据库结构</a:t>
            </a:r>
          </a:p>
        </p:txBody>
      </p:sp>
      <p:sp>
        <p:nvSpPr>
          <p:cNvPr id="3" name="内容占位符 2"/>
          <p:cNvSpPr>
            <a:spLocks noGrp="1"/>
          </p:cNvSpPr>
          <p:nvPr>
            <p:ph idx="1"/>
          </p:nvPr>
        </p:nvSpPr>
        <p:spPr>
          <a:xfrm>
            <a:off x="838200" y="1825625"/>
            <a:ext cx="10515600" cy="3914115"/>
          </a:xfrm>
        </p:spPr>
        <p:txBody>
          <a:bodyPr/>
          <a:lstStyle/>
          <a:p>
            <a:r>
              <a:rPr lang="zh-CN" altLang="en-US" dirty="0"/>
              <a:t>程序位置及文件位置可以任意移动</a:t>
            </a:r>
            <a:endParaRPr lang="en-US" altLang="zh-CN" dirty="0"/>
          </a:p>
          <a:p>
            <a:pPr lvl="1"/>
            <a:r>
              <a:rPr lang="zh-CN" altLang="en-US" dirty="0"/>
              <a:t>执行程序建议放</a:t>
            </a:r>
            <a:r>
              <a:rPr lang="en-US" altLang="zh-CN" dirty="0"/>
              <a:t>D</a:t>
            </a:r>
            <a:r>
              <a:rPr lang="zh-CN" altLang="en-US" dirty="0"/>
              <a:t>盘，文件也同样</a:t>
            </a:r>
            <a:endParaRPr lang="en-US" altLang="zh-CN" dirty="0"/>
          </a:p>
          <a:p>
            <a:pPr lvl="1"/>
            <a:r>
              <a:rPr lang="en-US" altLang="zh-CN" dirty="0"/>
              <a:t>D:\Program Files (x86)\</a:t>
            </a:r>
            <a:r>
              <a:rPr lang="en-US" altLang="zh-CN" dirty="0" err="1"/>
              <a:t>zotero</a:t>
            </a:r>
            <a:r>
              <a:rPr lang="en-US" altLang="zh-CN" dirty="0"/>
              <a:t>\</a:t>
            </a:r>
            <a:r>
              <a:rPr lang="en-US" altLang="zh-CN" dirty="0" err="1"/>
              <a:t>Zotero@Portable</a:t>
            </a:r>
            <a:endParaRPr lang="en-US" altLang="zh-CN" dirty="0"/>
          </a:p>
          <a:p>
            <a:pPr lvl="1"/>
            <a:r>
              <a:rPr lang="en-US" altLang="zh-CN" dirty="0"/>
              <a:t>D:\Program Files (x86)\</a:t>
            </a:r>
            <a:r>
              <a:rPr lang="en-US" altLang="zh-CN" dirty="0" err="1"/>
              <a:t>zotero</a:t>
            </a:r>
            <a:r>
              <a:rPr lang="en-US" altLang="zh-CN" dirty="0"/>
              <a:t>\</a:t>
            </a:r>
            <a:r>
              <a:rPr lang="en-US" altLang="zh-CN" dirty="0" err="1"/>
              <a:t>Zotero@YuHao</a:t>
            </a:r>
            <a:endParaRPr lang="en-US" altLang="zh-CN" dirty="0"/>
          </a:p>
          <a:p>
            <a:pPr lvl="1"/>
            <a:r>
              <a:rPr lang="en-US" altLang="zh-CN" dirty="0"/>
              <a:t>D:\Program Files (x86)\</a:t>
            </a:r>
            <a:r>
              <a:rPr lang="en-US" altLang="zh-CN" dirty="0" err="1"/>
              <a:t>zotero</a:t>
            </a:r>
            <a:r>
              <a:rPr lang="en-US" altLang="zh-CN" dirty="0"/>
              <a:t>\</a:t>
            </a:r>
            <a:r>
              <a:rPr lang="en-US" altLang="zh-CN" dirty="0" err="1"/>
              <a:t>Zotero@Plug-in</a:t>
            </a:r>
            <a:endParaRPr lang="en-US" altLang="zh-CN" dirty="0"/>
          </a:p>
          <a:p>
            <a:pPr lvl="1"/>
            <a:endParaRPr lang="en-US" altLang="zh-CN" dirty="0"/>
          </a:p>
          <a:p>
            <a:r>
              <a:rPr lang="en-US" altLang="zh-CN" dirty="0"/>
              <a:t> </a:t>
            </a:r>
            <a:r>
              <a:rPr lang="en-US" altLang="zh-CN" dirty="0" err="1"/>
              <a:t>tara</a:t>
            </a:r>
            <a:r>
              <a:rPr lang="en-US" altLang="zh-CN" dirty="0"/>
              <a:t> (Taraxacum) </a:t>
            </a:r>
            <a:r>
              <a:rPr lang="zh-CN" altLang="en-US"/>
              <a:t>蒲公英插件实现配置备份</a:t>
            </a:r>
            <a:endParaRPr lang="en-US" altLang="zh-CN" dirty="0"/>
          </a:p>
          <a:p>
            <a:endParaRPr lang="en-US" altLang="zh-CN" dirty="0"/>
          </a:p>
          <a:p>
            <a:endParaRPr lang="zh-CN" altLang="en-US" dirty="0"/>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SQLite</a:t>
            </a:r>
            <a:r>
              <a:rPr lang="zh-CN" altLang="en-US" dirty="0"/>
              <a:t>数据库</a:t>
            </a:r>
          </a:p>
        </p:txBody>
      </p:sp>
      <p:sp>
        <p:nvSpPr>
          <p:cNvPr id="3" name="内容占位符 2"/>
          <p:cNvSpPr>
            <a:spLocks noGrp="1"/>
          </p:cNvSpPr>
          <p:nvPr>
            <p:ph idx="1"/>
          </p:nvPr>
        </p:nvSpPr>
        <p:spPr/>
        <p:txBody>
          <a:bodyPr>
            <a:normAutofit lnSpcReduction="10000"/>
          </a:bodyPr>
          <a:lstStyle/>
          <a:p>
            <a:r>
              <a:rPr lang="en-US" altLang="zh-CN" sz="1800" dirty="0"/>
              <a:t>SQLite</a:t>
            </a:r>
            <a:r>
              <a:rPr lang="zh-CN" altLang="en-US" sz="1800" dirty="0"/>
              <a:t>是一种轻量级的关系型数据库管理系统（</a:t>
            </a:r>
            <a:r>
              <a:rPr lang="en-US" altLang="zh-CN" sz="1800" dirty="0"/>
              <a:t>DBMS</a:t>
            </a:r>
            <a:r>
              <a:rPr lang="zh-CN" altLang="en-US" sz="1800" dirty="0"/>
              <a:t>），它具有简单、易用、快速的特点，并且没有复杂的安装和配置过程。下面介绍</a:t>
            </a:r>
            <a:r>
              <a:rPr lang="en-US" altLang="zh-CN" sz="1800" dirty="0"/>
              <a:t>SQLite</a:t>
            </a:r>
            <a:r>
              <a:rPr lang="zh-CN" altLang="en-US" sz="1800" dirty="0"/>
              <a:t>数据库的管理方法：</a:t>
            </a:r>
          </a:p>
          <a:p>
            <a:pPr lvl="1"/>
            <a:r>
              <a:rPr lang="zh-CN" altLang="en-US" sz="1600" dirty="0"/>
              <a:t>创建数据库：在</a:t>
            </a:r>
            <a:r>
              <a:rPr lang="en-US" altLang="zh-CN" sz="1600" dirty="0"/>
              <a:t>SQLite</a:t>
            </a:r>
            <a:r>
              <a:rPr lang="zh-CN" altLang="en-US" sz="1600" dirty="0"/>
              <a:t>中，可以使用</a:t>
            </a:r>
            <a:r>
              <a:rPr lang="en-US" altLang="zh-CN" sz="1600" dirty="0"/>
              <a:t>sqlite3</a:t>
            </a:r>
            <a:r>
              <a:rPr lang="zh-CN" altLang="en-US" sz="1600" dirty="0"/>
              <a:t>命令行工具或支持</a:t>
            </a:r>
            <a:r>
              <a:rPr lang="en-US" altLang="zh-CN" sz="1600" dirty="0"/>
              <a:t>SQLite</a:t>
            </a:r>
            <a:r>
              <a:rPr lang="zh-CN" altLang="en-US" sz="1600" dirty="0"/>
              <a:t>的图形界面工具创建数据库。在命令行模式下，可以通过如下命令创建一个名为</a:t>
            </a:r>
            <a:r>
              <a:rPr lang="en-US" altLang="zh-CN" sz="1600" dirty="0" err="1"/>
              <a:t>mydb.sqlite</a:t>
            </a:r>
            <a:r>
              <a:rPr lang="zh-CN" altLang="en-US" sz="1600" dirty="0"/>
              <a:t>的新数据库：</a:t>
            </a:r>
            <a:r>
              <a:rPr lang="en-US" altLang="zh-CN" sz="1600" dirty="0"/>
              <a:t>sqlite3 </a:t>
            </a:r>
            <a:r>
              <a:rPr lang="en-US" altLang="zh-CN" sz="1600" dirty="0" err="1"/>
              <a:t>mydb.sqlite</a:t>
            </a:r>
            <a:endParaRPr lang="en-US" altLang="zh-CN" sz="1600" dirty="0"/>
          </a:p>
          <a:p>
            <a:pPr lvl="1"/>
            <a:r>
              <a:rPr lang="zh-CN" altLang="en-US" sz="1600" dirty="0"/>
              <a:t>创建表格：在</a:t>
            </a:r>
            <a:r>
              <a:rPr lang="en-US" altLang="zh-CN" sz="1600" dirty="0"/>
              <a:t>SQLite</a:t>
            </a:r>
            <a:r>
              <a:rPr lang="zh-CN" altLang="en-US" sz="1600" dirty="0"/>
              <a:t>中，需要创建表格来存储数据。使用</a:t>
            </a:r>
            <a:r>
              <a:rPr lang="en-US" altLang="zh-CN" sz="1600" dirty="0"/>
              <a:t>CREATE TABLE</a:t>
            </a:r>
            <a:r>
              <a:rPr lang="zh-CN" altLang="en-US" sz="1600" dirty="0"/>
              <a:t>语句指定表格名称和列的结构。例如，以下语句将创建一个名为</a:t>
            </a:r>
            <a:r>
              <a:rPr lang="en-US" altLang="zh-CN" sz="1600" dirty="0"/>
              <a:t>students</a:t>
            </a:r>
            <a:r>
              <a:rPr lang="zh-CN" altLang="en-US" sz="1600" dirty="0"/>
              <a:t>的表格，其中包含</a:t>
            </a:r>
            <a:r>
              <a:rPr lang="en-US" altLang="zh-CN" sz="1600" dirty="0"/>
              <a:t>id</a:t>
            </a:r>
            <a:r>
              <a:rPr lang="zh-CN" altLang="en-US" sz="1600" dirty="0"/>
              <a:t>、</a:t>
            </a:r>
            <a:r>
              <a:rPr lang="en-US" altLang="zh-CN" sz="1600" dirty="0"/>
              <a:t>name</a:t>
            </a:r>
            <a:r>
              <a:rPr lang="zh-CN" altLang="en-US" sz="1600" dirty="0"/>
              <a:t>和</a:t>
            </a:r>
            <a:r>
              <a:rPr lang="en-US" altLang="zh-CN" sz="1600" dirty="0"/>
              <a:t>score</a:t>
            </a:r>
            <a:r>
              <a:rPr lang="zh-CN" altLang="en-US" sz="1600" dirty="0"/>
              <a:t>三个列：</a:t>
            </a:r>
            <a:r>
              <a:rPr lang="en-US" altLang="zh-CN" sz="1600" dirty="0"/>
              <a:t>CREATE TABLE students (id INTEGER PRIMARY KEY, name TEXT, score REAL);</a:t>
            </a:r>
          </a:p>
          <a:p>
            <a:pPr lvl="1"/>
            <a:r>
              <a:rPr lang="zh-CN" altLang="en-US" sz="1600" dirty="0"/>
              <a:t>插入数据：向表格中插入数据可以使用</a:t>
            </a:r>
            <a:r>
              <a:rPr lang="en-US" altLang="zh-CN" sz="1600" dirty="0"/>
              <a:t>INSERT INTO</a:t>
            </a:r>
            <a:r>
              <a:rPr lang="zh-CN" altLang="en-US" sz="1600" dirty="0"/>
              <a:t>语句。例如，以下语句将一个学生的信息插入到</a:t>
            </a:r>
            <a:r>
              <a:rPr lang="en-US" altLang="zh-CN" sz="1600" dirty="0"/>
              <a:t>students</a:t>
            </a:r>
            <a:r>
              <a:rPr lang="zh-CN" altLang="en-US" sz="1600" dirty="0"/>
              <a:t>表格中：</a:t>
            </a:r>
            <a:r>
              <a:rPr lang="en-US" altLang="zh-CN" sz="1600" dirty="0"/>
              <a:t>INSERT INTO students (id, name, score) VALUES (1, 'Tom', 90.5);</a:t>
            </a:r>
          </a:p>
          <a:p>
            <a:pPr lvl="1"/>
            <a:r>
              <a:rPr lang="zh-CN" altLang="en-US" sz="1600" dirty="0"/>
              <a:t>查询数据：查询数据可以使用</a:t>
            </a:r>
            <a:r>
              <a:rPr lang="en-US" altLang="zh-CN" sz="1600" dirty="0"/>
              <a:t>SELECT</a:t>
            </a:r>
            <a:r>
              <a:rPr lang="zh-CN" altLang="en-US" sz="1600" dirty="0"/>
              <a:t>语句。例如，以下语句将查询所有学生的信息：</a:t>
            </a:r>
            <a:r>
              <a:rPr lang="en-US" altLang="zh-CN" sz="1600" dirty="0"/>
              <a:t>SELECT * FROM students;</a:t>
            </a:r>
          </a:p>
          <a:p>
            <a:pPr lvl="1"/>
            <a:r>
              <a:rPr lang="zh-CN" altLang="en-US" sz="1600" dirty="0"/>
              <a:t>更新数据：更新表格中的数据可以使用</a:t>
            </a:r>
            <a:r>
              <a:rPr lang="en-US" altLang="zh-CN" sz="1600" dirty="0"/>
              <a:t>UPDATE</a:t>
            </a:r>
            <a:r>
              <a:rPr lang="zh-CN" altLang="en-US" sz="1600" dirty="0"/>
              <a:t>语句。例如，以下语句将更新学号为</a:t>
            </a:r>
            <a:r>
              <a:rPr lang="en-US" altLang="zh-CN" sz="1600" dirty="0"/>
              <a:t>1</a:t>
            </a:r>
            <a:r>
              <a:rPr lang="zh-CN" altLang="en-US" sz="1600" dirty="0"/>
              <a:t>的学生的分数：</a:t>
            </a:r>
            <a:r>
              <a:rPr lang="en-US" altLang="zh-CN" sz="1600" dirty="0"/>
              <a:t>UPDATE students SET score = 95.0 WHERE id = 1;</a:t>
            </a:r>
          </a:p>
          <a:p>
            <a:pPr lvl="1"/>
            <a:r>
              <a:rPr lang="zh-CN" altLang="en-US" sz="1600" dirty="0"/>
              <a:t>删除数据：删除表格中的数据可以使用</a:t>
            </a:r>
            <a:r>
              <a:rPr lang="en-US" altLang="zh-CN" sz="1600" dirty="0"/>
              <a:t>DELETE</a:t>
            </a:r>
            <a:r>
              <a:rPr lang="zh-CN" altLang="en-US" sz="1600" dirty="0"/>
              <a:t>语句。例如，以下语句将删除学号为</a:t>
            </a:r>
            <a:r>
              <a:rPr lang="en-US" altLang="zh-CN" sz="1600" dirty="0"/>
              <a:t>1</a:t>
            </a:r>
            <a:r>
              <a:rPr lang="zh-CN" altLang="en-US" sz="1600" dirty="0"/>
              <a:t>的学生信息：</a:t>
            </a:r>
            <a:r>
              <a:rPr lang="en-US" altLang="zh-CN" sz="1600" dirty="0"/>
              <a:t>DELETE FROM students WHERE id = 1;</a:t>
            </a:r>
          </a:p>
          <a:p>
            <a:pPr lvl="1"/>
            <a:r>
              <a:rPr lang="zh-CN" altLang="en-US" sz="1600" dirty="0"/>
              <a:t>备份和还原：可以使用</a:t>
            </a:r>
            <a:r>
              <a:rPr lang="en-US" altLang="zh-CN" sz="1600" dirty="0"/>
              <a:t>sqlite3</a:t>
            </a:r>
            <a:r>
              <a:rPr lang="zh-CN" altLang="en-US" sz="1600" dirty="0"/>
              <a:t>命令行工具或者第三方工具进行数据库的备份和还原，以避免数据丢失。</a:t>
            </a:r>
          </a:p>
          <a:p>
            <a:r>
              <a:rPr lang="zh-CN" altLang="en-US" sz="1800" dirty="0"/>
              <a:t>除了以上的基本操作之外，</a:t>
            </a:r>
            <a:r>
              <a:rPr lang="en-US" altLang="zh-CN" sz="1800" dirty="0"/>
              <a:t>SQLite</a:t>
            </a:r>
            <a:r>
              <a:rPr lang="zh-CN" altLang="en-US" sz="1800" dirty="0"/>
              <a:t>还提供了其他高级功能，如事务处理、触发器、视图等。在实际应用中，需要根据具体需求选择相应的功能，并进行适当的配置和优化，来提高数据库的性能和可靠性</a:t>
            </a:r>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0" i="0">
                <a:solidFill>
                  <a:srgbClr val="000000"/>
                </a:solidFill>
                <a:effectLst/>
                <a:latin typeface="v-sans"/>
              </a:rPr>
              <a:t>完全</a:t>
            </a:r>
            <a:r>
              <a:rPr lang="zh-CN" altLang="en-US" b="0" i="0" dirty="0">
                <a:solidFill>
                  <a:srgbClr val="000000"/>
                </a:solidFill>
                <a:effectLst/>
                <a:latin typeface="v-sans"/>
              </a:rPr>
              <a:t>功能</a:t>
            </a:r>
            <a:r>
              <a:rPr lang="zh-CN" altLang="en-US" dirty="0">
                <a:solidFill>
                  <a:srgbClr val="000000"/>
                </a:solidFill>
                <a:latin typeface="v-sans"/>
              </a:rPr>
              <a:t>的</a:t>
            </a:r>
            <a:r>
              <a:rPr lang="en-US" altLang="zh-CN" dirty="0">
                <a:solidFill>
                  <a:srgbClr val="000000"/>
                </a:solidFill>
                <a:latin typeface="v-sans"/>
              </a:rPr>
              <a:t>PDF</a:t>
            </a:r>
            <a:r>
              <a:rPr lang="zh-CN" altLang="en-US">
                <a:solidFill>
                  <a:srgbClr val="000000"/>
                </a:solidFill>
                <a:latin typeface="v-sans"/>
              </a:rPr>
              <a:t>电子书</a:t>
            </a:r>
            <a:endParaRPr lang="zh-CN" altLang="en-US" dirty="0"/>
          </a:p>
        </p:txBody>
      </p:sp>
      <p:sp>
        <p:nvSpPr>
          <p:cNvPr id="3" name="内容占位符 2"/>
          <p:cNvSpPr>
            <a:spLocks noGrp="1"/>
          </p:cNvSpPr>
          <p:nvPr>
            <p:ph idx="1"/>
          </p:nvPr>
        </p:nvSpPr>
        <p:spPr/>
        <p:txBody>
          <a:bodyPr>
            <a:normAutofit/>
          </a:bodyPr>
          <a:lstStyle/>
          <a:p>
            <a:pPr algn="l"/>
            <a:r>
              <a:rPr lang="en-US" altLang="zh-CN" sz="1800" b="0" i="0" dirty="0">
                <a:solidFill>
                  <a:srgbClr val="24292F"/>
                </a:solidFill>
                <a:effectLst/>
                <a:latin typeface="-apple-system"/>
              </a:rPr>
              <a:t>PDF</a:t>
            </a:r>
            <a:r>
              <a:rPr lang="zh-CN" altLang="en-US" sz="1800" b="0" i="0" dirty="0">
                <a:solidFill>
                  <a:srgbClr val="24292F"/>
                </a:solidFill>
                <a:effectLst/>
                <a:latin typeface="-apple-system"/>
              </a:rPr>
              <a:t>（</a:t>
            </a:r>
            <a:r>
              <a:rPr lang="en-US" altLang="zh-CN" sz="1800" b="0" i="0" dirty="0">
                <a:solidFill>
                  <a:srgbClr val="24292F"/>
                </a:solidFill>
                <a:effectLst/>
                <a:latin typeface="-apple-system"/>
              </a:rPr>
              <a:t>Portable Document Format</a:t>
            </a:r>
            <a:r>
              <a:rPr lang="zh-CN" altLang="en-US" sz="1800" b="0" i="0" dirty="0">
                <a:solidFill>
                  <a:srgbClr val="24292F"/>
                </a:solidFill>
                <a:effectLst/>
                <a:latin typeface="-apple-system"/>
              </a:rPr>
              <a:t>）是一种通用的文档格式，通常用于以可靠方式存储和共享电子文档。</a:t>
            </a:r>
            <a:r>
              <a:rPr lang="en-US" altLang="zh-CN" sz="1800" b="0" i="0" dirty="0">
                <a:solidFill>
                  <a:srgbClr val="24292F"/>
                </a:solidFill>
                <a:effectLst/>
                <a:latin typeface="-apple-system"/>
              </a:rPr>
              <a:t>PDF </a:t>
            </a:r>
            <a:r>
              <a:rPr lang="zh-CN" altLang="en-US" sz="1800" b="0" i="0" dirty="0">
                <a:solidFill>
                  <a:srgbClr val="24292F"/>
                </a:solidFill>
                <a:effectLst/>
                <a:latin typeface="-apple-system"/>
              </a:rPr>
              <a:t>具有以下完全功能：</a:t>
            </a:r>
          </a:p>
          <a:p>
            <a:pPr lvl="1">
              <a:buFont typeface="+mj-lt"/>
              <a:buAutoNum type="arabicPeriod"/>
            </a:pPr>
            <a:r>
              <a:rPr lang="zh-CN" altLang="en-US" sz="1600" b="0" i="0" dirty="0">
                <a:solidFill>
                  <a:srgbClr val="24292F"/>
                </a:solidFill>
                <a:effectLst/>
                <a:latin typeface="-apple-system"/>
              </a:rPr>
              <a:t>跨平台性：</a:t>
            </a:r>
            <a:r>
              <a:rPr lang="en-US" altLang="zh-CN" sz="1600" b="0" i="0" dirty="0">
                <a:solidFill>
                  <a:srgbClr val="24292F"/>
                </a:solidFill>
                <a:effectLst/>
                <a:latin typeface="-apple-system"/>
              </a:rPr>
              <a:t>PDF </a:t>
            </a:r>
            <a:r>
              <a:rPr lang="zh-CN" altLang="en-US" sz="1600" b="0" i="0" dirty="0">
                <a:solidFill>
                  <a:srgbClr val="24292F"/>
                </a:solidFill>
                <a:effectLst/>
                <a:latin typeface="-apple-system"/>
              </a:rPr>
              <a:t>可在不同的操作系统、设备和软件上进行可靠地查看和打印，而不会受到格式或字体问题的影响。</a:t>
            </a:r>
          </a:p>
          <a:p>
            <a:pPr lvl="1">
              <a:buFont typeface="+mj-lt"/>
              <a:buAutoNum type="arabicPeriod"/>
            </a:pPr>
            <a:r>
              <a:rPr lang="zh-CN" altLang="en-US" sz="1600" b="0" i="0" dirty="0">
                <a:solidFill>
                  <a:srgbClr val="24292F"/>
                </a:solidFill>
                <a:effectLst/>
                <a:latin typeface="-apple-system"/>
              </a:rPr>
              <a:t>保留原始格式：</a:t>
            </a:r>
            <a:r>
              <a:rPr lang="en-US" altLang="zh-CN" sz="1600" b="0" i="0" dirty="0">
                <a:solidFill>
                  <a:srgbClr val="24292F"/>
                </a:solidFill>
                <a:effectLst/>
                <a:latin typeface="-apple-system"/>
              </a:rPr>
              <a:t>PDF </a:t>
            </a:r>
            <a:r>
              <a:rPr lang="zh-CN" altLang="en-US" sz="1600" b="0" i="0" dirty="0">
                <a:solidFill>
                  <a:srgbClr val="24292F"/>
                </a:solidFill>
                <a:effectLst/>
                <a:latin typeface="-apple-system"/>
              </a:rPr>
              <a:t>以一种保持文档原始格式和布局的方式呈现，确保文档在不同环境中具有统一的外观。</a:t>
            </a:r>
          </a:p>
          <a:p>
            <a:pPr lvl="1">
              <a:buFont typeface="+mj-lt"/>
              <a:buAutoNum type="arabicPeriod"/>
            </a:pPr>
            <a:r>
              <a:rPr lang="zh-CN" altLang="en-US" sz="1600" b="0" i="0" dirty="0">
                <a:solidFill>
                  <a:srgbClr val="24292F"/>
                </a:solidFill>
                <a:effectLst/>
                <a:latin typeface="-apple-system"/>
              </a:rPr>
              <a:t>文本和图像压缩：</a:t>
            </a:r>
            <a:r>
              <a:rPr lang="en-US" altLang="zh-CN" sz="1600" b="0" i="0" dirty="0">
                <a:solidFill>
                  <a:srgbClr val="24292F"/>
                </a:solidFill>
                <a:effectLst/>
                <a:latin typeface="-apple-system"/>
              </a:rPr>
              <a:t>PDF </a:t>
            </a:r>
            <a:r>
              <a:rPr lang="zh-CN" altLang="en-US" sz="1600" b="0" i="0" dirty="0">
                <a:solidFill>
                  <a:srgbClr val="24292F"/>
                </a:solidFill>
                <a:effectLst/>
                <a:latin typeface="-apple-system"/>
              </a:rPr>
              <a:t>使用有效的压缩算法，可以减小文件大小，同时保持高质量的文本和图像。</a:t>
            </a:r>
          </a:p>
          <a:p>
            <a:pPr lvl="1">
              <a:buFont typeface="+mj-lt"/>
              <a:buAutoNum type="arabicPeriod"/>
            </a:pPr>
            <a:r>
              <a:rPr lang="zh-CN" altLang="en-US" sz="1600" b="0" i="0" dirty="0">
                <a:solidFill>
                  <a:srgbClr val="24292F"/>
                </a:solidFill>
                <a:effectLst/>
                <a:latin typeface="-apple-system"/>
              </a:rPr>
              <a:t>可搜索性：</a:t>
            </a:r>
            <a:r>
              <a:rPr lang="en-US" altLang="zh-CN" sz="1600" b="0" i="0" dirty="0">
                <a:solidFill>
                  <a:srgbClr val="24292F"/>
                </a:solidFill>
                <a:effectLst/>
                <a:latin typeface="-apple-system"/>
              </a:rPr>
              <a:t>PDF </a:t>
            </a:r>
            <a:r>
              <a:rPr lang="zh-CN" altLang="en-US" sz="1600" b="0" i="0" dirty="0">
                <a:solidFill>
                  <a:srgbClr val="24292F"/>
                </a:solidFill>
                <a:effectLst/>
                <a:latin typeface="-apple-system"/>
              </a:rPr>
              <a:t>支持文本内容的全文搜索，使用户能够快速定位和检索关键字、短语或段落。</a:t>
            </a:r>
          </a:p>
          <a:p>
            <a:pPr lvl="1">
              <a:buFont typeface="+mj-lt"/>
              <a:buAutoNum type="arabicPeriod"/>
            </a:pPr>
            <a:r>
              <a:rPr lang="zh-CN" altLang="en-US" sz="1600" b="0" i="0" dirty="0">
                <a:solidFill>
                  <a:srgbClr val="24292F"/>
                </a:solidFill>
                <a:effectLst/>
                <a:latin typeface="-apple-system"/>
              </a:rPr>
              <a:t>密码保护和权限管理：</a:t>
            </a:r>
            <a:r>
              <a:rPr lang="en-US" altLang="zh-CN" sz="1600" b="0" i="0" dirty="0">
                <a:solidFill>
                  <a:srgbClr val="24292F"/>
                </a:solidFill>
                <a:effectLst/>
                <a:latin typeface="-apple-system"/>
              </a:rPr>
              <a:t>PDF </a:t>
            </a:r>
            <a:r>
              <a:rPr lang="zh-CN" altLang="en-US" sz="1600" b="0" i="0" dirty="0">
                <a:solidFill>
                  <a:srgbClr val="24292F"/>
                </a:solidFill>
                <a:effectLst/>
                <a:latin typeface="-apple-system"/>
              </a:rPr>
              <a:t>允许设置密码以保护文档的内容，包括打开密码和权限密码。可以限制对文档的编辑、打印、复制和注释等权限。</a:t>
            </a:r>
          </a:p>
          <a:p>
            <a:pPr lvl="1">
              <a:buFont typeface="+mj-lt"/>
              <a:buAutoNum type="arabicPeriod"/>
            </a:pPr>
            <a:r>
              <a:rPr lang="zh-CN" altLang="en-US" sz="1600" b="0" i="0" dirty="0">
                <a:solidFill>
                  <a:srgbClr val="24292F"/>
                </a:solidFill>
                <a:effectLst/>
                <a:latin typeface="-apple-system"/>
              </a:rPr>
              <a:t>多媒体支持：</a:t>
            </a:r>
            <a:r>
              <a:rPr lang="en-US" altLang="zh-CN" sz="1600" b="0" i="0" dirty="0">
                <a:solidFill>
                  <a:srgbClr val="24292F"/>
                </a:solidFill>
                <a:effectLst/>
                <a:latin typeface="-apple-system"/>
              </a:rPr>
              <a:t>PDF </a:t>
            </a:r>
            <a:r>
              <a:rPr lang="zh-CN" altLang="en-US" sz="1600" b="0" i="0" dirty="0">
                <a:solidFill>
                  <a:srgbClr val="24292F"/>
                </a:solidFill>
                <a:effectLst/>
                <a:latin typeface="-apple-system"/>
              </a:rPr>
              <a:t>可以包含多媒体元素，如音频、视频和交互式表单，以增强文档的交互性和丰富性。</a:t>
            </a:r>
          </a:p>
          <a:p>
            <a:pPr lvl="1">
              <a:buFont typeface="+mj-lt"/>
              <a:buAutoNum type="arabicPeriod"/>
            </a:pPr>
            <a:r>
              <a:rPr lang="zh-CN" altLang="en-US" sz="1600" b="0" i="0" dirty="0">
                <a:solidFill>
                  <a:srgbClr val="24292F"/>
                </a:solidFill>
                <a:effectLst/>
                <a:latin typeface="-apple-system"/>
              </a:rPr>
              <a:t>数字签名：</a:t>
            </a:r>
            <a:r>
              <a:rPr lang="en-US" altLang="zh-CN" sz="1600" b="0" i="0" dirty="0">
                <a:solidFill>
                  <a:srgbClr val="24292F"/>
                </a:solidFill>
                <a:effectLst/>
                <a:latin typeface="-apple-system"/>
              </a:rPr>
              <a:t>PDF </a:t>
            </a:r>
            <a:r>
              <a:rPr lang="zh-CN" altLang="en-US" sz="1600" b="0" i="0" dirty="0">
                <a:solidFill>
                  <a:srgbClr val="24292F"/>
                </a:solidFill>
                <a:effectLst/>
                <a:latin typeface="-apple-system"/>
              </a:rPr>
              <a:t>支持数字签名，可以验证文档的完整性和认证签署人的身份，确保文档的真实性和可信度。</a:t>
            </a:r>
          </a:p>
          <a:p>
            <a:pPr lvl="1">
              <a:buFont typeface="+mj-lt"/>
              <a:buAutoNum type="arabicPeriod"/>
            </a:pPr>
            <a:r>
              <a:rPr lang="zh-CN" altLang="en-US" sz="1600" b="0" i="0" dirty="0">
                <a:solidFill>
                  <a:srgbClr val="24292F"/>
                </a:solidFill>
                <a:effectLst/>
                <a:latin typeface="-apple-system"/>
              </a:rPr>
              <a:t>表单和字段：</a:t>
            </a:r>
            <a:r>
              <a:rPr lang="en-US" altLang="zh-CN" sz="1600" b="0" i="0" dirty="0">
                <a:solidFill>
                  <a:srgbClr val="24292F"/>
                </a:solidFill>
                <a:effectLst/>
                <a:latin typeface="-apple-system"/>
              </a:rPr>
              <a:t>PDF </a:t>
            </a:r>
            <a:r>
              <a:rPr lang="zh-CN" altLang="en-US" sz="1600" b="0" i="0" dirty="0">
                <a:solidFill>
                  <a:srgbClr val="24292F"/>
                </a:solidFill>
                <a:effectLst/>
                <a:latin typeface="-apple-system"/>
              </a:rPr>
              <a:t>支持创建交互式表单，包括文本框、复选框、下拉列表和按钮等字段类型，以便用户填写和提交数据。</a:t>
            </a:r>
          </a:p>
          <a:p>
            <a:pPr lvl="1">
              <a:buFont typeface="+mj-lt"/>
              <a:buAutoNum type="arabicPeriod"/>
            </a:pPr>
            <a:r>
              <a:rPr lang="zh-CN" altLang="en-US" sz="1600" b="0" i="0" dirty="0">
                <a:solidFill>
                  <a:srgbClr val="24292F"/>
                </a:solidFill>
                <a:effectLst/>
                <a:latin typeface="-apple-system"/>
              </a:rPr>
              <a:t>批注和标记：</a:t>
            </a:r>
            <a:r>
              <a:rPr lang="en-US" altLang="zh-CN" sz="1600" b="0" i="0" dirty="0">
                <a:solidFill>
                  <a:srgbClr val="24292F"/>
                </a:solidFill>
                <a:effectLst/>
                <a:latin typeface="-apple-system"/>
              </a:rPr>
              <a:t>PDF </a:t>
            </a:r>
            <a:r>
              <a:rPr lang="zh-CN" altLang="en-US" sz="1600" b="0" i="0" dirty="0">
                <a:solidFill>
                  <a:srgbClr val="24292F"/>
                </a:solidFill>
                <a:effectLst/>
                <a:latin typeface="-apple-system"/>
              </a:rPr>
              <a:t>允许用户在文档中添加批注、注释、高亮、书签和链接等标记，方便共享和讨论文档内容。</a:t>
            </a:r>
          </a:p>
          <a:p>
            <a:pPr lvl="1">
              <a:buFont typeface="+mj-lt"/>
              <a:buAutoNum type="arabicPeriod"/>
            </a:pPr>
            <a:r>
              <a:rPr lang="zh-CN" altLang="en-US" sz="1600" b="0" i="0" dirty="0">
                <a:solidFill>
                  <a:srgbClr val="24292F"/>
                </a:solidFill>
                <a:effectLst/>
                <a:latin typeface="-apple-system"/>
              </a:rPr>
              <a:t>打印和预览控制：</a:t>
            </a:r>
            <a:r>
              <a:rPr lang="en-US" altLang="zh-CN" sz="1600" b="0" i="0" dirty="0">
                <a:solidFill>
                  <a:srgbClr val="24292F"/>
                </a:solidFill>
                <a:effectLst/>
                <a:latin typeface="-apple-system"/>
              </a:rPr>
              <a:t>PDF </a:t>
            </a:r>
            <a:r>
              <a:rPr lang="zh-CN" altLang="en-US" sz="1600" b="0" i="0" dirty="0">
                <a:solidFill>
                  <a:srgbClr val="24292F"/>
                </a:solidFill>
                <a:effectLst/>
                <a:latin typeface="-apple-system"/>
              </a:rPr>
              <a:t>提供细粒度的打印和预览控制选项，如页面大小、方向、缩放比例和打印顺序等，以适应不同的输出需求。</a:t>
            </a:r>
          </a:p>
          <a:p>
            <a:endParaRPr lang="zh-CN" altLang="en-US" sz="1800" dirty="0"/>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确保 </a:t>
            </a:r>
            <a:r>
              <a:rPr lang="en-US" altLang="zh-CN" dirty="0"/>
              <a:t>PDF </a:t>
            </a:r>
            <a:r>
              <a:rPr lang="zh-CN" altLang="en-US" dirty="0"/>
              <a:t>内容不被修改</a:t>
            </a:r>
          </a:p>
        </p:txBody>
      </p:sp>
      <p:sp>
        <p:nvSpPr>
          <p:cNvPr id="3" name="内容占位符 2"/>
          <p:cNvSpPr>
            <a:spLocks noGrp="1"/>
          </p:cNvSpPr>
          <p:nvPr>
            <p:ph idx="1"/>
          </p:nvPr>
        </p:nvSpPr>
        <p:spPr/>
        <p:txBody>
          <a:bodyPr>
            <a:normAutofit/>
          </a:bodyPr>
          <a:lstStyle/>
          <a:p>
            <a:r>
              <a:rPr lang="zh-CN" altLang="en-US" sz="1800" dirty="0"/>
              <a:t>密码保护：设置 </a:t>
            </a:r>
            <a:r>
              <a:rPr lang="en-US" altLang="zh-CN" sz="1800" dirty="0"/>
              <a:t>PDF </a:t>
            </a:r>
            <a:r>
              <a:rPr lang="zh-CN" altLang="en-US" sz="1800" dirty="0"/>
              <a:t>文件的打开密码，只有掌握密码的人才能打开和查看文件。这样可以防止未经授权的人篡改文件内容。</a:t>
            </a:r>
          </a:p>
          <a:p>
            <a:r>
              <a:rPr lang="zh-CN" altLang="en-US" sz="1800" dirty="0"/>
              <a:t>数字签名：对 </a:t>
            </a:r>
            <a:r>
              <a:rPr lang="en-US" altLang="zh-CN" sz="1800" dirty="0"/>
              <a:t>PDF </a:t>
            </a:r>
            <a:r>
              <a:rPr lang="zh-CN" altLang="en-US" sz="1800" dirty="0"/>
              <a:t>文件进行数字签名，以验证文件的完整性和身份认证。数字签名利用加密技术，确保文件在传输或存储过程中没有被篡改，并且能够识别签署人的身份。</a:t>
            </a:r>
          </a:p>
          <a:p>
            <a:r>
              <a:rPr lang="zh-CN" altLang="en-US" sz="1800" dirty="0"/>
              <a:t>文档加密：对 </a:t>
            </a:r>
            <a:r>
              <a:rPr lang="en-US" altLang="zh-CN" sz="1800" dirty="0"/>
              <a:t>PDF </a:t>
            </a:r>
            <a:r>
              <a:rPr lang="zh-CN" altLang="en-US" sz="1800" dirty="0"/>
              <a:t>文件进行加密，使用加密算法将文件内容转换为不可读的格式。只有知道解密密钥的人才能查看或修改文件内容。</a:t>
            </a:r>
          </a:p>
          <a:p>
            <a:r>
              <a:rPr lang="zh-CN" altLang="en-US" sz="1800" dirty="0"/>
              <a:t>文件元数据：</a:t>
            </a:r>
            <a:r>
              <a:rPr lang="en-US" altLang="zh-CN" sz="1800" dirty="0"/>
              <a:t>PDF </a:t>
            </a:r>
            <a:r>
              <a:rPr lang="zh-CN" altLang="en-US" sz="1800" dirty="0"/>
              <a:t>文件的元数据包含关于文件的信息，如创建者、创建日期和最后修改日期等。通过检查元数据，可以确定文件是否经过修改。</a:t>
            </a:r>
          </a:p>
          <a:p>
            <a:r>
              <a:rPr lang="zh-CN" altLang="en-US" sz="1800" dirty="0"/>
              <a:t>水印和图章：添加水印或图章到 </a:t>
            </a:r>
            <a:r>
              <a:rPr lang="en-US" altLang="zh-CN" sz="1800" dirty="0"/>
              <a:t>PDF </a:t>
            </a:r>
            <a:r>
              <a:rPr lang="zh-CN" altLang="en-US" sz="1800" dirty="0"/>
              <a:t>文件中，以标识文件的真实性和来源。如果文件被篡改，水印或图章可能会受到影响或被破坏。</a:t>
            </a:r>
          </a:p>
          <a:p>
            <a:r>
              <a:rPr lang="zh-CN" altLang="en-US" sz="1800" dirty="0"/>
              <a:t>请注意，虽然这些方法可以帮助确保文件内容没有被修改，但并不能完全防止文件被修改或盗用。对于高度敏感的文档，建议采取更严格的控制措施，并使用安全的存储和传输方式来保护文件。</a:t>
            </a: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solidFill>
                  <a:srgbClr val="24292F"/>
                </a:solidFill>
                <a:latin typeface="-apple-system"/>
              </a:rPr>
              <a:t>要获取 </a:t>
            </a:r>
            <a:r>
              <a:rPr lang="en-US" altLang="zh-CN" dirty="0">
                <a:solidFill>
                  <a:srgbClr val="24292F"/>
                </a:solidFill>
                <a:latin typeface="-apple-system"/>
              </a:rPr>
              <a:t>PDF </a:t>
            </a:r>
            <a:r>
              <a:rPr lang="zh-CN" altLang="en-US" dirty="0">
                <a:solidFill>
                  <a:srgbClr val="24292F"/>
                </a:solidFill>
                <a:latin typeface="-apple-system"/>
              </a:rPr>
              <a:t>文件的元数据：</a:t>
            </a:r>
            <a:endParaRPr lang="zh-CN" altLang="en-US" dirty="0"/>
          </a:p>
        </p:txBody>
      </p:sp>
      <p:sp>
        <p:nvSpPr>
          <p:cNvPr id="3" name="内容占位符 2"/>
          <p:cNvSpPr>
            <a:spLocks noGrp="1"/>
          </p:cNvSpPr>
          <p:nvPr>
            <p:ph idx="1"/>
          </p:nvPr>
        </p:nvSpPr>
        <p:spPr/>
        <p:txBody>
          <a:bodyPr>
            <a:normAutofit/>
          </a:bodyPr>
          <a:lstStyle/>
          <a:p>
            <a:pPr algn="l">
              <a:buFont typeface="+mj-lt"/>
              <a:buAutoNum type="arabicPeriod"/>
            </a:pPr>
            <a:r>
              <a:rPr lang="en-US" altLang="zh-CN" sz="1800" b="0" i="0" dirty="0">
                <a:solidFill>
                  <a:srgbClr val="24292F"/>
                </a:solidFill>
                <a:effectLst/>
                <a:latin typeface="-apple-system"/>
              </a:rPr>
              <a:t>Adobe Acrobat</a:t>
            </a:r>
            <a:r>
              <a:rPr lang="zh-CN" altLang="en-US" sz="1800" b="0" i="0" dirty="0">
                <a:solidFill>
                  <a:srgbClr val="24292F"/>
                </a:solidFill>
                <a:effectLst/>
                <a:latin typeface="-apple-system"/>
              </a:rPr>
              <a:t>：</a:t>
            </a:r>
            <a:r>
              <a:rPr lang="en-US" altLang="zh-CN" sz="1800" b="0" i="0" dirty="0">
                <a:solidFill>
                  <a:srgbClr val="24292F"/>
                </a:solidFill>
                <a:effectLst/>
                <a:latin typeface="-apple-system"/>
              </a:rPr>
              <a:t>Adobe Acrobat </a:t>
            </a:r>
            <a:r>
              <a:rPr lang="zh-CN" altLang="en-US" sz="1800" b="0" i="0" dirty="0">
                <a:solidFill>
                  <a:srgbClr val="24292F"/>
                </a:solidFill>
                <a:effectLst/>
                <a:latin typeface="-apple-system"/>
              </a:rPr>
              <a:t>是一款专业的 </a:t>
            </a:r>
            <a:r>
              <a:rPr lang="en-US" altLang="zh-CN" sz="1800" b="0" i="0" dirty="0">
                <a:solidFill>
                  <a:srgbClr val="24292F"/>
                </a:solidFill>
                <a:effectLst/>
                <a:latin typeface="-apple-system"/>
              </a:rPr>
              <a:t>PDF </a:t>
            </a:r>
            <a:r>
              <a:rPr lang="zh-CN" altLang="en-US" sz="1800" b="0" i="0" dirty="0">
                <a:solidFill>
                  <a:srgbClr val="24292F"/>
                </a:solidFill>
                <a:effectLst/>
                <a:latin typeface="-apple-system"/>
              </a:rPr>
              <a:t>编辑软件，它提供了查看和编辑 </a:t>
            </a:r>
            <a:r>
              <a:rPr lang="en-US" altLang="zh-CN" sz="1800" b="0" i="0" dirty="0">
                <a:solidFill>
                  <a:srgbClr val="24292F"/>
                </a:solidFill>
                <a:effectLst/>
                <a:latin typeface="-apple-system"/>
              </a:rPr>
              <a:t>PDF </a:t>
            </a:r>
            <a:r>
              <a:rPr lang="zh-CN" altLang="en-US" sz="1800" b="0" i="0" dirty="0">
                <a:solidFill>
                  <a:srgbClr val="24292F"/>
                </a:solidFill>
                <a:effectLst/>
                <a:latin typeface="-apple-system"/>
              </a:rPr>
              <a:t>元数据的功能。在 </a:t>
            </a:r>
            <a:r>
              <a:rPr lang="en-US" altLang="zh-CN" sz="1800" b="0" i="0" dirty="0">
                <a:solidFill>
                  <a:srgbClr val="24292F"/>
                </a:solidFill>
                <a:effectLst/>
                <a:latin typeface="-apple-system"/>
              </a:rPr>
              <a:t>Adobe Acrobat </a:t>
            </a:r>
            <a:r>
              <a:rPr lang="zh-CN" altLang="en-US" sz="1800" b="0" i="0" dirty="0">
                <a:solidFill>
                  <a:srgbClr val="24292F"/>
                </a:solidFill>
                <a:effectLst/>
                <a:latin typeface="-apple-system"/>
              </a:rPr>
              <a:t>中，你可以通过选择 </a:t>
            </a:r>
            <a:r>
              <a:rPr lang="en-US" altLang="zh-CN" sz="1800" b="0" i="0" dirty="0">
                <a:solidFill>
                  <a:srgbClr val="24292F"/>
                </a:solidFill>
                <a:effectLst/>
                <a:latin typeface="-apple-system"/>
              </a:rPr>
              <a:t>"</a:t>
            </a:r>
            <a:r>
              <a:rPr lang="zh-CN" altLang="en-US" sz="1800" b="0" i="0" dirty="0">
                <a:solidFill>
                  <a:srgbClr val="24292F"/>
                </a:solidFill>
                <a:effectLst/>
                <a:latin typeface="-apple-system"/>
              </a:rPr>
              <a:t>文件</a:t>
            </a:r>
            <a:r>
              <a:rPr lang="en-US" altLang="zh-CN" sz="1800" b="0" i="0" dirty="0">
                <a:solidFill>
                  <a:srgbClr val="24292F"/>
                </a:solidFill>
                <a:effectLst/>
                <a:latin typeface="-apple-system"/>
              </a:rPr>
              <a:t>" -&gt; "</a:t>
            </a:r>
            <a:r>
              <a:rPr lang="zh-CN" altLang="en-US" sz="1800" b="0" i="0" dirty="0">
                <a:solidFill>
                  <a:srgbClr val="24292F"/>
                </a:solidFill>
                <a:effectLst/>
                <a:latin typeface="-apple-system"/>
              </a:rPr>
              <a:t>属性</a:t>
            </a:r>
            <a:r>
              <a:rPr lang="en-US" altLang="zh-CN" sz="1800" b="0" i="0" dirty="0">
                <a:solidFill>
                  <a:srgbClr val="24292F"/>
                </a:solidFill>
                <a:effectLst/>
                <a:latin typeface="-apple-system"/>
              </a:rPr>
              <a:t>" </a:t>
            </a:r>
            <a:r>
              <a:rPr lang="zh-CN" altLang="en-US" sz="1800" b="0" i="0" dirty="0">
                <a:solidFill>
                  <a:srgbClr val="24292F"/>
                </a:solidFill>
                <a:effectLst/>
                <a:latin typeface="-apple-system"/>
              </a:rPr>
              <a:t>或者右键点击文件并选择 </a:t>
            </a:r>
            <a:r>
              <a:rPr lang="en-US" altLang="zh-CN" sz="1800" b="0" i="0" dirty="0">
                <a:solidFill>
                  <a:srgbClr val="24292F"/>
                </a:solidFill>
                <a:effectLst/>
                <a:latin typeface="-apple-system"/>
              </a:rPr>
              <a:t>"</a:t>
            </a:r>
            <a:r>
              <a:rPr lang="zh-CN" altLang="en-US" sz="1800" b="0" i="0" dirty="0">
                <a:solidFill>
                  <a:srgbClr val="24292F"/>
                </a:solidFill>
                <a:effectLst/>
                <a:latin typeface="-apple-system"/>
              </a:rPr>
              <a:t>属性</a:t>
            </a:r>
            <a:r>
              <a:rPr lang="en-US" altLang="zh-CN" sz="1800" b="0" i="0" dirty="0">
                <a:solidFill>
                  <a:srgbClr val="24292F"/>
                </a:solidFill>
                <a:effectLst/>
                <a:latin typeface="-apple-system"/>
              </a:rPr>
              <a:t>"</a:t>
            </a:r>
            <a:r>
              <a:rPr lang="zh-CN" altLang="en-US" sz="1800" b="0" i="0" dirty="0">
                <a:solidFill>
                  <a:srgbClr val="24292F"/>
                </a:solidFill>
                <a:effectLst/>
                <a:latin typeface="-apple-system"/>
              </a:rPr>
              <a:t>，来查看和编辑文件的元数据信息。</a:t>
            </a:r>
          </a:p>
          <a:p>
            <a:pPr algn="l">
              <a:buFont typeface="+mj-lt"/>
              <a:buAutoNum type="arabicPeriod"/>
            </a:pPr>
            <a:r>
              <a:rPr lang="en-US" altLang="zh-CN" sz="1800" b="0" i="0" dirty="0">
                <a:solidFill>
                  <a:srgbClr val="24292F"/>
                </a:solidFill>
                <a:effectLst/>
                <a:latin typeface="-apple-system"/>
              </a:rPr>
              <a:t>Adobe Reader</a:t>
            </a:r>
            <a:r>
              <a:rPr lang="zh-CN" altLang="en-US" sz="1800" b="0" i="0" dirty="0">
                <a:solidFill>
                  <a:srgbClr val="24292F"/>
                </a:solidFill>
                <a:effectLst/>
                <a:latin typeface="-apple-system"/>
              </a:rPr>
              <a:t>：</a:t>
            </a:r>
            <a:r>
              <a:rPr lang="en-US" altLang="zh-CN" sz="1800" b="0" i="0" dirty="0">
                <a:solidFill>
                  <a:srgbClr val="24292F"/>
                </a:solidFill>
                <a:effectLst/>
                <a:latin typeface="-apple-system"/>
              </a:rPr>
              <a:t>Adobe Reader </a:t>
            </a:r>
            <a:r>
              <a:rPr lang="zh-CN" altLang="en-US" sz="1800" b="0" i="0" dirty="0">
                <a:solidFill>
                  <a:srgbClr val="24292F"/>
                </a:solidFill>
                <a:effectLst/>
                <a:latin typeface="-apple-system"/>
              </a:rPr>
              <a:t>是一款常用的免费 </a:t>
            </a:r>
            <a:r>
              <a:rPr lang="en-US" altLang="zh-CN" sz="1800" b="0" i="0" dirty="0">
                <a:solidFill>
                  <a:srgbClr val="24292F"/>
                </a:solidFill>
                <a:effectLst/>
                <a:latin typeface="-apple-system"/>
              </a:rPr>
              <a:t>PDF </a:t>
            </a:r>
            <a:r>
              <a:rPr lang="zh-CN" altLang="en-US" sz="1800" b="0" i="0" dirty="0">
                <a:solidFill>
                  <a:srgbClr val="24292F"/>
                </a:solidFill>
                <a:effectLst/>
                <a:latin typeface="-apple-system"/>
              </a:rPr>
              <a:t>阅读器，虽然其功能不如 </a:t>
            </a:r>
            <a:r>
              <a:rPr lang="en-US" altLang="zh-CN" sz="1800" b="0" i="0" dirty="0">
                <a:solidFill>
                  <a:srgbClr val="24292F"/>
                </a:solidFill>
                <a:effectLst/>
                <a:latin typeface="-apple-system"/>
              </a:rPr>
              <a:t>Adobe Acrobat </a:t>
            </a:r>
            <a:r>
              <a:rPr lang="zh-CN" altLang="en-US" sz="1800" b="0" i="0" dirty="0">
                <a:solidFill>
                  <a:srgbClr val="24292F"/>
                </a:solidFill>
                <a:effectLst/>
                <a:latin typeface="-apple-system"/>
              </a:rPr>
              <a:t>那么强大，但仍然可以查看 </a:t>
            </a:r>
            <a:r>
              <a:rPr lang="en-US" altLang="zh-CN" sz="1800" b="0" i="0" dirty="0">
                <a:solidFill>
                  <a:srgbClr val="24292F"/>
                </a:solidFill>
                <a:effectLst/>
                <a:latin typeface="-apple-system"/>
              </a:rPr>
              <a:t>PDF </a:t>
            </a:r>
            <a:r>
              <a:rPr lang="zh-CN" altLang="en-US" sz="1800" b="0" i="0" dirty="0">
                <a:solidFill>
                  <a:srgbClr val="24292F"/>
                </a:solidFill>
                <a:effectLst/>
                <a:latin typeface="-apple-system"/>
              </a:rPr>
              <a:t>文件的部分元数据信息。在 </a:t>
            </a:r>
            <a:r>
              <a:rPr lang="en-US" altLang="zh-CN" sz="1800" b="0" i="0" dirty="0">
                <a:solidFill>
                  <a:srgbClr val="24292F"/>
                </a:solidFill>
                <a:effectLst/>
                <a:latin typeface="-apple-system"/>
              </a:rPr>
              <a:t>Adobe Reader </a:t>
            </a:r>
            <a:r>
              <a:rPr lang="zh-CN" altLang="en-US" sz="1800" b="0" i="0" dirty="0">
                <a:solidFill>
                  <a:srgbClr val="24292F"/>
                </a:solidFill>
                <a:effectLst/>
                <a:latin typeface="-apple-system"/>
              </a:rPr>
              <a:t>中，你可以选择 </a:t>
            </a:r>
            <a:r>
              <a:rPr lang="en-US" altLang="zh-CN" sz="1800" b="0" i="0" dirty="0">
                <a:solidFill>
                  <a:srgbClr val="24292F"/>
                </a:solidFill>
                <a:effectLst/>
                <a:latin typeface="-apple-system"/>
              </a:rPr>
              <a:t>"</a:t>
            </a:r>
            <a:r>
              <a:rPr lang="zh-CN" altLang="en-US" sz="1800" b="0" i="0" dirty="0">
                <a:solidFill>
                  <a:srgbClr val="24292F"/>
                </a:solidFill>
                <a:effectLst/>
                <a:latin typeface="-apple-system"/>
              </a:rPr>
              <a:t>文件</a:t>
            </a:r>
            <a:r>
              <a:rPr lang="en-US" altLang="zh-CN" sz="1800" b="0" i="0" dirty="0">
                <a:solidFill>
                  <a:srgbClr val="24292F"/>
                </a:solidFill>
                <a:effectLst/>
                <a:latin typeface="-apple-system"/>
              </a:rPr>
              <a:t>" -&gt; "</a:t>
            </a:r>
            <a:r>
              <a:rPr lang="zh-CN" altLang="en-US" sz="1800" b="0" i="0" dirty="0">
                <a:solidFill>
                  <a:srgbClr val="24292F"/>
                </a:solidFill>
                <a:effectLst/>
                <a:latin typeface="-apple-system"/>
              </a:rPr>
              <a:t>属性</a:t>
            </a:r>
            <a:r>
              <a:rPr lang="en-US" altLang="zh-CN" sz="1800" b="0" i="0" dirty="0">
                <a:solidFill>
                  <a:srgbClr val="24292F"/>
                </a:solidFill>
                <a:effectLst/>
                <a:latin typeface="-apple-system"/>
              </a:rPr>
              <a:t>"</a:t>
            </a:r>
            <a:r>
              <a:rPr lang="zh-CN" altLang="en-US" sz="1800" b="0" i="0" dirty="0">
                <a:solidFill>
                  <a:srgbClr val="24292F"/>
                </a:solidFill>
                <a:effectLst/>
                <a:latin typeface="-apple-system"/>
              </a:rPr>
              <a:t>，来查看文件的元数据。</a:t>
            </a:r>
          </a:p>
          <a:p>
            <a:pPr algn="l">
              <a:buFont typeface="+mj-lt"/>
              <a:buAutoNum type="arabicPeriod"/>
            </a:pPr>
            <a:r>
              <a:rPr lang="zh-CN" altLang="en-US" sz="1800" b="0" i="0" dirty="0">
                <a:solidFill>
                  <a:srgbClr val="24292F"/>
                </a:solidFill>
                <a:effectLst/>
                <a:latin typeface="-apple-system"/>
              </a:rPr>
              <a:t>第三方工具：有很多第三方工具可以用于查看和编辑 </a:t>
            </a:r>
            <a:r>
              <a:rPr lang="en-US" altLang="zh-CN" sz="1800" b="0" i="0" dirty="0">
                <a:solidFill>
                  <a:srgbClr val="24292F"/>
                </a:solidFill>
                <a:effectLst/>
                <a:latin typeface="-apple-system"/>
              </a:rPr>
              <a:t>PDF </a:t>
            </a:r>
            <a:r>
              <a:rPr lang="zh-CN" altLang="en-US" sz="1800" b="0" i="0" dirty="0">
                <a:solidFill>
                  <a:srgbClr val="24292F"/>
                </a:solidFill>
                <a:effectLst/>
                <a:latin typeface="-apple-system"/>
              </a:rPr>
              <a:t>文件的元数据。比如，</a:t>
            </a:r>
            <a:r>
              <a:rPr lang="en-US" altLang="zh-CN" sz="1800" b="0" i="0" dirty="0">
                <a:solidFill>
                  <a:srgbClr val="24292F"/>
                </a:solidFill>
                <a:effectLst/>
                <a:latin typeface="-apple-system"/>
              </a:rPr>
              <a:t>PDF </a:t>
            </a:r>
            <a:r>
              <a:rPr lang="zh-CN" altLang="en-US" sz="1800" b="0" i="0" dirty="0">
                <a:solidFill>
                  <a:srgbClr val="24292F"/>
                </a:solidFill>
                <a:effectLst/>
                <a:latin typeface="-apple-system"/>
              </a:rPr>
              <a:t>文件管理器（如 </a:t>
            </a:r>
            <a:r>
              <a:rPr lang="en-US" altLang="zh-CN" sz="1800" b="0" i="0" dirty="0" err="1">
                <a:solidFill>
                  <a:srgbClr val="24292F"/>
                </a:solidFill>
                <a:effectLst/>
                <a:latin typeface="-apple-system"/>
              </a:rPr>
              <a:t>ACDSee</a:t>
            </a:r>
            <a:r>
              <a:rPr lang="zh-CN" altLang="en-US" sz="1800" b="0" i="0" dirty="0">
                <a:solidFill>
                  <a:srgbClr val="24292F"/>
                </a:solidFill>
                <a:effectLst/>
                <a:latin typeface="-apple-system"/>
              </a:rPr>
              <a:t>、</a:t>
            </a:r>
            <a:r>
              <a:rPr lang="en-US" altLang="zh-CN" sz="1800" b="0" i="0" dirty="0">
                <a:solidFill>
                  <a:srgbClr val="24292F"/>
                </a:solidFill>
                <a:effectLst/>
                <a:latin typeface="-apple-system"/>
              </a:rPr>
              <a:t>PDF-</a:t>
            </a:r>
            <a:r>
              <a:rPr lang="en-US" altLang="zh-CN" sz="1800" b="0" i="0" dirty="0" err="1">
                <a:solidFill>
                  <a:srgbClr val="24292F"/>
                </a:solidFill>
                <a:effectLst/>
                <a:latin typeface="-apple-system"/>
              </a:rPr>
              <a:t>XChange</a:t>
            </a:r>
            <a:r>
              <a:rPr lang="en-US" altLang="zh-CN" sz="1800" b="0" i="0" dirty="0">
                <a:solidFill>
                  <a:srgbClr val="24292F"/>
                </a:solidFill>
                <a:effectLst/>
                <a:latin typeface="-apple-system"/>
              </a:rPr>
              <a:t> </a:t>
            </a:r>
            <a:r>
              <a:rPr lang="zh-CN" altLang="en-US" sz="1800" b="0" i="0" dirty="0">
                <a:solidFill>
                  <a:srgbClr val="24292F"/>
                </a:solidFill>
                <a:effectLst/>
                <a:latin typeface="-apple-system"/>
              </a:rPr>
              <a:t>等）、文档管理平台或在线 </a:t>
            </a:r>
            <a:r>
              <a:rPr lang="en-US" altLang="zh-CN" sz="1800" b="0" i="0" dirty="0">
                <a:solidFill>
                  <a:srgbClr val="24292F"/>
                </a:solidFill>
                <a:effectLst/>
                <a:latin typeface="-apple-system"/>
              </a:rPr>
              <a:t>PDF </a:t>
            </a:r>
            <a:r>
              <a:rPr lang="zh-CN" altLang="en-US" sz="1800" b="0" i="0" dirty="0">
                <a:solidFill>
                  <a:srgbClr val="24292F"/>
                </a:solidFill>
                <a:effectLst/>
                <a:latin typeface="-apple-system"/>
              </a:rPr>
              <a:t>工具（如 </a:t>
            </a:r>
            <a:r>
              <a:rPr lang="en-US" altLang="zh-CN" sz="1800" b="0" i="0" dirty="0" err="1">
                <a:solidFill>
                  <a:srgbClr val="24292F"/>
                </a:solidFill>
                <a:effectLst/>
                <a:latin typeface="-apple-system"/>
              </a:rPr>
              <a:t>Smallpdf</a:t>
            </a:r>
            <a:r>
              <a:rPr lang="zh-CN" altLang="en-US" sz="1800" b="0" i="0" dirty="0">
                <a:solidFill>
                  <a:srgbClr val="24292F"/>
                </a:solidFill>
                <a:effectLst/>
                <a:latin typeface="-apple-system"/>
              </a:rPr>
              <a:t>、</a:t>
            </a:r>
            <a:r>
              <a:rPr lang="en-US" altLang="zh-CN" sz="1800" b="0" i="0" dirty="0" err="1">
                <a:solidFill>
                  <a:srgbClr val="24292F"/>
                </a:solidFill>
                <a:effectLst/>
                <a:latin typeface="-apple-system"/>
              </a:rPr>
              <a:t>Sejda</a:t>
            </a:r>
            <a:r>
              <a:rPr lang="en-US" altLang="zh-CN" sz="1800" b="0" i="0" dirty="0">
                <a:solidFill>
                  <a:srgbClr val="24292F"/>
                </a:solidFill>
                <a:effectLst/>
                <a:latin typeface="-apple-system"/>
              </a:rPr>
              <a:t> </a:t>
            </a:r>
            <a:r>
              <a:rPr lang="zh-CN" altLang="en-US" sz="1800" b="0" i="0" dirty="0">
                <a:solidFill>
                  <a:srgbClr val="24292F"/>
                </a:solidFill>
                <a:effectLst/>
                <a:latin typeface="-apple-system"/>
              </a:rPr>
              <a:t>等）都提供了查看和编辑 </a:t>
            </a:r>
            <a:r>
              <a:rPr lang="en-US" altLang="zh-CN" sz="1800" b="0" i="0" dirty="0">
                <a:solidFill>
                  <a:srgbClr val="24292F"/>
                </a:solidFill>
                <a:effectLst/>
                <a:latin typeface="-apple-system"/>
              </a:rPr>
              <a:t>PDF </a:t>
            </a:r>
            <a:r>
              <a:rPr lang="zh-CN" altLang="en-US" sz="1800" b="0" i="0" dirty="0">
                <a:solidFill>
                  <a:srgbClr val="24292F"/>
                </a:solidFill>
                <a:effectLst/>
                <a:latin typeface="-apple-system"/>
              </a:rPr>
              <a:t>元数据的功能。你可以在这些工具中导入 </a:t>
            </a:r>
            <a:r>
              <a:rPr lang="en-US" altLang="zh-CN" sz="1800" b="0" i="0" dirty="0">
                <a:solidFill>
                  <a:srgbClr val="24292F"/>
                </a:solidFill>
                <a:effectLst/>
                <a:latin typeface="-apple-system"/>
              </a:rPr>
              <a:t>PDF </a:t>
            </a:r>
            <a:r>
              <a:rPr lang="zh-CN" altLang="en-US" sz="1800" b="0" i="0" dirty="0">
                <a:solidFill>
                  <a:srgbClr val="24292F"/>
                </a:solidFill>
                <a:effectLst/>
                <a:latin typeface="-apple-system"/>
              </a:rPr>
              <a:t>文件，并找到相关的属性或元数据选项来查看和修改文件的元数据。</a:t>
            </a:r>
          </a:p>
          <a:p>
            <a:pPr algn="l">
              <a:buFont typeface="+mj-lt"/>
              <a:buAutoNum type="arabicPeriod"/>
            </a:pPr>
            <a:r>
              <a:rPr lang="zh-CN" altLang="en-US" sz="1800" b="0" i="0" dirty="0">
                <a:solidFill>
                  <a:srgbClr val="24292F"/>
                </a:solidFill>
                <a:effectLst/>
                <a:latin typeface="-apple-system"/>
              </a:rPr>
              <a:t>命令行工具：如果你习惯使用命令行界面，可以尝试使用一些命令行工具来获取 </a:t>
            </a:r>
            <a:r>
              <a:rPr lang="en-US" altLang="zh-CN" sz="1800" b="0" i="0" dirty="0">
                <a:solidFill>
                  <a:srgbClr val="24292F"/>
                </a:solidFill>
                <a:effectLst/>
                <a:latin typeface="-apple-system"/>
              </a:rPr>
              <a:t>PDF </a:t>
            </a:r>
            <a:r>
              <a:rPr lang="zh-CN" altLang="en-US" sz="1800" b="0" i="0" dirty="0">
                <a:solidFill>
                  <a:srgbClr val="24292F"/>
                </a:solidFill>
                <a:effectLst/>
                <a:latin typeface="-apple-system"/>
              </a:rPr>
              <a:t>文件的元数据。例如，</a:t>
            </a:r>
            <a:r>
              <a:rPr lang="en-US" altLang="zh-CN" sz="1800" b="0" i="0" dirty="0" err="1">
                <a:solidFill>
                  <a:srgbClr val="24292F"/>
                </a:solidFill>
                <a:effectLst/>
                <a:latin typeface="-apple-system"/>
              </a:rPr>
              <a:t>ExifTool</a:t>
            </a:r>
            <a:r>
              <a:rPr lang="en-US" altLang="zh-CN" sz="1800" b="0" i="0" dirty="0">
                <a:solidFill>
                  <a:srgbClr val="24292F"/>
                </a:solidFill>
                <a:effectLst/>
                <a:latin typeface="-apple-system"/>
              </a:rPr>
              <a:t> </a:t>
            </a:r>
            <a:r>
              <a:rPr lang="zh-CN" altLang="en-US" sz="1800" b="0" i="0" dirty="0">
                <a:solidFill>
                  <a:srgbClr val="24292F"/>
                </a:solidFill>
                <a:effectLst/>
                <a:latin typeface="-apple-system"/>
              </a:rPr>
              <a:t>是一款强大的工具，可以读取和修改各种类型文件的元数据，包括 </a:t>
            </a:r>
            <a:r>
              <a:rPr lang="en-US" altLang="zh-CN" sz="1800" b="0" i="0" dirty="0">
                <a:solidFill>
                  <a:srgbClr val="24292F"/>
                </a:solidFill>
                <a:effectLst/>
                <a:latin typeface="-apple-system"/>
              </a:rPr>
              <a:t>PDF</a:t>
            </a:r>
            <a:r>
              <a:rPr lang="zh-CN" altLang="en-US" sz="1800" b="0" i="0" dirty="0">
                <a:solidFill>
                  <a:srgbClr val="24292F"/>
                </a:solidFill>
                <a:effectLst/>
                <a:latin typeface="-apple-system"/>
              </a:rPr>
              <a:t>。你可以下载并安装 </a:t>
            </a:r>
            <a:r>
              <a:rPr lang="en-US" altLang="zh-CN" sz="1800" b="0" i="0" dirty="0" err="1">
                <a:solidFill>
                  <a:srgbClr val="24292F"/>
                </a:solidFill>
                <a:effectLst/>
                <a:latin typeface="-apple-system"/>
              </a:rPr>
              <a:t>ExifTool</a:t>
            </a:r>
            <a:r>
              <a:rPr lang="zh-CN" altLang="en-US" sz="1800" b="0" i="0" dirty="0">
                <a:solidFill>
                  <a:srgbClr val="24292F"/>
                </a:solidFill>
                <a:effectLst/>
                <a:latin typeface="-apple-system"/>
              </a:rPr>
              <a:t>，然后使用命令行运行该工具来查看 </a:t>
            </a:r>
            <a:r>
              <a:rPr lang="en-US" altLang="zh-CN" sz="1800" b="0" i="0" dirty="0">
                <a:solidFill>
                  <a:srgbClr val="24292F"/>
                </a:solidFill>
                <a:effectLst/>
                <a:latin typeface="-apple-system"/>
              </a:rPr>
              <a:t>PDF </a:t>
            </a:r>
            <a:r>
              <a:rPr lang="zh-CN" altLang="en-US" sz="1800" b="0" i="0" dirty="0">
                <a:solidFill>
                  <a:srgbClr val="24292F"/>
                </a:solidFill>
                <a:effectLst/>
                <a:latin typeface="-apple-system"/>
              </a:rPr>
              <a:t>文件的元数据。</a:t>
            </a:r>
          </a:p>
          <a:p>
            <a:pPr algn="l"/>
            <a:r>
              <a:rPr lang="zh-CN" altLang="en-US" sz="1800" b="0" i="0" dirty="0">
                <a:solidFill>
                  <a:srgbClr val="24292F"/>
                </a:solidFill>
                <a:effectLst/>
                <a:latin typeface="-apple-system"/>
              </a:rPr>
              <a:t>无论你选择哪种方法，获取 </a:t>
            </a:r>
            <a:r>
              <a:rPr lang="en-US" altLang="zh-CN" sz="1800" b="0" i="0" dirty="0">
                <a:solidFill>
                  <a:srgbClr val="24292F"/>
                </a:solidFill>
                <a:effectLst/>
                <a:latin typeface="-apple-system"/>
              </a:rPr>
              <a:t>PDF </a:t>
            </a:r>
            <a:r>
              <a:rPr lang="zh-CN" altLang="en-US" sz="1800" b="0" i="0" dirty="0">
                <a:solidFill>
                  <a:srgbClr val="24292F"/>
                </a:solidFill>
                <a:effectLst/>
                <a:latin typeface="-apple-system"/>
              </a:rPr>
              <a:t>文件元数据的步骤通常是类似的：打开工具或软件，导入要查看的 </a:t>
            </a:r>
            <a:r>
              <a:rPr lang="en-US" altLang="zh-CN" sz="1800" b="0" i="0" dirty="0">
                <a:solidFill>
                  <a:srgbClr val="24292F"/>
                </a:solidFill>
                <a:effectLst/>
                <a:latin typeface="-apple-system"/>
              </a:rPr>
              <a:t>PDF </a:t>
            </a:r>
            <a:r>
              <a:rPr lang="zh-CN" altLang="en-US" sz="1800" b="0" i="0" dirty="0">
                <a:solidFill>
                  <a:srgbClr val="24292F"/>
                </a:solidFill>
                <a:effectLst/>
                <a:latin typeface="-apple-system"/>
              </a:rPr>
              <a:t>文件，然后寻找属性、文件信息或元数据等选项，以获取更多关于文件的信息。</a:t>
            </a:r>
          </a:p>
          <a:p>
            <a:endParaRPr lang="zh-CN" altLang="en-US" sz="1800" dirty="0"/>
          </a:p>
        </p:txBody>
      </p:sp>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B1EAB6-60F4-4848-97BE-BA239831CD9E}"/>
              </a:ext>
            </a:extLst>
          </p:cNvPr>
          <p:cNvSpPr>
            <a:spLocks noGrp="1"/>
          </p:cNvSpPr>
          <p:nvPr>
            <p:ph type="title"/>
          </p:nvPr>
        </p:nvSpPr>
        <p:spPr/>
        <p:txBody>
          <a:bodyPr/>
          <a:lstStyle/>
          <a:p>
            <a:r>
              <a:rPr lang="zh-CN" altLang="en-US" dirty="0"/>
              <a:t>结论：官网</a:t>
            </a:r>
            <a:r>
              <a:rPr lang="en-US" altLang="zh-CN" dirty="0"/>
              <a:t>AI</a:t>
            </a:r>
            <a:r>
              <a:rPr lang="zh-CN" altLang="en-US" dirty="0">
                <a:solidFill>
                  <a:srgbClr val="FF0000"/>
                </a:solidFill>
              </a:rPr>
              <a:t>效果</a:t>
            </a:r>
            <a:r>
              <a:rPr lang="zh-CN" altLang="en-US" dirty="0"/>
              <a:t>最佳（比如</a:t>
            </a:r>
            <a:r>
              <a:rPr lang="en-US" altLang="zh-CN" dirty="0" err="1"/>
              <a:t>OpenAI</a:t>
            </a:r>
            <a:r>
              <a:rPr lang="zh-CN" altLang="en-US" dirty="0"/>
              <a:t>）</a:t>
            </a:r>
          </a:p>
        </p:txBody>
      </p:sp>
      <p:sp>
        <p:nvSpPr>
          <p:cNvPr id="3" name="内容占位符 2">
            <a:extLst>
              <a:ext uri="{FF2B5EF4-FFF2-40B4-BE49-F238E27FC236}">
                <a16:creationId xmlns:a16="http://schemas.microsoft.com/office/drawing/2014/main" id="{9C423674-86CC-40EA-AA04-7BA00E3BDB37}"/>
              </a:ext>
            </a:extLst>
          </p:cNvPr>
          <p:cNvSpPr>
            <a:spLocks noGrp="1"/>
          </p:cNvSpPr>
          <p:nvPr>
            <p:ph idx="1"/>
          </p:nvPr>
        </p:nvSpPr>
        <p:spPr/>
        <p:txBody>
          <a:bodyPr>
            <a:normAutofit/>
          </a:bodyPr>
          <a:lstStyle/>
          <a:p>
            <a:r>
              <a:rPr lang="zh-CN" altLang="en-US" dirty="0"/>
              <a:t>本地化开源软件</a:t>
            </a:r>
            <a:r>
              <a:rPr lang="en-US" altLang="zh-CN" dirty="0"/>
              <a:t>+API</a:t>
            </a:r>
            <a:r>
              <a:rPr lang="zh-CN" altLang="en-US" dirty="0"/>
              <a:t>模式</a:t>
            </a:r>
            <a:endParaRPr lang="en-US" altLang="zh-CN" dirty="0"/>
          </a:p>
          <a:p>
            <a:endParaRPr lang="en-US" altLang="zh-CN" dirty="0"/>
          </a:p>
          <a:p>
            <a:pPr lvl="1"/>
            <a:r>
              <a:rPr lang="zh-CN" altLang="en-US" dirty="0"/>
              <a:t>可以避免</a:t>
            </a:r>
            <a:r>
              <a:rPr lang="en-US" altLang="zh-CN" dirty="0" err="1"/>
              <a:t>BigBoss</a:t>
            </a:r>
            <a:endParaRPr lang="en-US" altLang="zh-CN" dirty="0"/>
          </a:p>
          <a:p>
            <a:pPr lvl="1"/>
            <a:endParaRPr lang="en-US" altLang="zh-CN" dirty="0"/>
          </a:p>
          <a:p>
            <a:pPr lvl="1"/>
            <a:r>
              <a:rPr lang="zh-CN" altLang="en-US" dirty="0"/>
              <a:t>可以文献管理</a:t>
            </a:r>
            <a:endParaRPr lang="en-US" altLang="zh-CN" dirty="0"/>
          </a:p>
          <a:p>
            <a:pPr lvl="1"/>
            <a:endParaRPr lang="en-US" altLang="zh-CN" dirty="0"/>
          </a:p>
          <a:p>
            <a:pPr lvl="1"/>
            <a:r>
              <a:rPr lang="zh-CN" altLang="en-US" dirty="0"/>
              <a:t>可以社区化交流</a:t>
            </a:r>
            <a:endParaRPr lang="en-US" altLang="zh-CN" dirty="0"/>
          </a:p>
          <a:p>
            <a:pPr lvl="1"/>
            <a:endParaRPr lang="en-US" altLang="zh-CN" dirty="0"/>
          </a:p>
          <a:p>
            <a:pPr lvl="1"/>
            <a:r>
              <a:rPr lang="zh-CN" altLang="en-US" dirty="0"/>
              <a:t>可以自学新东西</a:t>
            </a:r>
          </a:p>
        </p:txBody>
      </p:sp>
    </p:spTree>
    <p:extLst>
      <p:ext uri="{BB962C8B-B14F-4D97-AF65-F5344CB8AC3E}">
        <p14:creationId xmlns:p14="http://schemas.microsoft.com/office/powerpoint/2010/main" val="2932896678"/>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23684</Words>
  <Application>Microsoft Office PowerPoint</Application>
  <PresentationFormat>宽屏</PresentationFormat>
  <Paragraphs>1600</Paragraphs>
  <Slides>281</Slides>
  <Notes>0</Notes>
  <HiddenSlides>0</HiddenSlides>
  <MMClips>2</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281</vt:i4>
      </vt:variant>
    </vt:vector>
  </HeadingPairs>
  <TitlesOfParts>
    <vt:vector size="307" baseType="lpstr">
      <vt:lpstr>.AppleSystemUIFont</vt:lpstr>
      <vt:lpstr>.PingFang SC</vt:lpstr>
      <vt:lpstr>.PingFangSC-Regular</vt:lpstr>
      <vt:lpstr>.SFUI-Regular_wdth_opsz110000_GRAD_wght</vt:lpstr>
      <vt:lpstr>-apple-system</vt:lpstr>
      <vt:lpstr>Arial Unicode MS</vt:lpstr>
      <vt:lpstr>Helvetica Neue</vt:lpstr>
      <vt:lpstr>Lucida Grande</vt:lpstr>
      <vt:lpstr>Microsoft JhengHei UI Light</vt:lpstr>
      <vt:lpstr>PingFang SC</vt:lpstr>
      <vt:lpstr>PingFangSC-Regular</vt:lpstr>
      <vt:lpstr>PingFangSC-Semibold</vt:lpstr>
      <vt:lpstr>Roboto</vt:lpstr>
      <vt:lpstr>SFMono-Regular</vt:lpstr>
      <vt:lpstr>system-ui</vt:lpstr>
      <vt:lpstr>UICTFontTextStyleBody</vt:lpstr>
      <vt:lpstr>UICTFontTextStyleEmphasizedBody</vt:lpstr>
      <vt:lpstr>v-sans</vt:lpstr>
      <vt:lpstr>等线</vt:lpstr>
      <vt:lpstr>等线 Light</vt:lpstr>
      <vt:lpstr>宋体</vt:lpstr>
      <vt:lpstr>Microsoft YaHei</vt:lpstr>
      <vt:lpstr>Arial</vt:lpstr>
      <vt:lpstr>Times New Roman</vt:lpstr>
      <vt:lpstr>Wingdings</vt:lpstr>
      <vt:lpstr>Office 主题​​</vt:lpstr>
      <vt:lpstr>数字内容管理  Zotero x OpenCode</vt:lpstr>
      <vt:lpstr>余  浩  教授、博导</vt:lpstr>
      <vt:lpstr>第一天： 上午：导论与配置 下午：组织与引用</vt:lpstr>
      <vt:lpstr>导论：数字化学习——长期主义选择</vt:lpstr>
      <vt:lpstr>数字内容管理内容</vt:lpstr>
      <vt:lpstr>PowerPoint 演示文稿</vt:lpstr>
      <vt:lpstr>数字化基础</vt:lpstr>
      <vt:lpstr>数字化概念：从模拟到数字、从记录到创作</vt:lpstr>
      <vt:lpstr>国内现状</vt:lpstr>
      <vt:lpstr>PowerPoint 演示文稿</vt:lpstr>
      <vt:lpstr>PowerPoint 演示文稿</vt:lpstr>
      <vt:lpstr>多模态应用（文本、图表和音视频）</vt:lpstr>
      <vt:lpstr>知识库资料来源——小白学术： https://www.sssam.com/</vt:lpstr>
      <vt:lpstr>语音输入（2026方案）</vt:lpstr>
      <vt:lpstr>PowerPoint 演示文稿</vt:lpstr>
      <vt:lpstr>PowerPoint 演示文稿</vt:lpstr>
      <vt:lpstr>智能绘图2025方案——AI Draw Nexus https://ai-draw-nexus.aizhi.site/</vt:lpstr>
      <vt:lpstr>PowerPoint 演示文稿</vt:lpstr>
      <vt:lpstr>https://tiktokenizer.f2api.com/</vt:lpstr>
      <vt:lpstr>文档解析神器——MinerU: https://mineru.net/</vt:lpstr>
      <vt:lpstr>开源软件 Zotero定制：中台概念 （Endnote、Mendeley、Papers for Mac皆可转移至 Zotero）</vt:lpstr>
      <vt:lpstr>选择Zotero（平台工具）</vt:lpstr>
      <vt:lpstr>靶心文章选择（PDF格式）</vt:lpstr>
      <vt:lpstr>必读精品 （涌现结果：过去、现在和将来）</vt:lpstr>
      <vt:lpstr>PDF根据不同期刊有单栏、双栏甚至三栏</vt:lpstr>
      <vt:lpstr>PDF可抓取大量的信息</vt:lpstr>
      <vt:lpstr>文章状态</vt:lpstr>
      <vt:lpstr>数字信息重要</vt:lpstr>
      <vt:lpstr>实操一：组件引擎配置</vt:lpstr>
      <vt:lpstr>PowerPoint 演示文稿</vt:lpstr>
      <vt:lpstr>下载及添加插件的方式</vt:lpstr>
      <vt:lpstr>插件添加（Plugins）</vt:lpstr>
      <vt:lpstr>Zotero 插件商店 | Zotero 中文社区</vt:lpstr>
      <vt:lpstr>PowerPoint 演示文稿</vt:lpstr>
      <vt:lpstr>PowerPoint 演示文稿</vt:lpstr>
      <vt:lpstr>PowerPoint 演示文稿</vt:lpstr>
      <vt:lpstr>搜索引擎添加</vt:lpstr>
      <vt:lpstr>修改数据文件夹的引擎文件</vt:lpstr>
      <vt:lpstr>图谱分析（Connected Papers）</vt:lpstr>
      <vt:lpstr>PowerPoint 演示文稿</vt:lpstr>
      <vt:lpstr>关联文献补充（semanticscholar）</vt:lpstr>
      <vt:lpstr>PowerPoint 演示文稿</vt:lpstr>
      <vt:lpstr>PowerPoint 演示文稿</vt:lpstr>
      <vt:lpstr>实操二：分类条目创建</vt:lpstr>
      <vt:lpstr>PowerPoint 演示文稿</vt:lpstr>
      <vt:lpstr>现有信息学习</vt:lpstr>
      <vt:lpstr>相关信息如何拓展</vt:lpstr>
      <vt:lpstr>题录获取：第一种方式</vt:lpstr>
      <vt:lpstr>题录获取：第二种方式</vt:lpstr>
      <vt:lpstr>如何更新题录</vt:lpstr>
      <vt:lpstr>PowerPoint 演示文稿</vt:lpstr>
      <vt:lpstr>PowerPoint 演示文稿</vt:lpstr>
      <vt:lpstr>PowerPoint 演示文稿</vt:lpstr>
      <vt:lpstr>文献下载</vt:lpstr>
      <vt:lpstr>举例：先题录后PDF，还是先PDF后题录</vt:lpstr>
      <vt:lpstr>实操三：引用格式添加</vt:lpstr>
      <vt:lpstr>添加所需要的格式</vt:lpstr>
      <vt:lpstr>简单引用</vt:lpstr>
      <vt:lpstr>同一位置批量添加引用</vt:lpstr>
      <vt:lpstr>文献数据库建立</vt:lpstr>
      <vt:lpstr>PowerPoint 演示文稿</vt:lpstr>
      <vt:lpstr>第二天： 上午：备份与同步 下午：索引与检索</vt:lpstr>
      <vt:lpstr>电脑经验</vt:lpstr>
      <vt:lpstr>练习：</vt:lpstr>
      <vt:lpstr>Opencode x Zotero</vt:lpstr>
      <vt:lpstr>资源出处：GitHub让你保持领先</vt:lpstr>
      <vt:lpstr>请在此处添加标题</vt:lpstr>
      <vt:lpstr>四个基本问题</vt:lpstr>
      <vt:lpstr>PowerPoint 演示文稿</vt:lpstr>
      <vt:lpstr>配置：文件让AI帮你搞定</vt:lpstr>
      <vt:lpstr>技能包</vt:lpstr>
      <vt:lpstr>PowerPoint 演示文稿</vt:lpstr>
      <vt:lpstr>PowerPoint 演示文稿</vt:lpstr>
      <vt:lpstr>Zotero+Opencode</vt:lpstr>
      <vt:lpstr>PowerPoint 演示文稿</vt:lpstr>
      <vt:lpstr>PowerPoint 演示文稿</vt:lpstr>
      <vt:lpstr>PowerPoint 演示文稿</vt:lpstr>
      <vt:lpstr>PowerPoint 演示文稿</vt:lpstr>
      <vt:lpstr>PowerPoint 演示文稿</vt:lpstr>
      <vt:lpstr>Zotero：人工建库有价值？</vt:lpstr>
      <vt:lpstr>参考文献解析</vt:lpstr>
      <vt:lpstr>PowerPoint 演示文稿</vt:lpstr>
      <vt:lpstr>https://anystyle.io</vt:lpstr>
      <vt:lpstr>实操四：内容备份同步</vt:lpstr>
      <vt:lpstr>备份功能：导出分类</vt:lpstr>
      <vt:lpstr>复制备份</vt:lpstr>
      <vt:lpstr>Zotero的盈利功能： 云同步功能（Zotero帐号先注册上）</vt:lpstr>
      <vt:lpstr>PowerPoint 演示文稿</vt:lpstr>
      <vt:lpstr>步骤 1：准备 WebDAV 服务</vt:lpstr>
      <vt:lpstr>常见 WebDAV 服务：</vt:lpstr>
      <vt:lpstr>步骤 2：设置 WebDAV 同步</vt:lpstr>
      <vt:lpstr>步骤 3：验证同步</vt:lpstr>
      <vt:lpstr>常见问题解决</vt:lpstr>
      <vt:lpstr>备份建议</vt:lpstr>
      <vt:lpstr>万一出问题可恢复</vt:lpstr>
      <vt:lpstr>最后检查</vt:lpstr>
      <vt:lpstr>附件管理：位置</vt:lpstr>
      <vt:lpstr>演示：</vt:lpstr>
      <vt:lpstr>实操五：全局检索</vt:lpstr>
      <vt:lpstr>学习自动标签</vt:lpstr>
      <vt:lpstr>全文搜索（Zotero自带功能）</vt:lpstr>
      <vt:lpstr>先采用普通搜索：分三类</vt:lpstr>
      <vt:lpstr>运用标签去全文搜索</vt:lpstr>
      <vt:lpstr>全文搜索实现</vt:lpstr>
      <vt:lpstr>PowerPoint 演示文稿</vt:lpstr>
      <vt:lpstr>如何解决未检索的文献</vt:lpstr>
      <vt:lpstr>解决未索引的文件——数字搜索</vt:lpstr>
      <vt:lpstr>未检索文献来源</vt:lpstr>
      <vt:lpstr>简洁命名</vt:lpstr>
      <vt:lpstr>检索机制</vt:lpstr>
      <vt:lpstr>2. 搜索语法</vt:lpstr>
      <vt:lpstr>3. 快速筛选与保存</vt:lpstr>
      <vt:lpstr>4. 检索效率技巧</vt:lpstr>
      <vt:lpstr>文献管理合适量</vt:lpstr>
      <vt:lpstr>2. Zotero 的软性限制</vt:lpstr>
      <vt:lpstr>3. 用户场景建议</vt:lpstr>
      <vt:lpstr>第三天： 上午：翻译与笔记 下午：内容生成</vt:lpstr>
      <vt:lpstr>PowerPoint 演示文稿</vt:lpstr>
      <vt:lpstr>为何选择生成式人工智能（GenAI）</vt:lpstr>
      <vt:lpstr>生成式人工智能 (Generative AI)：算命先生</vt:lpstr>
      <vt:lpstr>概念定义</vt:lpstr>
      <vt:lpstr>离散数学中的自然语言处理相关知识</vt:lpstr>
      <vt:lpstr>表1：各国GenAI典型代表</vt:lpstr>
      <vt:lpstr>表2 自然语言处理（NLP）部分科学里程碑（Bouschery et al., 2023）</vt:lpstr>
      <vt:lpstr>大语言模型创新框架（Sundberg L 等, 2024）</vt:lpstr>
      <vt:lpstr>四大功能的解释（Sundberg L 等, 2024）</vt:lpstr>
      <vt:lpstr>情景问题？</vt:lpstr>
      <vt:lpstr>Mariani M, Dwivedi Y K, 2024. Generative artificial intelligence in innovation management: a preview of future research developments[J]. Journal of Business Research, 175(3): 114542.</vt:lpstr>
      <vt:lpstr>PowerPoint 演示文稿</vt:lpstr>
      <vt:lpstr>学术领域的观点</vt:lpstr>
      <vt:lpstr>图2. 人工智能准备度(AIR)的概念模型(Tehrani 等, 2024, p. 7)</vt:lpstr>
      <vt:lpstr>AI准备度可以归纳为八个关键维度：</vt:lpstr>
      <vt:lpstr>Moving from prediction to creativity: implications of generative AI on measurement of success</vt:lpstr>
      <vt:lpstr>PowerPoint 演示文稿</vt:lpstr>
      <vt:lpstr>Bahoo S, Cucculelli M, Qamar D, 2023. Artificial intelligence and corporate innovation: a review and research agenda[J]. Technological Forecasting and Social Change, 188(3): 122264.</vt:lpstr>
      <vt:lpstr>PowerPoint 演示文稿</vt:lpstr>
      <vt:lpstr>PowerPoint 演示文稿</vt:lpstr>
      <vt:lpstr>主要共识：</vt:lpstr>
      <vt:lpstr>PowerPoint 演示文稿</vt:lpstr>
      <vt:lpstr>实操六：智能翻译（ Zotero PDF Tranlate ）</vt:lpstr>
      <vt:lpstr>PowerPoint 演示文稿</vt:lpstr>
      <vt:lpstr>阅读基础：智能翻译</vt:lpstr>
      <vt:lpstr>PowerPoint 演示文稿</vt:lpstr>
      <vt:lpstr>Kindle精读应用背景</vt:lpstr>
      <vt:lpstr>设备越狱</vt:lpstr>
      <vt:lpstr>KUAL界面</vt:lpstr>
      <vt:lpstr>进入文件管理器</vt:lpstr>
      <vt:lpstr>KOReader印象笔记功能</vt:lpstr>
      <vt:lpstr>狗耳朵日报推送功能</vt:lpstr>
      <vt:lpstr>Kindle的字典功能与标注功能</vt:lpstr>
      <vt:lpstr>修改hosts文件——智能翻译</vt:lpstr>
      <vt:lpstr>解决谷歌翻译问题</vt:lpstr>
      <vt:lpstr>Mac修改hosts文档</vt:lpstr>
      <vt:lpstr>实操七：数字笔记（ Zotero Better Notes ）</vt:lpstr>
      <vt:lpstr>Markdown笔记的主要规则包括：</vt:lpstr>
      <vt:lpstr>Better Notes (BN) is a plugin for Zotero.</vt:lpstr>
      <vt:lpstr>文字内容</vt:lpstr>
      <vt:lpstr>表格内容</vt:lpstr>
      <vt:lpstr>PowerPoint 演示文稿</vt:lpstr>
      <vt:lpstr>图片内容</vt:lpstr>
      <vt:lpstr>PowerPoint 演示文稿</vt:lpstr>
      <vt:lpstr>公式生成</vt:lpstr>
      <vt:lpstr>实操八：内容生成（ Zotero GPT）</vt:lpstr>
      <vt:lpstr>PowerPoint 演示文稿</vt:lpstr>
      <vt:lpstr>PowerPoint 演示文稿</vt:lpstr>
      <vt:lpstr>PowerPoint 演示文稿</vt:lpstr>
      <vt:lpstr>PowerPoint 演示文稿</vt:lpstr>
      <vt:lpstr>LLM，是继数据库和搜索引擎之后的“全新⼀代知识表示和调⽤⽅式”， 将会极⼤改善⼈类的专业能⼒之间的交互⽅式。</vt:lpstr>
      <vt:lpstr>AI应用三角定律：语料、算力、算法</vt:lpstr>
      <vt:lpstr>PowerPoint 演示文稿</vt:lpstr>
      <vt:lpstr>编程技能：</vt:lpstr>
      <vt:lpstr>Quick Commands</vt:lpstr>
      <vt:lpstr>About Tag</vt:lpstr>
      <vt:lpstr>Improve writing</vt:lpstr>
      <vt:lpstr>Selection</vt:lpstr>
      <vt:lpstr>Items</vt:lpstr>
      <vt:lpstr>AskPDF</vt:lpstr>
      <vt:lpstr>About Input Text</vt:lpstr>
      <vt:lpstr>PowerPoint 演示文稿</vt:lpstr>
      <vt:lpstr>PowerPoint 演示文稿</vt:lpstr>
      <vt:lpstr>DeepSeek: 能力细节（文本、非视觉模型）</vt:lpstr>
      <vt:lpstr>长文本与跨文本</vt:lpstr>
      <vt:lpstr>脚本改进：代码解密</vt:lpstr>
      <vt:lpstr>PowerPoint 演示文稿</vt:lpstr>
      <vt:lpstr>提示词元素</vt:lpstr>
      <vt:lpstr>GPT使用策略</vt:lpstr>
      <vt:lpstr>ChatGPT谈战略与创新：交互式问题</vt:lpstr>
      <vt:lpstr>测试问题</vt:lpstr>
      <vt:lpstr>主要判据</vt:lpstr>
      <vt:lpstr>对于一般理论的提问：以惯例研究为例</vt:lpstr>
      <vt:lpstr>相关法律条款问题</vt:lpstr>
      <vt:lpstr>数字内容生成</vt:lpstr>
      <vt:lpstr>写作法则</vt:lpstr>
      <vt:lpstr>数据质量判定——内容生成</vt:lpstr>
      <vt:lpstr>JavaScript主要特点</vt:lpstr>
      <vt:lpstr>JavaScript学习资源</vt:lpstr>
      <vt:lpstr>数据库结构</vt:lpstr>
      <vt:lpstr>SQLite数据库</vt:lpstr>
      <vt:lpstr>完全功能的PDF电子书</vt:lpstr>
      <vt:lpstr>确保 PDF 内容不被修改</vt:lpstr>
      <vt:lpstr>要获取 PDF 文件的元数据：</vt:lpstr>
      <vt:lpstr>结论：官网AI效果最佳（比如OpenAI）</vt:lpstr>
      <vt:lpstr>第四天： 上午：本地RAG 下午：分组交流</vt:lpstr>
      <vt:lpstr>生成式AI的残酷真相</vt:lpstr>
      <vt:lpstr>剖析95%的失败：四大“天坑”如何吞噬企业的AI雄心</vt:lpstr>
      <vt:lpstr>解码5%的成功者：穿越鸿沟的四大黄金法则</vt:lpstr>
      <vt:lpstr>“影子AI”成为真正的生产力引擎</vt:lpstr>
      <vt:lpstr>AI技能不再是加分项，而是必备项</vt:lpstr>
      <vt:lpstr>一、无尽的提问</vt:lpstr>
      <vt:lpstr>PowerPoint 演示文稿</vt:lpstr>
      <vt:lpstr>PowerPoint 演示文稿</vt:lpstr>
      <vt:lpstr>二、提示词元素</vt:lpstr>
      <vt:lpstr>AI的⽐喻：超级热情但缺乏经验的实习⽣</vt:lpstr>
      <vt:lpstr>Context Engineering（上下⽂⼯程）</vt:lpstr>
      <vt:lpstr>三、提示词技巧</vt:lpstr>
      <vt:lpstr>1、Few-Shot Prompting（少样本示例）</vt:lpstr>
      <vt:lpstr>2、Chain-of-Thought（思维链推理）</vt:lpstr>
      <vt:lpstr>3、Reverse Prompting（反向提问）</vt:lpstr>
      <vt:lpstr>4、Role Assignment（⻆⾊赋能）</vt:lpstr>
      <vt:lpstr>四、三种思维训练</vt:lpstr>
      <vt:lpstr>模拟困难对话</vt:lpstr>
      <vt:lpstr>严苛批评</vt:lpstr>
      <vt:lpstr>扩展想象⼒</vt:lpstr>
      <vt:lpstr>训练案例</vt:lpstr>
      <vt:lpstr>PowerPoint 演示文稿</vt:lpstr>
      <vt:lpstr>AI Snake Oil《AI蛇油》  Arvind Narayanan &amp; Sayash Kapoor Princeton Univ. Press (2024)</vt:lpstr>
      <vt:lpstr>PowerPoint 演示文稿</vt:lpstr>
      <vt:lpstr>“混合型角色”的崛起</vt:lpstr>
      <vt:lpstr>术语介绍</vt:lpstr>
      <vt:lpstr>检索增强生成(Retrieval-augmented generation)</vt:lpstr>
      <vt:lpstr>技术简介</vt:lpstr>
      <vt:lpstr>RAG 流程应用于问答的代表性实例。它主要包括 3 个步骤。1）索引。将文档拆分成块，编码成向量，并存储在向量数据库中。2）检索。根据语义相似性检索与问题最相关的 Top k 个块。3)生成。将原始问题和检索到的块一起输入 LLM 以生成最终答案。</vt:lpstr>
      <vt:lpstr>以下是 RAG 发展的几个版本：</vt:lpstr>
      <vt:lpstr>PowerPoint 演示文稿</vt:lpstr>
      <vt:lpstr>PowerPoint 演示文稿</vt:lpstr>
      <vt:lpstr>PowerPoint 演示文稿</vt:lpstr>
      <vt:lpstr>PowerPoint 演示文稿</vt:lpstr>
      <vt:lpstr>PowerPoint 演示文稿</vt:lpstr>
      <vt:lpstr>技术框架</vt:lpstr>
      <vt:lpstr>RAG 技术编程领域实现原理</vt:lpstr>
      <vt:lpstr>https://tiktokenizer.f2api.com/</vt:lpstr>
      <vt:lpstr>文档解析神器——MinerU: https://mineru.net/</vt:lpstr>
      <vt:lpstr>LLM训练数据集的选择与清洗：从Common Crawl到高质量语料库</vt:lpstr>
      <vt:lpstr>分词挑战：词级与字符级的权衡</vt:lpstr>
      <vt:lpstr>字节对编码：GPT模型的分词选择</vt:lpstr>
      <vt:lpstr>对话格式与特殊标记的应用</vt:lpstr>
      <vt:lpstr>训练数据准备：上下文窗口与标签错位</vt:lpstr>
      <vt:lpstr>GPT系列模型的数据规模演进</vt:lpstr>
      <vt:lpstr>数据准备与分词处理结论</vt:lpstr>
      <vt:lpstr>机器学习中的文本数据转换基础</vt:lpstr>
      <vt:lpstr>独热编码：解决数值排序问题的方法</vt:lpstr>
      <vt:lpstr>词袋模型与n元语法：添加上下文信息</vt:lpstr>
      <vt:lpstr>词嵌入：捕捉词语语义的密集向量表示</vt:lpstr>
      <vt:lpstr>Word2Vec：训练词嵌入的经典方法</vt:lpstr>
      <vt:lpstr>Transformer中的词嵌入机制</vt:lpstr>
      <vt:lpstr>位置编码：添加序列信息</vt:lpstr>
      <vt:lpstr>结论：词嵌入在自然语言处理中的关键作用</vt:lpstr>
      <vt:lpstr>知识库AI——ima.copilot      https://ima.qq.com/</vt:lpstr>
      <vt:lpstr>知识库：从Zotero整体添加（Moov Add-on）</vt:lpstr>
      <vt:lpstr>PowerPoint 演示文稿</vt:lpstr>
      <vt:lpstr>PowerPoint 演示文稿</vt:lpstr>
      <vt:lpstr>AI-Butler: 文献自动全文解读 （Deepseek，185元看完我的4500篇）</vt:lpstr>
      <vt:lpstr>AI时代重要工具：数字笔记（Markdown）</vt:lpstr>
      <vt:lpstr>AI与知识库部署模式矩阵</vt:lpstr>
      <vt:lpstr>PowerPoint 演示文稿</vt:lpstr>
      <vt:lpstr>生成播客：Hambrick D C, 1994. What if the academy actually mattered?[J]. Academy of Management Review, 19(1): 11-16. </vt:lpstr>
      <vt:lpstr>本科项目管理大作业：用AI看45分钟纪录片视频写观后感（语音、文本、图片结合）</vt:lpstr>
      <vt:lpstr>PowerPoint 演示文稿</vt:lpstr>
      <vt:lpstr>PowerPoint 演示文稿</vt:lpstr>
      <vt:lpstr>PowerPoint 演示文稿</vt:lpstr>
      <vt:lpstr>总结：</vt:lpstr>
      <vt:lpstr>如果用Python，装个anaconda，Jupyter Notebook教学好用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启示：</vt:lpstr>
      <vt:lpstr>结语</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数字化写作</dc:title>
  <dc:creator>DELL</dc:creator>
  <cp:lastModifiedBy>Hao Yu</cp:lastModifiedBy>
  <cp:revision>389</cp:revision>
  <dcterms:created xsi:type="dcterms:W3CDTF">1900-01-01T00:00:00Z</dcterms:created>
  <dcterms:modified xsi:type="dcterms:W3CDTF">2026-08-20T11:53:38Z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1CE3D73E368C493CE8B903658A64F986_32</vt:lpwstr>
  </property>
  <property fmtid="{D5CDD505-2E9C-101B-9397-08002B2CF9AE}" pid="3" name="KSOProductBuildVer">
    <vt:lpwstr>2052-12.41.0</vt:lpwstr>
  </property>
</Properties>
</file>