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45"/>
    <p:sldId id="454" r:id="rId46"/>
    <p:sldId id="426" r:id="rId47"/>
    <p:sldId id="427" r:id="rId48"/>
    <p:sldId id="428" r:id="rId49"/>
    <p:sldId id="429" r:id="rId50"/>
    <p:sldId id="430" r:id="rId51"/>
    <p:sldId id="431" r:id="rId52"/>
    <p:sldId id="432" r:id="rId53"/>
    <p:sldId id="433" r:id="rId54"/>
    <p:sldId id="434" r:id="rId55"/>
    <p:sldId id="449" r:id="rId56"/>
    <p:sldId id="262" r:id="rId57"/>
    <p:sldId id="451" r:id="rId58"/>
    <p:sldId id="484" r:id="rId59"/>
    <p:sldId id="483" r:id="rId60"/>
    <p:sldId id="443" r:id="rId61"/>
    <p:sldId id="456" r:id="rId6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7252" autoAdjust="0"/>
    <p:restoredTop sz="94660"/>
  </p:normalViewPr>
  <p:slideViewPr>
    <p:cSldViewPr snapToGrid="0" showGuides="1">
      <p:cViewPr varScale="1">
        <p:scale>
          <a:sx n="60" d="100"/>
          <a:sy n="60" d="100"/>
        </p:scale>
        <p:origin x="27" y="52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283" Type="http://schemas.openxmlformats.org/officeDocument/2006/relationships/presProps" Target="presProps.xml"/><Relationship Id="rId284" Type="http://schemas.openxmlformats.org/officeDocument/2006/relationships/viewProps" Target="viewProps.xml"/><Relationship Id="rId285" Type="http://schemas.openxmlformats.org/officeDocument/2006/relationships/theme" Target="theme/theme1.xml"/><Relationship Id="rId28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7" name="Rectangle 4"/>
          <p:cNvSpPr>
            <a:spLocks noGrp="1"/>
          </p:cNvSpPr>
          <p:nvPr>
            <p:ph type="dt" sz="half" idx="10"/>
          </p:nvPr>
        </p:nvSpPr>
        <p:spPr/>
        <p:txBody>
          <a:bodyPr/>
          <a:lstStyle>
            <a:lvl1pPr>
              <a:defRPr/>
            </a:lvl1pPr>
          </a:lstStyle>
          <a:p>
            <a:pPr>
              <a:defRPr/>
            </a:pPr>
            <a:fld id="{BB962C8B-B14F-4D97-AF65-F5344CB8AC3E}" type="datetime1">
              <a:rPr lang="en-US" altLang="zh-CN"/>
              <a:t>8/20/2026</a:t>
            </a:fld>
            <a:endParaRPr lang="en-US" altLang="zh-CN"/>
          </a:p>
        </p:txBody>
      </p:sp>
      <p:sp>
        <p:nvSpPr>
          <p:cNvPr id="8" name="Rectangle 5"/>
          <p:cNvSpPr>
            <a:spLocks noGrp="1"/>
          </p:cNvSpPr>
          <p:nvPr>
            <p:ph type="ftr" sz="quarter" idx="11"/>
          </p:nvPr>
        </p:nvSpPr>
        <p:spPr/>
        <p:txBody>
          <a:bodyPr/>
          <a:lstStyle>
            <a:lvl1pPr>
              <a:defRPr/>
            </a:lvl1pPr>
          </a:lstStyle>
          <a:p>
            <a:pPr>
              <a:defRPr/>
            </a:pPr>
            <a:endParaRPr lang="en-US" altLang="zh-CN"/>
          </a:p>
        </p:txBody>
      </p:sp>
      <p:sp>
        <p:nvSpPr>
          <p:cNvPr id="9" name="Rectangle 6"/>
          <p:cNvSpPr>
            <a:spLocks noGrp="1"/>
          </p:cNvSpPr>
          <p:nvPr>
            <p:ph type="sldNum" sz="quarter" idx="12"/>
          </p:nvPr>
        </p:nvSpPr>
        <p:spPr/>
        <p:txBody>
          <a:bodyPr/>
          <a:lstStyle>
            <a:lvl1pPr>
              <a:defRPr smtClean="0"/>
            </a:lvl1pPr>
          </a:lstStyle>
          <a:p>
            <a:pPr>
              <a:defRPr/>
            </a:pPr>
            <a:fld id="{59BA1AF2-122D-413B-9A6F-A4FE069461D2}" type="slidenum">
              <a:rPr lang="en-US" altLang="zh-CN"/>
              <a:t>‹#›</a:t>
            </a:fld>
            <a:endParaRPr lang="en-US" altLang="zh-CN"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A03BB3-B2AA-4365-8D21-2931F66B564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zotero.org/download/connector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image" Target="../media/image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cs.citationstyles.org/en/stable/primer.html#toc-entry-1" TargetMode="External"/><Relationship Id="rId3" Type="http://schemas.openxmlformats.org/officeDocument/2006/relationships/hyperlink" Target="https://zhuanlan.zhihu.com/p/612655690" TargetMode="External"/><Relationship Id="rId4" Type="http://schemas.openxmlformats.org/officeDocument/2006/relationships/hyperlink" Target="https://github.com/redleafnew/Chinese-STD-GB-T-7714-related-csl"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实操二：分类条目创建</a:t>
            </a:r>
          </a:p>
        </p:txBody>
      </p:sp>
      <p:sp>
        <p:nvSpPr>
          <p:cNvPr id="3" name="内容占位符 2"/>
          <p:cNvSpPr>
            <a:spLocks noGrp="1"/>
          </p:cNvSpPr>
          <p:nvPr>
            <p:ph idx="1"/>
          </p:nvPr>
        </p:nvSpPr>
        <p:spPr/>
        <p:txBody>
          <a:bodyPr/>
          <a:lstStyle/>
          <a:p>
            <a:r>
              <a:rPr lang="zh-CN" altLang="en-US" dirty="0"/>
              <a:t>题录可用</a:t>
            </a:r>
            <a:r>
              <a:rPr lang="en-US" altLang="zh-CN" dirty="0"/>
              <a:t>Zotero RDF</a:t>
            </a:r>
            <a:r>
              <a:rPr lang="zh-CN" altLang="en-US" dirty="0"/>
              <a:t>格式，或者</a:t>
            </a:r>
            <a:r>
              <a:rPr lang="en-US" altLang="zh-CN" dirty="0"/>
              <a:t>RefWorks</a:t>
            </a:r>
            <a:r>
              <a:rPr lang="zh-CN" altLang="en-US" dirty="0"/>
              <a:t>格式，先保存再导入，也可采用剪切板导入最为便捷。</a:t>
            </a:r>
            <a:endParaRPr lang="en-US" altLang="zh-CN" dirty="0"/>
          </a:p>
          <a:p>
            <a:r>
              <a:rPr lang="zh-CN" altLang="en-US" dirty="0"/>
              <a:t>先前的其他软件数据库可以通过导出和导入的过程实现题录的转移，或者原有的文件可以一次性拖拉到我的文库。</a:t>
            </a:r>
            <a:endParaRPr lang="en-US" altLang="zh-CN" dirty="0"/>
          </a:p>
          <a:p>
            <a:endParaRPr lang="en-US" altLang="zh-CN"/>
          </a:p>
          <a:p>
            <a:r>
              <a:rPr lang="zh-CN" altLang="en-US"/>
              <a:t>题</a:t>
            </a:r>
            <a:r>
              <a:rPr lang="zh-CN" altLang="en-US" dirty="0"/>
              <a:t>录与附件使用</a:t>
            </a:r>
            <a:r>
              <a:rPr lang="en-US" altLang="zh-CN" dirty="0"/>
              <a:t>Zotero Connector</a:t>
            </a:r>
            <a:r>
              <a:rPr lang="zh-CN" altLang="en-US" dirty="0"/>
              <a:t>的浏览器插件实现同时完成。</a:t>
            </a:r>
            <a:endParaRPr lang="en-US" altLang="zh-CN" dirty="0"/>
          </a:p>
          <a:p>
            <a:pPr lvl="1"/>
            <a:r>
              <a:rPr lang="en-US" altLang="zh-CN" dirty="0">
                <a:hlinkClick r:id="rId2"/>
              </a:rPr>
              <a:t>Zotero | Connectors</a:t>
            </a:r>
            <a:endParaRPr lang="en-US" altLang="zh-CN" dirty="0"/>
          </a:p>
          <a:p>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0" y="372446"/>
            <a:ext cx="12192000" cy="611310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现有信息学习</a:t>
            </a:r>
          </a:p>
        </p:txBody>
      </p:sp>
      <p:sp>
        <p:nvSpPr>
          <p:cNvPr id="3" name="内容占位符 2"/>
          <p:cNvSpPr>
            <a:spLocks noGrp="1"/>
          </p:cNvSpPr>
          <p:nvPr>
            <p:ph idx="1"/>
          </p:nvPr>
        </p:nvSpPr>
        <p:spPr/>
        <p:txBody>
          <a:bodyPr/>
          <a:lstStyle/>
          <a:p>
            <a:r>
              <a:rPr lang="zh-CN" altLang="en-US" dirty="0"/>
              <a:t>学习过程中来完善相关信息</a:t>
            </a:r>
            <a:endParaRPr lang="en-US" altLang="zh-CN" dirty="0"/>
          </a:p>
          <a:p>
            <a:r>
              <a:rPr lang="zh-CN" altLang="en-US" dirty="0"/>
              <a:t>使用二次排序</a:t>
            </a:r>
            <a:endParaRPr lang="en-US" altLang="zh-CN" dirty="0"/>
          </a:p>
          <a:p>
            <a:r>
              <a:rPr lang="zh-CN" altLang="en-US" dirty="0"/>
              <a:t>可以根据期刊数量来发现研究聚集</a:t>
            </a:r>
            <a:endParaRPr lang="en-US" altLang="zh-CN" dirty="0"/>
          </a:p>
          <a:p>
            <a:r>
              <a:rPr lang="zh-CN" altLang="en-US" dirty="0"/>
              <a:t>可以根据影响因子来重点关注</a:t>
            </a:r>
            <a:endParaRPr lang="en-US" altLang="zh-CN" dirty="0"/>
          </a:p>
          <a:p>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相关信息如何拓展</a:t>
            </a:r>
          </a:p>
        </p:txBody>
      </p:sp>
      <p:sp>
        <p:nvSpPr>
          <p:cNvPr id="3" name="内容占位符 2"/>
          <p:cNvSpPr>
            <a:spLocks noGrp="1"/>
          </p:cNvSpPr>
          <p:nvPr>
            <p:ph idx="1"/>
          </p:nvPr>
        </p:nvSpPr>
        <p:spPr/>
        <p:txBody>
          <a:bodyPr/>
          <a:lstStyle/>
          <a:p>
            <a:r>
              <a:rPr lang="zh-CN" altLang="en-US" dirty="0"/>
              <a:t>利用搜索引擎来实现</a:t>
            </a:r>
            <a:endParaRPr lang="en-US" altLang="zh-CN" dirty="0"/>
          </a:p>
          <a:p>
            <a:endParaRPr lang="en-US" altLang="zh-CN" dirty="0"/>
          </a:p>
          <a:p>
            <a:r>
              <a:rPr lang="zh-CN" altLang="en-US" dirty="0"/>
              <a:t>先做加法再做减法</a:t>
            </a:r>
            <a:endParaRPr lang="en-US" altLang="zh-CN" dirty="0"/>
          </a:p>
          <a:p>
            <a:pPr lvl="1"/>
            <a:r>
              <a:rPr lang="zh-CN" altLang="en-US" dirty="0"/>
              <a:t>有关关联文献</a:t>
            </a:r>
            <a:endParaRPr lang="en-US" altLang="zh-CN" dirty="0"/>
          </a:p>
          <a:p>
            <a:pPr lvl="1"/>
            <a:r>
              <a:rPr lang="zh-CN" altLang="en-US" dirty="0"/>
              <a:t>参考文献全部加上去</a:t>
            </a:r>
            <a:endParaRPr lang="en-US" altLang="zh-CN" dirty="0"/>
          </a:p>
          <a:p>
            <a:pPr lvl="1"/>
            <a:r>
              <a:rPr lang="zh-CN" altLang="en-US" dirty="0"/>
              <a:t>专著中的文献</a:t>
            </a:r>
            <a:endParaRPr lang="en-US" altLang="zh-CN"/>
          </a:p>
          <a:p>
            <a:pPr lvl="1"/>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题录获取：第一种方式</a:t>
            </a:r>
          </a:p>
        </p:txBody>
      </p:sp>
      <p:sp>
        <p:nvSpPr>
          <p:cNvPr id="3" name="内容占位符 2"/>
          <p:cNvSpPr>
            <a:spLocks noGrp="1"/>
          </p:cNvSpPr>
          <p:nvPr>
            <p:ph idx="1"/>
          </p:nvPr>
        </p:nvSpPr>
        <p:spPr/>
        <p:txBody>
          <a:bodyPr/>
          <a:lstStyle/>
          <a:p>
            <a:r>
              <a:rPr lang="zh-CN" altLang="en-US" dirty="0"/>
              <a:t>找到文献的</a:t>
            </a:r>
            <a:r>
              <a:rPr lang="en-US" altLang="zh-CN" dirty="0"/>
              <a:t>PDF</a:t>
            </a:r>
          </a:p>
          <a:p>
            <a:r>
              <a:rPr lang="zh-CN" altLang="en-US" dirty="0"/>
              <a:t>直接下载好</a:t>
            </a:r>
            <a:endParaRPr lang="en-US" altLang="zh-CN" dirty="0"/>
          </a:p>
          <a:p>
            <a:r>
              <a:rPr lang="zh-CN" altLang="en-US" dirty="0"/>
              <a:t>直接拖到</a:t>
            </a:r>
            <a:r>
              <a:rPr lang="en-US" altLang="zh-CN" dirty="0"/>
              <a:t>Zotero</a:t>
            </a:r>
          </a:p>
          <a:p>
            <a:r>
              <a:rPr lang="zh-CN" altLang="en-US" dirty="0"/>
              <a:t>后续再建题录</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题录获取：第二种方式</a:t>
            </a:r>
          </a:p>
        </p:txBody>
      </p:sp>
      <p:sp>
        <p:nvSpPr>
          <p:cNvPr id="3" name="内容占位符 2"/>
          <p:cNvSpPr>
            <a:spLocks noGrp="1"/>
          </p:cNvSpPr>
          <p:nvPr>
            <p:ph idx="1"/>
          </p:nvPr>
        </p:nvSpPr>
        <p:spPr/>
        <p:txBody>
          <a:bodyPr/>
          <a:lstStyle/>
          <a:p>
            <a:r>
              <a:rPr lang="zh-CN" altLang="en-US" dirty="0"/>
              <a:t>先从各类网站去找相关主题文献</a:t>
            </a:r>
            <a:endParaRPr lang="en-US" altLang="zh-CN" dirty="0"/>
          </a:p>
          <a:p>
            <a:pPr lvl="1"/>
            <a:r>
              <a:rPr lang="zh-CN" altLang="en-US" dirty="0"/>
              <a:t>中文优先去</a:t>
            </a:r>
            <a:r>
              <a:rPr lang="en-US" altLang="zh-CN" dirty="0"/>
              <a:t>CNKI</a:t>
            </a:r>
          </a:p>
          <a:p>
            <a:pPr lvl="1"/>
            <a:r>
              <a:rPr lang="zh-CN" altLang="en-US" dirty="0"/>
              <a:t>英文优先去</a:t>
            </a:r>
            <a:r>
              <a:rPr lang="en-US" altLang="zh-CN" dirty="0"/>
              <a:t>Semantics Scholar</a:t>
            </a:r>
          </a:p>
          <a:p>
            <a:r>
              <a:rPr lang="zh-CN" altLang="en-US" dirty="0"/>
              <a:t>在网站中先多找些，一并导出</a:t>
            </a:r>
            <a:endParaRPr lang="en-US" altLang="zh-CN" dirty="0"/>
          </a:p>
          <a:p>
            <a:pPr lvl="1"/>
            <a:r>
              <a:rPr lang="zh-CN" altLang="en-US" dirty="0"/>
              <a:t>格式可用</a:t>
            </a:r>
            <a:r>
              <a:rPr lang="en-US" altLang="zh-CN" dirty="0" err="1"/>
              <a:t>BibTeX</a:t>
            </a:r>
            <a:r>
              <a:rPr lang="en-US" altLang="zh-CN" dirty="0"/>
              <a:t>/</a:t>
            </a:r>
            <a:r>
              <a:rPr lang="en-US" altLang="zh-CN" dirty="0" err="1"/>
              <a:t>Refworks</a:t>
            </a:r>
            <a:r>
              <a:rPr lang="zh-CN" altLang="en-US" dirty="0"/>
              <a:t>，最为通用</a:t>
            </a:r>
            <a:endParaRPr lang="en-US" altLang="zh-CN" dirty="0"/>
          </a:p>
          <a:p>
            <a:pPr lvl="1"/>
            <a:r>
              <a:rPr lang="zh-CN" altLang="en-US" dirty="0"/>
              <a:t>用复制到粘贴板</a:t>
            </a:r>
            <a:endParaRPr lang="en-US" altLang="zh-CN" dirty="0"/>
          </a:p>
          <a:p>
            <a:pPr lvl="1"/>
            <a:r>
              <a:rPr lang="en-US" altLang="zh-CN" dirty="0"/>
              <a:t>Zotero</a:t>
            </a:r>
            <a:r>
              <a:rPr lang="zh-CN" altLang="en-US" dirty="0"/>
              <a:t>用粘贴板导入</a:t>
            </a:r>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如何更新题录</a:t>
            </a:r>
          </a:p>
        </p:txBody>
      </p:sp>
      <p:sp>
        <p:nvSpPr>
          <p:cNvPr id="3" name="内容占位符 2"/>
          <p:cNvSpPr>
            <a:spLocks noGrp="1"/>
          </p:cNvSpPr>
          <p:nvPr>
            <p:ph idx="1"/>
          </p:nvPr>
        </p:nvSpPr>
        <p:spPr/>
        <p:txBody>
          <a:bodyPr/>
          <a:lstStyle/>
          <a:p>
            <a:r>
              <a:rPr lang="zh-CN" altLang="en-US" dirty="0"/>
              <a:t>题录内容不完整</a:t>
            </a:r>
            <a:endParaRPr lang="en-US" altLang="zh-CN" dirty="0"/>
          </a:p>
          <a:p>
            <a:pPr lvl="1"/>
            <a:r>
              <a:rPr lang="en-US" altLang="zh-CN" dirty="0"/>
              <a:t>DOI</a:t>
            </a:r>
            <a:r>
              <a:rPr lang="zh-CN" altLang="en-US" dirty="0"/>
              <a:t>去重新下载</a:t>
            </a:r>
            <a:endParaRPr lang="en-US" altLang="zh-CN" dirty="0"/>
          </a:p>
          <a:p>
            <a:pPr lvl="1"/>
            <a:r>
              <a:rPr lang="zh-CN" altLang="en-US" dirty="0"/>
              <a:t>再合并重复目录</a:t>
            </a:r>
            <a:endParaRPr lang="en-US" altLang="zh-CN" dirty="0"/>
          </a:p>
          <a:p>
            <a:pPr lvl="1"/>
            <a:r>
              <a:rPr lang="zh-CN" altLang="en-US" dirty="0"/>
              <a:t>更新元数据</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0" y="324527"/>
            <a:ext cx="12192000" cy="620894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0" y="742293"/>
            <a:ext cx="12192000" cy="537341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 name="图片 6"/>
          <p:cNvPicPr>
            <a:picLocks noChangeAspect="1"/>
          </p:cNvPicPr>
          <p:nvPr/>
        </p:nvPicPr>
        <p:blipFill>
          <a:blip r:embed="rId2"/>
          <a:stretch>
            <a:fillRect/>
          </a:stretch>
        </p:blipFill>
        <p:spPr>
          <a:xfrm>
            <a:off x="569560" y="743865"/>
            <a:ext cx="7401089" cy="5133868"/>
          </a:xfrm>
          <a:prstGeom prst="rect">
            <a:avLst/>
          </a:prstGeom>
        </p:spPr>
      </p:pic>
      <p:pic>
        <p:nvPicPr>
          <p:cNvPr id="13" name="图片 12"/>
          <p:cNvPicPr>
            <a:picLocks noChangeAspect="1"/>
          </p:cNvPicPr>
          <p:nvPr/>
        </p:nvPicPr>
        <p:blipFill>
          <a:blip r:embed="rId3"/>
          <a:stretch>
            <a:fillRect/>
          </a:stretch>
        </p:blipFill>
        <p:spPr>
          <a:xfrm>
            <a:off x="7213038" y="1952785"/>
            <a:ext cx="3924703" cy="1620821"/>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文献下载</a:t>
            </a:r>
          </a:p>
        </p:txBody>
      </p:sp>
      <p:sp>
        <p:nvSpPr>
          <p:cNvPr id="3" name="内容占位符 2"/>
          <p:cNvSpPr>
            <a:spLocks noGrp="1"/>
          </p:cNvSpPr>
          <p:nvPr>
            <p:ph idx="1"/>
          </p:nvPr>
        </p:nvSpPr>
        <p:spPr/>
        <p:txBody>
          <a:bodyPr/>
          <a:lstStyle/>
          <a:p>
            <a:r>
              <a:rPr lang="zh-CN" altLang="en-US" dirty="0"/>
              <a:t>题录完整之后</a:t>
            </a:r>
            <a:endParaRPr lang="en-US" altLang="zh-CN" dirty="0"/>
          </a:p>
          <a:p>
            <a:r>
              <a:rPr lang="en-US" altLang="zh-CN" dirty="0"/>
              <a:t>DOI</a:t>
            </a:r>
            <a:r>
              <a:rPr lang="zh-CN" altLang="en-US" dirty="0"/>
              <a:t>一般用插件来完成</a:t>
            </a:r>
            <a:endParaRPr lang="en-US" altLang="zh-CN" dirty="0"/>
          </a:p>
          <a:p>
            <a:r>
              <a:rPr lang="zh-CN" altLang="en-US" dirty="0"/>
              <a:t>插件没有找到的可以手动完成</a:t>
            </a:r>
            <a:endParaRPr lang="en-US" altLang="zh-CN" dirty="0"/>
          </a:p>
          <a:p>
            <a:r>
              <a:rPr lang="zh-CN" altLang="en-US" dirty="0"/>
              <a:t>有了</a:t>
            </a:r>
            <a:r>
              <a:rPr lang="en-US" altLang="zh-CN" dirty="0"/>
              <a:t>DOI</a:t>
            </a:r>
            <a:r>
              <a:rPr lang="zh-CN" altLang="en-US" dirty="0"/>
              <a:t>第一时间去</a:t>
            </a:r>
            <a:r>
              <a:rPr lang="en-US" altLang="zh-CN" dirty="0"/>
              <a:t>Sci-Hub</a:t>
            </a:r>
          </a:p>
          <a:p>
            <a:r>
              <a:rPr lang="zh-CN" altLang="en-US" dirty="0"/>
              <a:t>找不到的去学校图书馆</a:t>
            </a:r>
          </a:p>
        </p:txBody>
      </p:sp>
      <p:pic>
        <p:nvPicPr>
          <p:cNvPr id="5" name="图片 4"/>
          <p:cNvPicPr>
            <a:picLocks noChangeAspect="1"/>
          </p:cNvPicPr>
          <p:nvPr/>
        </p:nvPicPr>
        <p:blipFill>
          <a:blip r:embed="rId2"/>
          <a:stretch>
            <a:fillRect/>
          </a:stretch>
        </p:blipFill>
        <p:spPr>
          <a:xfrm>
            <a:off x="3187756" y="4670960"/>
            <a:ext cx="7602955" cy="1962181"/>
          </a:xfrm>
          <a:prstGeom prst="rect">
            <a:avLst/>
          </a:prstGeom>
        </p:spPr>
      </p:pic>
      <p:pic>
        <p:nvPicPr>
          <p:cNvPr id="7" name="图片 6"/>
          <p:cNvPicPr>
            <a:picLocks noChangeAspect="1"/>
          </p:cNvPicPr>
          <p:nvPr/>
        </p:nvPicPr>
        <p:blipFill>
          <a:blip r:embed="rId3"/>
          <a:stretch>
            <a:fillRect/>
          </a:stretch>
        </p:blipFill>
        <p:spPr>
          <a:xfrm>
            <a:off x="6516341" y="365125"/>
            <a:ext cx="5073852" cy="4186052"/>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4000" dirty="0"/>
              <a:t>举例：先题录后</a:t>
            </a:r>
            <a:r>
              <a:rPr lang="en-US" altLang="zh-CN" sz="4000" dirty="0"/>
              <a:t>PDF</a:t>
            </a:r>
            <a:r>
              <a:rPr lang="zh-CN" altLang="en-US" sz="4000" dirty="0"/>
              <a:t>，还是先</a:t>
            </a:r>
            <a:r>
              <a:rPr lang="en-US" altLang="zh-CN" sz="4000" dirty="0"/>
              <a:t>PDF</a:t>
            </a:r>
            <a:r>
              <a:rPr lang="zh-CN" altLang="en-US" sz="4000" dirty="0"/>
              <a:t>后题录</a:t>
            </a:r>
          </a:p>
        </p:txBody>
      </p:sp>
      <p:sp>
        <p:nvSpPr>
          <p:cNvPr id="3" name="内容占位符 2"/>
          <p:cNvSpPr>
            <a:spLocks noGrp="1"/>
          </p:cNvSpPr>
          <p:nvPr>
            <p:ph idx="1"/>
          </p:nvPr>
        </p:nvSpPr>
        <p:spPr/>
        <p:txBody>
          <a:bodyPr/>
          <a:lstStyle/>
          <a:p>
            <a:pPr algn="just"/>
            <a:r>
              <a:rPr lang="zh-CN" altLang="en-US" sz="2400" dirty="0"/>
              <a:t>例子</a:t>
            </a:r>
            <a:r>
              <a:rPr lang="en-US" altLang="zh-CN" sz="2400" dirty="0"/>
              <a:t>Lounsbury M, Wang M. Into the clearing: back to the future of constitutive institutional analysis[J/OL]. Organization Theory, 2020, 1. https://semanticscholar.org/paper/b2069e934ba1e87e961acbb1da2a8b2f6d412227.</a:t>
            </a:r>
          </a:p>
          <a:p>
            <a:pPr lvl="1"/>
            <a:r>
              <a:rPr lang="zh-CN" altLang="en-US" dirty="0"/>
              <a:t>根据标题</a:t>
            </a:r>
            <a:endParaRPr lang="en-US" altLang="zh-CN" dirty="0"/>
          </a:p>
          <a:p>
            <a:pPr lvl="1"/>
            <a:r>
              <a:rPr lang="en-US" altLang="zh-CN" dirty="0"/>
              <a:t>DOI</a:t>
            </a:r>
            <a:r>
              <a:rPr lang="zh-CN" altLang="en-US" dirty="0"/>
              <a:t>（文献的身份号）：</a:t>
            </a:r>
            <a:r>
              <a:rPr lang="en-US" altLang="zh-CN" dirty="0"/>
              <a:t>10.1177/2631787719891173</a:t>
            </a:r>
          </a:p>
          <a:p>
            <a:pPr lvl="1"/>
            <a:r>
              <a:rPr lang="en-US" altLang="zh-CN" dirty="0"/>
              <a:t>SCI-HUB</a:t>
            </a:r>
            <a:r>
              <a:rPr lang="zh-CN" altLang="en-US" dirty="0"/>
              <a:t>上去下载文献</a:t>
            </a:r>
            <a:endParaRPr lang="en-US" altLang="zh-CN" dirty="0"/>
          </a:p>
          <a:p>
            <a:pPr lvl="1"/>
            <a:r>
              <a:rPr lang="en-US" altLang="zh-CN" dirty="0"/>
              <a:t>Zotero</a:t>
            </a:r>
            <a:r>
              <a:rPr lang="zh-CN" altLang="en-US" dirty="0"/>
              <a:t>可以自动完成这一切（题录</a:t>
            </a:r>
            <a:r>
              <a:rPr lang="en-US" altLang="zh-CN" dirty="0"/>
              <a:t>+</a:t>
            </a:r>
            <a:r>
              <a:rPr lang="zh-CN" altLang="en-US" dirty="0"/>
              <a:t>文献）</a:t>
            </a:r>
            <a:endParaRPr lang="en-US" altLang="zh-CN" dirty="0"/>
          </a:p>
          <a:p>
            <a:pPr lvl="1"/>
            <a:r>
              <a:rPr lang="zh-CN" altLang="en-US" dirty="0"/>
              <a:t>一般不要批量完成</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实操三：引用格式添加</a:t>
            </a:r>
          </a:p>
        </p:txBody>
      </p:sp>
      <p:sp>
        <p:nvSpPr>
          <p:cNvPr id="7" name="内容占位符 6"/>
          <p:cNvSpPr>
            <a:spLocks noGrp="1"/>
          </p:cNvSpPr>
          <p:nvPr>
            <p:ph idx="1"/>
          </p:nvPr>
        </p:nvSpPr>
        <p:spPr/>
        <p:txBody>
          <a:bodyPr>
            <a:normAutofit lnSpcReduction="10000"/>
          </a:bodyPr>
          <a:lstStyle/>
          <a:p>
            <a:r>
              <a:rPr lang="zh-CN" altLang="en-US" dirty="0">
                <a:solidFill>
                  <a:srgbClr val="333333"/>
                </a:solidFill>
                <a:latin typeface="Arial" charset="0"/>
              </a:rPr>
              <a:t>文件格式：</a:t>
            </a:r>
            <a:r>
              <a:rPr lang="en-US" altLang="zh-CN" b="0" i="0" dirty="0">
                <a:solidFill>
                  <a:srgbClr val="666666"/>
                </a:solidFill>
                <a:effectLst/>
                <a:latin typeface="-apple-system"/>
              </a:rPr>
              <a:t>CSL</a:t>
            </a:r>
            <a:r>
              <a:rPr lang="zh-CN" altLang="en-US" b="0" i="0" dirty="0">
                <a:solidFill>
                  <a:srgbClr val="666666"/>
                </a:solidFill>
                <a:effectLst/>
                <a:latin typeface="-apple-system"/>
              </a:rPr>
              <a:t>是 </a:t>
            </a:r>
            <a:r>
              <a:rPr lang="en-US" altLang="zh-CN" b="0" i="0" dirty="0">
                <a:solidFill>
                  <a:srgbClr val="666666"/>
                </a:solidFill>
                <a:effectLst/>
                <a:latin typeface="-apple-system"/>
              </a:rPr>
              <a:t>Citation Style Language</a:t>
            </a:r>
            <a:r>
              <a:rPr lang="zh-CN" altLang="en-US" b="0" i="0" dirty="0">
                <a:solidFill>
                  <a:srgbClr val="666666"/>
                </a:solidFill>
                <a:effectLst/>
                <a:latin typeface="-apple-system"/>
              </a:rPr>
              <a:t>的缩写</a:t>
            </a:r>
            <a:endParaRPr lang="en-US" altLang="zh-CN" b="0" i="0" dirty="0">
              <a:solidFill>
                <a:srgbClr val="666666"/>
              </a:solidFill>
              <a:effectLst/>
              <a:latin typeface="-apple-system"/>
            </a:endParaRPr>
          </a:p>
          <a:p>
            <a:pPr lvl="1"/>
            <a:r>
              <a:rPr lang="en-US" altLang="zh-CN" dirty="0">
                <a:hlinkClick r:id="rId2"/>
              </a:rPr>
              <a:t>Primer — An Introduction to CSL — Citation Style Language 1.0.1-dev documentation (citationstyles.org)</a:t>
            </a:r>
            <a:endParaRPr lang="en-US" altLang="zh-CN" dirty="0"/>
          </a:p>
          <a:p>
            <a:pPr lvl="1"/>
            <a:r>
              <a:rPr lang="zh-CN" altLang="en-US" dirty="0">
                <a:hlinkClick r:id="rId3"/>
              </a:rPr>
              <a:t>不知道怎么自动编辑参考文献？</a:t>
            </a:r>
            <a:r>
              <a:rPr lang="en-US" altLang="zh-CN" dirty="0">
                <a:hlinkClick r:id="rId3"/>
              </a:rPr>
              <a:t>——</a:t>
            </a:r>
            <a:r>
              <a:rPr lang="zh-CN" altLang="en-US" dirty="0">
                <a:hlinkClick r:id="rId3"/>
              </a:rPr>
              <a:t>了解</a:t>
            </a:r>
            <a:r>
              <a:rPr lang="en-US" altLang="zh-CN" dirty="0">
                <a:hlinkClick r:id="rId3"/>
              </a:rPr>
              <a:t>CSL</a:t>
            </a:r>
            <a:r>
              <a:rPr lang="zh-CN" altLang="en-US" dirty="0">
                <a:hlinkClick r:id="rId3"/>
              </a:rPr>
              <a:t>格式原理 </a:t>
            </a:r>
            <a:r>
              <a:rPr lang="en-US" altLang="zh-CN" dirty="0">
                <a:hlinkClick r:id="rId3"/>
              </a:rPr>
              <a:t>- </a:t>
            </a:r>
            <a:r>
              <a:rPr lang="zh-CN" altLang="en-US" dirty="0">
                <a:hlinkClick r:id="rId3"/>
              </a:rPr>
              <a:t>知乎 </a:t>
            </a:r>
            <a:r>
              <a:rPr lang="en-US" altLang="zh-CN" dirty="0">
                <a:hlinkClick r:id="rId3"/>
              </a:rPr>
              <a:t>(zhihu.com)</a:t>
            </a:r>
            <a:endParaRPr lang="en-US" altLang="zh-CN" b="0" i="0" dirty="0">
              <a:solidFill>
                <a:srgbClr val="F73131"/>
              </a:solidFill>
              <a:effectLst/>
              <a:latin typeface="Arial" charset="0"/>
            </a:endParaRPr>
          </a:p>
          <a:p>
            <a:endParaRPr lang="en-US" altLang="zh-CN">
              <a:latin typeface="Arial" charset="0"/>
            </a:endParaRPr>
          </a:p>
          <a:p>
            <a:r>
              <a:rPr lang="zh-CN" altLang="en-US">
                <a:latin typeface="Arial" charset="0"/>
              </a:rPr>
              <a:t>各</a:t>
            </a:r>
            <a:r>
              <a:rPr lang="zh-CN" altLang="en-US" dirty="0">
                <a:latin typeface="Arial" charset="0"/>
              </a:rPr>
              <a:t>类期刊、学位论文所需格式</a:t>
            </a:r>
            <a:endParaRPr lang="en-US" altLang="zh-CN" dirty="0">
              <a:latin typeface="Arial" charset="0"/>
            </a:endParaRPr>
          </a:p>
          <a:p>
            <a:pPr lvl="1"/>
            <a:r>
              <a:rPr lang="en-US" altLang="zh-CN" dirty="0">
                <a:hlinkClick r:id="rId4"/>
              </a:rPr>
              <a:t>GitHub - </a:t>
            </a:r>
            <a:r>
              <a:rPr lang="en-US" altLang="zh-CN" dirty="0" err="1">
                <a:hlinkClick r:id="rId4"/>
              </a:rPr>
              <a:t>redleafnew</a:t>
            </a:r>
            <a:r>
              <a:rPr lang="en-US" altLang="zh-CN" dirty="0">
                <a:hlinkClick r:id="rId4"/>
              </a:rPr>
              <a:t>/Chinese-STD-GB-T-7714-related-csl: GB/T 7714</a:t>
            </a:r>
            <a:r>
              <a:rPr lang="zh-CN" altLang="en-US" dirty="0">
                <a:hlinkClick r:id="rId4"/>
              </a:rPr>
              <a:t>相关的</a:t>
            </a:r>
            <a:r>
              <a:rPr lang="en-US" altLang="zh-CN" dirty="0" err="1">
                <a:hlinkClick r:id="rId4"/>
              </a:rPr>
              <a:t>csl</a:t>
            </a:r>
            <a:r>
              <a:rPr lang="zh-CN" altLang="en-US" dirty="0">
                <a:hlinkClick r:id="rId4"/>
              </a:rPr>
              <a:t>以及</a:t>
            </a:r>
            <a:r>
              <a:rPr lang="en-US" altLang="zh-CN" dirty="0">
                <a:hlinkClick r:id="rId4"/>
              </a:rPr>
              <a:t>Zotero</a:t>
            </a:r>
            <a:r>
              <a:rPr lang="zh-CN" altLang="en-US" dirty="0">
                <a:hlinkClick r:id="rId4"/>
              </a:rPr>
              <a:t>使用技巧及教程。</a:t>
            </a:r>
            <a:endParaRPr lang="en-US" altLang="zh-CN" dirty="0"/>
          </a:p>
          <a:p>
            <a:endParaRPr lang="en-US" altLang="zh-CN" dirty="0"/>
          </a:p>
          <a:p>
            <a:r>
              <a:rPr lang="zh-CN" altLang="en-US" dirty="0"/>
              <a:t>批量指定中英文文献类型</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83129" y="597808"/>
            <a:ext cx="1488621" cy="5247821"/>
          </a:xfrm>
        </p:spPr>
        <p:txBody>
          <a:bodyPr/>
          <a:lstStyle/>
          <a:p>
            <a:r>
              <a:rPr lang="zh-CN" altLang="en-US" dirty="0"/>
              <a:t>添加所需要的格式</a:t>
            </a:r>
          </a:p>
        </p:txBody>
      </p:sp>
      <p:pic>
        <p:nvPicPr>
          <p:cNvPr id="5" name="图片 4"/>
          <p:cNvPicPr>
            <a:picLocks noChangeAspect="1"/>
          </p:cNvPicPr>
          <p:nvPr/>
        </p:nvPicPr>
        <p:blipFill>
          <a:blip r:embed="rId2"/>
          <a:stretch>
            <a:fillRect/>
          </a:stretch>
        </p:blipFill>
        <p:spPr>
          <a:xfrm>
            <a:off x="3713878" y="0"/>
            <a:ext cx="7205366" cy="6858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latin typeface="宋体" charset="-122"/>
                <a:ea typeface="宋体" charset="-122"/>
                <a:cs typeface="宋体" charset="-122"/>
              </a:rPr>
              <a:t>简单引用</a:t>
            </a:r>
            <a:endParaRPr lang="zh-CN" altLang="en-US" dirty="0"/>
          </a:p>
        </p:txBody>
      </p:sp>
      <p:sp>
        <p:nvSpPr>
          <p:cNvPr id="3" name="内容占位符 2"/>
          <p:cNvSpPr>
            <a:spLocks noGrp="1"/>
          </p:cNvSpPr>
          <p:nvPr>
            <p:ph idx="1"/>
          </p:nvPr>
        </p:nvSpPr>
        <p:spPr/>
        <p:txBody>
          <a:bodyPr>
            <a:normAutofit lnSpcReduction="10000"/>
          </a:bodyPr>
          <a:lstStyle/>
          <a:p>
            <a:pPr indent="266700" algn="just">
              <a:lnSpc>
                <a:spcPct val="150000"/>
              </a:lnSpc>
            </a:pPr>
            <a:r>
              <a:rPr lang="en-US" altLang="zh-CN" sz="3200" dirty="0">
                <a:solidFill>
                  <a:srgbClr val="121212"/>
                </a:solidFill>
                <a:effectLst/>
                <a:latin typeface="宋体" charset="-122"/>
                <a:ea typeface="宋体" charset="-122"/>
                <a:cs typeface="宋体" charset="-122"/>
              </a:rPr>
              <a:t>1</a:t>
            </a:r>
            <a:r>
              <a:rPr lang="zh-CN" altLang="zh-CN" sz="3200" dirty="0">
                <a:solidFill>
                  <a:srgbClr val="121212"/>
                </a:solidFill>
                <a:effectLst/>
                <a:latin typeface="宋体" charset="-122"/>
                <a:ea typeface="宋体" charset="-122"/>
                <a:cs typeface="宋体" charset="-122"/>
              </a:rPr>
              <a:t>快速复制</a:t>
            </a:r>
            <a:endParaRPr lang="zh-CN" altLang="zh-CN" sz="3200" dirty="0">
              <a:effectLst/>
              <a:latin typeface="宋体" charset="-122"/>
              <a:ea typeface="宋体" charset="-122"/>
              <a:cs typeface="宋体" charset="-122"/>
            </a:endParaRPr>
          </a:p>
          <a:p>
            <a:pPr lvl="1" indent="266700" algn="just">
              <a:lnSpc>
                <a:spcPct val="150000"/>
              </a:lnSpc>
            </a:pPr>
            <a:r>
              <a:rPr lang="zh-CN" altLang="zh-CN" dirty="0">
                <a:solidFill>
                  <a:srgbClr val="121212"/>
                </a:solidFill>
                <a:effectLst/>
                <a:latin typeface="宋体" charset="-122"/>
                <a:ea typeface="宋体" charset="-122"/>
                <a:cs typeface="宋体" charset="-122"/>
              </a:rPr>
              <a:t>如果你只希望在自己的博客或者笔记中插入一些文章而无需遵守严格的引用要求。那么</a:t>
            </a:r>
            <a:r>
              <a:rPr lang="en-US" altLang="zh-CN" dirty="0">
                <a:solidFill>
                  <a:srgbClr val="121212"/>
                </a:solidFill>
                <a:effectLst/>
                <a:latin typeface="宋体" charset="-122"/>
                <a:ea typeface="宋体" charset="-122"/>
                <a:cs typeface="宋体" charset="-122"/>
              </a:rPr>
              <a:t> Zotero </a:t>
            </a:r>
            <a:r>
              <a:rPr lang="zh-CN" altLang="zh-CN" dirty="0">
                <a:solidFill>
                  <a:srgbClr val="121212"/>
                </a:solidFill>
                <a:effectLst/>
                <a:latin typeface="宋体" charset="-122"/>
                <a:ea typeface="宋体" charset="-122"/>
                <a:cs typeface="宋体" charset="-122"/>
              </a:rPr>
              <a:t>本身提供了非常方便的快速复制方法。在设置中可以设置复制时需要的引文格式，然后只需要拖拽即可，非常自由。</a:t>
            </a:r>
            <a:endParaRPr lang="zh-CN" altLang="zh-CN" dirty="0">
              <a:effectLst/>
              <a:latin typeface="宋体" charset="-122"/>
              <a:ea typeface="宋体" charset="-122"/>
              <a:cs typeface="宋体" charset="-122"/>
            </a:endParaRPr>
          </a:p>
          <a:p>
            <a:pPr indent="266700" algn="just">
              <a:lnSpc>
                <a:spcPct val="150000"/>
              </a:lnSpc>
            </a:pPr>
            <a:r>
              <a:rPr lang="en-US" altLang="zh-CN" sz="3200" dirty="0">
                <a:solidFill>
                  <a:srgbClr val="121212"/>
                </a:solidFill>
                <a:effectLst/>
                <a:latin typeface="宋体" charset="-122"/>
                <a:ea typeface="宋体" charset="-122"/>
                <a:cs typeface="宋体" charset="-122"/>
              </a:rPr>
              <a:t>2</a:t>
            </a:r>
            <a:r>
              <a:rPr lang="zh-CN" altLang="zh-CN" sz="3200" dirty="0">
                <a:solidFill>
                  <a:srgbClr val="121212"/>
                </a:solidFill>
                <a:effectLst/>
                <a:latin typeface="宋体" charset="-122"/>
                <a:ea typeface="宋体" charset="-122"/>
                <a:cs typeface="宋体" charset="-122"/>
              </a:rPr>
              <a:t>插入引文</a:t>
            </a:r>
            <a:endParaRPr lang="en-US" altLang="zh-CN" sz="3200" dirty="0">
              <a:solidFill>
                <a:srgbClr val="121212"/>
              </a:solidFill>
              <a:effectLst/>
              <a:latin typeface="宋体" charset="-122"/>
              <a:ea typeface="宋体" charset="-122"/>
              <a:cs typeface="宋体" charset="-122"/>
            </a:endParaRPr>
          </a:p>
          <a:p>
            <a:pPr lvl="1" indent="266700" algn="just">
              <a:lnSpc>
                <a:spcPct val="150000"/>
              </a:lnSpc>
            </a:pPr>
            <a:r>
              <a:rPr lang="zh-CN" altLang="zh-CN" dirty="0">
                <a:solidFill>
                  <a:srgbClr val="121212"/>
                </a:solidFill>
                <a:effectLst/>
                <a:latin typeface="宋体" charset="-122"/>
                <a:ea typeface="宋体" charset="-122"/>
                <a:cs typeface="宋体" charset="-122"/>
              </a:rPr>
              <a:t>若使用快速复制功能，在将项目拖放到文本文档时按住</a:t>
            </a:r>
            <a:r>
              <a:rPr lang="en-US" altLang="zh-CN" dirty="0">
                <a:solidFill>
                  <a:srgbClr val="121212"/>
                </a:solidFill>
                <a:effectLst/>
                <a:latin typeface="宋体" charset="-122"/>
                <a:ea typeface="宋体" charset="-122"/>
                <a:cs typeface="宋体" charset="-122"/>
              </a:rPr>
              <a:t> Shift </a:t>
            </a:r>
            <a:r>
              <a:rPr lang="zh-CN" altLang="zh-CN" dirty="0">
                <a:solidFill>
                  <a:srgbClr val="121212"/>
                </a:solidFill>
                <a:effectLst/>
                <a:latin typeface="宋体" charset="-122"/>
                <a:ea typeface="宋体" charset="-122"/>
                <a:cs typeface="宋体" charset="-122"/>
              </a:rPr>
              <a:t>键能实现插入引文而不是完整引用。</a:t>
            </a:r>
            <a:endParaRPr lang="zh-CN" altLang="zh-CN" dirty="0">
              <a:effectLst/>
              <a:latin typeface="宋体" charset="-122"/>
              <a:ea typeface="宋体" charset="-122"/>
              <a:cs typeface="宋体" charset="-122"/>
            </a:endParaRPr>
          </a:p>
          <a:p>
            <a:pPr algn="just">
              <a:lnSpc>
                <a:spcPct val="150000"/>
              </a:lnSpc>
            </a:pPr>
            <a:endParaRPr lang="zh-CN" altLang="en-US" sz="4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zh-CN" sz="4000" kern="100" dirty="0">
                <a:effectLst/>
                <a:ea typeface="等线" pitchFamily="2" charset="-122"/>
                <a:cs typeface="Times New Roman" pitchFamily="18" charset="0"/>
              </a:rPr>
              <a:t>同一位置批量添加</a:t>
            </a:r>
            <a:r>
              <a:rPr lang="zh-CN" altLang="en-US" sz="4000" kern="100" dirty="0">
                <a:effectLst/>
                <a:ea typeface="等线" pitchFamily="2" charset="-122"/>
                <a:cs typeface="Times New Roman" pitchFamily="18" charset="0"/>
              </a:rPr>
              <a:t>引用</a:t>
            </a:r>
            <a:endParaRPr lang="zh-CN" altLang="en-US" sz="8000" dirty="0"/>
          </a:p>
        </p:txBody>
      </p:sp>
      <p:pic>
        <p:nvPicPr>
          <p:cNvPr id="4" name="内容占位符 3"/>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375954" y="1508034"/>
            <a:ext cx="4106702" cy="4984841"/>
          </a:xfrm>
          <a:prstGeom prst="rect">
            <a:avLst/>
          </a:prstGeom>
        </p:spPr>
      </p:pic>
      <p:sp>
        <p:nvSpPr>
          <p:cNvPr id="6" name="内容占位符 5"/>
          <p:cNvSpPr>
            <a:spLocks noGrp="1"/>
          </p:cNvSpPr>
          <p:nvPr>
            <p:ph sz="half" idx="2"/>
          </p:nvPr>
        </p:nvSpPr>
        <p:spPr/>
        <p:txBody>
          <a:bodyPr>
            <a:normAutofit/>
          </a:bodyPr>
          <a:lstStyle/>
          <a:p>
            <a:r>
              <a:rPr lang="zh-CN" altLang="zh-CN" dirty="0">
                <a:solidFill>
                  <a:srgbClr val="121212"/>
                </a:solidFill>
                <a:effectLst/>
                <a:latin typeface="宋体" charset="-122"/>
                <a:ea typeface="宋体" charset="-122"/>
                <a:cs typeface="宋体" charset="-122"/>
              </a:rPr>
              <a:t>如果在一个位置多次添加引文，并不会得到多个连续的引用标志（就类似先插入</a:t>
            </a:r>
            <a:r>
              <a:rPr lang="en-US" altLang="zh-CN" dirty="0">
                <a:solidFill>
                  <a:srgbClr val="121212"/>
                </a:solidFill>
                <a:effectLst/>
                <a:latin typeface="宋体" charset="-122"/>
                <a:ea typeface="宋体" charset="-122"/>
                <a:cs typeface="宋体" charset="-122"/>
              </a:rPr>
              <a:t>[1]</a:t>
            </a:r>
            <a:r>
              <a:rPr lang="zh-CN" altLang="zh-CN" dirty="0">
                <a:solidFill>
                  <a:srgbClr val="121212"/>
                </a:solidFill>
                <a:effectLst/>
                <a:latin typeface="宋体" charset="-122"/>
                <a:ea typeface="宋体" charset="-122"/>
                <a:cs typeface="宋体" charset="-122"/>
              </a:rPr>
              <a:t>再在后面插入</a:t>
            </a:r>
            <a:r>
              <a:rPr lang="en-US" altLang="zh-CN" dirty="0">
                <a:solidFill>
                  <a:srgbClr val="121212"/>
                </a:solidFill>
                <a:effectLst/>
                <a:latin typeface="宋体" charset="-122"/>
                <a:ea typeface="宋体" charset="-122"/>
                <a:cs typeface="宋体" charset="-122"/>
              </a:rPr>
              <a:t>[2]</a:t>
            </a:r>
            <a:r>
              <a:rPr lang="zh-CN" altLang="zh-CN" dirty="0">
                <a:solidFill>
                  <a:srgbClr val="121212"/>
                </a:solidFill>
                <a:effectLst/>
                <a:latin typeface="宋体" charset="-122"/>
                <a:ea typeface="宋体" charset="-122"/>
                <a:cs typeface="宋体" charset="-122"/>
              </a:rPr>
              <a:t>，最后得到</a:t>
            </a:r>
            <a:r>
              <a:rPr lang="en-US" altLang="zh-CN" dirty="0">
                <a:solidFill>
                  <a:srgbClr val="121212"/>
                </a:solidFill>
                <a:effectLst/>
                <a:latin typeface="宋体" charset="-122"/>
                <a:ea typeface="宋体" charset="-122"/>
                <a:cs typeface="宋体" charset="-122"/>
              </a:rPr>
              <a:t>[1][2]</a:t>
            </a:r>
            <a:r>
              <a:rPr lang="zh-CN" altLang="zh-CN" dirty="0">
                <a:solidFill>
                  <a:srgbClr val="121212"/>
                </a:solidFill>
                <a:effectLst/>
                <a:latin typeface="宋体" charset="-122"/>
                <a:ea typeface="宋体" charset="-122"/>
                <a:cs typeface="宋体" charset="-122"/>
              </a:rPr>
              <a:t>），而只会在原有的基础上调整。如果需要在同一位置插入多个文献，记得选择“多重来源”，否则会将原有的文献挤掉。</a:t>
            </a:r>
            <a:endParaRPr lang="zh-CN" altLang="zh-CN" dirty="0">
              <a:effectLst/>
              <a:latin typeface="宋体" charset="-122"/>
              <a:ea typeface="宋体" charset="-122"/>
              <a:cs typeface="宋体"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文献数据库建立</a:t>
            </a:r>
          </a:p>
        </p:txBody>
      </p:sp>
      <p:sp>
        <p:nvSpPr>
          <p:cNvPr id="3" name="内容占位符 2"/>
          <p:cNvSpPr>
            <a:spLocks noGrp="1"/>
          </p:cNvSpPr>
          <p:nvPr>
            <p:ph idx="1"/>
          </p:nvPr>
        </p:nvSpPr>
        <p:spPr/>
        <p:txBody>
          <a:bodyPr/>
          <a:lstStyle/>
          <a:p>
            <a:r>
              <a:rPr lang="zh-CN" altLang="en-US" dirty="0"/>
              <a:t>题录是否完整</a:t>
            </a:r>
            <a:endParaRPr lang="en-US" altLang="zh-CN" dirty="0"/>
          </a:p>
          <a:p>
            <a:r>
              <a:rPr lang="zh-CN" altLang="en-US" dirty="0"/>
              <a:t>文献是否为期刊的正式版（可改写的</a:t>
            </a:r>
            <a:r>
              <a:rPr lang="en-US" altLang="zh-CN" dirty="0"/>
              <a:t>PDF</a:t>
            </a:r>
            <a:r>
              <a:rPr lang="zh-CN" altLang="en-US" dirty="0"/>
              <a:t>）</a:t>
            </a:r>
            <a:endParaRPr lang="en-US" altLang="zh-CN" dirty="0"/>
          </a:p>
          <a:p>
            <a:r>
              <a:rPr lang="zh-CN" altLang="en-US" dirty="0"/>
              <a:t>建立相应文献搜索索引</a:t>
            </a:r>
            <a:endParaRPr lang="en-US" altLang="zh-CN" dirty="0"/>
          </a:p>
          <a:p>
            <a:r>
              <a:rPr lang="zh-CN" altLang="en-US" dirty="0"/>
              <a:t>进行相关的文献学习</a:t>
            </a:r>
            <a:endParaRPr lang="en-US" altLang="zh-CN" dirty="0"/>
          </a:p>
          <a:p>
            <a:r>
              <a:rPr lang="zh-CN" altLang="en-US" dirty="0"/>
              <a:t>高影响因子期刊文献</a:t>
            </a:r>
            <a:endParaRPr lang="en-US" altLang="zh-CN" dirty="0"/>
          </a:p>
          <a:p>
            <a:r>
              <a:rPr lang="zh-CN" altLang="en-US" dirty="0"/>
              <a:t>页数多、拒绝水刊</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651"/>
            <a:ext cx="12192000" cy="6856697"/>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23684</Words>
  <Application>Microsoft Office PowerPoint</Application>
  <PresentationFormat>宽屏</PresentationFormat>
  <Paragraphs>1600</Paragraphs>
  <Slides>281</Slides>
  <Notes>0</Notes>
  <HiddenSlides>0</HiddenSlides>
  <MMClips>2</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281</vt:i4>
      </vt:variant>
    </vt:vector>
  </HeadingPairs>
  <TitlesOfParts>
    <vt:vector size="307" baseType="lpstr">
      <vt:lpstr>.AppleSystemUIFont</vt:lpstr>
      <vt:lpstr>.PingFang SC</vt:lpstr>
      <vt:lpstr>.PingFangSC-Regular</vt:lpstr>
      <vt:lpstr>.SFUI-Regular_wdth_opsz110000_GRAD_wght</vt:lpstr>
      <vt:lpstr>-apple-system</vt:lpstr>
      <vt:lpstr>Arial Unicode MS</vt:lpstr>
      <vt:lpstr>Helvetica Neue</vt:lpstr>
      <vt:lpstr>Lucida Grande</vt:lpstr>
      <vt:lpstr>Microsoft JhengHei UI Light</vt:lpstr>
      <vt:lpstr>PingFang SC</vt:lpstr>
      <vt:lpstr>PingFangSC-Regular</vt:lpstr>
      <vt:lpstr>PingFangSC-Semibold</vt:lpstr>
      <vt:lpstr>Roboto</vt:lpstr>
      <vt:lpstr>SFMono-Regular</vt:lpstr>
      <vt:lpstr>system-ui</vt:lpstr>
      <vt:lpstr>UICTFontTextStyleBody</vt:lpstr>
      <vt:lpstr>UICTFontTextStyleEmphasizedBody</vt:lpstr>
      <vt:lpstr>v-sans</vt:lpstr>
      <vt:lpstr>等线</vt:lpstr>
      <vt:lpstr>等线 Light</vt:lpstr>
      <vt:lpstr>宋体</vt:lpstr>
      <vt:lpstr>Microsoft YaHei</vt:lpstr>
      <vt:lpstr>Arial</vt:lpstr>
      <vt:lpstr>Times New Roman</vt:lpstr>
      <vt:lpstr>Wingdings</vt:lpstr>
      <vt:lpstr>Office 主题​​</vt:lpstr>
      <vt:lpstr>数字内容管理  Zotero x OpenCode</vt:lpstr>
      <vt:lpstr>余  浩  教授、博导</vt:lpstr>
      <vt:lpstr>第一天： 上午：导论与配置 下午：组织与引用</vt:lpstr>
      <vt:lpstr>导论：数字化学习——长期主义选择</vt:lpstr>
      <vt:lpstr>数字内容管理内容</vt:lpstr>
      <vt:lpstr>PowerPoint 演示文稿</vt:lpstr>
      <vt:lpstr>数字化基础</vt:lpstr>
      <vt:lpstr>数字化概念：从模拟到数字、从记录到创作</vt:lpstr>
      <vt:lpstr>国内现状</vt:lpstr>
      <vt:lpstr>PowerPoint 演示文稿</vt:lpstr>
      <vt:lpstr>PowerPoint 演示文稿</vt:lpstr>
      <vt:lpstr>多模态应用（文本、图表和音视频）</vt:lpstr>
      <vt:lpstr>知识库资料来源——小白学术： https://www.sssam.com/</vt:lpstr>
      <vt:lpstr>语音输入（2026方案）</vt:lpstr>
      <vt:lpstr>PowerPoint 演示文稿</vt:lpstr>
      <vt:lpstr>PowerPoint 演示文稿</vt:lpstr>
      <vt:lpstr>智能绘图2025方案——AI Draw Nexus https://ai-draw-nexus.aizhi.site/</vt:lpstr>
      <vt:lpstr>PowerPoint 演示文稿</vt:lpstr>
      <vt:lpstr>https://tiktokenizer.f2api.com/</vt:lpstr>
      <vt:lpstr>文档解析神器——MinerU: https://mineru.net/</vt:lpstr>
      <vt:lpstr>开源软件 Zotero定制：中台概念 （Endnote、Mendeley、Papers for Mac皆可转移至 Zotero）</vt:lpstr>
      <vt:lpstr>选择Zotero（平台工具）</vt:lpstr>
      <vt:lpstr>靶心文章选择（PDF格式）</vt:lpstr>
      <vt:lpstr>必读精品 （涌现结果：过去、现在和将来）</vt:lpstr>
      <vt:lpstr>PDF根据不同期刊有单栏、双栏甚至三栏</vt:lpstr>
      <vt:lpstr>PDF可抓取大量的信息</vt:lpstr>
      <vt:lpstr>文章状态</vt:lpstr>
      <vt:lpstr>数字信息重要</vt:lpstr>
      <vt:lpstr>实操一：组件引擎配置</vt:lpstr>
      <vt:lpstr>PowerPoint 演示文稿</vt:lpstr>
      <vt:lpstr>下载及添加插件的方式</vt:lpstr>
      <vt:lpstr>插件添加（Plugins）</vt:lpstr>
      <vt:lpstr>Zotero 插件商店 | Zotero 中文社区</vt:lpstr>
      <vt:lpstr>PowerPoint 演示文稿</vt:lpstr>
      <vt:lpstr>PowerPoint 演示文稿</vt:lpstr>
      <vt:lpstr>PowerPoint 演示文稿</vt:lpstr>
      <vt:lpstr>搜索引擎添加</vt:lpstr>
      <vt:lpstr>修改数据文件夹的引擎文件</vt:lpstr>
      <vt:lpstr>图谱分析（Connected Papers）</vt:lpstr>
      <vt:lpstr>PowerPoint 演示文稿</vt:lpstr>
      <vt:lpstr>关联文献补充（semanticscholar）</vt:lpstr>
      <vt:lpstr>PowerPoint 演示文稿</vt:lpstr>
      <vt:lpstr>PowerPoint 演示文稿</vt:lpstr>
      <vt:lpstr>实操二：分类条目创建</vt:lpstr>
      <vt:lpstr>PowerPoint 演示文稿</vt:lpstr>
      <vt:lpstr>现有信息学习</vt:lpstr>
      <vt:lpstr>相关信息如何拓展</vt:lpstr>
      <vt:lpstr>题录获取：第一种方式</vt:lpstr>
      <vt:lpstr>题录获取：第二种方式</vt:lpstr>
      <vt:lpstr>如何更新题录</vt:lpstr>
      <vt:lpstr>PowerPoint 演示文稿</vt:lpstr>
      <vt:lpstr>PowerPoint 演示文稿</vt:lpstr>
      <vt:lpstr>PowerPoint 演示文稿</vt:lpstr>
      <vt:lpstr>文献下载</vt:lpstr>
      <vt:lpstr>举例：先题录后PDF，还是先PDF后题录</vt:lpstr>
      <vt:lpstr>实操三：引用格式添加</vt:lpstr>
      <vt:lpstr>添加所需要的格式</vt:lpstr>
      <vt:lpstr>简单引用</vt:lpstr>
      <vt:lpstr>同一位置批量添加引用</vt:lpstr>
      <vt:lpstr>文献数据库建立</vt:lpstr>
      <vt:lpstr>PowerPoint 演示文稿</vt:lpstr>
      <vt:lpstr>第二天： 上午：备份与同步 下午：索引与检索</vt:lpstr>
      <vt:lpstr>电脑经验</vt:lpstr>
      <vt:lpstr>练习：</vt:lpstr>
      <vt:lpstr>Opencode x Zotero</vt:lpstr>
      <vt:lpstr>资源出处：GitHub让你保持领先</vt:lpstr>
      <vt:lpstr>请在此处添加标题</vt:lpstr>
      <vt:lpstr>四个基本问题</vt:lpstr>
      <vt:lpstr>PowerPoint 演示文稿</vt:lpstr>
      <vt:lpstr>配置：文件让AI帮你搞定</vt:lpstr>
      <vt:lpstr>技能包</vt:lpstr>
      <vt:lpstr>PowerPoint 演示文稿</vt:lpstr>
      <vt:lpstr>PowerPoint 演示文稿</vt:lpstr>
      <vt:lpstr>Zotero+Opencode</vt:lpstr>
      <vt:lpstr>PowerPoint 演示文稿</vt:lpstr>
      <vt:lpstr>PowerPoint 演示文稿</vt:lpstr>
      <vt:lpstr>PowerPoint 演示文稿</vt:lpstr>
      <vt:lpstr>PowerPoint 演示文稿</vt:lpstr>
      <vt:lpstr>PowerPoint 演示文稿</vt:lpstr>
      <vt:lpstr>Zotero：人工建库有价值？</vt:lpstr>
      <vt:lpstr>参考文献解析</vt:lpstr>
      <vt:lpstr>PowerPoint 演示文稿</vt:lpstr>
      <vt:lpstr>https://anystyle.io</vt:lpstr>
      <vt:lpstr>实操四：内容备份同步</vt:lpstr>
      <vt:lpstr>备份功能：导出分类</vt:lpstr>
      <vt:lpstr>复制备份</vt:lpstr>
      <vt:lpstr>Zotero的盈利功能： 云同步功能（Zotero帐号先注册上）</vt:lpstr>
      <vt:lpstr>PowerPoint 演示文稿</vt:lpstr>
      <vt:lpstr>步骤 1：准备 WebDAV 服务</vt:lpstr>
      <vt:lpstr>常见 WebDAV 服务：</vt:lpstr>
      <vt:lpstr>步骤 2：设置 WebDAV 同步</vt:lpstr>
      <vt:lpstr>步骤 3：验证同步</vt:lpstr>
      <vt:lpstr>常见问题解决</vt:lpstr>
      <vt:lpstr>备份建议</vt:lpstr>
      <vt:lpstr>万一出问题可恢复</vt:lpstr>
      <vt:lpstr>最后检查</vt:lpstr>
      <vt:lpstr>附件管理：位置</vt:lpstr>
      <vt:lpstr>演示：</vt:lpstr>
      <vt:lpstr>实操五：全局检索</vt:lpstr>
      <vt:lpstr>学习自动标签</vt:lpstr>
      <vt:lpstr>全文搜索（Zotero自带功能）</vt:lpstr>
      <vt:lpstr>先采用普通搜索：分三类</vt:lpstr>
      <vt:lpstr>运用标签去全文搜索</vt:lpstr>
      <vt:lpstr>全文搜索实现</vt:lpstr>
      <vt:lpstr>PowerPoint 演示文稿</vt:lpstr>
      <vt:lpstr>如何解决未检索的文献</vt:lpstr>
      <vt:lpstr>解决未索引的文件——数字搜索</vt:lpstr>
      <vt:lpstr>未检索文献来源</vt:lpstr>
      <vt:lpstr>简洁命名</vt:lpstr>
      <vt:lpstr>检索机制</vt:lpstr>
      <vt:lpstr>2. 搜索语法</vt:lpstr>
      <vt:lpstr>3. 快速筛选与保存</vt:lpstr>
      <vt:lpstr>4. 检索效率技巧</vt:lpstr>
      <vt:lpstr>文献管理合适量</vt:lpstr>
      <vt:lpstr>2. Zotero 的软性限制</vt:lpstr>
      <vt:lpstr>3. 用户场景建议</vt:lpstr>
      <vt:lpstr>第三天： 上午：翻译与笔记 下午：内容生成</vt:lpstr>
      <vt:lpstr>PowerPoint 演示文稿</vt:lpstr>
      <vt:lpstr>为何选择生成式人工智能（GenAI）</vt:lpstr>
      <vt:lpstr>生成式人工智能 (Generative AI)：算命先生</vt:lpstr>
      <vt:lpstr>概念定义</vt:lpstr>
      <vt:lpstr>离散数学中的自然语言处理相关知识</vt:lpstr>
      <vt:lpstr>表1：各国GenAI典型代表</vt:lpstr>
      <vt:lpstr>表2 自然语言处理（NLP）部分科学里程碑（Bouschery et al., 2023）</vt:lpstr>
      <vt:lpstr>大语言模型创新框架（Sundberg L 等, 2024）</vt:lpstr>
      <vt:lpstr>四大功能的解释（Sundberg L 等, 2024）</vt:lpstr>
      <vt:lpstr>情景问题？</vt:lpstr>
      <vt:lpstr>Mariani M, Dwivedi Y K, 2024. Generative artificial intelligence in innovation management: a preview of future research developments[J]. Journal of Business Research, 175(3): 114542.</vt:lpstr>
      <vt:lpstr>PowerPoint 演示文稿</vt:lpstr>
      <vt:lpstr>学术领域的观点</vt:lpstr>
      <vt:lpstr>图2. 人工智能准备度(AIR)的概念模型(Tehrani 等, 2024, p. 7)</vt:lpstr>
      <vt:lpstr>AI准备度可以归纳为八个关键维度：</vt:lpstr>
      <vt:lpstr>Moving from prediction to creativity: implications of generative AI on measurement of success</vt:lpstr>
      <vt:lpstr>PowerPoint 演示文稿</vt:lpstr>
      <vt:lpstr>Bahoo S, Cucculelli M, Qamar D, 2023. Artificial intelligence and corporate innovation: a review and research agenda[J]. Technological Forecasting and Social Change, 188(3): 122264.</vt:lpstr>
      <vt:lpstr>PowerPoint 演示文稿</vt:lpstr>
      <vt:lpstr>PowerPoint 演示文稿</vt:lpstr>
      <vt:lpstr>主要共识：</vt:lpstr>
      <vt:lpstr>PowerPoint 演示文稿</vt:lpstr>
      <vt:lpstr>实操六：智能翻译（ Zotero PDF Tranlate ）</vt:lpstr>
      <vt:lpstr>PowerPoint 演示文稿</vt:lpstr>
      <vt:lpstr>阅读基础：智能翻译</vt:lpstr>
      <vt:lpstr>PowerPoint 演示文稿</vt:lpstr>
      <vt:lpstr>Kindle精读应用背景</vt:lpstr>
      <vt:lpstr>设备越狱</vt:lpstr>
      <vt:lpstr>KUAL界面</vt:lpstr>
      <vt:lpstr>进入文件管理器</vt:lpstr>
      <vt:lpstr>KOReader印象笔记功能</vt:lpstr>
      <vt:lpstr>狗耳朵日报推送功能</vt:lpstr>
      <vt:lpstr>Kindle的字典功能与标注功能</vt:lpstr>
      <vt:lpstr>修改hosts文件——智能翻译</vt:lpstr>
      <vt:lpstr>解决谷歌翻译问题</vt:lpstr>
      <vt:lpstr>Mac修改hosts文档</vt:lpstr>
      <vt:lpstr>实操七：数字笔记（ Zotero Better Notes ）</vt:lpstr>
      <vt:lpstr>Markdown笔记的主要规则包括：</vt:lpstr>
      <vt:lpstr>Better Notes (BN) is a plugin for Zotero.</vt:lpstr>
      <vt:lpstr>文字内容</vt:lpstr>
      <vt:lpstr>表格内容</vt:lpstr>
      <vt:lpstr>PowerPoint 演示文稿</vt:lpstr>
      <vt:lpstr>图片内容</vt:lpstr>
      <vt:lpstr>PowerPoint 演示文稿</vt:lpstr>
      <vt:lpstr>公式生成</vt:lpstr>
      <vt:lpstr>实操八：内容生成（ Zotero GPT）</vt:lpstr>
      <vt:lpstr>PowerPoint 演示文稿</vt:lpstr>
      <vt:lpstr>PowerPoint 演示文稿</vt:lpstr>
      <vt:lpstr>PowerPoint 演示文稿</vt:lpstr>
      <vt:lpstr>PowerPoint 演示文稿</vt:lpstr>
      <vt:lpstr>LLM，是继数据库和搜索引擎之后的“全新⼀代知识表示和调⽤⽅式”， 将会极⼤改善⼈类的专业能⼒之间的交互⽅式。</vt:lpstr>
      <vt:lpstr>AI应用三角定律：语料、算力、算法</vt:lpstr>
      <vt:lpstr>PowerPoint 演示文稿</vt:lpstr>
      <vt:lpstr>编程技能：</vt:lpstr>
      <vt:lpstr>Quick Commands</vt:lpstr>
      <vt:lpstr>About Tag</vt:lpstr>
      <vt:lpstr>Improve writing</vt:lpstr>
      <vt:lpstr>Selection</vt:lpstr>
      <vt:lpstr>Items</vt:lpstr>
      <vt:lpstr>AskPDF</vt:lpstr>
      <vt:lpstr>About Input Text</vt:lpstr>
      <vt:lpstr>PowerPoint 演示文稿</vt:lpstr>
      <vt:lpstr>PowerPoint 演示文稿</vt:lpstr>
      <vt:lpstr>DeepSeek: 能力细节（文本、非视觉模型）</vt:lpstr>
      <vt:lpstr>长文本与跨文本</vt:lpstr>
      <vt:lpstr>脚本改进：代码解密</vt:lpstr>
      <vt:lpstr>PowerPoint 演示文稿</vt:lpstr>
      <vt:lpstr>提示词元素</vt:lpstr>
      <vt:lpstr>GPT使用策略</vt:lpstr>
      <vt:lpstr>ChatGPT谈战略与创新：交互式问题</vt:lpstr>
      <vt:lpstr>测试问题</vt:lpstr>
      <vt:lpstr>主要判据</vt:lpstr>
      <vt:lpstr>对于一般理论的提问：以惯例研究为例</vt:lpstr>
      <vt:lpstr>相关法律条款问题</vt:lpstr>
      <vt:lpstr>数字内容生成</vt:lpstr>
      <vt:lpstr>写作法则</vt:lpstr>
      <vt:lpstr>数据质量判定——内容生成</vt:lpstr>
      <vt:lpstr>JavaScript主要特点</vt:lpstr>
      <vt:lpstr>JavaScript学习资源</vt:lpstr>
      <vt:lpstr>数据库结构</vt:lpstr>
      <vt:lpstr>SQLite数据库</vt:lpstr>
      <vt:lpstr>完全功能的PDF电子书</vt:lpstr>
      <vt:lpstr>确保 PDF 内容不被修改</vt:lpstr>
      <vt:lpstr>要获取 PDF 文件的元数据：</vt:lpstr>
      <vt:lpstr>结论：官网AI效果最佳（比如OpenAI）</vt:lpstr>
      <vt:lpstr>第四天： 上午：本地RAG 下午：分组交流</vt:lpstr>
      <vt:lpstr>生成式AI的残酷真相</vt:lpstr>
      <vt:lpstr>剖析95%的失败：四大“天坑”如何吞噬企业的AI雄心</vt:lpstr>
      <vt:lpstr>解码5%的成功者：穿越鸿沟的四大黄金法则</vt:lpstr>
      <vt:lpstr>“影子AI”成为真正的生产力引擎</vt:lpstr>
      <vt:lpstr>AI技能不再是加分项，而是必备项</vt:lpstr>
      <vt:lpstr>一、无尽的提问</vt:lpstr>
      <vt:lpstr>PowerPoint 演示文稿</vt:lpstr>
      <vt:lpstr>PowerPoint 演示文稿</vt:lpstr>
      <vt:lpstr>二、提示词元素</vt:lpstr>
      <vt:lpstr>AI的⽐喻：超级热情但缺乏经验的实习⽣</vt:lpstr>
      <vt:lpstr>Context Engineering（上下⽂⼯程）</vt:lpstr>
      <vt:lpstr>三、提示词技巧</vt:lpstr>
      <vt:lpstr>1、Few-Shot Prompting（少样本示例）</vt:lpstr>
      <vt:lpstr>2、Chain-of-Thought（思维链推理）</vt:lpstr>
      <vt:lpstr>3、Reverse Prompting（反向提问）</vt:lpstr>
      <vt:lpstr>4、Role Assignment（⻆⾊赋能）</vt:lpstr>
      <vt:lpstr>四、三种思维训练</vt:lpstr>
      <vt:lpstr>模拟困难对话</vt:lpstr>
      <vt:lpstr>严苛批评</vt:lpstr>
      <vt:lpstr>扩展想象⼒</vt:lpstr>
      <vt:lpstr>训练案例</vt:lpstr>
      <vt:lpstr>PowerPoint 演示文稿</vt:lpstr>
      <vt:lpstr>AI Snake Oil《AI蛇油》  Arvind Narayanan &amp; Sayash Kapoor Princeton Univ. Press (2024)</vt:lpstr>
      <vt:lpstr>PowerPoint 演示文稿</vt:lpstr>
      <vt:lpstr>“混合型角色”的崛起</vt:lpstr>
      <vt:lpstr>术语介绍</vt:lpstr>
      <vt:lpstr>检索增强生成(Retrieval-augmented generation)</vt:lpstr>
      <vt:lpstr>技术简介</vt:lpstr>
      <vt:lpstr>RAG 流程应用于问答的代表性实例。它主要包括 3 个步骤。1）索引。将文档拆分成块，编码成向量，并存储在向量数据库中。2）检索。根据语义相似性检索与问题最相关的 Top k 个块。3)生成。将原始问题和检索到的块一起输入 LLM 以生成最终答案。</vt:lpstr>
      <vt:lpstr>以下是 RAG 发展的几个版本：</vt:lpstr>
      <vt:lpstr>PowerPoint 演示文稿</vt:lpstr>
      <vt:lpstr>PowerPoint 演示文稿</vt:lpstr>
      <vt:lpstr>PowerPoint 演示文稿</vt:lpstr>
      <vt:lpstr>PowerPoint 演示文稿</vt:lpstr>
      <vt:lpstr>PowerPoint 演示文稿</vt:lpstr>
      <vt:lpstr>技术框架</vt:lpstr>
      <vt:lpstr>RAG 技术编程领域实现原理</vt:lpstr>
      <vt:lpstr>https://tiktokenizer.f2api.com/</vt:lpstr>
      <vt:lpstr>文档解析神器——MinerU: https://mineru.net/</vt:lpstr>
      <vt:lpstr>LLM训练数据集的选择与清洗：从Common Crawl到高质量语料库</vt:lpstr>
      <vt:lpstr>分词挑战：词级与字符级的权衡</vt:lpstr>
      <vt:lpstr>字节对编码：GPT模型的分词选择</vt:lpstr>
      <vt:lpstr>对话格式与特殊标记的应用</vt:lpstr>
      <vt:lpstr>训练数据准备：上下文窗口与标签错位</vt:lpstr>
      <vt:lpstr>GPT系列模型的数据规模演进</vt:lpstr>
      <vt:lpstr>数据准备与分词处理结论</vt:lpstr>
      <vt:lpstr>机器学习中的文本数据转换基础</vt:lpstr>
      <vt:lpstr>独热编码：解决数值排序问题的方法</vt:lpstr>
      <vt:lpstr>词袋模型与n元语法：添加上下文信息</vt:lpstr>
      <vt:lpstr>词嵌入：捕捉词语语义的密集向量表示</vt:lpstr>
      <vt:lpstr>Word2Vec：训练词嵌入的经典方法</vt:lpstr>
      <vt:lpstr>Transformer中的词嵌入机制</vt:lpstr>
      <vt:lpstr>位置编码：添加序列信息</vt:lpstr>
      <vt:lpstr>结论：词嵌入在自然语言处理中的关键作用</vt:lpstr>
      <vt:lpstr>知识库AI——ima.copilot      https://ima.qq.com/</vt:lpstr>
      <vt:lpstr>知识库：从Zotero整体添加（Moov Add-on）</vt:lpstr>
      <vt:lpstr>PowerPoint 演示文稿</vt:lpstr>
      <vt:lpstr>PowerPoint 演示文稿</vt:lpstr>
      <vt:lpstr>AI-Butler: 文献自动全文解读 （Deepseek，185元看完我的4500篇）</vt:lpstr>
      <vt:lpstr>AI时代重要工具：数字笔记（Markdown）</vt:lpstr>
      <vt:lpstr>AI与知识库部署模式矩阵</vt:lpstr>
      <vt:lpstr>PowerPoint 演示文稿</vt:lpstr>
      <vt:lpstr>生成播客：Hambrick D C, 1994. What if the academy actually mattered?[J]. Academy of Management Review, 19(1): 11-16. </vt:lpstr>
      <vt:lpstr>本科项目管理大作业：用AI看45分钟纪录片视频写观后感（语音、文本、图片结合）</vt:lpstr>
      <vt:lpstr>PowerPoint 演示文稿</vt:lpstr>
      <vt:lpstr>PowerPoint 演示文稿</vt:lpstr>
      <vt:lpstr>PowerPoint 演示文稿</vt:lpstr>
      <vt:lpstr>总结：</vt:lpstr>
      <vt:lpstr>如果用Python，装个anaconda，Jupyter Notebook教学好用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启示：</vt:lpstr>
      <vt:lpstr>结语</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数字化写作</dc:title>
  <dc:creator>DELL</dc:creator>
  <cp:lastModifiedBy>Hao Yu</cp:lastModifiedBy>
  <cp:revision>389</cp:revision>
  <dcterms:created xsi:type="dcterms:W3CDTF">1900-01-01T00:00:00Z</dcterms:created>
  <dcterms:modified xsi:type="dcterms:W3CDTF">2026-08-20T11:53:38Z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1CE3D73E368C493CE8B903658A64F986_32</vt:lpwstr>
  </property>
  <property fmtid="{D5CDD505-2E9C-101B-9397-08002B2CF9AE}" pid="3" name="KSOProductBuildVer">
    <vt:lpwstr>2052-12.41.0</vt:lpwstr>
  </property>
</Properties>
</file>