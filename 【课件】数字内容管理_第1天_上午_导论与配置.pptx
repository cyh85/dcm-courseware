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403" r:id="rId3"/>
    <p:sldId id="514" r:id="rId4"/>
    <p:sldId id="410" r:id="rId5"/>
    <p:sldId id="488" r:id="rId6"/>
    <p:sldId id="490" r:id="rId7"/>
    <p:sldId id="404" r:id="rId8"/>
    <p:sldId id="408" r:id="rId9"/>
    <p:sldId id="281" r:id="rId10"/>
    <p:sldId id="499" r:id="rId11"/>
    <p:sldId id="500" r:id="rId12"/>
    <p:sldId id="502" r:id="rId13"/>
    <p:sldId id="503" r:id="rId14"/>
    <p:sldId id="504" r:id="rId15"/>
    <p:sldId id="505" r:id="rId16"/>
    <p:sldId id="506" r:id="rId17"/>
    <p:sldId id="257" r:id="rId18"/>
    <p:sldId id="507" r:id="rId19"/>
    <p:sldId id="508" r:id="rId20"/>
    <p:sldId id="509" r:id="rId21"/>
    <p:sldId id="412" r:id="rId22"/>
    <p:sldId id="413" r:id="rId23"/>
    <p:sldId id="450" r:id="rId24"/>
    <p:sldId id="463" r:id="rId25"/>
    <p:sldId id="465" r:id="rId26"/>
    <p:sldId id="466" r:id="rId27"/>
    <p:sldId id="464" r:id="rId28"/>
    <p:sldId id="411" r:id="rId29"/>
    <p:sldId id="259" r:id="rId30"/>
    <p:sldId id="495" r:id="rId31"/>
    <p:sldId id="258" r:id="rId32"/>
    <p:sldId id="455" r:id="rId33"/>
    <p:sldId id="496" r:id="rId34"/>
    <p:sldId id="497" r:id="rId35"/>
    <p:sldId id="498" r:id="rId36"/>
    <p:sldId id="489" r:id="rId37"/>
    <p:sldId id="452" r:id="rId38"/>
    <p:sldId id="453" r:id="rId39"/>
    <p:sldId id="444" r:id="rId40"/>
    <p:sldId id="445" r:id="rId41"/>
    <p:sldId id="446" r:id="rId42"/>
    <p:sldId id="447" r:id="rId43"/>
    <p:sldId id="448" r:id="rId4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7252" autoAdjust="0"/>
    <p:restoredTop sz="94660"/>
  </p:normalViewPr>
  <p:slideViewPr>
    <p:cSldViewPr snapToGrid="0" showGuides="1">
      <p:cViewPr varScale="1">
        <p:scale>
          <a:sx n="60" d="100"/>
          <a:sy n="60" d="100"/>
        </p:scale>
        <p:origin x="27" y="525"/>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283" Type="http://schemas.openxmlformats.org/officeDocument/2006/relationships/presProps" Target="presProps.xml"/><Relationship Id="rId284" Type="http://schemas.openxmlformats.org/officeDocument/2006/relationships/viewProps" Target="viewProps.xml"/><Relationship Id="rId285" Type="http://schemas.openxmlformats.org/officeDocument/2006/relationships/theme" Target="theme/theme1.xml"/><Relationship Id="rId28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7" name="Rectangle 4"/>
          <p:cNvSpPr>
            <a:spLocks noGrp="1"/>
          </p:cNvSpPr>
          <p:nvPr>
            <p:ph type="dt" sz="half" idx="10"/>
          </p:nvPr>
        </p:nvSpPr>
        <p:spPr/>
        <p:txBody>
          <a:bodyPr/>
          <a:lstStyle>
            <a:lvl1pPr>
              <a:defRPr/>
            </a:lvl1pPr>
          </a:lstStyle>
          <a:p>
            <a:pPr>
              <a:defRPr/>
            </a:pPr>
            <a:fld id="{BB962C8B-B14F-4D97-AF65-F5344CB8AC3E}" type="datetime1">
              <a:rPr lang="en-US" altLang="zh-CN"/>
              <a:t>8/20/2026</a:t>
            </a:fld>
            <a:endParaRPr lang="en-US" altLang="zh-CN"/>
          </a:p>
        </p:txBody>
      </p:sp>
      <p:sp>
        <p:nvSpPr>
          <p:cNvPr id="8" name="Rectangle 5"/>
          <p:cNvSpPr>
            <a:spLocks noGrp="1"/>
          </p:cNvSpPr>
          <p:nvPr>
            <p:ph type="ftr" sz="quarter" idx="11"/>
          </p:nvPr>
        </p:nvSpPr>
        <p:spPr/>
        <p:txBody>
          <a:bodyPr/>
          <a:lstStyle>
            <a:lvl1pPr>
              <a:defRPr/>
            </a:lvl1pPr>
          </a:lstStyle>
          <a:p>
            <a:pPr>
              <a:defRPr/>
            </a:pPr>
            <a:endParaRPr lang="en-US" altLang="zh-CN"/>
          </a:p>
        </p:txBody>
      </p:sp>
      <p:sp>
        <p:nvSpPr>
          <p:cNvPr id="9" name="Rectangle 6"/>
          <p:cNvSpPr>
            <a:spLocks noGrp="1"/>
          </p:cNvSpPr>
          <p:nvPr>
            <p:ph type="sldNum" sz="quarter" idx="12"/>
          </p:nvPr>
        </p:nvSpPr>
        <p:spPr/>
        <p:txBody>
          <a:bodyPr/>
          <a:lstStyle>
            <a:lvl1pPr>
              <a:defRPr smtClean="0"/>
            </a:lvl1pPr>
          </a:lstStyle>
          <a:p>
            <a:pPr>
              <a:defRPr/>
            </a:pPr>
            <a:fld id="{59BA1AF2-122D-413B-9A6F-A4FE069461D2}" type="slidenum">
              <a:rPr lang="en-US" altLang="zh-CN"/>
              <a:t>‹#›</a:t>
            </a:fld>
            <a:endParaRPr lang="en-US" altLang="zh-CN" dirty="0"/>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A03BB3-B2AA-4365-8D21-2931F66B5648}"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www.ooopn.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finance.sina.com.cn/leadership/magazine/20141229/060521184436.shtml" TargetMode="External"/><Relationship Id="rId3" Type="http://schemas.openxmlformats.org/officeDocument/2006/relationships/image" Target="../media/image2.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zotero.org/"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hub.com/" TargetMode="External"/><Relationship Id="rId3" Type="http://schemas.openxmlformats.org/officeDocument/2006/relationships/hyperlink" Target="https://zotero.org/"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zotero-chinese.com/plugins/#search=Add-on+Market+for+Zotero" TargetMode="External"/><Relationship Id="rId3"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zhuanlan.zhihu.com/p/564921230"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onnectedpapers.com/"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semanticscholar.org/"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007134"/>
          </a:xfrm>
        </p:spPr>
        <p:txBody>
          <a:bodyPr>
            <a:normAutofit fontScale="90000"/>
          </a:bodyPr>
          <a:lstStyle/>
          <a:p>
            <a:r>
              <a:rPr lang="zh-CN" altLang="en-US" sz="5300" dirty="0"/>
              <a:t>数字内容管理</a:t>
            </a:r>
            <a:br>
              <a:rPr lang="en-US" altLang="zh-CN" sz="4800" dirty="0"/>
            </a:br>
            <a:br>
              <a:rPr lang="en-US" altLang="zh-CN" sz="4800" dirty="0"/>
            </a:br>
            <a:r>
              <a:rPr lang="en-US" altLang="zh-CN" sz="4800" dirty="0"/>
              <a:t>Zotero x </a:t>
            </a:r>
            <a:r>
              <a:rPr lang="en-US" altLang="zh-CN" sz="4800" dirty="0" err="1"/>
              <a:t>OpenCode</a:t>
            </a:r>
            <a:endParaRPr lang="zh-CN" altLang="en-US" sz="4800" dirty="0"/>
          </a:p>
        </p:txBody>
      </p:sp>
      <p:sp>
        <p:nvSpPr>
          <p:cNvPr id="3" name="副标题 2"/>
          <p:cNvSpPr>
            <a:spLocks noGrp="1"/>
          </p:cNvSpPr>
          <p:nvPr>
            <p:ph type="subTitle" idx="1"/>
          </p:nvPr>
        </p:nvSpPr>
        <p:spPr/>
        <p:txBody>
          <a:bodyPr>
            <a:normAutofit/>
          </a:bodyPr>
          <a:lstStyle/>
          <a:p>
            <a:r>
              <a:rPr lang="zh-CN" altLang="en-US" dirty="0"/>
              <a:t>余  浩</a:t>
            </a:r>
            <a:endParaRPr lang="en-US" altLang="zh-CN" dirty="0"/>
          </a:p>
          <a:p>
            <a:r>
              <a:rPr lang="zh-CN" altLang="en-US" dirty="0"/>
              <a:t>浙江工业大学管理学院</a:t>
            </a:r>
          </a:p>
          <a:p>
            <a:r>
              <a:rPr lang="en-US" altLang="zh-CN" dirty="0"/>
              <a:t>2026/9/14</a:t>
            </a:r>
            <a:endParaRPr lang="zh-CN" altLang="en-US" dirty="0"/>
          </a:p>
        </p:txBody>
      </p:sp>
      <p:sp>
        <p:nvSpPr>
          <p:cNvPr id="5" name="文本框 4"/>
          <p:cNvSpPr txBox="1"/>
          <p:nvPr/>
        </p:nvSpPr>
        <p:spPr>
          <a:xfrm>
            <a:off x="3267728" y="5550971"/>
            <a:ext cx="6097044" cy="369332"/>
          </a:xfrm>
          <a:prstGeom prst="rect">
            <a:avLst/>
          </a:prstGeom>
          <a:noFill/>
        </p:spPr>
        <p:txBody>
          <a:bodyPr wrap="square">
            <a:spAutoFit/>
          </a:bodyPr>
          <a:lstStyle/>
          <a:p>
            <a:pPr algn="ctr"/>
            <a:r>
              <a:rPr lang="en-US" altLang="zh-CN" dirty="0"/>
              <a:t>AI</a:t>
            </a:r>
            <a:r>
              <a:rPr lang="zh-CN" altLang="en-US" dirty="0"/>
              <a:t>始终是“工具”，而非神明</a:t>
            </a:r>
            <a:r>
              <a:rPr lang="en-US" altLang="zh-CN" dirty="0"/>
              <a:t>——</a:t>
            </a:r>
            <a:r>
              <a:rPr lang="zh-CN" altLang="en-US" dirty="0"/>
              <a:t>李飞飞</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idx="4294967295"/>
          </p:nvPr>
        </p:nvSpPr>
        <p:spPr>
          <a:xfrm>
            <a:off x="1990725" y="981075"/>
            <a:ext cx="8229600" cy="935038"/>
          </a:xfrm>
        </p:spPr>
        <p:txBody>
          <a:bodyPr/>
          <a:lstStyle/>
          <a:p>
            <a:r>
              <a:rPr lang="zh-CN" altLang="en-US"/>
              <a:t>余  浩  </a:t>
            </a:r>
            <a:r>
              <a:rPr lang="zh-CN" altLang="en-US" sz="2400"/>
              <a:t>教授、博导</a:t>
            </a:r>
          </a:p>
        </p:txBody>
      </p:sp>
      <p:sp>
        <p:nvSpPr>
          <p:cNvPr id="8195" name="Rectangle 3"/>
          <p:cNvSpPr>
            <a:spLocks noGrp="1"/>
          </p:cNvSpPr>
          <p:nvPr>
            <p:ph type="body" idx="4294967295"/>
          </p:nvPr>
        </p:nvSpPr>
        <p:spPr>
          <a:xfrm>
            <a:off x="1981200" y="2060576"/>
            <a:ext cx="8229600" cy="4321175"/>
          </a:xfrm>
        </p:spPr>
        <p:txBody>
          <a:bodyPr>
            <a:normAutofit fontScale="92500" lnSpcReduction="10000"/>
          </a:bodyPr>
          <a:lstStyle/>
          <a:p>
            <a:r>
              <a:rPr lang="zh-CN" altLang="en-US" dirty="0"/>
              <a:t>教育背景：</a:t>
            </a:r>
            <a:endParaRPr lang="en-US" altLang="zh-CN" dirty="0"/>
          </a:p>
          <a:p>
            <a:pPr lvl="1"/>
            <a:r>
              <a:rPr lang="zh-CN" altLang="en-US" dirty="0"/>
              <a:t>本科专业食品工程师资；</a:t>
            </a:r>
            <a:endParaRPr lang="en-US" altLang="zh-CN" dirty="0"/>
          </a:p>
          <a:p>
            <a:pPr lvl="1"/>
            <a:r>
              <a:rPr lang="zh-CN" altLang="en-US" dirty="0"/>
              <a:t>硕士专业技术经济及管理；</a:t>
            </a:r>
            <a:endParaRPr lang="en-US" altLang="zh-CN" dirty="0"/>
          </a:p>
          <a:p>
            <a:pPr lvl="1"/>
            <a:r>
              <a:rPr lang="zh-CN" altLang="en-US" dirty="0"/>
              <a:t>博士方向技术创新管理</a:t>
            </a:r>
            <a:endParaRPr lang="en-US" altLang="zh-CN" dirty="0"/>
          </a:p>
          <a:p>
            <a:pPr lvl="1"/>
            <a:endParaRPr lang="zh-CN" altLang="en-US" dirty="0"/>
          </a:p>
          <a:p>
            <a:r>
              <a:rPr lang="zh-CN" altLang="en-US" dirty="0"/>
              <a:t>研究兴趣：</a:t>
            </a:r>
            <a:endParaRPr lang="en-US" altLang="zh-CN" dirty="0"/>
          </a:p>
          <a:p>
            <a:pPr lvl="1"/>
            <a:r>
              <a:rPr lang="zh-CN" altLang="en-US" dirty="0"/>
              <a:t>创新管理、战略管理及项目管理</a:t>
            </a:r>
            <a:endParaRPr lang="en-US" altLang="zh-CN" dirty="0"/>
          </a:p>
          <a:p>
            <a:pPr lvl="1"/>
            <a:r>
              <a:rPr lang="zh-CN" altLang="en-US" dirty="0"/>
              <a:t>制度逻辑形成及演化</a:t>
            </a:r>
            <a:endParaRPr lang="en-US" altLang="zh-CN" dirty="0"/>
          </a:p>
          <a:p>
            <a:pPr lvl="1"/>
            <a:endParaRPr lang="en-US" altLang="zh-CN" dirty="0"/>
          </a:p>
          <a:p>
            <a:r>
              <a:rPr lang="zh-CN" altLang="en-US" dirty="0"/>
              <a:t>人生格言：</a:t>
            </a:r>
            <a:endParaRPr lang="en-US" altLang="zh-CN" dirty="0"/>
          </a:p>
          <a:p>
            <a:pPr lvl="1"/>
            <a:r>
              <a:rPr lang="zh-CN" altLang="en-US" dirty="0"/>
              <a:t>教学相长、人生互训、自我学习</a:t>
            </a:r>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2"/>
            <a:ext cx="9144000" cy="3819155"/>
          </a:xfrm>
        </p:spPr>
        <p:txBody>
          <a:bodyPr>
            <a:normAutofit fontScale="90000"/>
          </a:bodyPr>
          <a:lstStyle/>
          <a:p>
            <a:pPr>
              <a:lnSpc>
                <a:spcPct val="150000"/>
              </a:lnSpc>
            </a:pPr>
            <a:r>
              <a:rPr lang="zh-CN" altLang="en-US" dirty="0"/>
              <a:t>第一天：</a:t>
            </a:r>
            <a:br>
              <a:rPr lang="en-US" altLang="zh-CN" dirty="0"/>
            </a:br>
            <a:r>
              <a:rPr lang="zh-CN" altLang="en-US" dirty="0"/>
              <a:t>上午：导论与配置</a:t>
            </a:r>
            <a:br>
              <a:rPr lang="en-US" altLang="zh-CN" dirty="0"/>
            </a:br>
            <a:r>
              <a:rPr lang="zh-CN" altLang="en-US" dirty="0"/>
              <a:t>下午：组织与引用</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导论：数字化学习</a:t>
            </a:r>
            <a:r>
              <a:rPr lang="en-US" altLang="zh-CN" dirty="0"/>
              <a:t>——</a:t>
            </a:r>
            <a:r>
              <a:rPr lang="zh-CN" altLang="en-US" dirty="0"/>
              <a:t>长期主义选择</a:t>
            </a:r>
          </a:p>
        </p:txBody>
      </p:sp>
      <p:sp>
        <p:nvSpPr>
          <p:cNvPr id="4" name="文本占位符 3"/>
          <p:cNvSpPr>
            <a:spLocks noGrp="1"/>
          </p:cNvSpPr>
          <p:nvPr>
            <p:ph type="body" idx="1"/>
          </p:nvPr>
        </p:nvSpPr>
        <p:spPr/>
        <p:txBody>
          <a:bodyPr/>
          <a:lstStyle/>
          <a:p>
            <a:r>
              <a:rPr lang="zh-CN" altLang="en-US"/>
              <a:t>各类学习任务</a:t>
            </a:r>
            <a:r>
              <a:rPr lang="zh-CN" altLang="en-US" dirty="0"/>
              <a:t>：</a:t>
            </a:r>
          </a:p>
        </p:txBody>
      </p:sp>
      <p:sp>
        <p:nvSpPr>
          <p:cNvPr id="3" name="内容占位符 2"/>
          <p:cNvSpPr>
            <a:spLocks noGrp="1"/>
          </p:cNvSpPr>
          <p:nvPr>
            <p:ph sz="half" idx="2"/>
          </p:nvPr>
        </p:nvSpPr>
        <p:spPr/>
        <p:txBody>
          <a:bodyPr>
            <a:normAutofit lnSpcReduction="10000"/>
          </a:bodyPr>
          <a:lstStyle/>
          <a:p>
            <a:pPr marL="0" indent="0">
              <a:buNone/>
            </a:pPr>
            <a:r>
              <a:rPr lang="en-US" altLang="zh-CN" dirty="0"/>
              <a:t>1</a:t>
            </a:r>
            <a:r>
              <a:rPr lang="zh-CN" altLang="en-US" dirty="0"/>
              <a:t>、学术论文发表</a:t>
            </a:r>
            <a:endParaRPr lang="en-US" altLang="zh-CN" dirty="0"/>
          </a:p>
          <a:p>
            <a:pPr marL="0" indent="0">
              <a:buNone/>
            </a:pPr>
            <a:r>
              <a:rPr lang="en-US" altLang="zh-CN" dirty="0"/>
              <a:t>2</a:t>
            </a:r>
            <a:r>
              <a:rPr lang="zh-CN" altLang="en-US" dirty="0"/>
              <a:t>、各类课题申报</a:t>
            </a:r>
            <a:endParaRPr lang="en-US" altLang="zh-CN" dirty="0"/>
          </a:p>
          <a:p>
            <a:pPr marL="0" indent="0">
              <a:buNone/>
            </a:pPr>
            <a:r>
              <a:rPr lang="en-US" altLang="zh-CN" dirty="0"/>
              <a:t>3</a:t>
            </a:r>
            <a:r>
              <a:rPr lang="zh-CN" altLang="en-US" dirty="0"/>
              <a:t>、教材编写</a:t>
            </a:r>
            <a:endParaRPr lang="en-US" altLang="zh-CN" dirty="0"/>
          </a:p>
          <a:p>
            <a:pPr marL="0" indent="0">
              <a:buNone/>
            </a:pPr>
            <a:r>
              <a:rPr lang="en-US" altLang="zh-CN" dirty="0"/>
              <a:t>4</a:t>
            </a:r>
            <a:r>
              <a:rPr lang="zh-CN" altLang="en-US" dirty="0"/>
              <a:t>、课程教学</a:t>
            </a:r>
            <a:endParaRPr lang="en-US" altLang="zh-CN" dirty="0"/>
          </a:p>
          <a:p>
            <a:pPr marL="0" indent="0">
              <a:buNone/>
            </a:pPr>
            <a:r>
              <a:rPr lang="en-US" altLang="zh-CN" dirty="0"/>
              <a:t>5</a:t>
            </a:r>
            <a:r>
              <a:rPr lang="zh-CN" altLang="en-US" dirty="0"/>
              <a:t>、论文选题及指导</a:t>
            </a:r>
            <a:endParaRPr lang="en-US" altLang="zh-CN" dirty="0"/>
          </a:p>
          <a:p>
            <a:pPr marL="0" indent="0">
              <a:buNone/>
            </a:pPr>
            <a:r>
              <a:rPr lang="en-US" altLang="zh-CN" dirty="0"/>
              <a:t>6</a:t>
            </a:r>
            <a:r>
              <a:rPr lang="zh-CN" altLang="en-US" dirty="0"/>
              <a:t>、学生各类课外竞赛</a:t>
            </a:r>
            <a:endParaRPr lang="en-US" altLang="zh-CN" dirty="0"/>
          </a:p>
          <a:p>
            <a:pPr marL="0" indent="0">
              <a:buNone/>
            </a:pPr>
            <a:r>
              <a:rPr lang="en-US" altLang="zh-CN" dirty="0"/>
              <a:t>7</a:t>
            </a:r>
            <a:r>
              <a:rPr lang="zh-CN" altLang="en-US"/>
              <a:t>、</a:t>
            </a:r>
            <a:r>
              <a:rPr lang="zh-CN" altLang="en-US" dirty="0"/>
              <a:t>本硕博各</a:t>
            </a:r>
            <a:r>
              <a:rPr lang="zh-CN" altLang="en-US"/>
              <a:t>类课堂作业</a:t>
            </a:r>
            <a:endParaRPr lang="zh-CN" altLang="en-US" dirty="0"/>
          </a:p>
        </p:txBody>
      </p:sp>
      <p:sp>
        <p:nvSpPr>
          <p:cNvPr id="5" name="文本占位符 4"/>
          <p:cNvSpPr>
            <a:spLocks noGrp="1"/>
          </p:cNvSpPr>
          <p:nvPr>
            <p:ph type="body" sz="quarter" idx="3"/>
          </p:nvPr>
        </p:nvSpPr>
        <p:spPr/>
        <p:txBody>
          <a:bodyPr/>
          <a:lstStyle/>
          <a:p>
            <a:r>
              <a:rPr lang="zh-CN" altLang="en-US" dirty="0"/>
              <a:t>主要挑战：</a:t>
            </a:r>
          </a:p>
        </p:txBody>
      </p:sp>
      <p:sp>
        <p:nvSpPr>
          <p:cNvPr id="6" name="内容占位符 5"/>
          <p:cNvSpPr>
            <a:spLocks noGrp="1"/>
          </p:cNvSpPr>
          <p:nvPr>
            <p:ph sz="quarter" idx="4"/>
          </p:nvPr>
        </p:nvSpPr>
        <p:spPr/>
        <p:txBody>
          <a:bodyPr>
            <a:normAutofit lnSpcReduction="10000"/>
          </a:bodyPr>
          <a:lstStyle/>
          <a:p>
            <a:pPr>
              <a:lnSpc>
                <a:spcPct val="150000"/>
              </a:lnSpc>
            </a:pPr>
            <a:r>
              <a:rPr lang="zh-CN" altLang="en-US" dirty="0"/>
              <a:t>多国语言障碍</a:t>
            </a:r>
          </a:p>
          <a:p>
            <a:pPr>
              <a:lnSpc>
                <a:spcPct val="150000"/>
              </a:lnSpc>
            </a:pPr>
            <a:r>
              <a:rPr lang="zh-CN" altLang="en-US" dirty="0"/>
              <a:t>数字转型困扰</a:t>
            </a:r>
          </a:p>
          <a:p>
            <a:pPr>
              <a:lnSpc>
                <a:spcPct val="150000"/>
              </a:lnSpc>
            </a:pPr>
            <a:r>
              <a:rPr lang="zh-CN" altLang="en-US" dirty="0"/>
              <a:t>能力衰退问题</a:t>
            </a:r>
          </a:p>
          <a:p>
            <a:pPr>
              <a:lnSpc>
                <a:spcPct val="150000"/>
              </a:lnSpc>
            </a:pPr>
            <a:r>
              <a:rPr lang="zh-CN" altLang="en-US" dirty="0"/>
              <a:t>专业数据库缺</a:t>
            </a:r>
          </a:p>
          <a:p>
            <a:pPr>
              <a:lnSpc>
                <a:spcPct val="150000"/>
              </a:lnSpc>
            </a:pPr>
            <a:r>
              <a:rPr lang="zh-CN" altLang="en-US" dirty="0"/>
              <a:t>知识产权保护</a:t>
            </a:r>
          </a:p>
          <a:p>
            <a:pPr>
              <a:lnSpc>
                <a:spcPct val="150000"/>
              </a:lnSpc>
            </a:pP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a:effectLst/>
                <a:latin typeface="Times New Roman" pitchFamily="18" charset="0"/>
                <a:ea typeface="黑体" pitchFamily="49" charset="-122"/>
              </a:rPr>
              <a:t>数字内容管理</a:t>
            </a:r>
            <a:r>
              <a:rPr lang="zh-CN" altLang="zh-CN" sz="3200" dirty="0">
                <a:effectLst/>
                <a:latin typeface="Times New Roman" pitchFamily="18" charset="0"/>
                <a:ea typeface="黑体" pitchFamily="49" charset="-122"/>
                <a:cs typeface="Times New Roman" pitchFamily="18" charset="0"/>
              </a:rPr>
              <a:t>内容</a:t>
            </a:r>
            <a:endParaRPr lang="zh-CN" altLang="en-US" sz="6600" dirty="0"/>
          </a:p>
        </p:txBody>
      </p:sp>
      <p:graphicFrame>
        <p:nvGraphicFramePr>
          <p:cNvPr id="7" name="表格 6"/>
          <p:cNvGraphicFramePr>
            <a:graphicFrameLocks noGrp="1"/>
          </p:cNvGraphicFramePr>
          <p:nvPr/>
        </p:nvGraphicFramePr>
        <p:xfrm>
          <a:off x="838200" y="1786270"/>
          <a:ext cx="10515599" cy="4444410"/>
        </p:xfrm>
        <a:graphic>
          <a:graphicData uri="http://schemas.openxmlformats.org/drawingml/2006/table">
            <a:tbl>
              <a:tblPr firstRow="1" firstCol="1" bandRow="1">
                <a:tableStyleId>{5C22544A-7EE6-4342-B048-85BDC9FD1C3A}</a:tableStyleId>
              </a:tblPr>
              <a:tblGrid>
                <a:gridCol w="1883735">
                  <a:extLst>
                    <a:ext uri="{9D8B030D-6E8A-4147-A177-3AD203B41FA5}">
                      <a16:colId xmlns:a16="http://schemas.microsoft.com/office/drawing/2014/main" val="20000"/>
                    </a:ext>
                  </a:extLst>
                </a:gridCol>
                <a:gridCol w="4104167">
                  <a:extLst>
                    <a:ext uri="{9D8B030D-6E8A-4147-A177-3AD203B41FA5}">
                      <a16:colId xmlns:a16="http://schemas.microsoft.com/office/drawing/2014/main" val="20001"/>
                    </a:ext>
                  </a:extLst>
                </a:gridCol>
                <a:gridCol w="4527697">
                  <a:extLst>
                    <a:ext uri="{9D8B030D-6E8A-4147-A177-3AD203B41FA5}">
                      <a16:colId xmlns:a16="http://schemas.microsoft.com/office/drawing/2014/main" val="20002"/>
                    </a:ext>
                  </a:extLst>
                </a:gridCol>
              </a:tblGrid>
              <a:tr h="888882">
                <a:tc>
                  <a:txBody>
                    <a:bodyPr/>
                    <a:lstStyle/>
                    <a:p>
                      <a:pPr algn="ctr"/>
                      <a:r>
                        <a:rPr lang="zh-CN" sz="2400" kern="0">
                          <a:effectLst/>
                        </a:rPr>
                        <a:t>培训重点</a:t>
                      </a:r>
                      <a:endParaRPr lang="zh-CN" sz="2400" kern="100">
                        <a:effectLst/>
                        <a:latin typeface="等线" pitchFamily="2" charset="-122"/>
                        <a:ea typeface="等线" pitchFamily="2" charset="-122"/>
                        <a:cs typeface="Times New Roman" pitchFamily="18" charset="0"/>
                      </a:endParaRPr>
                    </a:p>
                  </a:txBody>
                  <a:tcPr marL="182880" marR="182880" marT="76200" marB="76200" anchor="ctr"/>
                </a:tc>
                <a:tc>
                  <a:txBody>
                    <a:bodyPr/>
                    <a:lstStyle/>
                    <a:p>
                      <a:pPr algn="ctr"/>
                      <a:r>
                        <a:rPr lang="zh-CN" sz="2400" kern="0">
                          <a:effectLst/>
                        </a:rPr>
                        <a:t>基本功</a:t>
                      </a:r>
                      <a:endParaRPr lang="zh-CN" sz="2400" kern="100">
                        <a:effectLst/>
                        <a:latin typeface="等线" pitchFamily="2" charset="-122"/>
                        <a:ea typeface="等线" pitchFamily="2" charset="-122"/>
                        <a:cs typeface="Times New Roman" pitchFamily="18" charset="0"/>
                      </a:endParaRPr>
                    </a:p>
                  </a:txBody>
                  <a:tcPr marL="182880" marR="182880" marT="76200" marB="76200" anchor="ctr"/>
                </a:tc>
                <a:tc>
                  <a:txBody>
                    <a:bodyPr/>
                    <a:lstStyle/>
                    <a:p>
                      <a:pPr algn="ctr"/>
                      <a:r>
                        <a:rPr lang="zh-CN" sz="2400" kern="0" dirty="0">
                          <a:effectLst/>
                        </a:rPr>
                        <a:t>必杀技</a:t>
                      </a:r>
                      <a:endParaRPr lang="zh-CN" sz="2400" kern="100" dirty="0">
                        <a:effectLst/>
                        <a:latin typeface="等线" pitchFamily="2" charset="-122"/>
                        <a:ea typeface="等线" pitchFamily="2" charset="-122"/>
                        <a:cs typeface="Times New Roman" pitchFamily="18" charset="0"/>
                      </a:endParaRPr>
                    </a:p>
                  </a:txBody>
                  <a:tcPr marL="68580" marR="68580" marT="0" marB="0" anchor="ctr"/>
                </a:tc>
                <a:extLst>
                  <a:ext uri="{0D108BD9-81ED-4DB2-BD59-A6C34878D82A}">
                    <a16:rowId xmlns:a16="http://schemas.microsoft.com/office/drawing/2014/main" val="10000"/>
                  </a:ext>
                </a:extLst>
              </a:tr>
              <a:tr h="888882">
                <a:tc>
                  <a:txBody>
                    <a:bodyPr/>
                    <a:lstStyle/>
                    <a:p>
                      <a:pPr algn="ctr"/>
                      <a:r>
                        <a:rPr lang="zh-CN" sz="2400" kern="0">
                          <a:effectLst/>
                        </a:rPr>
                        <a:t>内容</a:t>
                      </a:r>
                      <a:r>
                        <a:rPr lang="en-US" sz="2400" kern="0">
                          <a:effectLst/>
                        </a:rPr>
                        <a:t>1</a:t>
                      </a:r>
                      <a:endParaRPr lang="zh-CN" sz="2400" kern="100">
                        <a:effectLst/>
                        <a:latin typeface="等线" pitchFamily="2" charset="-122"/>
                        <a:ea typeface="等线" pitchFamily="2" charset="-122"/>
                        <a:cs typeface="Times New Roman" pitchFamily="18" charset="0"/>
                      </a:endParaRPr>
                    </a:p>
                  </a:txBody>
                  <a:tcPr marL="182880" marR="182880" marT="76200" marB="76200" anchor="ctr"/>
                </a:tc>
                <a:tc>
                  <a:txBody>
                    <a:bodyPr/>
                    <a:lstStyle/>
                    <a:p>
                      <a:pPr marL="342900" indent="-342900" algn="ctr">
                        <a:buFont typeface="Arial" charset="0"/>
                        <a:buChar char="•"/>
                      </a:pPr>
                      <a:r>
                        <a:rPr lang="zh-CN" altLang="en-US" sz="2400" kern="0" dirty="0">
                          <a:effectLst/>
                        </a:rPr>
                        <a:t>实操一：</a:t>
                      </a:r>
                      <a:r>
                        <a:rPr lang="zh-CN" sz="2400" kern="0" dirty="0">
                          <a:effectLst/>
                        </a:rPr>
                        <a:t>组件引擎配置</a:t>
                      </a:r>
                      <a:endParaRPr lang="zh-CN" sz="2400" kern="100" dirty="0">
                        <a:effectLst/>
                        <a:latin typeface="等线" pitchFamily="2" charset="-122"/>
                        <a:ea typeface="等线" pitchFamily="2" charset="-122"/>
                        <a:cs typeface="Times New Roman" pitchFamily="18" charset="0"/>
                      </a:endParaRPr>
                    </a:p>
                  </a:txBody>
                  <a:tcPr marL="182880" marR="182880" marT="76200" marB="76200" anchor="ctr"/>
                </a:tc>
                <a:tc>
                  <a:txBody>
                    <a:bodyPr/>
                    <a:lstStyle/>
                    <a:p>
                      <a:pPr marL="342900" marR="0" lvl="0" indent="-342900" algn="ctr" defTabSz="914400" rtl="0" eaLnBrk="1" fontAlgn="auto" latinLnBrk="0" hangingPunct="1">
                        <a:lnSpc>
                          <a:spcPct val="100000"/>
                        </a:lnSpc>
                        <a:spcBef>
                          <a:spcPts val="0"/>
                        </a:spcBef>
                        <a:spcAft>
                          <a:spcPts val="0"/>
                        </a:spcAft>
                        <a:buClrTx/>
                        <a:buSzTx/>
                        <a:buFont typeface="Arial" charset="0"/>
                        <a:buChar char="•"/>
                        <a:defRPr/>
                      </a:pPr>
                      <a:r>
                        <a:rPr lang="zh-CN" altLang="en-US" sz="2400" kern="0" dirty="0">
                          <a:effectLst/>
                        </a:rPr>
                        <a:t>实操五：</a:t>
                      </a:r>
                      <a:r>
                        <a:rPr lang="zh-CN" altLang="zh-CN" sz="2400" kern="0" dirty="0">
                          <a:effectLst/>
                        </a:rPr>
                        <a:t>全文搜索</a:t>
                      </a:r>
                      <a:endParaRPr lang="zh-CN" altLang="zh-CN" sz="2400" kern="100" dirty="0">
                        <a:effectLst/>
                        <a:latin typeface="等线" pitchFamily="2" charset="-122"/>
                        <a:ea typeface="+mn-ea"/>
                        <a:cs typeface="Times New Roman" pitchFamily="18" charset="0"/>
                      </a:endParaRPr>
                    </a:p>
                  </a:txBody>
                  <a:tcPr marL="68580" marR="68580" marT="0" marB="0" anchor="ctr"/>
                </a:tc>
                <a:extLst>
                  <a:ext uri="{0D108BD9-81ED-4DB2-BD59-A6C34878D82A}">
                    <a16:rowId xmlns:a16="http://schemas.microsoft.com/office/drawing/2014/main" val="10001"/>
                  </a:ext>
                </a:extLst>
              </a:tr>
              <a:tr h="888882">
                <a:tc>
                  <a:txBody>
                    <a:bodyPr/>
                    <a:lstStyle/>
                    <a:p>
                      <a:pPr algn="ctr"/>
                      <a:r>
                        <a:rPr lang="zh-CN" sz="2400" kern="0">
                          <a:effectLst/>
                        </a:rPr>
                        <a:t>内容</a:t>
                      </a:r>
                      <a:r>
                        <a:rPr lang="en-US" sz="2400" kern="0">
                          <a:effectLst/>
                        </a:rPr>
                        <a:t>2</a:t>
                      </a:r>
                      <a:endParaRPr lang="zh-CN" sz="2400" kern="100">
                        <a:effectLst/>
                        <a:latin typeface="等线" pitchFamily="2" charset="-122"/>
                        <a:ea typeface="等线" pitchFamily="2" charset="-122"/>
                        <a:cs typeface="Times New Roman" pitchFamily="18" charset="0"/>
                      </a:endParaRPr>
                    </a:p>
                  </a:txBody>
                  <a:tcPr marL="182880" marR="182880" marT="76200" marB="76200" anchor="ctr"/>
                </a:tc>
                <a:tc>
                  <a:txBody>
                    <a:bodyPr/>
                    <a:lstStyle/>
                    <a:p>
                      <a:pPr marL="342900" indent="-342900" algn="ctr">
                        <a:buFont typeface="Arial" charset="0"/>
                        <a:buChar char="•"/>
                      </a:pPr>
                      <a:r>
                        <a:rPr lang="zh-CN" altLang="en-US" sz="2400" kern="0" dirty="0">
                          <a:effectLst/>
                        </a:rPr>
                        <a:t>实操二：</a:t>
                      </a:r>
                      <a:r>
                        <a:rPr lang="zh-CN" sz="2400" kern="0" dirty="0">
                          <a:effectLst/>
                        </a:rPr>
                        <a:t>分类条目创建</a:t>
                      </a:r>
                      <a:endParaRPr lang="zh-CN" sz="2400" kern="100" dirty="0">
                        <a:effectLst/>
                        <a:latin typeface="等线" pitchFamily="2" charset="-122"/>
                        <a:ea typeface="等线" pitchFamily="2" charset="-122"/>
                        <a:cs typeface="Times New Roman" pitchFamily="18" charset="0"/>
                      </a:endParaRPr>
                    </a:p>
                  </a:txBody>
                  <a:tcPr marL="182880" marR="182880" marT="76200" marB="76200" anchor="ctr"/>
                </a:tc>
                <a:tc>
                  <a:txBody>
                    <a:bodyPr/>
                    <a:lstStyle/>
                    <a:p>
                      <a:pPr marL="342900" marR="0" lvl="0" indent="-342900" algn="ctr" defTabSz="914400" rtl="0" eaLnBrk="1" fontAlgn="auto" latinLnBrk="0" hangingPunct="1">
                        <a:lnSpc>
                          <a:spcPct val="100000"/>
                        </a:lnSpc>
                        <a:spcBef>
                          <a:spcPts val="0"/>
                        </a:spcBef>
                        <a:spcAft>
                          <a:spcPts val="0"/>
                        </a:spcAft>
                        <a:buClrTx/>
                        <a:buSzTx/>
                        <a:buFont typeface="Arial" charset="0"/>
                        <a:buChar char="•"/>
                        <a:defRPr/>
                      </a:pPr>
                      <a:r>
                        <a:rPr lang="zh-CN" altLang="en-US" sz="2400" kern="0" dirty="0">
                          <a:effectLst/>
                        </a:rPr>
                        <a:t>实操六：</a:t>
                      </a:r>
                      <a:r>
                        <a:rPr lang="zh-CN" altLang="en-US" sz="2400" kern="0" dirty="0">
                          <a:solidFill>
                            <a:schemeClr val="dk1"/>
                          </a:solidFill>
                          <a:effectLst/>
                          <a:latin typeface="+mn-lt"/>
                          <a:ea typeface="+mn-ea"/>
                          <a:cs typeface="+mn-cs"/>
                        </a:rPr>
                        <a:t>智能</a:t>
                      </a:r>
                      <a:r>
                        <a:rPr lang="zh-CN" altLang="zh-CN" sz="2400" kern="0" dirty="0">
                          <a:effectLst/>
                        </a:rPr>
                        <a:t>翻译</a:t>
                      </a:r>
                      <a:endParaRPr lang="en-US" altLang="zh-CN" sz="2400" kern="0" dirty="0">
                        <a:effectLst/>
                      </a:endParaRPr>
                    </a:p>
                  </a:txBody>
                  <a:tcPr marL="68580" marR="68580" marT="0" marB="0" anchor="ctr"/>
                </a:tc>
                <a:extLst>
                  <a:ext uri="{0D108BD9-81ED-4DB2-BD59-A6C34878D82A}">
                    <a16:rowId xmlns:a16="http://schemas.microsoft.com/office/drawing/2014/main" val="10002"/>
                  </a:ext>
                </a:extLst>
              </a:tr>
              <a:tr h="888882">
                <a:tc>
                  <a:txBody>
                    <a:bodyPr/>
                    <a:lstStyle/>
                    <a:p>
                      <a:pPr algn="ctr"/>
                      <a:r>
                        <a:rPr lang="zh-CN" sz="2400" kern="0">
                          <a:effectLst/>
                        </a:rPr>
                        <a:t>内容</a:t>
                      </a:r>
                      <a:r>
                        <a:rPr lang="en-US" sz="2400" kern="0">
                          <a:effectLst/>
                        </a:rPr>
                        <a:t>3</a:t>
                      </a:r>
                      <a:endParaRPr lang="zh-CN" sz="2400" kern="100">
                        <a:effectLst/>
                        <a:latin typeface="等线" pitchFamily="2" charset="-122"/>
                        <a:ea typeface="等线" pitchFamily="2" charset="-122"/>
                        <a:cs typeface="Times New Roman" pitchFamily="18" charset="0"/>
                      </a:endParaRPr>
                    </a:p>
                  </a:txBody>
                  <a:tcPr marL="182880" marR="182880" marT="76200" marB="76200" anchor="ctr"/>
                </a:tc>
                <a:tc>
                  <a:txBody>
                    <a:bodyPr/>
                    <a:lstStyle/>
                    <a:p>
                      <a:pPr marL="342900" marR="0" lvl="0" indent="-342900" algn="ctr" defTabSz="914400" rtl="0" eaLnBrk="1" fontAlgn="auto" latinLnBrk="0" hangingPunct="1">
                        <a:lnSpc>
                          <a:spcPct val="100000"/>
                        </a:lnSpc>
                        <a:spcBef>
                          <a:spcPts val="0"/>
                        </a:spcBef>
                        <a:spcAft>
                          <a:spcPts val="0"/>
                        </a:spcAft>
                        <a:buClrTx/>
                        <a:buSzTx/>
                        <a:buFont typeface="Arial" charset="0"/>
                        <a:buChar char="•"/>
                        <a:defRPr/>
                      </a:pPr>
                      <a:r>
                        <a:rPr lang="zh-CN" altLang="en-US" sz="2400" kern="0" dirty="0">
                          <a:effectLst/>
                        </a:rPr>
                        <a:t>实操三：</a:t>
                      </a:r>
                      <a:r>
                        <a:rPr lang="zh-CN" altLang="zh-CN" sz="2400" kern="0" dirty="0">
                          <a:effectLst/>
                        </a:rPr>
                        <a:t>引用格式添加</a:t>
                      </a:r>
                      <a:endParaRPr lang="en-US" altLang="zh-CN" sz="2400" kern="0" dirty="0">
                        <a:effectLst/>
                      </a:endParaRPr>
                    </a:p>
                  </a:txBody>
                  <a:tcPr marL="182880" marR="182880" marT="76200" marB="76200" anchor="ctr"/>
                </a:tc>
                <a:tc>
                  <a:txBody>
                    <a:bodyPr/>
                    <a:lstStyle/>
                    <a:p>
                      <a:pPr marL="342900" marR="0" lvl="0" indent="-342900" algn="ctr" defTabSz="914400" rtl="0" eaLnBrk="1" fontAlgn="auto" latinLnBrk="0" hangingPunct="1">
                        <a:lnSpc>
                          <a:spcPct val="100000"/>
                        </a:lnSpc>
                        <a:spcBef>
                          <a:spcPts val="0"/>
                        </a:spcBef>
                        <a:spcAft>
                          <a:spcPts val="0"/>
                        </a:spcAft>
                        <a:buClrTx/>
                        <a:buSzTx/>
                        <a:buFont typeface="Arial" charset="0"/>
                        <a:buChar char="•"/>
                        <a:defRPr/>
                      </a:pPr>
                      <a:r>
                        <a:rPr lang="zh-CN" altLang="en-US" sz="2400" kern="0" dirty="0">
                          <a:effectLst/>
                        </a:rPr>
                        <a:t>实操七：</a:t>
                      </a:r>
                      <a:r>
                        <a:rPr lang="zh-CN" altLang="zh-CN" sz="2400" kern="0" dirty="0">
                          <a:effectLst/>
                        </a:rPr>
                        <a:t>数字笔记</a:t>
                      </a:r>
                      <a:endParaRPr lang="zh-CN" altLang="zh-CN" sz="2400" kern="100" dirty="0">
                        <a:effectLst/>
                        <a:latin typeface="等线" pitchFamily="2" charset="-122"/>
                        <a:ea typeface="+mn-ea"/>
                        <a:cs typeface="Times New Roman" pitchFamily="18" charset="0"/>
                      </a:endParaRPr>
                    </a:p>
                  </a:txBody>
                  <a:tcPr marL="68580" marR="68580" marT="0" marB="0" anchor="ctr"/>
                </a:tc>
                <a:extLst>
                  <a:ext uri="{0D108BD9-81ED-4DB2-BD59-A6C34878D82A}">
                    <a16:rowId xmlns:a16="http://schemas.microsoft.com/office/drawing/2014/main" val="10003"/>
                  </a:ext>
                </a:extLst>
              </a:tr>
              <a:tr h="888882">
                <a:tc>
                  <a:txBody>
                    <a:bodyPr/>
                    <a:lstStyle/>
                    <a:p>
                      <a:pPr algn="ctr"/>
                      <a:r>
                        <a:rPr lang="zh-CN" sz="2400" kern="0">
                          <a:effectLst/>
                        </a:rPr>
                        <a:t>内容</a:t>
                      </a:r>
                      <a:r>
                        <a:rPr lang="en-US" sz="2400" kern="0">
                          <a:effectLst/>
                        </a:rPr>
                        <a:t>4</a:t>
                      </a:r>
                      <a:endParaRPr lang="zh-CN" sz="2400" kern="100">
                        <a:effectLst/>
                        <a:latin typeface="等线" pitchFamily="2" charset="-122"/>
                        <a:ea typeface="等线" pitchFamily="2" charset="-122"/>
                        <a:cs typeface="Times New Roman" pitchFamily="18" charset="0"/>
                      </a:endParaRPr>
                    </a:p>
                  </a:txBody>
                  <a:tcPr marL="182880" marR="182880" marT="76200" marB="76200" anchor="ctr"/>
                </a:tc>
                <a:tc>
                  <a:txBody>
                    <a:bodyPr/>
                    <a:lstStyle/>
                    <a:p>
                      <a:pPr marL="342900" marR="0" lvl="0" indent="-342900" algn="ctr" defTabSz="914400" rtl="0" eaLnBrk="1" fontAlgn="auto" latinLnBrk="0" hangingPunct="1">
                        <a:lnSpc>
                          <a:spcPct val="100000"/>
                        </a:lnSpc>
                        <a:spcBef>
                          <a:spcPts val="0"/>
                        </a:spcBef>
                        <a:spcAft>
                          <a:spcPts val="0"/>
                        </a:spcAft>
                        <a:buClrTx/>
                        <a:buSzTx/>
                        <a:buFont typeface="Arial" charset="0"/>
                        <a:buChar char="•"/>
                        <a:defRPr/>
                      </a:pPr>
                      <a:r>
                        <a:rPr lang="zh-CN" altLang="en-US" sz="2400" kern="0" dirty="0">
                          <a:effectLst/>
                        </a:rPr>
                        <a:t>实操四：数据</a:t>
                      </a:r>
                      <a:r>
                        <a:rPr lang="zh-CN" altLang="zh-CN" sz="2400" kern="0" dirty="0">
                          <a:effectLst/>
                        </a:rPr>
                        <a:t>备份同步</a:t>
                      </a:r>
                      <a:endParaRPr lang="zh-CN" sz="2400" kern="100" dirty="0">
                        <a:effectLst/>
                        <a:latin typeface="等线" pitchFamily="2" charset="-122"/>
                        <a:ea typeface="等线" pitchFamily="2" charset="-122"/>
                        <a:cs typeface="Times New Roman" pitchFamily="18" charset="0"/>
                      </a:endParaRPr>
                    </a:p>
                  </a:txBody>
                  <a:tcPr marL="182880" marR="182880" marT="76200" marB="76200" anchor="ctr"/>
                </a:tc>
                <a:tc>
                  <a:txBody>
                    <a:bodyPr/>
                    <a:lstStyle/>
                    <a:p>
                      <a:pPr marL="342900" indent="-342900" algn="ctr">
                        <a:buFont typeface="Arial" charset="0"/>
                        <a:buChar char="•"/>
                      </a:pPr>
                      <a:r>
                        <a:rPr lang="zh-CN" altLang="en-US" sz="2400" kern="0" dirty="0">
                          <a:effectLst/>
                        </a:rPr>
                        <a:t>实操八：</a:t>
                      </a:r>
                      <a:r>
                        <a:rPr lang="zh-CN" sz="2400" kern="0" dirty="0">
                          <a:effectLst/>
                        </a:rPr>
                        <a:t>内容生成</a:t>
                      </a:r>
                      <a:endParaRPr lang="zh-CN" sz="2400" kern="100" dirty="0">
                        <a:effectLst/>
                        <a:latin typeface="等线" pitchFamily="2" charset="-122"/>
                        <a:ea typeface="等线" pitchFamily="2" charset="-122"/>
                        <a:cs typeface="Times New Roman" pitchFamily="18" charset="0"/>
                      </a:endParaRPr>
                    </a:p>
                  </a:txBody>
                  <a:tcPr marL="68580" marR="68580" marT="0" marB="0"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2"/>
          <a:stretch>
            <a:fillRect/>
          </a:stretch>
        </p:blipFill>
        <p:spPr>
          <a:xfrm>
            <a:off x="733661" y="0"/>
            <a:ext cx="10724677"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idx="4294967295"/>
          </p:nvPr>
        </p:nvSpPr>
        <p:spPr>
          <a:xfrm>
            <a:off x="1990725" y="836614"/>
            <a:ext cx="8229600" cy="720725"/>
          </a:xfrm>
        </p:spPr>
        <p:txBody>
          <a:bodyPr/>
          <a:lstStyle/>
          <a:p>
            <a:r>
              <a:rPr lang="zh-CN" altLang="en-US" sz="4000" dirty="0"/>
              <a:t>数字化基础</a:t>
            </a:r>
          </a:p>
        </p:txBody>
      </p:sp>
      <p:sp>
        <p:nvSpPr>
          <p:cNvPr id="10243" name="Rectangle 3"/>
          <p:cNvSpPr>
            <a:spLocks noGrp="1"/>
          </p:cNvSpPr>
          <p:nvPr>
            <p:ph type="body" idx="4294967295"/>
          </p:nvPr>
        </p:nvSpPr>
        <p:spPr>
          <a:xfrm>
            <a:off x="1981200" y="1700213"/>
            <a:ext cx="8229600" cy="4425950"/>
          </a:xfrm>
        </p:spPr>
        <p:txBody>
          <a:bodyPr/>
          <a:lstStyle/>
          <a:p>
            <a:pPr lvl="1">
              <a:lnSpc>
                <a:spcPct val="200000"/>
              </a:lnSpc>
            </a:pPr>
            <a:r>
              <a:rPr lang="zh-CN" altLang="en-US" sz="2400" dirty="0">
                <a:hlinkClick r:id="rId2"/>
              </a:rPr>
              <a:t>小白学术 </a:t>
            </a:r>
            <a:r>
              <a:rPr lang="en-US" altLang="zh-CN" sz="2400" dirty="0">
                <a:hlinkClick r:id="rId2"/>
              </a:rPr>
              <a:t>- SCI Great </a:t>
            </a:r>
            <a:r>
              <a:rPr lang="zh-CN" altLang="en-US" sz="2400" dirty="0">
                <a:hlinkClick r:id="rId2"/>
              </a:rPr>
              <a:t>旗下网站 </a:t>
            </a:r>
            <a:r>
              <a:rPr lang="en-US" altLang="zh-CN" sz="2400" dirty="0">
                <a:hlinkClick r:id="rId2"/>
              </a:rPr>
              <a:t>(ooopn.com)</a:t>
            </a:r>
            <a:endParaRPr lang="en-US" altLang="zh-CN" sz="3200" dirty="0"/>
          </a:p>
        </p:txBody>
      </p:sp>
      <p:sp>
        <p:nvSpPr>
          <p:cNvPr id="3" name="文本框 2"/>
          <p:cNvSpPr txBox="1"/>
          <p:nvPr/>
        </p:nvSpPr>
        <p:spPr>
          <a:xfrm>
            <a:off x="1990724" y="2786659"/>
            <a:ext cx="7519036" cy="2785506"/>
          </a:xfrm>
          <a:prstGeom prst="rect">
            <a:avLst/>
          </a:prstGeom>
          <a:noFill/>
        </p:spPr>
        <p:txBody>
          <a:bodyPr wrap="square">
            <a:spAutoFit/>
          </a:bodyPr>
          <a:lstStyle/>
          <a:p>
            <a:pPr lvl="1">
              <a:lnSpc>
                <a:spcPct val="200000"/>
              </a:lnSpc>
            </a:pPr>
            <a:r>
              <a:rPr lang="en-US" altLang="zh-CN" sz="1800" dirty="0"/>
              <a:t>1</a:t>
            </a:r>
            <a:r>
              <a:rPr lang="zh-CN" altLang="en-US" sz="1800" dirty="0"/>
              <a:t>、数字词典（原生词典、汉典、朗文当代词典）</a:t>
            </a:r>
            <a:endParaRPr lang="en-US" altLang="zh-CN" sz="1800" dirty="0"/>
          </a:p>
          <a:p>
            <a:pPr lvl="1">
              <a:lnSpc>
                <a:spcPct val="200000"/>
              </a:lnSpc>
            </a:pPr>
            <a:r>
              <a:rPr lang="en-US" altLang="zh-CN" sz="1800" dirty="0"/>
              <a:t>2</a:t>
            </a:r>
            <a:r>
              <a:rPr lang="zh-CN" altLang="en-US" sz="1800" dirty="0"/>
              <a:t>、维基百科（</a:t>
            </a:r>
            <a:r>
              <a:rPr lang="en-US" altLang="zh-CN" sz="1800" dirty="0"/>
              <a:t>PC</a:t>
            </a:r>
            <a:r>
              <a:rPr lang="zh-CN" altLang="en-US" sz="1800" dirty="0"/>
              <a:t>或手机端</a:t>
            </a:r>
            <a:r>
              <a:rPr lang="en-US" altLang="zh-CN" sz="1800" dirty="0" err="1"/>
              <a:t>Mdict</a:t>
            </a:r>
            <a:r>
              <a:rPr lang="zh-CN" altLang="en-US" sz="1800" dirty="0"/>
              <a:t>，</a:t>
            </a:r>
            <a:r>
              <a:rPr lang="en-US" altLang="zh-CN" sz="1800" i="1" u="sng" dirty="0" err="1">
                <a:solidFill>
                  <a:srgbClr val="FF0000"/>
                </a:solidFill>
              </a:rPr>
              <a:t>Kiwix</a:t>
            </a:r>
            <a:r>
              <a:rPr lang="zh-CN" altLang="en-US" sz="1800" dirty="0"/>
              <a:t>，内容在论坛找）；</a:t>
            </a:r>
            <a:endParaRPr lang="en-US" altLang="zh-CN" sz="1800" dirty="0"/>
          </a:p>
          <a:p>
            <a:pPr lvl="1">
              <a:lnSpc>
                <a:spcPct val="200000"/>
              </a:lnSpc>
            </a:pPr>
            <a:r>
              <a:rPr lang="en-US" altLang="zh-CN" sz="1800" dirty="0"/>
              <a:t>3</a:t>
            </a:r>
            <a:r>
              <a:rPr lang="zh-CN" altLang="en-US" sz="1800" dirty="0"/>
              <a:t>、经管之家和</a:t>
            </a:r>
            <a:r>
              <a:rPr lang="en-US" altLang="zh-CN" sz="1800" dirty="0" err="1"/>
              <a:t>PDAWiki</a:t>
            </a:r>
            <a:r>
              <a:rPr lang="zh-CN" altLang="en-US" sz="1800" dirty="0"/>
              <a:t>论坛；</a:t>
            </a:r>
            <a:endParaRPr lang="en-US" altLang="zh-CN" sz="1800" dirty="0"/>
          </a:p>
          <a:p>
            <a:pPr lvl="1">
              <a:lnSpc>
                <a:spcPct val="200000"/>
              </a:lnSpc>
            </a:pPr>
            <a:r>
              <a:rPr lang="en-US" altLang="zh-CN" sz="1800" dirty="0"/>
              <a:t>4</a:t>
            </a:r>
            <a:r>
              <a:rPr lang="zh-CN" altLang="en-US" sz="1800" dirty="0"/>
              <a:t>、</a:t>
            </a:r>
            <a:r>
              <a:rPr lang="en-US" altLang="zh-CN" sz="1800" dirty="0" err="1"/>
              <a:t>B</a:t>
            </a:r>
            <a:r>
              <a:rPr lang="en-US" altLang="zh-CN" dirty="0" err="1"/>
              <a:t>ilibili</a:t>
            </a:r>
            <a:endParaRPr lang="en-US" altLang="zh-CN" sz="1800" dirty="0"/>
          </a:p>
          <a:p>
            <a:pPr lvl="1">
              <a:lnSpc>
                <a:spcPct val="200000"/>
              </a:lnSpc>
            </a:pPr>
            <a:r>
              <a:rPr lang="en-US" altLang="zh-CN" sz="1800" dirty="0"/>
              <a:t>5</a:t>
            </a:r>
            <a:r>
              <a:rPr lang="zh-CN" altLang="en-US" sz="1800" dirty="0"/>
              <a:t>、淘宝（百般无奈</a:t>
            </a:r>
            <a:r>
              <a:rPr lang="en-US" altLang="zh-CN" sz="1800" dirty="0"/>
              <a:t>)</a:t>
            </a:r>
            <a:endParaRPr lang="zh-CN" alt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000" dirty="0"/>
              <a:t>数字化概念：从模拟到数字、从记录到创作</a:t>
            </a:r>
          </a:p>
        </p:txBody>
      </p:sp>
      <p:sp>
        <p:nvSpPr>
          <p:cNvPr id="3" name="内容占位符 2"/>
          <p:cNvSpPr>
            <a:spLocks noGrp="1"/>
          </p:cNvSpPr>
          <p:nvPr>
            <p:ph idx="1"/>
          </p:nvPr>
        </p:nvSpPr>
        <p:spPr/>
        <p:txBody>
          <a:bodyPr/>
          <a:lstStyle/>
          <a:p>
            <a:r>
              <a:rPr lang="zh-CN" altLang="zh-CN" sz="1800" kern="100" dirty="0">
                <a:effectLst/>
                <a:latin typeface="等线" pitchFamily="2" charset="-122"/>
                <a:ea typeface="等线" pitchFamily="2" charset="-122"/>
                <a:cs typeface="Times New Roman" pitchFamily="18" charset="0"/>
              </a:rPr>
              <a:t>最先前的数</a:t>
            </a:r>
            <a:r>
              <a:rPr lang="zh-CN" altLang="en-US" sz="1800" kern="100" dirty="0">
                <a:effectLst/>
                <a:latin typeface="等线" pitchFamily="2" charset="-122"/>
                <a:ea typeface="等线" pitchFamily="2" charset="-122"/>
                <a:cs typeface="Times New Roman" pitchFamily="18" charset="0"/>
              </a:rPr>
              <a:t>字</a:t>
            </a:r>
            <a:r>
              <a:rPr lang="zh-CN" altLang="zh-CN" sz="1800" kern="100" dirty="0">
                <a:effectLst/>
                <a:latin typeface="等线" pitchFamily="2" charset="-122"/>
                <a:ea typeface="等线" pitchFamily="2" charset="-122"/>
                <a:cs typeface="Times New Roman" pitchFamily="18" charset="0"/>
              </a:rPr>
              <a:t>时代的核心概念：任何内容、数据或资讯（包括音乐、文字、图像、数字、符号、声音和影像）都能透过数</a:t>
            </a:r>
            <a:r>
              <a:rPr lang="zh-CN" altLang="en-US" sz="1800" kern="100" dirty="0">
                <a:effectLst/>
                <a:latin typeface="等线" pitchFamily="2" charset="-122"/>
                <a:ea typeface="等线" pitchFamily="2" charset="-122"/>
                <a:cs typeface="Times New Roman" pitchFamily="18" charset="0"/>
              </a:rPr>
              <a:t>字</a:t>
            </a:r>
            <a:r>
              <a:rPr lang="zh-CN" altLang="zh-CN" sz="1800" kern="100" dirty="0">
                <a:effectLst/>
                <a:latin typeface="等线" pitchFamily="2" charset="-122"/>
                <a:ea typeface="等线" pitchFamily="2" charset="-122"/>
                <a:cs typeface="Times New Roman" pitchFamily="18" charset="0"/>
              </a:rPr>
              <a:t>化的表达方式，利用机器来操控（艾萨克森，</a:t>
            </a:r>
            <a:r>
              <a:rPr lang="en-US" altLang="zh-CN" sz="1800" kern="100" dirty="0">
                <a:effectLst/>
                <a:latin typeface="等线" pitchFamily="2" charset="-122"/>
                <a:ea typeface="等线" pitchFamily="2" charset="-122"/>
                <a:cs typeface="Times New Roman" pitchFamily="18" charset="0"/>
              </a:rPr>
              <a:t>2015</a:t>
            </a:r>
            <a:r>
              <a:rPr lang="zh-CN" altLang="zh-CN" sz="1800" kern="100" dirty="0">
                <a:effectLst/>
                <a:latin typeface="等线" pitchFamily="2" charset="-122"/>
                <a:ea typeface="等线" pitchFamily="2" charset="-122"/>
                <a:cs typeface="Times New Roman" pitchFamily="18" charset="0"/>
              </a:rPr>
              <a:t>）。</a:t>
            </a:r>
            <a:endParaRPr lang="en-US" altLang="zh-CN" sz="1800" kern="100" dirty="0">
              <a:effectLst/>
              <a:latin typeface="等线" pitchFamily="2" charset="-122"/>
              <a:ea typeface="等线" pitchFamily="2" charset="-122"/>
              <a:cs typeface="Times New Roman" pitchFamily="18" charset="0"/>
            </a:endParaRPr>
          </a:p>
          <a:p>
            <a:r>
              <a:rPr lang="zh-CN" altLang="zh-CN" sz="1800" kern="100" dirty="0">
                <a:effectLst/>
                <a:latin typeface="等线" pitchFamily="2" charset="-122"/>
                <a:ea typeface="等线" pitchFamily="2" charset="-122"/>
                <a:cs typeface="Times New Roman" pitchFamily="18" charset="0"/>
              </a:rPr>
              <a:t>如果将这一概念进一步扩展，如果可以进行数</a:t>
            </a:r>
            <a:r>
              <a:rPr lang="zh-CN" altLang="en-US" sz="1800" kern="100" dirty="0">
                <a:effectLst/>
                <a:latin typeface="等线" pitchFamily="2" charset="-122"/>
                <a:ea typeface="等线" pitchFamily="2" charset="-122"/>
                <a:cs typeface="Times New Roman" pitchFamily="18" charset="0"/>
              </a:rPr>
              <a:t>字</a:t>
            </a:r>
            <a:r>
              <a:rPr lang="zh-CN" altLang="zh-CN" sz="1800" kern="100" dirty="0">
                <a:effectLst/>
                <a:latin typeface="等线" pitchFamily="2" charset="-122"/>
                <a:ea typeface="等线" pitchFamily="2" charset="-122"/>
                <a:cs typeface="Times New Roman" pitchFamily="18" charset="0"/>
              </a:rPr>
              <a:t>化的创作，则是人工智能时代。</a:t>
            </a:r>
            <a:endParaRPr lang="en-US" altLang="zh-CN" sz="1800" kern="100" dirty="0">
              <a:effectLst/>
              <a:latin typeface="等线" pitchFamily="2" charset="-122"/>
              <a:ea typeface="等线" pitchFamily="2" charset="-122"/>
              <a:cs typeface="Times New Roman" pitchFamily="18" charset="0"/>
            </a:endParaRPr>
          </a:p>
          <a:p>
            <a:r>
              <a:rPr lang="zh-CN" altLang="en-US" sz="1800" kern="100" dirty="0">
                <a:latin typeface="等线" pitchFamily="2" charset="-122"/>
                <a:ea typeface="等线" pitchFamily="2" charset="-122"/>
                <a:cs typeface="Times New Roman" pitchFamily="18" charset="0"/>
              </a:rPr>
              <a:t>数字、数智、数制、数治</a:t>
            </a:r>
            <a:endParaRPr lang="en-US" altLang="zh-CN" sz="1800" kern="100" dirty="0">
              <a:latin typeface="等线" pitchFamily="2" charset="-122"/>
              <a:ea typeface="等线" pitchFamily="2" charset="-122"/>
              <a:cs typeface="Times New Roman" pitchFamily="18" charset="0"/>
            </a:endParaRPr>
          </a:p>
          <a:p>
            <a:endParaRPr lang="en-US" altLang="zh-CN" sz="1800" kern="100" dirty="0">
              <a:effectLst/>
              <a:latin typeface="等线" pitchFamily="2" charset="-122"/>
              <a:ea typeface="等线" pitchFamily="2" charset="-122"/>
              <a:cs typeface="Times New Roman" pitchFamily="18" charset="0"/>
            </a:endParaRPr>
          </a:p>
          <a:p>
            <a:endParaRPr lang="en-US" altLang="zh-CN" sz="1800" kern="100" dirty="0">
              <a:latin typeface="等线" pitchFamily="2" charset="-122"/>
              <a:ea typeface="等线" pitchFamily="2" charset="-122"/>
              <a:cs typeface="Times New Roman" pitchFamily="18" charset="0"/>
            </a:endParaRPr>
          </a:p>
          <a:p>
            <a:r>
              <a:rPr lang="zh-CN" altLang="en-US" sz="1800" kern="100" dirty="0">
                <a:latin typeface="等线" pitchFamily="2" charset="-122"/>
                <a:ea typeface="等线" pitchFamily="2" charset="-122"/>
                <a:cs typeface="Times New Roman" pitchFamily="18" charset="0"/>
              </a:rPr>
              <a:t>信息检索：</a:t>
            </a:r>
            <a:r>
              <a:rPr lang="en-US" altLang="zh-CN" sz="1800" kern="100" dirty="0">
                <a:latin typeface="等线" pitchFamily="2" charset="-122"/>
                <a:ea typeface="等线" pitchFamily="2" charset="-122"/>
                <a:cs typeface="Times New Roman" pitchFamily="18" charset="0"/>
              </a:rPr>
              <a:t>Information retrieval</a:t>
            </a:r>
          </a:p>
          <a:p>
            <a:endParaRPr lang="en-US" altLang="zh-CN" sz="1800" kern="100" dirty="0">
              <a:effectLst/>
              <a:latin typeface="等线" pitchFamily="2" charset="-122"/>
              <a:ea typeface="等线" pitchFamily="2" charset="-122"/>
              <a:cs typeface="Times New Roman" pitchFamily="18" charset="0"/>
            </a:endParaRPr>
          </a:p>
          <a:p>
            <a:r>
              <a:rPr lang="en-US" altLang="zh-CN" sz="1800" kern="100" dirty="0" err="1">
                <a:latin typeface="等线" pitchFamily="2" charset="-122"/>
                <a:ea typeface="等线" pitchFamily="2" charset="-122"/>
                <a:cs typeface="Times New Roman" pitchFamily="18" charset="0"/>
              </a:rPr>
              <a:t>AlphaGO</a:t>
            </a:r>
            <a:r>
              <a:rPr lang="en-US" altLang="zh-CN" sz="1800" kern="100" dirty="0">
                <a:latin typeface="等线" pitchFamily="2" charset="-122"/>
                <a:ea typeface="等线" pitchFamily="2" charset="-122"/>
                <a:cs typeface="Times New Roman" pitchFamily="18" charset="0"/>
              </a:rPr>
              <a:t> Lee/Master/Zero</a:t>
            </a:r>
            <a:endParaRPr lang="zh-CN" altLang="zh-CN" sz="1800" kern="100" dirty="0">
              <a:effectLst/>
              <a:latin typeface="等线" pitchFamily="2" charset="-122"/>
              <a:ea typeface="等线" pitchFamily="2" charset="-122"/>
              <a:cs typeface="Times New Roman" pitchFamily="18" charset="0"/>
            </a:endParaRPr>
          </a:p>
          <a:p>
            <a:pPr algn="r"/>
            <a:r>
              <a:rPr lang="en-US" altLang="zh-CN" b="1" i="0" u="none" strike="noStrike" dirty="0">
                <a:solidFill>
                  <a:srgbClr val="2A2A2A"/>
                </a:solidFill>
                <a:effectLst/>
                <a:latin typeface="Microsoft YaHei" pitchFamily="34" charset="-122"/>
                <a:ea typeface="Microsoft YaHei" pitchFamily="34" charset="-122"/>
                <a:hlinkClick r:id="rId2" tooltip="《创新者》"/>
              </a:rPr>
              <a:t>《</a:t>
            </a:r>
            <a:r>
              <a:rPr lang="zh-CN" altLang="en-US" b="1" i="0" u="none" strike="noStrike" dirty="0">
                <a:solidFill>
                  <a:srgbClr val="2A2A2A"/>
                </a:solidFill>
                <a:effectLst/>
                <a:latin typeface="Microsoft YaHei" pitchFamily="34" charset="-122"/>
                <a:ea typeface="Microsoft YaHei" pitchFamily="34" charset="-122"/>
                <a:hlinkClick r:id="rId2" tooltip="《创新者》"/>
              </a:rPr>
              <a:t>创新者</a:t>
            </a:r>
            <a:r>
              <a:rPr lang="en-US" altLang="zh-CN" b="1" i="0" u="none" strike="noStrike" dirty="0">
                <a:solidFill>
                  <a:srgbClr val="2A2A2A"/>
                </a:solidFill>
                <a:effectLst/>
                <a:latin typeface="Microsoft YaHei" pitchFamily="34" charset="-122"/>
                <a:ea typeface="Microsoft YaHei" pitchFamily="34" charset="-122"/>
                <a:hlinkClick r:id="rId2" tooltip="《创新者》"/>
              </a:rPr>
              <a:t>》</a:t>
            </a:r>
            <a:endParaRPr lang="zh-CN" altLang="en-US" b="0" i="0" dirty="0">
              <a:solidFill>
                <a:srgbClr val="333333"/>
              </a:solidFill>
              <a:effectLst/>
              <a:latin typeface="Microsoft YaHei" pitchFamily="34" charset="-122"/>
              <a:ea typeface="Microsoft YaHei" pitchFamily="34" charset="-122"/>
            </a:endParaRPr>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6470" y="2880714"/>
            <a:ext cx="3200400" cy="3200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国内现状</a:t>
            </a:r>
          </a:p>
        </p:txBody>
      </p:sp>
      <p:sp>
        <p:nvSpPr>
          <p:cNvPr id="3" name="内容占位符 2"/>
          <p:cNvSpPr>
            <a:spLocks noGrp="1"/>
          </p:cNvSpPr>
          <p:nvPr>
            <p:ph idx="1"/>
          </p:nvPr>
        </p:nvSpPr>
        <p:spPr/>
        <p:txBody>
          <a:bodyPr/>
          <a:lstStyle/>
          <a:p>
            <a:r>
              <a:rPr lang="zh-CN" altLang="en-US" dirty="0"/>
              <a:t>传统的研究方式：打印</a:t>
            </a:r>
            <a:r>
              <a:rPr lang="en-US" altLang="zh-CN" dirty="0"/>
              <a:t>+</a:t>
            </a:r>
            <a:r>
              <a:rPr lang="zh-CN" altLang="en-US" dirty="0"/>
              <a:t>阅读解决一切</a:t>
            </a:r>
            <a:endParaRPr lang="en-US" altLang="zh-CN" dirty="0"/>
          </a:p>
          <a:p>
            <a:r>
              <a:rPr lang="zh-CN" altLang="en-US" dirty="0"/>
              <a:t>数字化转型需要巨大决心和能力</a:t>
            </a:r>
            <a:endParaRPr lang="en-US" altLang="zh-CN" dirty="0"/>
          </a:p>
          <a:p>
            <a:endParaRPr lang="en-US" altLang="zh-CN" dirty="0"/>
          </a:p>
          <a:p>
            <a:r>
              <a:rPr lang="en-US" altLang="zh-CN" dirty="0"/>
              <a:t>GPT</a:t>
            </a:r>
            <a:r>
              <a:rPr lang="zh-CN" altLang="en-US" dirty="0"/>
              <a:t>：</a:t>
            </a:r>
            <a:endParaRPr lang="en-US" altLang="zh-CN" dirty="0"/>
          </a:p>
          <a:p>
            <a:pPr lvl="1"/>
            <a:r>
              <a:rPr lang="zh-CN" altLang="en-US" dirty="0"/>
              <a:t>一则需要梯子</a:t>
            </a:r>
            <a:endParaRPr lang="en-US" altLang="zh-CN" dirty="0"/>
          </a:p>
          <a:p>
            <a:pPr lvl="1"/>
            <a:r>
              <a:rPr lang="zh-CN" altLang="en-US" dirty="0"/>
              <a:t>二则需要</a:t>
            </a:r>
            <a:r>
              <a:rPr lang="en-US" altLang="zh-CN" dirty="0"/>
              <a:t>OpenAI</a:t>
            </a:r>
            <a:r>
              <a:rPr lang="zh-CN" altLang="en-US" dirty="0"/>
              <a:t>账号</a:t>
            </a:r>
            <a:endParaRPr lang="en-US" altLang="zh-CN" dirty="0"/>
          </a:p>
          <a:p>
            <a:pPr lvl="1"/>
            <a:r>
              <a:rPr lang="zh-CN" altLang="en-US" dirty="0"/>
              <a:t>三则如果</a:t>
            </a:r>
            <a:r>
              <a:rPr lang="en-US" altLang="zh-CN" dirty="0"/>
              <a:t>ChatGPT</a:t>
            </a:r>
            <a:r>
              <a:rPr lang="zh-CN" altLang="en-US" dirty="0"/>
              <a:t>为高版本则需付费</a:t>
            </a:r>
            <a:endParaRPr lang="en-US" altLang="zh-CN" dirty="0"/>
          </a:p>
          <a:p>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941207" y="0"/>
            <a:ext cx="8309586"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862601" y="0"/>
            <a:ext cx="10466798"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多模态应用（文本、图表和音视频）</a:t>
            </a:r>
            <a:endParaRPr lang="en-US" dirty="0"/>
          </a:p>
        </p:txBody>
      </p:sp>
      <p:sp>
        <p:nvSpPr>
          <p:cNvPr id="3" name="内容占位符 2"/>
          <p:cNvSpPr>
            <a:spLocks noGrp="1"/>
          </p:cNvSpPr>
          <p:nvPr>
            <p:ph idx="1"/>
          </p:nvPr>
        </p:nvSpPr>
        <p:spPr/>
        <p:txBody>
          <a:bodyPr/>
          <a:lstStyle/>
          <a:p>
            <a:r>
              <a:rPr lang="en-US" dirty="0"/>
              <a:t>1</a:t>
            </a:r>
            <a:r>
              <a:rPr lang="zh-CN" altLang="en-US" dirty="0"/>
              <a:t>、课题申报中分析框图（智能绘图）</a:t>
            </a:r>
            <a:endParaRPr lang="en-US" altLang="zh-CN" dirty="0"/>
          </a:p>
          <a:p>
            <a:endParaRPr lang="en-US" dirty="0"/>
          </a:p>
          <a:p>
            <a:r>
              <a:rPr lang="en-US" dirty="0"/>
              <a:t>2</a:t>
            </a:r>
            <a:r>
              <a:rPr lang="zh-CN" altLang="en-US" dirty="0"/>
              <a:t>、知识库中的引文出处（</a:t>
            </a:r>
            <a:r>
              <a:rPr lang="en-US" altLang="zh-CN" dirty="0" err="1"/>
              <a:t>ima</a:t>
            </a:r>
            <a:r>
              <a:rPr lang="zh-CN" altLang="en-US" dirty="0"/>
              <a:t>）或者找图让</a:t>
            </a:r>
            <a:r>
              <a:rPr lang="en-US" altLang="zh-CN" dirty="0"/>
              <a:t>AI</a:t>
            </a:r>
            <a:r>
              <a:rPr lang="zh-CN" altLang="en-US" dirty="0"/>
              <a:t>重画</a:t>
            </a:r>
            <a:endParaRPr lang="en-US" altLang="zh-CN" dirty="0"/>
          </a:p>
          <a:p>
            <a:endParaRPr lang="en-US" dirty="0"/>
          </a:p>
          <a:p>
            <a:r>
              <a:rPr lang="en-US" dirty="0"/>
              <a:t>3</a:t>
            </a:r>
            <a:r>
              <a:rPr lang="zh-CN" altLang="en-US" dirty="0"/>
              <a:t>、教学中的音视频应用（语音输入法、</a:t>
            </a:r>
            <a:r>
              <a:rPr lang="en-US" altLang="zh-CN" dirty="0" err="1"/>
              <a:t>ZoTTS</a:t>
            </a:r>
            <a:r>
              <a:rPr lang="zh-CN" altLang="en-US" dirty="0"/>
              <a:t>、播客）</a:t>
            </a:r>
            <a:endParaRPr lang="en-US" altLang="zh-CN" dirty="0"/>
          </a:p>
          <a:p>
            <a:pPr lvl="1"/>
            <a:r>
              <a:rPr lang="zh-CN" altLang="en-US" dirty="0"/>
              <a:t>本科项目管理大作业：用</a:t>
            </a:r>
            <a:r>
              <a:rPr lang="en-US" altLang="zh-CN" dirty="0"/>
              <a:t>AI</a:t>
            </a:r>
            <a:r>
              <a:rPr lang="zh-CN" altLang="en-US" dirty="0"/>
              <a:t>看</a:t>
            </a:r>
            <a:r>
              <a:rPr lang="en-US" altLang="zh-CN" dirty="0"/>
              <a:t>45</a:t>
            </a:r>
            <a:r>
              <a:rPr lang="zh-CN" altLang="en-US" dirty="0"/>
              <a:t>分钟纪录片视频写观后感（语音、文本、图片结合）</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知识库资料来源</a:t>
            </a:r>
            <a:r>
              <a:rPr lang="en-US" altLang="zh-CN" dirty="0"/>
              <a:t>——</a:t>
            </a:r>
            <a:r>
              <a:rPr lang="zh-CN" altLang="en-US" dirty="0"/>
              <a:t>小白学术：</a:t>
            </a:r>
            <a:r>
              <a:rPr lang="en-US" altLang="zh-CN" dirty="0"/>
              <a:t> https://www.sssam.com/</a:t>
            </a:r>
            <a:endParaRPr lang="en-US" dirty="0"/>
          </a:p>
        </p:txBody>
      </p:sp>
      <p:pic>
        <p:nvPicPr>
          <p:cNvPr id="5" name="内容占位符 4"/>
          <p:cNvPicPr>
            <a:picLocks noGrp="1" noChangeAspect="1"/>
          </p:cNvPicPr>
          <p:nvPr>
            <p:ph idx="1"/>
          </p:nvPr>
        </p:nvPicPr>
        <p:blipFill>
          <a:blip r:embed="rId2"/>
          <a:stretch>
            <a:fillRect/>
          </a:stretch>
        </p:blipFill>
        <p:spPr>
          <a:xfrm>
            <a:off x="2128056" y="1757167"/>
            <a:ext cx="7935888" cy="4966362"/>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16227"/>
            <a:ext cx="10515600" cy="842665"/>
          </a:xfrm>
        </p:spPr>
        <p:txBody>
          <a:bodyPr/>
          <a:lstStyle/>
          <a:p>
            <a:r>
              <a:rPr lang="zh-CN" altLang="en-US" dirty="0"/>
              <a:t>语音输入（</a:t>
            </a:r>
            <a:r>
              <a:rPr lang="en-US" altLang="zh-CN" dirty="0"/>
              <a:t>2026</a:t>
            </a:r>
            <a:r>
              <a:rPr lang="zh-CN" altLang="en-US"/>
              <a:t>方案）</a:t>
            </a:r>
            <a:endParaRPr lang="zh-CN" altLang="en-US" dirty="0"/>
          </a:p>
        </p:txBody>
      </p:sp>
      <p:pic>
        <p:nvPicPr>
          <p:cNvPr id="5" name="内容占位符 4"/>
          <p:cNvPicPr>
            <a:picLocks noGrp="1" noChangeAspect="1"/>
          </p:cNvPicPr>
          <p:nvPr>
            <p:ph idx="1"/>
          </p:nvPr>
        </p:nvPicPr>
        <p:blipFill>
          <a:blip r:embed="rId2"/>
          <a:stretch>
            <a:fillRect/>
          </a:stretch>
        </p:blipFill>
        <p:spPr>
          <a:xfrm>
            <a:off x="1739139" y="1364508"/>
            <a:ext cx="8713721" cy="5493492"/>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597717" y="0"/>
            <a:ext cx="10996566"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650562" y="0"/>
            <a:ext cx="10890876"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0853"/>
            <a:ext cx="10515600" cy="1325563"/>
          </a:xfrm>
        </p:spPr>
        <p:txBody>
          <a:bodyPr>
            <a:normAutofit/>
          </a:bodyPr>
          <a:lstStyle/>
          <a:p>
            <a:r>
              <a:rPr lang="zh-CN" altLang="en-US" dirty="0"/>
              <a:t>智能绘图</a:t>
            </a:r>
            <a:r>
              <a:rPr lang="en-US" altLang="zh-CN" dirty="0"/>
              <a:t>2025</a:t>
            </a:r>
            <a:r>
              <a:rPr lang="zh-CN" altLang="en-US" dirty="0"/>
              <a:t>方案</a:t>
            </a:r>
            <a:r>
              <a:rPr lang="en-US" altLang="zh-CN" dirty="0"/>
              <a:t>——</a:t>
            </a:r>
            <a:r>
              <a:rPr lang="en-US" b="1" i="0" dirty="0">
                <a:solidFill>
                  <a:srgbClr val="1A1A1A"/>
                </a:solidFill>
                <a:effectLst/>
                <a:latin typeface="-apple-system"/>
              </a:rPr>
              <a:t>AI Draw Nexus</a:t>
            </a:r>
            <a:br>
              <a:rPr lang="en-US" b="1" i="0" dirty="0">
                <a:solidFill>
                  <a:srgbClr val="1A1A1A"/>
                </a:solidFill>
                <a:effectLst/>
                <a:latin typeface="-apple-system"/>
              </a:rPr>
            </a:br>
            <a:r>
              <a:rPr lang="en-US" altLang="zh-CN" dirty="0"/>
              <a:t>https://ai-draw-nexus.aizhi.site/</a:t>
            </a:r>
            <a:endParaRPr lang="en-US" dirty="0"/>
          </a:p>
        </p:txBody>
      </p:sp>
      <p:pic>
        <p:nvPicPr>
          <p:cNvPr id="5" name="图片 4"/>
          <p:cNvPicPr>
            <a:picLocks noChangeAspect="1"/>
          </p:cNvPicPr>
          <p:nvPr/>
        </p:nvPicPr>
        <p:blipFill>
          <a:blip r:embed="rId2"/>
          <a:stretch>
            <a:fillRect/>
          </a:stretch>
        </p:blipFill>
        <p:spPr>
          <a:xfrm>
            <a:off x="1844055" y="1610273"/>
            <a:ext cx="8385490" cy="524772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5" name="图片 4"/>
          <p:cNvPicPr>
            <a:picLocks noChangeAspect="1"/>
          </p:cNvPicPr>
          <p:nvPr/>
        </p:nvPicPr>
        <p:blipFill>
          <a:blip r:embed="rId2"/>
          <a:stretch>
            <a:fillRect/>
          </a:stretch>
        </p:blipFill>
        <p:spPr>
          <a:xfrm>
            <a:off x="635313" y="0"/>
            <a:ext cx="10921373"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1956"/>
            <a:ext cx="10515600" cy="705750"/>
          </a:xfrm>
        </p:spPr>
        <p:txBody>
          <a:bodyPr/>
          <a:lstStyle/>
          <a:p>
            <a:r>
              <a:rPr lang="en-US" dirty="0"/>
              <a:t>https://tiktokenizer.f2api.com/</a:t>
            </a:r>
          </a:p>
        </p:txBody>
      </p:sp>
      <p:pic>
        <p:nvPicPr>
          <p:cNvPr id="5" name="内容占位符 4"/>
          <p:cNvPicPr>
            <a:picLocks noGrp="1" noChangeAspect="1"/>
          </p:cNvPicPr>
          <p:nvPr>
            <p:ph idx="1"/>
          </p:nvPr>
        </p:nvPicPr>
        <p:blipFill>
          <a:blip r:embed="rId2"/>
          <a:stretch>
            <a:fillRect/>
          </a:stretch>
        </p:blipFill>
        <p:spPr>
          <a:xfrm>
            <a:off x="1499230" y="821492"/>
            <a:ext cx="9512944" cy="6036507"/>
          </a:xfr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文档解析神器</a:t>
            </a:r>
            <a:r>
              <a:rPr lang="en-US" altLang="zh-CN" dirty="0"/>
              <a:t>——</a:t>
            </a:r>
            <a:r>
              <a:rPr lang="en-US" altLang="zh-CN" dirty="0" err="1"/>
              <a:t>MinerU</a:t>
            </a:r>
            <a:r>
              <a:rPr lang="en-US" altLang="zh-CN" dirty="0"/>
              <a:t>: https://mineru.net/</a:t>
            </a:r>
            <a:endParaRPr lang="en-US" dirty="0"/>
          </a:p>
        </p:txBody>
      </p:sp>
      <p:pic>
        <p:nvPicPr>
          <p:cNvPr id="5" name="内容占位符 4"/>
          <p:cNvPicPr>
            <a:picLocks noGrp="1" noChangeAspect="1"/>
          </p:cNvPicPr>
          <p:nvPr>
            <p:ph idx="1"/>
          </p:nvPr>
        </p:nvPicPr>
        <p:blipFill>
          <a:blip r:embed="rId2"/>
          <a:stretch>
            <a:fillRect/>
          </a:stretch>
        </p:blipFill>
        <p:spPr>
          <a:xfrm>
            <a:off x="2581835" y="1805796"/>
            <a:ext cx="7652289" cy="4780817"/>
          </a:xfr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sz="3600" dirty="0"/>
              <a:t>开源软件</a:t>
            </a:r>
            <a:r>
              <a:rPr lang="en-US" altLang="zh-CN" sz="3600" dirty="0">
                <a:solidFill>
                  <a:srgbClr val="1F2328"/>
                </a:solidFill>
                <a:latin typeface="-apple-system"/>
              </a:rPr>
              <a:t> </a:t>
            </a:r>
            <a:r>
              <a:rPr lang="en-US" altLang="zh-CN" sz="3600" u="sng" dirty="0">
                <a:solidFill>
                  <a:srgbClr val="1F2328"/>
                </a:solidFill>
                <a:latin typeface="-apple-system"/>
                <a:hlinkClick r:id="rId2"/>
              </a:rPr>
              <a:t>Zotero</a:t>
            </a:r>
            <a:r>
              <a:rPr lang="zh-CN" altLang="en-US" sz="3600"/>
              <a:t>定制：中台概念</a:t>
            </a:r>
            <a:br>
              <a:rPr lang="en-US" altLang="zh-CN" sz="3600" dirty="0"/>
            </a:br>
            <a:r>
              <a:rPr lang="zh-CN" altLang="en-US" sz="3600" dirty="0"/>
              <a:t>（</a:t>
            </a:r>
            <a:r>
              <a:rPr lang="en-US" altLang="zh-CN" sz="3600" dirty="0"/>
              <a:t>Endnote</a:t>
            </a:r>
            <a:r>
              <a:rPr lang="zh-CN" altLang="en-US" sz="3600" dirty="0"/>
              <a:t>、</a:t>
            </a:r>
            <a:r>
              <a:rPr lang="en-US" altLang="zh-CN" sz="3600" dirty="0"/>
              <a:t>Mendeley</a:t>
            </a:r>
            <a:r>
              <a:rPr lang="zh-CN" altLang="en-US" sz="3600" dirty="0"/>
              <a:t>、</a:t>
            </a:r>
            <a:r>
              <a:rPr lang="en-US" altLang="zh-CN" sz="3600" dirty="0"/>
              <a:t>Papers for Mac</a:t>
            </a:r>
            <a:r>
              <a:rPr lang="zh-CN" altLang="en-US" sz="3600" dirty="0"/>
              <a:t>皆可转移至</a:t>
            </a:r>
            <a:r>
              <a:rPr lang="en-US" altLang="zh-CN" sz="3600" dirty="0">
                <a:solidFill>
                  <a:srgbClr val="1F2328"/>
                </a:solidFill>
                <a:latin typeface="-apple-system"/>
              </a:rPr>
              <a:t> </a:t>
            </a:r>
            <a:r>
              <a:rPr lang="en-US" altLang="zh-CN" sz="3600" u="sng" dirty="0">
                <a:solidFill>
                  <a:srgbClr val="1F2328"/>
                </a:solidFill>
                <a:latin typeface="-apple-system"/>
                <a:hlinkClick r:id="rId2"/>
              </a:rPr>
              <a:t>Zotero</a:t>
            </a:r>
            <a:r>
              <a:rPr lang="zh-CN" altLang="en-US" sz="3600" dirty="0"/>
              <a:t>）</a:t>
            </a:r>
          </a:p>
        </p:txBody>
      </p:sp>
      <p:sp>
        <p:nvSpPr>
          <p:cNvPr id="3" name="内容占位符 2"/>
          <p:cNvSpPr>
            <a:spLocks noGrp="1"/>
          </p:cNvSpPr>
          <p:nvPr>
            <p:ph idx="1"/>
          </p:nvPr>
        </p:nvSpPr>
        <p:spPr>
          <a:xfrm>
            <a:off x="838200" y="1941723"/>
            <a:ext cx="10515600" cy="4351338"/>
          </a:xfrm>
        </p:spPr>
        <p:txBody>
          <a:bodyPr/>
          <a:lstStyle/>
          <a:p>
            <a:r>
              <a:rPr lang="zh-CN" altLang="en-US" dirty="0"/>
              <a:t>免费开源软件</a:t>
            </a:r>
            <a:endParaRPr lang="en-US" altLang="zh-CN" dirty="0"/>
          </a:p>
          <a:p>
            <a:pPr lvl="1"/>
            <a:r>
              <a:rPr lang="zh-CN" altLang="en-US" dirty="0"/>
              <a:t>商业软件收费高</a:t>
            </a:r>
            <a:endParaRPr lang="en-US" altLang="zh-CN" dirty="0"/>
          </a:p>
          <a:p>
            <a:pPr lvl="1"/>
            <a:r>
              <a:rPr lang="zh-CN" altLang="en-US" dirty="0"/>
              <a:t>可订制新功能</a:t>
            </a:r>
            <a:endParaRPr lang="en-US" altLang="zh-CN" dirty="0"/>
          </a:p>
          <a:p>
            <a:pPr lvl="1"/>
            <a:r>
              <a:rPr lang="zh-CN" altLang="en-US" dirty="0"/>
              <a:t>跨平台软件（</a:t>
            </a:r>
            <a:r>
              <a:rPr lang="en-US" altLang="zh-CN" dirty="0"/>
              <a:t>PC</a:t>
            </a:r>
            <a:r>
              <a:rPr lang="zh-CN" altLang="en-US" dirty="0"/>
              <a:t>、</a:t>
            </a:r>
            <a:r>
              <a:rPr lang="en-US" altLang="zh-CN" dirty="0"/>
              <a:t>MAC</a:t>
            </a:r>
            <a:r>
              <a:rPr lang="zh-CN" altLang="en-US" dirty="0"/>
              <a:t>和移动端）</a:t>
            </a:r>
            <a:endParaRPr lang="en-US" altLang="zh-CN" dirty="0"/>
          </a:p>
          <a:p>
            <a:pPr lvl="1"/>
            <a:r>
              <a:rPr lang="zh-CN" altLang="en-US" dirty="0"/>
              <a:t>迁移学习能力</a:t>
            </a:r>
            <a:endParaRPr lang="en-US" altLang="zh-CN" dirty="0"/>
          </a:p>
          <a:p>
            <a:pPr lvl="1"/>
            <a:r>
              <a:rPr lang="zh-CN" altLang="en-US" dirty="0"/>
              <a:t>自动更新的功能</a:t>
            </a:r>
            <a:endParaRPr lang="en-US" altLang="zh-CN" dirty="0"/>
          </a:p>
          <a:p>
            <a:pPr lvl="1"/>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选择</a:t>
            </a:r>
            <a:r>
              <a:rPr lang="en-US" altLang="zh-CN" dirty="0"/>
              <a:t>Zotero</a:t>
            </a:r>
            <a:r>
              <a:rPr lang="zh-CN" altLang="en-US" dirty="0"/>
              <a:t>（平台工具）</a:t>
            </a:r>
          </a:p>
        </p:txBody>
      </p:sp>
      <p:sp>
        <p:nvSpPr>
          <p:cNvPr id="3" name="内容占位符 2"/>
          <p:cNvSpPr>
            <a:spLocks noGrp="1"/>
          </p:cNvSpPr>
          <p:nvPr>
            <p:ph idx="1"/>
          </p:nvPr>
        </p:nvSpPr>
        <p:spPr/>
        <p:txBody>
          <a:bodyPr/>
          <a:lstStyle/>
          <a:p>
            <a:r>
              <a:rPr lang="zh-CN" altLang="en-US" dirty="0"/>
              <a:t>文献命名</a:t>
            </a:r>
            <a:endParaRPr lang="en-US" altLang="zh-CN" dirty="0"/>
          </a:p>
          <a:p>
            <a:r>
              <a:rPr lang="zh-CN" altLang="en-US" dirty="0"/>
              <a:t>分类管理</a:t>
            </a:r>
            <a:endParaRPr lang="en-US" altLang="zh-CN" dirty="0"/>
          </a:p>
          <a:p>
            <a:r>
              <a:rPr lang="zh-CN" altLang="en-US" dirty="0"/>
              <a:t>笔记功能</a:t>
            </a:r>
            <a:endParaRPr lang="en-US" altLang="zh-CN" dirty="0"/>
          </a:p>
          <a:p>
            <a:r>
              <a:rPr lang="zh-CN" altLang="en-US" dirty="0"/>
              <a:t>全文搜索</a:t>
            </a:r>
            <a:endParaRPr lang="en-US" altLang="zh-CN" dirty="0"/>
          </a:p>
          <a:p>
            <a:r>
              <a:rPr lang="zh-CN" altLang="en-US" dirty="0"/>
              <a:t>智能翻译</a:t>
            </a:r>
            <a:endParaRPr lang="en-US" altLang="zh-CN" dirty="0"/>
          </a:p>
          <a:p>
            <a:r>
              <a:rPr lang="zh-CN" altLang="en-US" dirty="0"/>
              <a:t>内容生成</a:t>
            </a:r>
            <a:endParaRPr lang="en-US" altLang="zh-CN" dirty="0"/>
          </a:p>
          <a:p>
            <a:r>
              <a:rPr lang="zh-CN" altLang="en-US" dirty="0">
                <a:solidFill>
                  <a:srgbClr val="FF0000"/>
                </a:solidFill>
              </a:rPr>
              <a:t>群组功能（协作）</a:t>
            </a:r>
          </a:p>
        </p:txBody>
      </p:sp>
      <p:sp>
        <p:nvSpPr>
          <p:cNvPr id="4" name="文本框 3"/>
          <p:cNvSpPr txBox="1"/>
          <p:nvPr/>
        </p:nvSpPr>
        <p:spPr>
          <a:xfrm>
            <a:off x="6293457" y="3522427"/>
            <a:ext cx="5060343" cy="1754326"/>
          </a:xfrm>
          <a:prstGeom prst="rect">
            <a:avLst/>
          </a:prstGeom>
          <a:noFill/>
        </p:spPr>
        <p:txBody>
          <a:bodyPr wrap="square" rtlCol="0">
            <a:spAutoFit/>
          </a:bodyPr>
          <a:lstStyle/>
          <a:p>
            <a:r>
              <a:rPr lang="en-US" altLang="zh-CN" dirty="0"/>
              <a:t>Rest easy.</a:t>
            </a:r>
          </a:p>
          <a:p>
            <a:r>
              <a:rPr lang="en-US" altLang="zh-CN" dirty="0"/>
              <a:t>Zotero is open source and developed by an independent, nonprofit organization that has no financial interest in your private information. With Zotero, you always stay in control of your own data.</a:t>
            </a:r>
            <a:endParaRPr lang="zh-CN" altLang="en-US" dirty="0"/>
          </a:p>
        </p:txBody>
      </p:sp>
      <p:pic>
        <p:nvPicPr>
          <p:cNvPr id="5" name="图片 4"/>
          <p:cNvPicPr>
            <a:picLocks noChangeAspect="1"/>
          </p:cNvPicPr>
          <p:nvPr/>
        </p:nvPicPr>
        <p:blipFill>
          <a:blip r:embed="rId2"/>
          <a:stretch>
            <a:fillRect/>
          </a:stretch>
        </p:blipFill>
        <p:spPr>
          <a:xfrm>
            <a:off x="7449816" y="312625"/>
            <a:ext cx="3649141" cy="142924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靶心文章</a:t>
            </a:r>
            <a:r>
              <a:rPr lang="zh-CN" altLang="en-US" sz="4400" dirty="0"/>
              <a:t>选择</a:t>
            </a:r>
            <a:r>
              <a:rPr lang="zh-CN" altLang="en-US" dirty="0"/>
              <a:t>（</a:t>
            </a:r>
            <a:r>
              <a:rPr lang="en-US" altLang="zh-CN" dirty="0"/>
              <a:t>PDF</a:t>
            </a:r>
            <a:r>
              <a:rPr lang="zh-CN" altLang="en-US" dirty="0"/>
              <a:t>格式）</a:t>
            </a:r>
          </a:p>
        </p:txBody>
      </p:sp>
      <p:sp>
        <p:nvSpPr>
          <p:cNvPr id="3" name="内容占位符 2"/>
          <p:cNvSpPr>
            <a:spLocks noGrp="1"/>
          </p:cNvSpPr>
          <p:nvPr>
            <p:ph sz="half" idx="1"/>
          </p:nvPr>
        </p:nvSpPr>
        <p:spPr/>
        <p:txBody>
          <a:bodyPr/>
          <a:lstStyle/>
          <a:p>
            <a:pPr>
              <a:lnSpc>
                <a:spcPct val="150000"/>
              </a:lnSpc>
            </a:pPr>
            <a:r>
              <a:rPr lang="zh-CN" altLang="en-US" dirty="0"/>
              <a:t>研究起源：</a:t>
            </a:r>
            <a:endParaRPr lang="en-US" altLang="zh-CN" dirty="0"/>
          </a:p>
          <a:p>
            <a:pPr lvl="1">
              <a:lnSpc>
                <a:spcPct val="150000"/>
              </a:lnSpc>
            </a:pPr>
            <a:r>
              <a:rPr lang="zh-CN" altLang="en-US" dirty="0"/>
              <a:t>团队标志性成果</a:t>
            </a:r>
            <a:endParaRPr lang="en-US" altLang="zh-CN" dirty="0"/>
          </a:p>
          <a:p>
            <a:pPr lvl="1">
              <a:lnSpc>
                <a:spcPct val="150000"/>
              </a:lnSpc>
            </a:pPr>
            <a:r>
              <a:rPr lang="zh-CN" altLang="en-US" dirty="0"/>
              <a:t>个人感兴趣文章</a:t>
            </a:r>
            <a:endParaRPr lang="en-US" altLang="zh-CN" dirty="0"/>
          </a:p>
          <a:p>
            <a:pPr lvl="1">
              <a:lnSpc>
                <a:spcPct val="150000"/>
              </a:lnSpc>
            </a:pPr>
            <a:r>
              <a:rPr lang="zh-CN" altLang="en-US" dirty="0"/>
              <a:t>较高引用率文献</a:t>
            </a:r>
            <a:endParaRPr lang="en-US" altLang="zh-CN" dirty="0"/>
          </a:p>
          <a:p>
            <a:pPr lvl="1">
              <a:lnSpc>
                <a:spcPct val="150000"/>
              </a:lnSpc>
            </a:pPr>
            <a:r>
              <a:rPr lang="zh-CN" altLang="en-US" dirty="0"/>
              <a:t>期刊中最佳论文</a:t>
            </a:r>
            <a:endParaRPr lang="en-US" altLang="zh-CN" dirty="0"/>
          </a:p>
          <a:p>
            <a:pPr lvl="1">
              <a:lnSpc>
                <a:spcPct val="150000"/>
              </a:lnSpc>
            </a:pPr>
            <a:r>
              <a:rPr lang="zh-CN" altLang="en-US" dirty="0"/>
              <a:t>导师推荐的文献</a:t>
            </a:r>
            <a:endParaRPr lang="en-US" altLang="zh-CN" dirty="0"/>
          </a:p>
        </p:txBody>
      </p:sp>
      <p:sp>
        <p:nvSpPr>
          <p:cNvPr id="5" name="内容占位符 4"/>
          <p:cNvSpPr>
            <a:spLocks noGrp="1"/>
          </p:cNvSpPr>
          <p:nvPr>
            <p:ph sz="half" idx="2"/>
          </p:nvPr>
        </p:nvSpPr>
        <p:spPr/>
        <p:txBody>
          <a:bodyPr/>
          <a:lstStyle/>
          <a:p>
            <a:r>
              <a:rPr lang="zh-CN" altLang="en-US" dirty="0"/>
              <a:t>王强：读书毁了我</a:t>
            </a:r>
            <a:endParaRPr lang="en-US" altLang="zh-CN" dirty="0"/>
          </a:p>
          <a:p>
            <a:endParaRPr lang="en-US" altLang="zh-CN" dirty="0"/>
          </a:p>
          <a:p>
            <a:r>
              <a:rPr lang="zh-CN" altLang="en-US" dirty="0"/>
              <a:t>只读精品：知人论世</a:t>
            </a:r>
            <a:endParaRPr lang="en-US" altLang="zh-CN" dirty="0"/>
          </a:p>
          <a:p>
            <a:pPr lvl="1"/>
            <a:r>
              <a:rPr lang="zh-CN" altLang="en-US" sz="1600" dirty="0"/>
              <a:t>颂其诗，读其书，不知其人，可乎？是以论其世也。是尚友也。</a:t>
            </a:r>
            <a:r>
              <a:rPr lang="en-US" altLang="zh-CN" sz="1600" dirty="0"/>
              <a:t>——《</a:t>
            </a:r>
            <a:r>
              <a:rPr lang="zh-CN" altLang="en-US" sz="1600" dirty="0"/>
              <a:t>孟子</a:t>
            </a:r>
            <a:r>
              <a:rPr lang="en-US" altLang="zh-CN" sz="1600" dirty="0"/>
              <a:t>·</a:t>
            </a:r>
            <a:r>
              <a:rPr lang="zh-CN" altLang="en-US" sz="1600" dirty="0"/>
              <a:t>万章下</a:t>
            </a:r>
            <a:r>
              <a:rPr lang="en-US" altLang="zh-CN" sz="1600" dirty="0"/>
              <a:t>》</a:t>
            </a:r>
          </a:p>
          <a:p>
            <a:endParaRPr lang="en-US" altLang="zh-CN" dirty="0"/>
          </a:p>
          <a:p>
            <a:r>
              <a:rPr lang="zh-CN" altLang="en-US" dirty="0"/>
              <a:t>英中并重，关注版本</a:t>
            </a:r>
          </a:p>
        </p:txBody>
      </p:sp>
      <p:sp>
        <p:nvSpPr>
          <p:cNvPr id="4" name="文本框 3"/>
          <p:cNvSpPr txBox="1"/>
          <p:nvPr/>
        </p:nvSpPr>
        <p:spPr>
          <a:xfrm>
            <a:off x="8472115" y="5649401"/>
            <a:ext cx="2043486" cy="369332"/>
          </a:xfrm>
          <a:prstGeom prst="rect">
            <a:avLst/>
          </a:prstGeom>
          <a:noFill/>
        </p:spPr>
        <p:txBody>
          <a:bodyPr wrap="square" rtlCol="0">
            <a:spAutoFit/>
          </a:bodyPr>
          <a:lstStyle/>
          <a:p>
            <a:r>
              <a:rPr lang="zh-CN" altLang="en-US" dirty="0"/>
              <a:t>如何读懂一篇？</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algn="ctr">
              <a:lnSpc>
                <a:spcPct val="90000"/>
              </a:lnSpc>
              <a:buNone/>
            </a:pPr>
            <a:r>
              <a:rPr lang="zh-CN" sz="3600" b="0" strike="noStrike" spc="-1" dirty="0">
                <a:solidFill>
                  <a:srgbClr val="000000"/>
                </a:solidFill>
                <a:latin typeface="等线 Light"/>
              </a:rPr>
              <a:t>必读精品</a:t>
            </a:r>
            <a:br>
              <a:rPr lang="en-US" altLang="zh-CN" sz="3600" b="0" strike="noStrike" spc="-1" dirty="0">
                <a:solidFill>
                  <a:srgbClr val="000000"/>
                </a:solidFill>
                <a:latin typeface="等线 Light"/>
              </a:rPr>
            </a:br>
            <a:r>
              <a:rPr lang="zh-CN" altLang="en-US" sz="2800" b="0" strike="noStrike" spc="-1" dirty="0">
                <a:solidFill>
                  <a:srgbClr val="000000"/>
                </a:solidFill>
                <a:latin typeface="等线 Light"/>
              </a:rPr>
              <a:t>（</a:t>
            </a:r>
            <a:r>
              <a:rPr lang="zh-CN" sz="2800" b="0" strike="noStrike" spc="-1" dirty="0">
                <a:solidFill>
                  <a:srgbClr val="FF0000"/>
                </a:solidFill>
                <a:latin typeface="等线 Light"/>
              </a:rPr>
              <a:t>涌现</a:t>
            </a:r>
            <a:r>
              <a:rPr lang="zh-CN" sz="2800" b="0" strike="noStrike" spc="-1" dirty="0">
                <a:solidFill>
                  <a:srgbClr val="000000"/>
                </a:solidFill>
                <a:latin typeface="等线 Light"/>
              </a:rPr>
              <a:t>结果：过去、现在和将来</a:t>
            </a:r>
            <a:r>
              <a:rPr lang="zh-CN" altLang="en-US" sz="2800" b="0" strike="noStrike" spc="-1" dirty="0">
                <a:solidFill>
                  <a:srgbClr val="000000"/>
                </a:solidFill>
                <a:latin typeface="等线 Light"/>
              </a:rPr>
              <a:t>）</a:t>
            </a:r>
            <a:endParaRPr lang="en-US" sz="3600" b="0" strike="noStrike" spc="-1" dirty="0">
              <a:solidFill>
                <a:srgbClr val="000000"/>
              </a:solidFill>
              <a:latin typeface="等线" pitchFamily="2" charset="-122"/>
            </a:endParaRPr>
          </a:p>
        </p:txBody>
      </p:sp>
      <p:sp>
        <p:nvSpPr>
          <p:cNvPr id="97" name="PlaceHolder 2"/>
          <p:cNvSpPr>
            <a:spLocks noGrp="1"/>
          </p:cNvSpPr>
          <p:nvPr>
            <p:ph/>
          </p:nvPr>
        </p:nvSpPr>
        <p:spPr>
          <a:xfrm>
            <a:off x="838080" y="1825560"/>
            <a:ext cx="10515240" cy="4350960"/>
          </a:xfrm>
          <a:prstGeom prst="rect">
            <a:avLst/>
          </a:prstGeom>
          <a:noFill/>
          <a:ln w="0">
            <a:noFill/>
          </a:ln>
        </p:spPr>
        <p:txBody>
          <a:bodyPr anchor="t">
            <a:normAutofit/>
          </a:bodyPr>
          <a:lstStyle/>
          <a:p>
            <a:pPr marL="228600" indent="-228600">
              <a:lnSpc>
                <a:spcPct val="90000"/>
              </a:lnSpc>
              <a:spcBef>
                <a:spcPts val="1000"/>
              </a:spcBef>
              <a:buClr>
                <a:srgbClr val="000000"/>
              </a:buClr>
              <a:buFont typeface="Arial" charset="0"/>
              <a:buChar char="•"/>
            </a:pPr>
            <a:r>
              <a:rPr lang="zh-CN" sz="3200" b="0" strike="noStrike" spc="-1">
                <a:solidFill>
                  <a:srgbClr val="000000"/>
                </a:solidFill>
                <a:latin typeface="等线" pitchFamily="2" charset="-122"/>
              </a:rPr>
              <a:t>一、手册</a:t>
            </a:r>
            <a:r>
              <a:rPr lang="en-US" sz="3200" b="0" strike="noStrike" spc="-1">
                <a:solidFill>
                  <a:srgbClr val="000000"/>
                </a:solidFill>
                <a:latin typeface="等线" pitchFamily="2" charset="-122"/>
              </a:rPr>
              <a:t>(Handbook: Greenwood et al., 2017; Hall &amp; </a:t>
            </a:r>
            <a:r>
              <a:rPr lang="en-US" sz="3200" b="0" strike="noStrike" spc="-1">
                <a:solidFill>
                  <a:srgbClr val="FF0000"/>
                </a:solidFill>
                <a:latin typeface="等线" pitchFamily="2" charset="-122"/>
              </a:rPr>
              <a:t>Rosenberg</a:t>
            </a:r>
            <a:r>
              <a:rPr lang="en-US" sz="3200" b="0" strike="noStrike" spc="-1">
                <a:solidFill>
                  <a:srgbClr val="000000"/>
                </a:solidFill>
                <a:latin typeface="等线" pitchFamily="2" charset="-122"/>
              </a:rPr>
              <a:t>, 2010)</a:t>
            </a:r>
          </a:p>
          <a:p>
            <a:pPr marL="228600" indent="-228600">
              <a:lnSpc>
                <a:spcPct val="90000"/>
              </a:lnSpc>
              <a:spcBef>
                <a:spcPts val="1000"/>
              </a:spcBef>
              <a:buClr>
                <a:srgbClr val="000000"/>
              </a:buClr>
              <a:buFont typeface="Arial" charset="0"/>
              <a:buChar char="•"/>
            </a:pPr>
            <a:r>
              <a:rPr lang="zh-CN" sz="3200" b="0" strike="noStrike" spc="-1">
                <a:solidFill>
                  <a:srgbClr val="000000"/>
                </a:solidFill>
                <a:latin typeface="等线" pitchFamily="2" charset="-122"/>
              </a:rPr>
              <a:t>二、最佳论文</a:t>
            </a:r>
            <a:r>
              <a:rPr lang="en-US" sz="3200" b="0" strike="noStrike" spc="-1">
                <a:solidFill>
                  <a:srgbClr val="000000"/>
                </a:solidFill>
                <a:latin typeface="等线" pitchFamily="2" charset="-122"/>
              </a:rPr>
              <a:t>(Best paper of the year award)</a:t>
            </a:r>
          </a:p>
          <a:p>
            <a:pPr marL="228600" indent="-228600">
              <a:lnSpc>
                <a:spcPct val="90000"/>
              </a:lnSpc>
              <a:spcBef>
                <a:spcPts val="1000"/>
              </a:spcBef>
              <a:buClr>
                <a:srgbClr val="000000"/>
              </a:buClr>
              <a:buFont typeface="Arial" charset="0"/>
              <a:buChar char="•"/>
            </a:pPr>
            <a:r>
              <a:rPr lang="zh-CN" sz="3200" b="0" strike="noStrike" spc="-1">
                <a:solidFill>
                  <a:srgbClr val="000000"/>
                </a:solidFill>
                <a:latin typeface="等线" pitchFamily="2" charset="-122"/>
              </a:rPr>
              <a:t>三、顶刊：美国管理学会论文</a:t>
            </a:r>
            <a:r>
              <a:rPr lang="en-US" sz="3200" b="0" strike="noStrike" spc="-1">
                <a:solidFill>
                  <a:srgbClr val="000000"/>
                </a:solidFill>
                <a:latin typeface="等线" pitchFamily="2" charset="-122"/>
              </a:rPr>
              <a:t>(AMA</a:t>
            </a:r>
            <a:r>
              <a:rPr lang="zh-CN" sz="3200" b="0" strike="noStrike" spc="-1">
                <a:solidFill>
                  <a:srgbClr val="000000"/>
                </a:solidFill>
                <a:latin typeface="等线" pitchFamily="2" charset="-122"/>
              </a:rPr>
              <a:t>、</a:t>
            </a:r>
            <a:r>
              <a:rPr lang="en-US" sz="3200" b="0" strike="noStrike" spc="-1">
                <a:solidFill>
                  <a:srgbClr val="000000"/>
                </a:solidFill>
                <a:latin typeface="等线" pitchFamily="2" charset="-122"/>
              </a:rPr>
              <a:t>AMR</a:t>
            </a:r>
            <a:r>
              <a:rPr lang="zh-CN" sz="3200" b="0" strike="noStrike" spc="-1">
                <a:solidFill>
                  <a:srgbClr val="000000"/>
                </a:solidFill>
                <a:latin typeface="等线" pitchFamily="2" charset="-122"/>
              </a:rPr>
              <a:t>、</a:t>
            </a:r>
            <a:r>
              <a:rPr lang="en-US" sz="3200" b="0" strike="noStrike" spc="-1">
                <a:solidFill>
                  <a:srgbClr val="000000"/>
                </a:solidFill>
                <a:latin typeface="等线" pitchFamily="2" charset="-122"/>
              </a:rPr>
              <a:t>AMJ)</a:t>
            </a:r>
            <a:r>
              <a:rPr lang="zh-CN" sz="3200" b="0" strike="noStrike" spc="-1">
                <a:solidFill>
                  <a:srgbClr val="000000"/>
                </a:solidFill>
                <a:latin typeface="等线" pitchFamily="2" charset="-122"/>
              </a:rPr>
              <a:t>、</a:t>
            </a:r>
            <a:r>
              <a:rPr lang="en-US" sz="3200" b="0" strike="noStrike" spc="-1">
                <a:solidFill>
                  <a:srgbClr val="000000"/>
                </a:solidFill>
                <a:latin typeface="等线" pitchFamily="2" charset="-122"/>
              </a:rPr>
              <a:t>24</a:t>
            </a:r>
            <a:r>
              <a:rPr lang="zh-CN" sz="3200" b="0" strike="noStrike" spc="-1">
                <a:solidFill>
                  <a:srgbClr val="000000"/>
                </a:solidFill>
                <a:latin typeface="等线" pitchFamily="2" charset="-122"/>
              </a:rPr>
              <a:t>种（</a:t>
            </a:r>
            <a:r>
              <a:rPr lang="en-US" sz="3200" b="0" strike="noStrike" spc="-1">
                <a:solidFill>
                  <a:srgbClr val="000000"/>
                </a:solidFill>
                <a:latin typeface="等线" pitchFamily="2" charset="-122"/>
              </a:rPr>
              <a:t>ASQ</a:t>
            </a:r>
            <a:r>
              <a:rPr lang="zh-CN" sz="3200" b="0" strike="noStrike" spc="-1">
                <a:solidFill>
                  <a:srgbClr val="000000"/>
                </a:solidFill>
                <a:latin typeface="等线" pitchFamily="2" charset="-122"/>
              </a:rPr>
              <a:t>、</a:t>
            </a:r>
            <a:r>
              <a:rPr lang="en-US" sz="3200" b="0" strike="noStrike" spc="-1">
                <a:solidFill>
                  <a:srgbClr val="000000"/>
                </a:solidFill>
                <a:latin typeface="等线" pitchFamily="2" charset="-122"/>
              </a:rPr>
              <a:t>SMJ</a:t>
            </a:r>
            <a:r>
              <a:rPr lang="zh-CN" sz="3200" b="0" strike="noStrike" spc="-1">
                <a:solidFill>
                  <a:srgbClr val="000000"/>
                </a:solidFill>
                <a:latin typeface="等线" pitchFamily="2" charset="-122"/>
              </a:rPr>
              <a:t>、</a:t>
            </a:r>
            <a:r>
              <a:rPr lang="en-US" sz="3200" b="0" strike="noStrike" spc="-1">
                <a:solidFill>
                  <a:srgbClr val="000000"/>
                </a:solidFill>
                <a:latin typeface="等线" pitchFamily="2" charset="-122"/>
              </a:rPr>
              <a:t>OS</a:t>
            </a:r>
            <a:r>
              <a:rPr lang="zh-CN" sz="3200" b="0" strike="noStrike" spc="-1">
                <a:solidFill>
                  <a:srgbClr val="000000"/>
                </a:solidFill>
                <a:latin typeface="等线" pitchFamily="2" charset="-122"/>
              </a:rPr>
              <a:t>）</a:t>
            </a:r>
            <a:endParaRPr lang="en-US" sz="3200" b="0" strike="noStrike" spc="-1">
              <a:solidFill>
                <a:srgbClr val="000000"/>
              </a:solidFill>
              <a:latin typeface="等线" pitchFamily="2" charset="-122"/>
            </a:endParaRPr>
          </a:p>
          <a:p>
            <a:pPr marL="228600" indent="-228600">
              <a:lnSpc>
                <a:spcPct val="90000"/>
              </a:lnSpc>
              <a:spcBef>
                <a:spcPts val="1000"/>
              </a:spcBef>
              <a:buClr>
                <a:srgbClr val="000000"/>
              </a:buClr>
              <a:buFont typeface="Arial" charset="0"/>
              <a:buChar char="•"/>
            </a:pPr>
            <a:r>
              <a:rPr lang="zh-CN" sz="3200" b="0" strike="noStrike" spc="-1">
                <a:solidFill>
                  <a:srgbClr val="000000"/>
                </a:solidFill>
                <a:latin typeface="等线" pitchFamily="2" charset="-122"/>
              </a:rPr>
              <a:t>四、高引用率文献（</a:t>
            </a:r>
            <a:r>
              <a:rPr lang="en-US" sz="3200" b="0" strike="noStrike" spc="-1">
                <a:solidFill>
                  <a:srgbClr val="000000"/>
                </a:solidFill>
                <a:latin typeface="等线" pitchFamily="2" charset="-122"/>
              </a:rPr>
              <a:t>Top 50</a:t>
            </a:r>
            <a:r>
              <a:rPr lang="zh-CN" sz="3200" b="0" strike="noStrike" spc="-1">
                <a:solidFill>
                  <a:srgbClr val="000000"/>
                </a:solidFill>
                <a:latin typeface="等线" pitchFamily="2" charset="-122"/>
              </a:rPr>
              <a:t>）</a:t>
            </a:r>
            <a:endParaRPr lang="en-US" sz="3200" b="0" strike="noStrike" spc="-1">
              <a:solidFill>
                <a:srgbClr val="000000"/>
              </a:solidFill>
              <a:latin typeface="等线" pitchFamily="2" charset="-122"/>
            </a:endParaRPr>
          </a:p>
          <a:p>
            <a:pPr marL="228600" indent="-228600">
              <a:lnSpc>
                <a:spcPct val="90000"/>
              </a:lnSpc>
              <a:spcBef>
                <a:spcPts val="1000"/>
              </a:spcBef>
              <a:buClr>
                <a:srgbClr val="000000"/>
              </a:buClr>
              <a:buFont typeface="Arial" charset="0"/>
              <a:buChar char="•"/>
            </a:pPr>
            <a:r>
              <a:rPr lang="zh-CN" sz="3200" b="0" strike="noStrike" spc="-1">
                <a:solidFill>
                  <a:srgbClr val="000000"/>
                </a:solidFill>
                <a:latin typeface="等线" pitchFamily="2" charset="-122"/>
              </a:rPr>
              <a:t>五、大伽级</a:t>
            </a:r>
            <a:r>
              <a:rPr lang="zh-CN" altLang="en-US" sz="3200" b="0" strike="noStrike" spc="-1">
                <a:solidFill>
                  <a:srgbClr val="000000"/>
                </a:solidFill>
                <a:latin typeface="等线" pitchFamily="2" charset="-122"/>
              </a:rPr>
              <a:t>人物</a:t>
            </a:r>
            <a:r>
              <a:rPr lang="zh-CN" sz="3200" b="0" strike="noStrike" spc="-1">
                <a:solidFill>
                  <a:srgbClr val="000000"/>
                </a:solidFill>
                <a:latin typeface="等线" pitchFamily="2" charset="-122"/>
              </a:rPr>
              <a:t>（</a:t>
            </a:r>
            <a:r>
              <a:rPr lang="en-US" sz="3200" b="0" strike="noStrike" spc="-1">
                <a:solidFill>
                  <a:srgbClr val="000000"/>
                </a:solidFill>
                <a:latin typeface="等线" pitchFamily="2" charset="-122"/>
              </a:rPr>
              <a:t>Teece</a:t>
            </a:r>
            <a:r>
              <a:rPr lang="zh-CN" sz="3200" b="0" strike="noStrike" spc="-1">
                <a:solidFill>
                  <a:srgbClr val="000000"/>
                </a:solidFill>
                <a:latin typeface="等线" pitchFamily="2" charset="-122"/>
              </a:rPr>
              <a:t>、</a:t>
            </a:r>
            <a:r>
              <a:rPr lang="en-US" sz="3200" b="0" strike="noStrike" spc="-1">
                <a:solidFill>
                  <a:srgbClr val="000000"/>
                </a:solidFill>
                <a:latin typeface="等线" pitchFamily="2" charset="-122"/>
              </a:rPr>
              <a:t>Eisenhardt</a:t>
            </a:r>
            <a:r>
              <a:rPr lang="zh-CN" sz="3200" b="0" strike="noStrike" spc="-1">
                <a:solidFill>
                  <a:srgbClr val="000000"/>
                </a:solidFill>
                <a:latin typeface="等线" pitchFamily="2" charset="-122"/>
              </a:rPr>
              <a:t>、</a:t>
            </a:r>
            <a:r>
              <a:rPr lang="en-US" sz="3200" b="0" strike="noStrike" spc="-1">
                <a:solidFill>
                  <a:srgbClr val="000000"/>
                </a:solidFill>
                <a:latin typeface="等线" pitchFamily="2" charset="-122"/>
              </a:rPr>
              <a:t>Powell</a:t>
            </a:r>
            <a:r>
              <a:rPr lang="zh-CN" sz="3200" b="0" strike="noStrike" spc="-1">
                <a:solidFill>
                  <a:srgbClr val="000000"/>
                </a:solidFill>
                <a:latin typeface="等线" pitchFamily="2" charset="-122"/>
              </a:rPr>
              <a:t>、</a:t>
            </a:r>
            <a:r>
              <a:rPr lang="en-US" sz="3200" b="0" strike="noStrike" spc="-1">
                <a:solidFill>
                  <a:srgbClr val="000000"/>
                </a:solidFill>
                <a:latin typeface="等线" pitchFamily="2" charset="-122"/>
              </a:rPr>
              <a:t>DiMaggio</a:t>
            </a:r>
            <a:r>
              <a:rPr lang="zh-CN" sz="3200" b="0" strike="noStrike" spc="-1">
                <a:solidFill>
                  <a:srgbClr val="000000"/>
                </a:solidFill>
                <a:latin typeface="等线" pitchFamily="2" charset="-122"/>
              </a:rPr>
              <a:t>）</a:t>
            </a:r>
            <a:endParaRPr lang="en-US" sz="3200" b="0" strike="noStrike" spc="-1">
              <a:solidFill>
                <a:srgbClr val="000000"/>
              </a:solidFill>
              <a:latin typeface="等线"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PDF</a:t>
            </a:r>
            <a:r>
              <a:rPr lang="zh-CN" altLang="en-US" dirty="0"/>
              <a:t>根据不同期刊有单栏、双栏甚至三栏</a:t>
            </a:r>
          </a:p>
        </p:txBody>
      </p:sp>
      <p:pic>
        <p:nvPicPr>
          <p:cNvPr id="6" name="内容占位符 5"/>
          <p:cNvPicPr>
            <a:picLocks noGrp="1" noChangeAspect="1"/>
          </p:cNvPicPr>
          <p:nvPr>
            <p:ph sz="half" idx="1"/>
          </p:nvPr>
        </p:nvPicPr>
        <p:blipFill>
          <a:blip r:embed="rId2"/>
          <a:stretch>
            <a:fillRect/>
          </a:stretch>
        </p:blipFill>
        <p:spPr>
          <a:xfrm>
            <a:off x="1434807" y="1825625"/>
            <a:ext cx="3988386" cy="4351338"/>
          </a:xfrm>
        </p:spPr>
      </p:pic>
      <p:pic>
        <p:nvPicPr>
          <p:cNvPr id="8" name="内容占位符 7"/>
          <p:cNvPicPr>
            <a:picLocks noGrp="1" noChangeAspect="1"/>
          </p:cNvPicPr>
          <p:nvPr>
            <p:ph sz="half" idx="2"/>
          </p:nvPr>
        </p:nvPicPr>
        <p:blipFill>
          <a:blip r:embed="rId3"/>
          <a:stretch>
            <a:fillRect/>
          </a:stretch>
        </p:blipFill>
        <p:spPr>
          <a:xfrm>
            <a:off x="6991063" y="1825625"/>
            <a:ext cx="3543873" cy="4351338"/>
          </a:xfr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PDF</a:t>
            </a:r>
            <a:r>
              <a:rPr lang="zh-CN" altLang="en-US" dirty="0"/>
              <a:t>可抓取大量的信息</a:t>
            </a:r>
          </a:p>
        </p:txBody>
      </p:sp>
      <p:sp>
        <p:nvSpPr>
          <p:cNvPr id="6" name="内容占位符 5"/>
          <p:cNvSpPr>
            <a:spLocks noGrp="1"/>
          </p:cNvSpPr>
          <p:nvPr>
            <p:ph idx="1"/>
          </p:nvPr>
        </p:nvSpPr>
        <p:spPr/>
        <p:txBody>
          <a:bodyPr/>
          <a:lstStyle/>
          <a:p>
            <a:r>
              <a:rPr lang="zh-CN" altLang="en-US" dirty="0"/>
              <a:t>参考文献</a:t>
            </a:r>
            <a:endParaRPr lang="en-US" altLang="zh-CN" dirty="0"/>
          </a:p>
          <a:p>
            <a:r>
              <a:rPr lang="zh-CN" altLang="en-US" dirty="0"/>
              <a:t>重要图表</a:t>
            </a:r>
            <a:endParaRPr lang="en-US" altLang="zh-CN" dirty="0"/>
          </a:p>
          <a:p>
            <a:r>
              <a:rPr lang="zh-CN" altLang="en-US" dirty="0"/>
              <a:t>期刊年卷期及页码</a:t>
            </a:r>
            <a:endParaRPr lang="en-US" altLang="zh-CN" dirty="0"/>
          </a:p>
          <a:p>
            <a:r>
              <a:rPr lang="zh-CN" altLang="en-US" dirty="0"/>
              <a:t>摘要信息</a:t>
            </a:r>
            <a:endParaRPr lang="en-US" altLang="zh-CN" dirty="0"/>
          </a:p>
          <a:p>
            <a:r>
              <a:rPr lang="zh-CN" altLang="en-US" dirty="0"/>
              <a:t>关键词或者标签信息</a:t>
            </a:r>
            <a:endParaRPr lang="en-US" altLang="zh-CN" dirty="0"/>
          </a:p>
          <a:p>
            <a:r>
              <a:rPr lang="zh-CN" altLang="en-US" dirty="0"/>
              <a:t>关联文献（？）</a:t>
            </a:r>
            <a:endParaRPr lang="en-US" altLang="zh-CN" dirty="0"/>
          </a:p>
          <a:p>
            <a:r>
              <a:rPr lang="zh-CN" altLang="en-US" dirty="0"/>
              <a:t>作者、</a:t>
            </a:r>
            <a:r>
              <a:rPr lang="en-US" altLang="zh-CN" dirty="0"/>
              <a:t>DOI</a:t>
            </a:r>
            <a:r>
              <a:rPr lang="zh-CN" altLang="en-US" dirty="0"/>
              <a:t>等信息</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文章状态</a:t>
            </a:r>
          </a:p>
        </p:txBody>
      </p:sp>
      <p:sp>
        <p:nvSpPr>
          <p:cNvPr id="3" name="内容占位符 2"/>
          <p:cNvSpPr>
            <a:spLocks noGrp="1"/>
          </p:cNvSpPr>
          <p:nvPr>
            <p:ph idx="1"/>
          </p:nvPr>
        </p:nvSpPr>
        <p:spPr/>
        <p:txBody>
          <a:bodyPr>
            <a:normAutofit fontScale="92500" lnSpcReduction="10000"/>
          </a:bodyPr>
          <a:lstStyle/>
          <a:p>
            <a:r>
              <a:rPr lang="en-US" altLang="zh-CN" dirty="0"/>
              <a:t>"Submitted"</a:t>
            </a:r>
            <a:r>
              <a:rPr lang="zh-CN" altLang="en-US" dirty="0"/>
              <a:t>：表示文章已经被提交到期刊，但尚未经过同行评审或者正在等待同行评审结果。</a:t>
            </a:r>
            <a:endParaRPr lang="en-US" altLang="zh-CN" dirty="0"/>
          </a:p>
          <a:p>
            <a:r>
              <a:rPr lang="en-US" altLang="zh-CN" dirty="0"/>
              <a:t>"Revised"</a:t>
            </a:r>
            <a:r>
              <a:rPr lang="zh-CN" altLang="en-US" dirty="0"/>
              <a:t>：表示文章已经经过同行评审并被要求进行修改。这通常意味着作者已经提交了修订版本，但尚未最终接受或正式发表。</a:t>
            </a:r>
            <a:endParaRPr lang="en-US" altLang="zh-CN" dirty="0"/>
          </a:p>
          <a:p>
            <a:r>
              <a:rPr lang="en-US" altLang="zh-CN" dirty="0"/>
              <a:t>"Accepted"</a:t>
            </a:r>
            <a:r>
              <a:rPr lang="zh-CN" altLang="en-US" dirty="0"/>
              <a:t>：表示文章已经通过同行评审并被期刊正式接受，但尚未进入编辑和排版流程。</a:t>
            </a:r>
          </a:p>
          <a:p>
            <a:pPr algn="l">
              <a:buFont typeface="Arial" charset="0"/>
              <a:buChar char="•"/>
            </a:pPr>
            <a:r>
              <a:rPr lang="en-US" altLang="zh-CN" b="0" i="0" dirty="0">
                <a:effectLst/>
                <a:latin typeface="Roboto" pitchFamily="2" charset="0"/>
              </a:rPr>
              <a:t>"</a:t>
            </a:r>
            <a:r>
              <a:rPr lang="en-US" altLang="zh-CN" dirty="0"/>
              <a:t>Forthcoming</a:t>
            </a:r>
            <a:r>
              <a:rPr lang="en-US" altLang="zh-CN" b="0" i="0" dirty="0">
                <a:effectLst/>
                <a:latin typeface="Roboto" pitchFamily="2" charset="0"/>
              </a:rPr>
              <a:t>" </a:t>
            </a:r>
            <a:r>
              <a:rPr lang="zh-CN" altLang="en-US" b="0" i="0" dirty="0">
                <a:effectLst/>
                <a:latin typeface="Roboto" pitchFamily="2" charset="0"/>
              </a:rPr>
              <a:t>通常用于指将要在期刊中正式发表的文章，但尚未正式出版。这意味着文章已经通过同行评审并被接受，但尚未出现在印刷版或在线版上。</a:t>
            </a:r>
          </a:p>
          <a:p>
            <a:pPr algn="l">
              <a:buFont typeface="Arial" charset="0"/>
              <a:buChar char="•"/>
            </a:pPr>
            <a:r>
              <a:rPr lang="en-US" altLang="zh-CN" b="0" i="0" dirty="0">
                <a:effectLst/>
                <a:latin typeface="Roboto" pitchFamily="2" charset="0"/>
              </a:rPr>
              <a:t>"</a:t>
            </a:r>
            <a:r>
              <a:rPr lang="en-US" altLang="zh-CN" dirty="0"/>
              <a:t>In press</a:t>
            </a:r>
            <a:r>
              <a:rPr lang="en-US" altLang="zh-CN" b="0" i="0" dirty="0">
                <a:effectLst/>
                <a:latin typeface="Roboto" pitchFamily="2" charset="0"/>
              </a:rPr>
              <a:t>" </a:t>
            </a:r>
            <a:r>
              <a:rPr lang="zh-CN" altLang="en-US" b="0" i="0" dirty="0">
                <a:effectLst/>
                <a:latin typeface="Roboto" pitchFamily="2" charset="0"/>
              </a:rPr>
              <a:t>则表示文章已经接受同行评审并被编辑接受，但尚未正式出版。这通常意味着文章已经进入编辑和排版流程，即将被正式出版。</a:t>
            </a:r>
          </a:p>
          <a:p>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数字信息重要</a:t>
            </a:r>
          </a:p>
        </p:txBody>
      </p:sp>
      <p:sp>
        <p:nvSpPr>
          <p:cNvPr id="3" name="内容占位符 2"/>
          <p:cNvSpPr>
            <a:spLocks noGrp="1"/>
          </p:cNvSpPr>
          <p:nvPr>
            <p:ph idx="1"/>
          </p:nvPr>
        </p:nvSpPr>
        <p:spPr/>
        <p:txBody>
          <a:bodyPr/>
          <a:lstStyle/>
          <a:p>
            <a:r>
              <a:rPr lang="zh-CN" altLang="en-US" dirty="0"/>
              <a:t>大学数据库价值不菲：期刊文献一般</a:t>
            </a:r>
            <a:r>
              <a:rPr lang="en-US" altLang="zh-CN" dirty="0"/>
              <a:t>30</a:t>
            </a:r>
            <a:r>
              <a:rPr lang="zh-CN" altLang="en-US" dirty="0"/>
              <a:t>＄</a:t>
            </a:r>
            <a:r>
              <a:rPr lang="en-US" altLang="zh-CN" dirty="0"/>
              <a:t>/</a:t>
            </a:r>
            <a:r>
              <a:rPr lang="zh-CN" altLang="en-US" dirty="0"/>
              <a:t>篇</a:t>
            </a:r>
            <a:endParaRPr lang="en-US" altLang="zh-CN" dirty="0"/>
          </a:p>
          <a:p>
            <a:r>
              <a:rPr lang="zh-CN" altLang="en-US" dirty="0"/>
              <a:t>教材则更贵：</a:t>
            </a:r>
            <a:r>
              <a:rPr lang="en-US" altLang="zh-CN" dirty="0"/>
              <a:t>50</a:t>
            </a:r>
            <a:r>
              <a:rPr lang="zh-CN" altLang="en-US" b="0" i="0" dirty="0">
                <a:solidFill>
                  <a:srgbClr val="333333"/>
                </a:solidFill>
                <a:effectLst/>
                <a:latin typeface="-apple-system"/>
              </a:rPr>
              <a:t>＄</a:t>
            </a:r>
            <a:r>
              <a:rPr lang="en-US" altLang="zh-CN" b="0" i="0" dirty="0">
                <a:solidFill>
                  <a:srgbClr val="333333"/>
                </a:solidFill>
                <a:effectLst/>
                <a:latin typeface="-apple-system"/>
              </a:rPr>
              <a:t>/</a:t>
            </a:r>
            <a:r>
              <a:rPr lang="zh-CN" altLang="en-US" b="0" i="0" dirty="0">
                <a:solidFill>
                  <a:srgbClr val="333333"/>
                </a:solidFill>
                <a:effectLst/>
                <a:latin typeface="-apple-system"/>
              </a:rPr>
              <a:t>部</a:t>
            </a:r>
            <a:endParaRPr lang="en-US" altLang="zh-CN" b="0" i="0" dirty="0">
              <a:solidFill>
                <a:srgbClr val="333333"/>
              </a:solidFill>
              <a:effectLst/>
              <a:latin typeface="-apple-system"/>
            </a:endParaRPr>
          </a:p>
          <a:p>
            <a:r>
              <a:rPr lang="zh-CN" altLang="en-US" dirty="0">
                <a:solidFill>
                  <a:srgbClr val="333333"/>
                </a:solidFill>
                <a:latin typeface="-apple-system"/>
              </a:rPr>
              <a:t>可以思考：</a:t>
            </a:r>
            <a:endParaRPr lang="en-US" altLang="zh-CN" dirty="0">
              <a:solidFill>
                <a:srgbClr val="333333"/>
              </a:solidFill>
              <a:latin typeface="-apple-system"/>
            </a:endParaRPr>
          </a:p>
          <a:p>
            <a:pPr lvl="1"/>
            <a:r>
              <a:rPr lang="zh-CN" altLang="en-US" dirty="0"/>
              <a:t>电子教材为何偏少？</a:t>
            </a:r>
            <a:endParaRPr lang="en-US" altLang="zh-CN" dirty="0"/>
          </a:p>
          <a:p>
            <a:pPr lvl="1"/>
            <a:r>
              <a:rPr lang="zh-CN" altLang="en-US" dirty="0"/>
              <a:t>电子文献哪里可以获得？</a:t>
            </a:r>
            <a:endParaRPr lang="en-US" altLang="zh-CN" dirty="0"/>
          </a:p>
          <a:p>
            <a:pPr lvl="1"/>
            <a:r>
              <a:rPr lang="zh-CN" altLang="en-US" dirty="0"/>
              <a:t>预发文章资料（</a:t>
            </a:r>
            <a:r>
              <a:rPr lang="en-US" altLang="zh-CN" dirty="0">
                <a:solidFill>
                  <a:srgbClr val="FF0000"/>
                </a:solidFill>
              </a:rPr>
              <a:t>forthcoming</a:t>
            </a:r>
            <a:r>
              <a:rPr lang="en-US" altLang="zh-CN" dirty="0"/>
              <a:t>)</a:t>
            </a:r>
            <a:r>
              <a:rPr lang="zh-CN" altLang="en-US" dirty="0"/>
              <a:t>是否可靠？</a:t>
            </a:r>
            <a:endParaRPr lang="en-US" altLang="zh-CN" dirty="0"/>
          </a:p>
          <a:p>
            <a:pPr lvl="1"/>
            <a:r>
              <a:rPr lang="zh-CN" altLang="en-US" dirty="0"/>
              <a:t>联系作者能否获得？</a:t>
            </a:r>
            <a:endParaRPr lang="en-US" altLang="zh-C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sz="4400" dirty="0"/>
              <a:t>实操一：组件引擎配置</a:t>
            </a:r>
            <a:endParaRPr lang="zh-CN" altLang="en-US" dirty="0"/>
          </a:p>
        </p:txBody>
      </p:sp>
      <p:sp>
        <p:nvSpPr>
          <p:cNvPr id="4" name="内容占位符 2"/>
          <p:cNvSpPr>
            <a:spLocks noGrp="1"/>
          </p:cNvSpPr>
          <p:nvPr>
            <p:ph idx="1"/>
          </p:nvPr>
        </p:nvSpPr>
        <p:spPr>
          <a:xfrm>
            <a:off x="838200" y="1825625"/>
            <a:ext cx="10515600" cy="4351338"/>
          </a:xfrm>
        </p:spPr>
        <p:txBody>
          <a:bodyPr>
            <a:normAutofit fontScale="92500" lnSpcReduction="10000"/>
          </a:bodyPr>
          <a:lstStyle/>
          <a:p>
            <a:r>
              <a:rPr lang="en-US" altLang="zh-CN" dirty="0">
                <a:hlinkClick r:id="rId2"/>
              </a:rPr>
              <a:t>GitHub: Let’s build from here · GitHub </a:t>
            </a:r>
            <a:br>
              <a:rPr lang="en-US" altLang="zh-CN" dirty="0"/>
            </a:br>
            <a:r>
              <a:rPr lang="zh-CN" altLang="en-US" sz="2400" dirty="0"/>
              <a:t>（自行申请用户账号）</a:t>
            </a:r>
            <a:endParaRPr lang="en-US" altLang="zh-CN" sz="2400" dirty="0"/>
          </a:p>
          <a:p>
            <a:r>
              <a:rPr lang="zh-CN" altLang="en-US" dirty="0"/>
              <a:t>开源运动使得软件发展迅速：找平替</a:t>
            </a:r>
            <a:endParaRPr lang="en-US" altLang="zh-CN" dirty="0"/>
          </a:p>
          <a:p>
            <a:pPr lvl="1"/>
            <a:r>
              <a:rPr lang="en-US" altLang="zh-CN" dirty="0"/>
              <a:t>Mac</a:t>
            </a:r>
            <a:r>
              <a:rPr lang="zh-CN" altLang="en-US" dirty="0"/>
              <a:t>系统：</a:t>
            </a:r>
            <a:r>
              <a:rPr lang="en-US" altLang="zh-CN" dirty="0"/>
              <a:t>IINA</a:t>
            </a:r>
            <a:r>
              <a:rPr lang="zh-CN" altLang="en-US" dirty="0"/>
              <a:t>（播放）、</a:t>
            </a:r>
            <a:r>
              <a:rPr lang="en-US" altLang="zh-CN" dirty="0"/>
              <a:t>Keta</a:t>
            </a:r>
            <a:r>
              <a:rPr lang="zh-CN" altLang="en-US" dirty="0"/>
              <a:t>（压缩）、</a:t>
            </a:r>
            <a:r>
              <a:rPr lang="en-US" altLang="zh-CN" dirty="0" err="1"/>
              <a:t>Motrix</a:t>
            </a:r>
            <a:r>
              <a:rPr lang="zh-CN" altLang="en-US" dirty="0"/>
              <a:t>（下载）、</a:t>
            </a:r>
            <a:r>
              <a:rPr lang="en-US" altLang="zh-CN" dirty="0" err="1"/>
              <a:t>YesPlayMusic</a:t>
            </a:r>
            <a:r>
              <a:rPr lang="zh-CN" altLang="en-US" dirty="0"/>
              <a:t>（音乐）</a:t>
            </a:r>
            <a:endParaRPr lang="en-US" altLang="zh-CN" dirty="0"/>
          </a:p>
          <a:p>
            <a:pPr lvl="1"/>
            <a:r>
              <a:rPr lang="en-US" altLang="zh-CN" dirty="0"/>
              <a:t>Window</a:t>
            </a:r>
            <a:r>
              <a:rPr lang="zh-CN" altLang="en-US" dirty="0"/>
              <a:t>系统：</a:t>
            </a:r>
            <a:r>
              <a:rPr lang="en-US" altLang="zh-CN" dirty="0" err="1"/>
              <a:t>QuickLook</a:t>
            </a:r>
            <a:r>
              <a:rPr lang="zh-CN" altLang="en-US" dirty="0"/>
              <a:t>（预览）、</a:t>
            </a:r>
            <a:r>
              <a:rPr lang="en-US" altLang="zh-CN" dirty="0" err="1"/>
              <a:t>ShareX</a:t>
            </a:r>
            <a:r>
              <a:rPr lang="zh-CN" altLang="en-US" dirty="0"/>
              <a:t>（录屏）、</a:t>
            </a:r>
            <a:r>
              <a:rPr lang="en-US" altLang="zh-CN" dirty="0" err="1"/>
              <a:t>Bandzip</a:t>
            </a:r>
            <a:r>
              <a:rPr lang="zh-CN" altLang="en-US" dirty="0"/>
              <a:t>（压缩）</a:t>
            </a:r>
            <a:endParaRPr lang="en-US" altLang="zh-CN" dirty="0"/>
          </a:p>
          <a:p>
            <a:pPr lvl="1"/>
            <a:r>
              <a:rPr lang="zh-CN" altLang="en-US" dirty="0"/>
              <a:t>都可从</a:t>
            </a:r>
            <a:r>
              <a:rPr lang="en-US" altLang="zh-CN" dirty="0"/>
              <a:t>GitHub</a:t>
            </a:r>
            <a:r>
              <a:rPr lang="zh-CN" altLang="en-US" dirty="0"/>
              <a:t>下载，有些是全平台的</a:t>
            </a:r>
            <a:endParaRPr lang="en-US" altLang="zh-CN" dirty="0"/>
          </a:p>
          <a:p>
            <a:r>
              <a:rPr lang="zh-CN" altLang="en-US" dirty="0"/>
              <a:t>进到</a:t>
            </a:r>
            <a:r>
              <a:rPr lang="en-US" altLang="zh-CN" dirty="0"/>
              <a:t>GitHub</a:t>
            </a:r>
            <a:r>
              <a:rPr lang="zh-CN" altLang="en-US" dirty="0"/>
              <a:t>网站：搜索</a:t>
            </a:r>
            <a:r>
              <a:rPr lang="en-US" altLang="zh-CN" u="sng" dirty="0">
                <a:solidFill>
                  <a:srgbClr val="1F2328"/>
                </a:solidFill>
                <a:latin typeface="-apple-system"/>
                <a:hlinkClick r:id="rId3"/>
              </a:rPr>
              <a:t>Zotero</a:t>
            </a:r>
            <a:r>
              <a:rPr lang="zh-CN" altLang="en-US" dirty="0"/>
              <a:t>，以</a:t>
            </a:r>
            <a:r>
              <a:rPr lang="en-US" altLang="zh-CN" dirty="0"/>
              <a:t>most starred</a:t>
            </a:r>
            <a:r>
              <a:rPr lang="zh-CN" altLang="en-US" dirty="0"/>
              <a:t>排序，可以将前十位或前二十位的项目下载下来</a:t>
            </a:r>
            <a:endParaRPr lang="en-US" altLang="zh-CN" dirty="0"/>
          </a:p>
          <a:p>
            <a:r>
              <a:rPr lang="zh-CN" altLang="en-US" dirty="0"/>
              <a:t>目前已知的强大插件功能</a:t>
            </a:r>
            <a:endParaRPr lang="en-US" altLang="zh-CN" dirty="0"/>
          </a:p>
          <a:p>
            <a:pPr lvl="1"/>
            <a:r>
              <a:rPr lang="en-US" altLang="zh-CN" dirty="0"/>
              <a:t>Zotero PDF </a:t>
            </a:r>
            <a:r>
              <a:rPr lang="en-US" altLang="zh-CN" dirty="0" err="1"/>
              <a:t>Tranlate</a:t>
            </a:r>
            <a:r>
              <a:rPr lang="zh-CN" altLang="en-US" dirty="0"/>
              <a:t>（翻译）、</a:t>
            </a:r>
            <a:r>
              <a:rPr lang="en-US" altLang="zh-CN" dirty="0"/>
              <a:t>Zotero Better Notes</a:t>
            </a:r>
            <a:r>
              <a:rPr lang="zh-CN" altLang="en-US" dirty="0"/>
              <a:t>（笔记）、</a:t>
            </a:r>
            <a:r>
              <a:rPr lang="en-US" altLang="zh-CN" dirty="0"/>
              <a:t>Zotero GPT</a:t>
            </a:r>
            <a:r>
              <a:rPr lang="zh-CN" altLang="en-US" dirty="0"/>
              <a:t>（内容）等，最多十个够了。</a:t>
            </a:r>
            <a:endParaRPr lang="en-US" altLang="zh-CN" dirty="0"/>
          </a:p>
          <a:p>
            <a:endParaRPr lang="en-US" altLang="zh-CN" dirty="0"/>
          </a:p>
          <a:p>
            <a:pPr lvl="1"/>
            <a:endParaRPr lang="en-US" altLang="zh-C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随着时间推移，用户积累的口碑逐渐成为开源软件发展的重要推动力。在</a:t>
            </a:r>
            <a:r>
              <a:rPr lang="en-US" altLang="zh-CN" dirty="0"/>
              <a:t>GitHub</a:t>
            </a:r>
            <a:r>
              <a:rPr lang="zh-CN" altLang="en-US" dirty="0"/>
              <a:t>等开源平台上，项目所获的星标（</a:t>
            </a:r>
            <a:r>
              <a:rPr lang="en-US" altLang="zh-CN" dirty="0"/>
              <a:t>star</a:t>
            </a:r>
            <a:r>
              <a:rPr lang="zh-CN" altLang="en-US" dirty="0"/>
              <a:t>）数量已成为衡量其影响力与可信度的一项关键指标。</a:t>
            </a:r>
            <a:endParaRPr lang="en-US" altLang="zh-CN" dirty="0"/>
          </a:p>
          <a:p>
            <a:endParaRPr lang="en-US" altLang="zh-CN" dirty="0"/>
          </a:p>
          <a:p>
            <a:r>
              <a:rPr lang="zh-CN" altLang="en-US" dirty="0"/>
              <a:t>此外，部分技术社区（如</a:t>
            </a:r>
            <a:r>
              <a:rPr lang="en-US" altLang="zh-CN" dirty="0"/>
              <a:t>Zotero</a:t>
            </a:r>
            <a:r>
              <a:rPr lang="zh-CN" altLang="en-US" dirty="0"/>
              <a:t>中文社区）提供了本地化服务，使研究者无需借助特殊网络工具即可访问资源。其他相关工具与平台（如</a:t>
            </a:r>
            <a:r>
              <a:rPr lang="en-US" altLang="zh-CN" dirty="0" err="1"/>
              <a:t>CherryStudio</a:t>
            </a:r>
            <a:r>
              <a:rPr lang="zh-CN" altLang="en-US" dirty="0"/>
              <a:t>、</a:t>
            </a:r>
            <a:r>
              <a:rPr lang="en-US" altLang="zh-CN" dirty="0" err="1"/>
              <a:t>SiliconFlow</a:t>
            </a:r>
            <a:r>
              <a:rPr lang="zh-CN" altLang="en-US" dirty="0"/>
              <a:t>、</a:t>
            </a:r>
            <a:r>
              <a:rPr lang="en-US" altLang="zh-CN" dirty="0" err="1"/>
              <a:t>DeepSeek</a:t>
            </a:r>
            <a:r>
              <a:rPr lang="zh-CN" altLang="en-US" dirty="0"/>
              <a:t>、</a:t>
            </a:r>
            <a:r>
              <a:rPr lang="en-US" altLang="zh-CN" dirty="0"/>
              <a:t>Mistral</a:t>
            </a:r>
            <a:r>
              <a:rPr lang="zh-CN" altLang="en-US" dirty="0"/>
              <a:t>、</a:t>
            </a:r>
            <a:r>
              <a:rPr lang="en-US" altLang="zh-CN" dirty="0" err="1"/>
              <a:t>Qwen</a:t>
            </a:r>
            <a:r>
              <a:rPr lang="en-US" altLang="zh-CN" dirty="0"/>
              <a:t> 3.0</a:t>
            </a:r>
            <a:r>
              <a:rPr lang="zh-CN" altLang="en-US" dirty="0"/>
              <a:t>）以及标准化标记语言（如</a:t>
            </a:r>
            <a:r>
              <a:rPr lang="en-US" altLang="zh-CN" dirty="0"/>
              <a:t>Markdown</a:t>
            </a:r>
            <a:r>
              <a:rPr lang="zh-CN" altLang="en-US" dirty="0"/>
              <a:t>、</a:t>
            </a:r>
            <a:r>
              <a:rPr lang="en-US" altLang="zh-CN" dirty="0"/>
              <a:t>Mermaid</a:t>
            </a:r>
            <a:r>
              <a:rPr lang="zh-CN" altLang="en-US" dirty="0"/>
              <a:t>）也在学术与技术工作流中发挥重要作用。</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下载及添</a:t>
            </a:r>
            <a:r>
              <a:rPr lang="zh-CN" altLang="en-US" sz="4400" dirty="0"/>
              <a:t>加插件的方式</a:t>
            </a:r>
            <a:endParaRPr lang="zh-CN" altLang="en-US" dirty="0"/>
          </a:p>
        </p:txBody>
      </p:sp>
      <p:sp>
        <p:nvSpPr>
          <p:cNvPr id="2" name="内容占位符 1"/>
          <p:cNvSpPr>
            <a:spLocks noGrp="1"/>
          </p:cNvSpPr>
          <p:nvPr>
            <p:ph idx="1"/>
          </p:nvPr>
        </p:nvSpPr>
        <p:spPr/>
        <p:txBody>
          <a:bodyPr>
            <a:normAutofit fontScale="92500" lnSpcReduction="20000"/>
          </a:bodyPr>
          <a:lstStyle/>
          <a:p>
            <a:r>
              <a:rPr lang="zh-CN" altLang="en-US" dirty="0"/>
              <a:t>根据自己需求到</a:t>
            </a:r>
            <a:r>
              <a:rPr lang="en-US" altLang="zh-CN" dirty="0" err="1"/>
              <a:t>Github</a:t>
            </a:r>
            <a:r>
              <a:rPr lang="zh-CN" altLang="en-US" dirty="0"/>
              <a:t>下载</a:t>
            </a:r>
            <a:endParaRPr lang="en-US" altLang="zh-CN" dirty="0"/>
          </a:p>
          <a:p>
            <a:r>
              <a:rPr lang="zh-CN" altLang="en-US" dirty="0"/>
              <a:t>找最新</a:t>
            </a:r>
            <a:r>
              <a:rPr lang="en-US" altLang="zh-CN" dirty="0"/>
              <a:t>release</a:t>
            </a:r>
            <a:r>
              <a:rPr lang="zh-CN" altLang="en-US" dirty="0"/>
              <a:t>包来下，也可整体压缩包下载下来</a:t>
            </a:r>
            <a:endParaRPr lang="en-US" altLang="zh-CN" dirty="0"/>
          </a:p>
          <a:p>
            <a:r>
              <a:rPr lang="zh-CN" altLang="en-US" dirty="0"/>
              <a:t>将全部下载完毕的文件（</a:t>
            </a:r>
            <a:r>
              <a:rPr lang="en-US" altLang="zh-CN" dirty="0"/>
              <a:t>.XPI</a:t>
            </a:r>
            <a:r>
              <a:rPr lang="zh-CN" altLang="en-US" dirty="0"/>
              <a:t>）拖拉到：工具→附加组件</a:t>
            </a:r>
            <a:endParaRPr lang="en-US" altLang="zh-CN" dirty="0"/>
          </a:p>
          <a:p>
            <a:pPr lvl="1"/>
            <a:r>
              <a:rPr lang="zh-CN" altLang="en-US" dirty="0"/>
              <a:t>当然可用解压工具（</a:t>
            </a:r>
            <a:r>
              <a:rPr lang="en-US" altLang="zh-CN" dirty="0"/>
              <a:t> </a:t>
            </a:r>
            <a:r>
              <a:rPr lang="en-US" altLang="zh-CN" dirty="0" err="1"/>
              <a:t>Bandzip</a:t>
            </a:r>
            <a:r>
              <a:rPr lang="en-US" altLang="zh-CN" dirty="0"/>
              <a:t> </a:t>
            </a:r>
            <a:r>
              <a:rPr lang="zh-CN" altLang="en-US" dirty="0"/>
              <a:t>）进行程序编写</a:t>
            </a:r>
            <a:endParaRPr lang="en-US" altLang="zh-CN" dirty="0"/>
          </a:p>
          <a:p>
            <a:pPr algn="l"/>
            <a:endParaRPr lang="en-US" altLang="zh-CN" dirty="0"/>
          </a:p>
          <a:p>
            <a:pPr algn="l"/>
            <a:r>
              <a:rPr lang="en-US" altLang="zh-CN" dirty="0"/>
              <a:t>Install</a:t>
            </a:r>
            <a:endParaRPr lang="en-US" altLang="zh-CN" b="0" i="0" dirty="0">
              <a:solidFill>
                <a:srgbClr val="24292F"/>
              </a:solidFill>
              <a:effectLst/>
              <a:latin typeface="-apple-system"/>
            </a:endParaRPr>
          </a:p>
          <a:p>
            <a:pPr lvl="1"/>
            <a:r>
              <a:rPr lang="en-US" altLang="zh-CN" dirty="0"/>
              <a:t>Download the latest release (.</a:t>
            </a:r>
            <a:r>
              <a:rPr lang="en-US" altLang="zh-CN" dirty="0" err="1"/>
              <a:t>xpi</a:t>
            </a:r>
            <a:r>
              <a:rPr lang="en-US" altLang="zh-CN" dirty="0"/>
              <a:t> file) from the Releases </a:t>
            </a:r>
            <a:r>
              <a:rPr lang="en-US" altLang="zh-CN" dirty="0" err="1"/>
              <a:t>PageNote</a:t>
            </a:r>
            <a:r>
              <a:rPr lang="en-US" altLang="zh-CN" dirty="0"/>
              <a:t> If you're using Firefox as your browser, right-click the .</a:t>
            </a:r>
            <a:r>
              <a:rPr lang="en-US" altLang="zh-CN" dirty="0" err="1"/>
              <a:t>xpi</a:t>
            </a:r>
            <a:r>
              <a:rPr lang="en-US" altLang="zh-CN" dirty="0"/>
              <a:t> and select "Save As.."</a:t>
            </a:r>
          </a:p>
          <a:p>
            <a:pPr lvl="1"/>
            <a:r>
              <a:rPr lang="en-US" altLang="zh-CN" dirty="0"/>
              <a:t>In Zotero click Tools in the top menu bar and then click Addons</a:t>
            </a:r>
          </a:p>
          <a:p>
            <a:pPr lvl="1"/>
            <a:r>
              <a:rPr lang="en-US" altLang="zh-CN" dirty="0"/>
              <a:t>Go to the Extensions page and then click the gear icon in the top right.</a:t>
            </a:r>
          </a:p>
          <a:p>
            <a:pPr lvl="1"/>
            <a:r>
              <a:rPr lang="en-US" altLang="zh-CN" dirty="0"/>
              <a:t>Select Install Add-on from file.</a:t>
            </a:r>
          </a:p>
          <a:p>
            <a:pPr lvl="1"/>
            <a:r>
              <a:rPr lang="en-US" altLang="zh-CN" dirty="0"/>
              <a:t>Browse to where you downloaded the .</a:t>
            </a:r>
            <a:r>
              <a:rPr lang="en-US" altLang="zh-CN" dirty="0" err="1"/>
              <a:t>xpi</a:t>
            </a:r>
            <a:r>
              <a:rPr lang="en-US" altLang="zh-CN" dirty="0"/>
              <a:t> file and select it.</a:t>
            </a:r>
          </a:p>
          <a:p>
            <a:pPr lvl="1"/>
            <a:r>
              <a:rPr lang="en-US" altLang="zh-CN" dirty="0"/>
              <a:t>Finish!</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插件添加（</a:t>
            </a:r>
            <a:r>
              <a:rPr lang="en-US" altLang="zh-CN" dirty="0"/>
              <a:t>Plugins</a:t>
            </a:r>
            <a:r>
              <a:rPr lang="zh-CN" altLang="en-US" dirty="0"/>
              <a:t>）</a:t>
            </a:r>
          </a:p>
        </p:txBody>
      </p:sp>
      <p:sp>
        <p:nvSpPr>
          <p:cNvPr id="3" name="内容占位符 2"/>
          <p:cNvSpPr>
            <a:spLocks noGrp="1"/>
          </p:cNvSpPr>
          <p:nvPr>
            <p:ph idx="1"/>
          </p:nvPr>
        </p:nvSpPr>
        <p:spPr/>
        <p:txBody>
          <a:bodyPr/>
          <a:lstStyle/>
          <a:p>
            <a:r>
              <a:rPr lang="zh-CN" altLang="en-US" dirty="0"/>
              <a:t>翻译插件（</a:t>
            </a:r>
            <a:r>
              <a:rPr lang="en-US" altLang="zh-CN" dirty="0"/>
              <a:t>Zotero PDF Translate</a:t>
            </a:r>
            <a:r>
              <a:rPr lang="zh-CN" altLang="en-US" dirty="0"/>
              <a:t>）</a:t>
            </a:r>
            <a:endParaRPr lang="en-US" altLang="zh-CN" dirty="0"/>
          </a:p>
          <a:p>
            <a:r>
              <a:rPr lang="en-US" altLang="zh-CN" dirty="0"/>
              <a:t>DOI</a:t>
            </a:r>
            <a:r>
              <a:rPr lang="zh-CN" altLang="en-US" dirty="0"/>
              <a:t>管理插件（</a:t>
            </a:r>
            <a:r>
              <a:rPr lang="en-US" altLang="zh-CN" dirty="0"/>
              <a:t>DOI Manager</a:t>
            </a:r>
            <a:r>
              <a:rPr lang="zh-CN" altLang="en-US" dirty="0"/>
              <a:t>）</a:t>
            </a:r>
            <a:endParaRPr lang="en-US" altLang="zh-CN" dirty="0"/>
          </a:p>
          <a:p>
            <a:r>
              <a:rPr lang="zh-CN" altLang="en-US" dirty="0"/>
              <a:t>茉莉花中文插件（</a:t>
            </a:r>
            <a:r>
              <a:rPr lang="en-US" altLang="zh-CN" dirty="0"/>
              <a:t>Jasminum</a:t>
            </a:r>
            <a:r>
              <a:rPr lang="zh-CN" altLang="en-US" dirty="0"/>
              <a:t>）</a:t>
            </a:r>
            <a:endParaRPr lang="en-US" altLang="zh-CN" dirty="0"/>
          </a:p>
          <a:p>
            <a:r>
              <a:rPr lang="zh-CN" altLang="en-US" dirty="0"/>
              <a:t>文件管理插件（</a:t>
            </a:r>
            <a:r>
              <a:rPr lang="en-US" altLang="zh-CN" dirty="0" err="1"/>
              <a:t>Zotfile</a:t>
            </a:r>
            <a:r>
              <a:rPr lang="zh-CN" altLang="en-US" dirty="0"/>
              <a:t>）</a:t>
            </a:r>
            <a:endParaRPr lang="en-US" altLang="zh-CN" dirty="0"/>
          </a:p>
          <a:p>
            <a:r>
              <a:rPr lang="zh-CN" altLang="en-US" dirty="0"/>
              <a:t>快捷键插件（</a:t>
            </a:r>
            <a:r>
              <a:rPr lang="en-US" altLang="zh-CN" dirty="0" err="1"/>
              <a:t>Zutilo</a:t>
            </a:r>
            <a:r>
              <a:rPr lang="zh-CN" altLang="en-US" dirty="0"/>
              <a:t>）</a:t>
            </a:r>
            <a:endParaRPr lang="en-US" altLang="zh-CN" dirty="0"/>
          </a:p>
          <a:p>
            <a:r>
              <a:rPr lang="zh-CN" altLang="en-US" dirty="0"/>
              <a:t>浏览插件（</a:t>
            </a:r>
            <a:r>
              <a:rPr lang="en-US" altLang="zh-CN" dirty="0" err="1"/>
              <a:t>ZoteroQuickLook</a:t>
            </a:r>
            <a:r>
              <a:rPr lang="zh-CN" altLang="en-US" dirty="0"/>
              <a:t>）</a:t>
            </a:r>
            <a:endParaRPr lang="en-US" altLang="zh-CN" dirty="0"/>
          </a:p>
          <a:p>
            <a:r>
              <a:rPr lang="en-US" altLang="zh-CN" dirty="0"/>
              <a:t>Word</a:t>
            </a:r>
            <a:r>
              <a:rPr lang="zh-CN" altLang="en-US" dirty="0"/>
              <a:t>插件</a:t>
            </a:r>
            <a:endParaRPr lang="en-US" altLang="zh-CN" dirty="0"/>
          </a:p>
          <a:p>
            <a:pPr algn="r"/>
            <a:r>
              <a:rPr lang="zh-CN" altLang="en-US" dirty="0"/>
              <a:t>可以拖拉式一并加入</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hlinkClick r:id="rId2"/>
              </a:rPr>
              <a:t>Zotero </a:t>
            </a:r>
            <a:r>
              <a:rPr lang="zh-CN" altLang="en-US" dirty="0">
                <a:hlinkClick r:id="rId2"/>
              </a:rPr>
              <a:t>插件商店 </a:t>
            </a:r>
            <a:r>
              <a:rPr lang="en-US" altLang="zh-CN" dirty="0">
                <a:hlinkClick r:id="rId2"/>
              </a:rPr>
              <a:t>| Zotero </a:t>
            </a:r>
            <a:r>
              <a:rPr lang="zh-CN" altLang="en-US" dirty="0">
                <a:hlinkClick r:id="rId2"/>
              </a:rPr>
              <a:t>中文社区</a:t>
            </a:r>
            <a:endParaRPr lang="zh-CN" altLang="en-US" dirty="0"/>
          </a:p>
        </p:txBody>
      </p:sp>
      <p:pic>
        <p:nvPicPr>
          <p:cNvPr id="5" name="内容占位符 4"/>
          <p:cNvPicPr>
            <a:picLocks noGrp="1" noChangeAspect="1"/>
          </p:cNvPicPr>
          <p:nvPr>
            <p:ph idx="1"/>
          </p:nvPr>
        </p:nvPicPr>
        <p:blipFill>
          <a:blip r:embed="rId3"/>
          <a:stretch>
            <a:fillRect/>
          </a:stretch>
        </p:blipFill>
        <p:spPr>
          <a:xfrm>
            <a:off x="1642405" y="1690688"/>
            <a:ext cx="8273566" cy="5004473"/>
          </a:xfr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0" y="95999"/>
            <a:ext cx="12192000" cy="6666002"/>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0" y="482626"/>
            <a:ext cx="12192000" cy="5892747"/>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6" name="内容占位符 5"/>
          <p:cNvSpPr>
            <a:spLocks noGrp="1"/>
          </p:cNvSpPr>
          <p:nvPr>
            <p:ph idx="1"/>
          </p:nvPr>
        </p:nvSpPr>
        <p:spPr>
          <a:xfrm>
            <a:off x="838200" y="1825625"/>
            <a:ext cx="10515600" cy="4351338"/>
          </a:xfrm>
        </p:spPr>
        <p:txBody>
          <a:bodyPr/>
          <a:lstStyle/>
          <a:p>
            <a:r>
              <a:rPr lang="en-US" altLang="zh-CN" dirty="0">
                <a:hlinkClick r:id="rId2"/>
              </a:rPr>
              <a:t>Zotero</a:t>
            </a:r>
            <a:r>
              <a:rPr lang="zh-CN" altLang="en-US" dirty="0">
                <a:hlinkClick r:id="rId2"/>
              </a:rPr>
              <a:t>文献管理 </a:t>
            </a:r>
            <a:r>
              <a:rPr lang="en-US" altLang="zh-CN" dirty="0">
                <a:hlinkClick r:id="rId2"/>
              </a:rPr>
              <a:t>| </a:t>
            </a:r>
            <a:r>
              <a:rPr lang="zh-CN" altLang="en-US" dirty="0">
                <a:hlinkClick r:id="rId2"/>
              </a:rPr>
              <a:t>添加文献检索引擎（附下载） </a:t>
            </a:r>
            <a:r>
              <a:rPr lang="en-US" altLang="zh-CN" dirty="0">
                <a:hlinkClick r:id="rId2"/>
              </a:rPr>
              <a:t>- </a:t>
            </a:r>
            <a:r>
              <a:rPr lang="zh-CN" altLang="en-US" dirty="0">
                <a:hlinkClick r:id="rId2"/>
              </a:rPr>
              <a:t>知乎 </a:t>
            </a:r>
            <a:r>
              <a:rPr lang="en-US" altLang="zh-CN" dirty="0">
                <a:hlinkClick r:id="rId2"/>
              </a:rPr>
              <a:t>(zhihu.com)</a:t>
            </a:r>
            <a:endParaRPr lang="en-US" altLang="zh-CN" dirty="0"/>
          </a:p>
          <a:p>
            <a:endParaRPr lang="en-US" altLang="zh-CN" dirty="0"/>
          </a:p>
          <a:p>
            <a:r>
              <a:rPr lang="en-US" altLang="zh-CN" dirty="0" err="1"/>
              <a:t>Github</a:t>
            </a:r>
            <a:r>
              <a:rPr lang="zh-CN" altLang="en-US" dirty="0"/>
              <a:t>可下载相关例子</a:t>
            </a:r>
            <a:endParaRPr lang="en-US" altLang="zh-CN" dirty="0"/>
          </a:p>
          <a:p>
            <a:endParaRPr lang="en-US" altLang="zh-CN" dirty="0"/>
          </a:p>
          <a:p>
            <a:r>
              <a:rPr lang="zh-CN" altLang="en-US" dirty="0"/>
              <a:t>本校资料搜索引擎必须搞定</a:t>
            </a:r>
            <a:endParaRPr lang="en-US" altLang="zh-CN" dirty="0"/>
          </a:p>
          <a:p>
            <a:pPr lvl="1"/>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搜索引擎添加</a:t>
            </a:r>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2795" y="1690688"/>
            <a:ext cx="6406410" cy="4691866"/>
          </a:xfrm>
          <a:prstGeom prst="rect">
            <a:avLst/>
          </a:prstGeom>
        </p:spPr>
      </p:pic>
      <p:sp>
        <p:nvSpPr>
          <p:cNvPr id="7" name="文本框 6"/>
          <p:cNvSpPr txBox="1"/>
          <p:nvPr/>
        </p:nvSpPr>
        <p:spPr>
          <a:xfrm>
            <a:off x="6993610" y="2812942"/>
            <a:ext cx="317715" cy="2123268"/>
          </a:xfrm>
          <a:prstGeom prst="rect">
            <a:avLst/>
          </a:prstGeom>
          <a:noFill/>
          <a:ln>
            <a:solidFill>
              <a:srgbClr val="FF0000"/>
            </a:solidFill>
          </a:ln>
        </p:spPr>
        <p:txBody>
          <a:bodyPr wrap="square" rtlCol="0">
            <a:spAutoFit/>
          </a:bodyPr>
          <a:lstStyle/>
          <a:p>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03515" y="871310"/>
            <a:ext cx="2431596" cy="5231493"/>
          </a:xfrm>
        </p:spPr>
        <p:txBody>
          <a:bodyPr/>
          <a:lstStyle/>
          <a:p>
            <a:r>
              <a:rPr lang="zh-CN" altLang="en-US" dirty="0"/>
              <a:t>修改数据文件夹的引擎文件</a:t>
            </a:r>
          </a:p>
        </p:txBody>
      </p:sp>
      <p:pic>
        <p:nvPicPr>
          <p:cNvPr id="5" name="图片 4"/>
          <p:cNvPicPr>
            <a:picLocks noChangeAspect="1"/>
          </p:cNvPicPr>
          <p:nvPr/>
        </p:nvPicPr>
        <p:blipFill>
          <a:blip r:embed="rId2"/>
          <a:stretch>
            <a:fillRect/>
          </a:stretch>
        </p:blipFill>
        <p:spPr>
          <a:xfrm>
            <a:off x="4269157" y="0"/>
            <a:ext cx="7139836"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图谱分析（</a:t>
            </a:r>
            <a:r>
              <a:rPr lang="en-US" altLang="zh-CN" b="1" i="0" dirty="0">
                <a:solidFill>
                  <a:srgbClr val="121212"/>
                </a:solidFill>
                <a:effectLst/>
                <a:latin typeface="-apple-system"/>
              </a:rPr>
              <a:t>Connected Papers</a:t>
            </a:r>
            <a:r>
              <a:rPr lang="zh-CN" altLang="en-US" b="1" i="0" dirty="0">
                <a:solidFill>
                  <a:srgbClr val="121212"/>
                </a:solidFill>
                <a:effectLst/>
                <a:latin typeface="-apple-system"/>
              </a:rPr>
              <a:t>）</a:t>
            </a:r>
            <a:endParaRPr lang="zh-CN" altLang="en-US" dirty="0"/>
          </a:p>
        </p:txBody>
      </p:sp>
      <p:sp>
        <p:nvSpPr>
          <p:cNvPr id="3" name="内容占位符 2"/>
          <p:cNvSpPr>
            <a:spLocks noGrp="1"/>
          </p:cNvSpPr>
          <p:nvPr>
            <p:ph idx="1"/>
          </p:nvPr>
        </p:nvSpPr>
        <p:spPr/>
        <p:txBody>
          <a:bodyPr>
            <a:normAutofit fontScale="92500"/>
          </a:bodyPr>
          <a:lstStyle/>
          <a:p>
            <a:r>
              <a:rPr lang="en-US" altLang="zh-CN" dirty="0">
                <a:hlinkClick r:id="rId2"/>
              </a:rPr>
              <a:t>Connected Papers | Find and explore academic papers</a:t>
            </a:r>
            <a:endParaRPr lang="en-US" altLang="zh-CN" dirty="0"/>
          </a:p>
          <a:p>
            <a:r>
              <a:rPr lang="zh-CN" altLang="en-US" dirty="0"/>
              <a:t>目前可用无痕迹浏览来实现多次</a:t>
            </a:r>
            <a:endParaRPr lang="en-US" altLang="zh-CN" dirty="0"/>
          </a:p>
          <a:p>
            <a:pPr algn="l"/>
            <a:r>
              <a:rPr lang="zh-CN" altLang="en-US" b="1" i="0" dirty="0">
                <a:solidFill>
                  <a:srgbClr val="121212"/>
                </a:solidFill>
                <a:effectLst/>
                <a:latin typeface="-apple-system"/>
              </a:rPr>
              <a:t>特点：</a:t>
            </a:r>
            <a:endParaRPr lang="en-US" altLang="zh-CN" b="1" i="0" dirty="0">
              <a:solidFill>
                <a:srgbClr val="121212"/>
              </a:solidFill>
              <a:effectLst/>
              <a:latin typeface="-apple-system"/>
            </a:endParaRPr>
          </a:p>
          <a:p>
            <a:pPr marL="457200" lvl="1" indent="0">
              <a:buNone/>
            </a:pPr>
            <a:r>
              <a:rPr lang="zh-CN" altLang="en-US" b="0" i="0" dirty="0">
                <a:solidFill>
                  <a:srgbClr val="121212"/>
                </a:solidFill>
                <a:effectLst/>
                <a:latin typeface="-apple-system"/>
              </a:rPr>
              <a:t>① 输入你所查阅的文献后，即可呈现一个可视化的相关文献网络图，使原本一排排罗列着的参考文文献图像化。</a:t>
            </a:r>
            <a:endParaRPr lang="en-US" altLang="zh-CN" b="0" i="0" dirty="0">
              <a:solidFill>
                <a:srgbClr val="121212"/>
              </a:solidFill>
              <a:effectLst/>
              <a:latin typeface="-apple-system"/>
            </a:endParaRPr>
          </a:p>
          <a:p>
            <a:pPr marL="457200" lvl="1" indent="0">
              <a:buNone/>
            </a:pPr>
            <a:r>
              <a:rPr lang="zh-CN" altLang="en-US" b="0" i="0" dirty="0">
                <a:solidFill>
                  <a:srgbClr val="121212"/>
                </a:solidFill>
                <a:effectLst/>
                <a:latin typeface="-apple-system"/>
              </a:rPr>
              <a:t>② 可视化的相关文献网络图列举的都是与本研究领域最相关以及最重要的文献，帮助你快速筛选出你所要了解的背景知识相关文献，防止你迷失在文献的汪洋大海中。</a:t>
            </a:r>
            <a:endParaRPr lang="en-US" altLang="zh-CN" b="0" i="0" dirty="0">
              <a:solidFill>
                <a:srgbClr val="121212"/>
              </a:solidFill>
              <a:effectLst/>
              <a:latin typeface="-apple-system"/>
            </a:endParaRPr>
          </a:p>
          <a:p>
            <a:pPr marL="457200" lvl="1" indent="0">
              <a:buNone/>
            </a:pPr>
            <a:r>
              <a:rPr lang="zh-CN" altLang="en-US" b="0" i="0" dirty="0">
                <a:solidFill>
                  <a:srgbClr val="121212"/>
                </a:solidFill>
                <a:effectLst/>
                <a:latin typeface="-apple-system"/>
              </a:rPr>
              <a:t>③ 可以帮助你寻找本文后续相关研究进展的文献，为你将来的研究方向指路。</a:t>
            </a:r>
          </a:p>
          <a:p>
            <a:pPr algn="l"/>
            <a:r>
              <a:rPr lang="zh-CN" altLang="en-US" b="0" i="0" dirty="0">
                <a:solidFill>
                  <a:srgbClr val="121212"/>
                </a:solidFill>
                <a:effectLst/>
                <a:latin typeface="-apple-system"/>
              </a:rPr>
              <a:t>简单来说就是用最省时的方法来帮你理清一个新领域的来龙去脉！！</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0" y="0"/>
            <a:ext cx="12192000" cy="6635750"/>
          </a:xfrm>
          <a:prstGeom prst="rect">
            <a:avLst/>
          </a:prstGeom>
        </p:spPr>
      </p:pic>
      <p:sp>
        <p:nvSpPr>
          <p:cNvPr id="2" name="文本框 1"/>
          <p:cNvSpPr txBox="1"/>
          <p:nvPr/>
        </p:nvSpPr>
        <p:spPr>
          <a:xfrm>
            <a:off x="251848" y="752434"/>
            <a:ext cx="588935" cy="215444"/>
          </a:xfrm>
          <a:prstGeom prst="rect">
            <a:avLst/>
          </a:prstGeom>
          <a:noFill/>
          <a:ln>
            <a:solidFill>
              <a:srgbClr val="FF0000"/>
            </a:solidFill>
          </a:ln>
        </p:spPr>
        <p:txBody>
          <a:bodyPr wrap="square" rtlCol="0">
            <a:spAutoFit/>
          </a:bodyPr>
          <a:lstStyle/>
          <a:p>
            <a:endParaRPr lang="zh-CN" altLang="en-US" sz="800" dirty="0"/>
          </a:p>
        </p:txBody>
      </p:sp>
      <p:sp>
        <p:nvSpPr>
          <p:cNvPr id="4" name="文本框 3"/>
          <p:cNvSpPr txBox="1"/>
          <p:nvPr/>
        </p:nvSpPr>
        <p:spPr>
          <a:xfrm>
            <a:off x="1119753" y="752434"/>
            <a:ext cx="737461" cy="215444"/>
          </a:xfrm>
          <a:prstGeom prst="rect">
            <a:avLst/>
          </a:prstGeom>
          <a:noFill/>
          <a:ln>
            <a:solidFill>
              <a:srgbClr val="FF0000"/>
            </a:solidFill>
          </a:ln>
        </p:spPr>
        <p:txBody>
          <a:bodyPr wrap="square" rtlCol="0">
            <a:spAutoFit/>
          </a:bodyPr>
          <a:lstStyle/>
          <a:p>
            <a:endParaRPr lang="zh-CN" altLang="en-US" sz="800" dirty="0"/>
          </a:p>
        </p:txBody>
      </p:sp>
      <p:sp>
        <p:nvSpPr>
          <p:cNvPr id="5" name="文本框 4"/>
          <p:cNvSpPr txBox="1"/>
          <p:nvPr/>
        </p:nvSpPr>
        <p:spPr>
          <a:xfrm>
            <a:off x="2399654" y="1059050"/>
            <a:ext cx="588935" cy="215444"/>
          </a:xfrm>
          <a:prstGeom prst="rect">
            <a:avLst/>
          </a:prstGeom>
          <a:noFill/>
          <a:ln>
            <a:solidFill>
              <a:srgbClr val="FF0000"/>
            </a:solidFill>
          </a:ln>
        </p:spPr>
        <p:txBody>
          <a:bodyPr wrap="square" rtlCol="0">
            <a:spAutoFit/>
          </a:bodyPr>
          <a:lstStyle/>
          <a:p>
            <a:endParaRPr lang="zh-CN" altLang="en-US" sz="800" dirty="0"/>
          </a:p>
        </p:txBody>
      </p:sp>
      <p:sp>
        <p:nvSpPr>
          <p:cNvPr id="6" name="文本框 5"/>
          <p:cNvSpPr txBox="1"/>
          <p:nvPr/>
        </p:nvSpPr>
        <p:spPr>
          <a:xfrm>
            <a:off x="9563746" y="1903709"/>
            <a:ext cx="657386" cy="215444"/>
          </a:xfrm>
          <a:prstGeom prst="rect">
            <a:avLst/>
          </a:prstGeom>
          <a:noFill/>
          <a:ln>
            <a:solidFill>
              <a:srgbClr val="FF0000"/>
            </a:solidFill>
          </a:ln>
        </p:spPr>
        <p:txBody>
          <a:bodyPr wrap="square" rtlCol="0">
            <a:spAutoFit/>
          </a:bodyPr>
          <a:lstStyle/>
          <a:p>
            <a:endParaRPr lang="zh-CN" alt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关联文献补充（</a:t>
            </a:r>
            <a:r>
              <a:rPr lang="en-US" altLang="zh-CN" dirty="0" err="1"/>
              <a:t>semanticscholar</a:t>
            </a:r>
            <a:r>
              <a:rPr lang="zh-CN" altLang="en-US" dirty="0"/>
              <a:t>）</a:t>
            </a:r>
          </a:p>
        </p:txBody>
      </p:sp>
      <p:sp>
        <p:nvSpPr>
          <p:cNvPr id="3" name="内容占位符 2"/>
          <p:cNvSpPr>
            <a:spLocks noGrp="1"/>
          </p:cNvSpPr>
          <p:nvPr>
            <p:ph idx="1"/>
          </p:nvPr>
        </p:nvSpPr>
        <p:spPr/>
        <p:txBody>
          <a:bodyPr/>
          <a:lstStyle/>
          <a:p>
            <a:r>
              <a:rPr lang="en-US" altLang="zh-CN" dirty="0">
                <a:hlinkClick r:id="rId2"/>
              </a:rPr>
              <a:t>Semantic Scholar | AI-Powered Research Tool</a:t>
            </a:r>
            <a:endParaRPr lang="en-US" altLang="zh-CN" dirty="0"/>
          </a:p>
          <a:p>
            <a:pPr lvl="1"/>
            <a:r>
              <a:rPr lang="en-US" altLang="zh-CN" dirty="0"/>
              <a:t>A free, AI-powered research tool for scientific literature</a:t>
            </a:r>
          </a:p>
          <a:p>
            <a:pPr lvl="1"/>
            <a:endParaRPr lang="en-US" altLang="zh-CN" dirty="0"/>
          </a:p>
          <a:p>
            <a:r>
              <a:rPr lang="zh-CN" altLang="en-US" dirty="0"/>
              <a:t>重点关注图表</a:t>
            </a:r>
            <a:endParaRPr lang="en-US" altLang="zh-CN" dirty="0"/>
          </a:p>
          <a:p>
            <a:r>
              <a:rPr lang="zh-CN" altLang="en-US" dirty="0"/>
              <a:t>注册账号可用于</a:t>
            </a:r>
            <a:r>
              <a:rPr lang="en-US" altLang="zh-CN" dirty="0"/>
              <a:t>AI</a:t>
            </a:r>
            <a:r>
              <a:rPr lang="zh-CN" altLang="en-US" dirty="0"/>
              <a:t>推送，也可多选条目输出</a:t>
            </a:r>
            <a:endParaRPr lang="en-US" altLang="zh-CN" dirty="0"/>
          </a:p>
          <a:p>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89618"/>
            <a:ext cx="12192000" cy="6678764"/>
          </a:xfrm>
          <a:prstGeom prst="rect">
            <a:avLst/>
          </a:prstGeom>
        </p:spPr>
      </p:pic>
      <p:sp>
        <p:nvSpPr>
          <p:cNvPr id="10" name="文本框 9"/>
          <p:cNvSpPr txBox="1"/>
          <p:nvPr/>
        </p:nvSpPr>
        <p:spPr>
          <a:xfrm>
            <a:off x="6253566" y="3607230"/>
            <a:ext cx="616057" cy="215444"/>
          </a:xfrm>
          <a:prstGeom prst="rect">
            <a:avLst/>
          </a:prstGeom>
          <a:noFill/>
          <a:ln>
            <a:solidFill>
              <a:srgbClr val="FF0000"/>
            </a:solidFill>
          </a:ln>
        </p:spPr>
        <p:txBody>
          <a:bodyPr wrap="square" rtlCol="0">
            <a:spAutoFit/>
          </a:bodyPr>
          <a:lstStyle/>
          <a:p>
            <a:endParaRPr lang="zh-CN" altLang="en-US" sz="800" dirty="0"/>
          </a:p>
        </p:txBody>
      </p:sp>
      <p:sp>
        <p:nvSpPr>
          <p:cNvPr id="13" name="文本框 12"/>
          <p:cNvSpPr txBox="1"/>
          <p:nvPr/>
        </p:nvSpPr>
        <p:spPr>
          <a:xfrm>
            <a:off x="4488051" y="4271074"/>
            <a:ext cx="754251" cy="215444"/>
          </a:xfrm>
          <a:prstGeom prst="rect">
            <a:avLst/>
          </a:prstGeom>
          <a:noFill/>
          <a:ln>
            <a:solidFill>
              <a:srgbClr val="FF0000"/>
            </a:solidFill>
          </a:ln>
        </p:spPr>
        <p:txBody>
          <a:bodyPr wrap="square" rtlCol="0">
            <a:spAutoFit/>
          </a:bodyPr>
          <a:lstStyle/>
          <a:p>
            <a:endParaRPr lang="zh-CN" altLang="en-US" sz="800" dirty="0"/>
          </a:p>
        </p:txBody>
      </p:sp>
      <p:sp>
        <p:nvSpPr>
          <p:cNvPr id="14" name="文本框 13"/>
          <p:cNvSpPr txBox="1"/>
          <p:nvPr/>
        </p:nvSpPr>
        <p:spPr>
          <a:xfrm>
            <a:off x="6750803" y="4271074"/>
            <a:ext cx="940231" cy="215444"/>
          </a:xfrm>
          <a:prstGeom prst="rect">
            <a:avLst/>
          </a:prstGeom>
          <a:noFill/>
          <a:ln>
            <a:solidFill>
              <a:srgbClr val="FF0000"/>
            </a:solidFill>
          </a:ln>
        </p:spPr>
        <p:txBody>
          <a:bodyPr wrap="square" rtlCol="0">
            <a:spAutoFit/>
          </a:bodyPr>
          <a:lstStyle/>
          <a:p>
            <a:endParaRPr lang="zh-CN" altLang="en-US" sz="800" dirty="0"/>
          </a:p>
        </p:txBody>
      </p:sp>
      <p:sp>
        <p:nvSpPr>
          <p:cNvPr id="15" name="文本框 14"/>
          <p:cNvSpPr txBox="1"/>
          <p:nvPr/>
        </p:nvSpPr>
        <p:spPr>
          <a:xfrm>
            <a:off x="9098797" y="4271074"/>
            <a:ext cx="889861" cy="215444"/>
          </a:xfrm>
          <a:prstGeom prst="rect">
            <a:avLst/>
          </a:prstGeom>
          <a:noFill/>
          <a:ln>
            <a:solidFill>
              <a:srgbClr val="FF0000"/>
            </a:solidFill>
          </a:ln>
        </p:spPr>
        <p:txBody>
          <a:bodyPr wrap="square" rtlCol="0">
            <a:spAutoFit/>
          </a:bodyPr>
          <a:lstStyle/>
          <a:p>
            <a:endParaRPr lang="zh-CN" alt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图片 4"/>
          <p:cNvPicPr>
            <a:picLocks noChangeAspect="1"/>
          </p:cNvPicPr>
          <p:nvPr/>
        </p:nvPicPr>
        <p:blipFill>
          <a:blip r:embed="rId2"/>
          <a:stretch>
            <a:fillRect/>
          </a:stretch>
        </p:blipFill>
        <p:spPr>
          <a:xfrm>
            <a:off x="0" y="111125"/>
            <a:ext cx="12192000" cy="6635750"/>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TotalTime>
  <Words>23684</Words>
  <Application>Microsoft Office PowerPoint</Application>
  <PresentationFormat>宽屏</PresentationFormat>
  <Paragraphs>1600</Paragraphs>
  <Slides>281</Slides>
  <Notes>0</Notes>
  <HiddenSlides>0</HiddenSlides>
  <MMClips>2</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281</vt:i4>
      </vt:variant>
    </vt:vector>
  </HeadingPairs>
  <TitlesOfParts>
    <vt:vector size="307" baseType="lpstr">
      <vt:lpstr>.AppleSystemUIFont</vt:lpstr>
      <vt:lpstr>.PingFang SC</vt:lpstr>
      <vt:lpstr>.PingFangSC-Regular</vt:lpstr>
      <vt:lpstr>.SFUI-Regular_wdth_opsz110000_GRAD_wght</vt:lpstr>
      <vt:lpstr>-apple-system</vt:lpstr>
      <vt:lpstr>Arial Unicode MS</vt:lpstr>
      <vt:lpstr>Helvetica Neue</vt:lpstr>
      <vt:lpstr>Lucida Grande</vt:lpstr>
      <vt:lpstr>Microsoft JhengHei UI Light</vt:lpstr>
      <vt:lpstr>PingFang SC</vt:lpstr>
      <vt:lpstr>PingFangSC-Regular</vt:lpstr>
      <vt:lpstr>PingFangSC-Semibold</vt:lpstr>
      <vt:lpstr>Roboto</vt:lpstr>
      <vt:lpstr>SFMono-Regular</vt:lpstr>
      <vt:lpstr>system-ui</vt:lpstr>
      <vt:lpstr>UICTFontTextStyleBody</vt:lpstr>
      <vt:lpstr>UICTFontTextStyleEmphasizedBody</vt:lpstr>
      <vt:lpstr>v-sans</vt:lpstr>
      <vt:lpstr>等线</vt:lpstr>
      <vt:lpstr>等线 Light</vt:lpstr>
      <vt:lpstr>宋体</vt:lpstr>
      <vt:lpstr>Microsoft YaHei</vt:lpstr>
      <vt:lpstr>Arial</vt:lpstr>
      <vt:lpstr>Times New Roman</vt:lpstr>
      <vt:lpstr>Wingdings</vt:lpstr>
      <vt:lpstr>Office 主题​​</vt:lpstr>
      <vt:lpstr>数字内容管理  Zotero x OpenCode</vt:lpstr>
      <vt:lpstr>余  浩  教授、博导</vt:lpstr>
      <vt:lpstr>第一天： 上午：导论与配置 下午：组织与引用</vt:lpstr>
      <vt:lpstr>导论：数字化学习——长期主义选择</vt:lpstr>
      <vt:lpstr>数字内容管理内容</vt:lpstr>
      <vt:lpstr>PowerPoint 演示文稿</vt:lpstr>
      <vt:lpstr>数字化基础</vt:lpstr>
      <vt:lpstr>数字化概念：从模拟到数字、从记录到创作</vt:lpstr>
      <vt:lpstr>国内现状</vt:lpstr>
      <vt:lpstr>PowerPoint 演示文稿</vt:lpstr>
      <vt:lpstr>PowerPoint 演示文稿</vt:lpstr>
      <vt:lpstr>多模态应用（文本、图表和音视频）</vt:lpstr>
      <vt:lpstr>知识库资料来源——小白学术： https://www.sssam.com/</vt:lpstr>
      <vt:lpstr>语音输入（2026方案）</vt:lpstr>
      <vt:lpstr>PowerPoint 演示文稿</vt:lpstr>
      <vt:lpstr>PowerPoint 演示文稿</vt:lpstr>
      <vt:lpstr>智能绘图2025方案——AI Draw Nexus https://ai-draw-nexus.aizhi.site/</vt:lpstr>
      <vt:lpstr>PowerPoint 演示文稿</vt:lpstr>
      <vt:lpstr>https://tiktokenizer.f2api.com/</vt:lpstr>
      <vt:lpstr>文档解析神器——MinerU: https://mineru.net/</vt:lpstr>
      <vt:lpstr>开源软件 Zotero定制：中台概念 （Endnote、Mendeley、Papers for Mac皆可转移至 Zotero）</vt:lpstr>
      <vt:lpstr>选择Zotero（平台工具）</vt:lpstr>
      <vt:lpstr>靶心文章选择（PDF格式）</vt:lpstr>
      <vt:lpstr>必读精品 （涌现结果：过去、现在和将来）</vt:lpstr>
      <vt:lpstr>PDF根据不同期刊有单栏、双栏甚至三栏</vt:lpstr>
      <vt:lpstr>PDF可抓取大量的信息</vt:lpstr>
      <vt:lpstr>文章状态</vt:lpstr>
      <vt:lpstr>数字信息重要</vt:lpstr>
      <vt:lpstr>实操一：组件引擎配置</vt:lpstr>
      <vt:lpstr>PowerPoint 演示文稿</vt:lpstr>
      <vt:lpstr>下载及添加插件的方式</vt:lpstr>
      <vt:lpstr>插件添加（Plugins）</vt:lpstr>
      <vt:lpstr>Zotero 插件商店 | Zotero 中文社区</vt:lpstr>
      <vt:lpstr>PowerPoint 演示文稿</vt:lpstr>
      <vt:lpstr>PowerPoint 演示文稿</vt:lpstr>
      <vt:lpstr>PowerPoint 演示文稿</vt:lpstr>
      <vt:lpstr>搜索引擎添加</vt:lpstr>
      <vt:lpstr>修改数据文件夹的引擎文件</vt:lpstr>
      <vt:lpstr>图谱分析（Connected Papers）</vt:lpstr>
      <vt:lpstr>PowerPoint 演示文稿</vt:lpstr>
      <vt:lpstr>关联文献补充（semanticscholar）</vt:lpstr>
      <vt:lpstr>PowerPoint 演示文稿</vt:lpstr>
      <vt:lpstr>PowerPoint 演示文稿</vt:lpstr>
      <vt:lpstr>实操二：分类条目创建</vt:lpstr>
      <vt:lpstr>PowerPoint 演示文稿</vt:lpstr>
      <vt:lpstr>现有信息学习</vt:lpstr>
      <vt:lpstr>相关信息如何拓展</vt:lpstr>
      <vt:lpstr>题录获取：第一种方式</vt:lpstr>
      <vt:lpstr>题录获取：第二种方式</vt:lpstr>
      <vt:lpstr>如何更新题录</vt:lpstr>
      <vt:lpstr>PowerPoint 演示文稿</vt:lpstr>
      <vt:lpstr>PowerPoint 演示文稿</vt:lpstr>
      <vt:lpstr>PowerPoint 演示文稿</vt:lpstr>
      <vt:lpstr>文献下载</vt:lpstr>
      <vt:lpstr>举例：先题录后PDF，还是先PDF后题录</vt:lpstr>
      <vt:lpstr>实操三：引用格式添加</vt:lpstr>
      <vt:lpstr>添加所需要的格式</vt:lpstr>
      <vt:lpstr>简单引用</vt:lpstr>
      <vt:lpstr>同一位置批量添加引用</vt:lpstr>
      <vt:lpstr>文献数据库建立</vt:lpstr>
      <vt:lpstr>PowerPoint 演示文稿</vt:lpstr>
      <vt:lpstr>第二天： 上午：备份与同步 下午：索引与检索</vt:lpstr>
      <vt:lpstr>电脑经验</vt:lpstr>
      <vt:lpstr>练习：</vt:lpstr>
      <vt:lpstr>Opencode x Zotero</vt:lpstr>
      <vt:lpstr>资源出处：GitHub让你保持领先</vt:lpstr>
      <vt:lpstr>请在此处添加标题</vt:lpstr>
      <vt:lpstr>四个基本问题</vt:lpstr>
      <vt:lpstr>PowerPoint 演示文稿</vt:lpstr>
      <vt:lpstr>配置：文件让AI帮你搞定</vt:lpstr>
      <vt:lpstr>技能包</vt:lpstr>
      <vt:lpstr>PowerPoint 演示文稿</vt:lpstr>
      <vt:lpstr>PowerPoint 演示文稿</vt:lpstr>
      <vt:lpstr>Zotero+Opencode</vt:lpstr>
      <vt:lpstr>PowerPoint 演示文稿</vt:lpstr>
      <vt:lpstr>PowerPoint 演示文稿</vt:lpstr>
      <vt:lpstr>PowerPoint 演示文稿</vt:lpstr>
      <vt:lpstr>PowerPoint 演示文稿</vt:lpstr>
      <vt:lpstr>PowerPoint 演示文稿</vt:lpstr>
      <vt:lpstr>Zotero：人工建库有价值？</vt:lpstr>
      <vt:lpstr>参考文献解析</vt:lpstr>
      <vt:lpstr>PowerPoint 演示文稿</vt:lpstr>
      <vt:lpstr>https://anystyle.io</vt:lpstr>
      <vt:lpstr>实操四：内容备份同步</vt:lpstr>
      <vt:lpstr>备份功能：导出分类</vt:lpstr>
      <vt:lpstr>复制备份</vt:lpstr>
      <vt:lpstr>Zotero的盈利功能： 云同步功能（Zotero帐号先注册上）</vt:lpstr>
      <vt:lpstr>PowerPoint 演示文稿</vt:lpstr>
      <vt:lpstr>步骤 1：准备 WebDAV 服务</vt:lpstr>
      <vt:lpstr>常见 WebDAV 服务：</vt:lpstr>
      <vt:lpstr>步骤 2：设置 WebDAV 同步</vt:lpstr>
      <vt:lpstr>步骤 3：验证同步</vt:lpstr>
      <vt:lpstr>常见问题解决</vt:lpstr>
      <vt:lpstr>备份建议</vt:lpstr>
      <vt:lpstr>万一出问题可恢复</vt:lpstr>
      <vt:lpstr>最后检查</vt:lpstr>
      <vt:lpstr>附件管理：位置</vt:lpstr>
      <vt:lpstr>演示：</vt:lpstr>
      <vt:lpstr>实操五：全局检索</vt:lpstr>
      <vt:lpstr>学习自动标签</vt:lpstr>
      <vt:lpstr>全文搜索（Zotero自带功能）</vt:lpstr>
      <vt:lpstr>先采用普通搜索：分三类</vt:lpstr>
      <vt:lpstr>运用标签去全文搜索</vt:lpstr>
      <vt:lpstr>全文搜索实现</vt:lpstr>
      <vt:lpstr>PowerPoint 演示文稿</vt:lpstr>
      <vt:lpstr>如何解决未检索的文献</vt:lpstr>
      <vt:lpstr>解决未索引的文件——数字搜索</vt:lpstr>
      <vt:lpstr>未检索文献来源</vt:lpstr>
      <vt:lpstr>简洁命名</vt:lpstr>
      <vt:lpstr>检索机制</vt:lpstr>
      <vt:lpstr>2. 搜索语法</vt:lpstr>
      <vt:lpstr>3. 快速筛选与保存</vt:lpstr>
      <vt:lpstr>4. 检索效率技巧</vt:lpstr>
      <vt:lpstr>文献管理合适量</vt:lpstr>
      <vt:lpstr>2. Zotero 的软性限制</vt:lpstr>
      <vt:lpstr>3. 用户场景建议</vt:lpstr>
      <vt:lpstr>第三天： 上午：翻译与笔记 下午：内容生成</vt:lpstr>
      <vt:lpstr>PowerPoint 演示文稿</vt:lpstr>
      <vt:lpstr>为何选择生成式人工智能（GenAI）</vt:lpstr>
      <vt:lpstr>生成式人工智能 (Generative AI)：算命先生</vt:lpstr>
      <vt:lpstr>概念定义</vt:lpstr>
      <vt:lpstr>离散数学中的自然语言处理相关知识</vt:lpstr>
      <vt:lpstr>表1：各国GenAI典型代表</vt:lpstr>
      <vt:lpstr>表2 自然语言处理（NLP）部分科学里程碑（Bouschery et al., 2023）</vt:lpstr>
      <vt:lpstr>大语言模型创新框架（Sundberg L 等, 2024）</vt:lpstr>
      <vt:lpstr>四大功能的解释（Sundberg L 等, 2024）</vt:lpstr>
      <vt:lpstr>情景问题？</vt:lpstr>
      <vt:lpstr>Mariani M, Dwivedi Y K, 2024. Generative artificial intelligence in innovation management: a preview of future research developments[J]. Journal of Business Research, 175(3): 114542.</vt:lpstr>
      <vt:lpstr>PowerPoint 演示文稿</vt:lpstr>
      <vt:lpstr>学术领域的观点</vt:lpstr>
      <vt:lpstr>图2. 人工智能准备度(AIR)的概念模型(Tehrani 等, 2024, p. 7)</vt:lpstr>
      <vt:lpstr>AI准备度可以归纳为八个关键维度：</vt:lpstr>
      <vt:lpstr>Moving from prediction to creativity: implications of generative AI on measurement of success</vt:lpstr>
      <vt:lpstr>PowerPoint 演示文稿</vt:lpstr>
      <vt:lpstr>Bahoo S, Cucculelli M, Qamar D, 2023. Artificial intelligence and corporate innovation: a review and research agenda[J]. Technological Forecasting and Social Change, 188(3): 122264.</vt:lpstr>
      <vt:lpstr>PowerPoint 演示文稿</vt:lpstr>
      <vt:lpstr>PowerPoint 演示文稿</vt:lpstr>
      <vt:lpstr>主要共识：</vt:lpstr>
      <vt:lpstr>PowerPoint 演示文稿</vt:lpstr>
      <vt:lpstr>实操六：智能翻译（ Zotero PDF Tranlate ）</vt:lpstr>
      <vt:lpstr>PowerPoint 演示文稿</vt:lpstr>
      <vt:lpstr>阅读基础：智能翻译</vt:lpstr>
      <vt:lpstr>PowerPoint 演示文稿</vt:lpstr>
      <vt:lpstr>Kindle精读应用背景</vt:lpstr>
      <vt:lpstr>设备越狱</vt:lpstr>
      <vt:lpstr>KUAL界面</vt:lpstr>
      <vt:lpstr>进入文件管理器</vt:lpstr>
      <vt:lpstr>KOReader印象笔记功能</vt:lpstr>
      <vt:lpstr>狗耳朵日报推送功能</vt:lpstr>
      <vt:lpstr>Kindle的字典功能与标注功能</vt:lpstr>
      <vt:lpstr>修改hosts文件——智能翻译</vt:lpstr>
      <vt:lpstr>解决谷歌翻译问题</vt:lpstr>
      <vt:lpstr>Mac修改hosts文档</vt:lpstr>
      <vt:lpstr>实操七：数字笔记（ Zotero Better Notes ）</vt:lpstr>
      <vt:lpstr>Markdown笔记的主要规则包括：</vt:lpstr>
      <vt:lpstr>Better Notes (BN) is a plugin for Zotero.</vt:lpstr>
      <vt:lpstr>文字内容</vt:lpstr>
      <vt:lpstr>表格内容</vt:lpstr>
      <vt:lpstr>PowerPoint 演示文稿</vt:lpstr>
      <vt:lpstr>图片内容</vt:lpstr>
      <vt:lpstr>PowerPoint 演示文稿</vt:lpstr>
      <vt:lpstr>公式生成</vt:lpstr>
      <vt:lpstr>实操八：内容生成（ Zotero GPT）</vt:lpstr>
      <vt:lpstr>PowerPoint 演示文稿</vt:lpstr>
      <vt:lpstr>PowerPoint 演示文稿</vt:lpstr>
      <vt:lpstr>PowerPoint 演示文稿</vt:lpstr>
      <vt:lpstr>PowerPoint 演示文稿</vt:lpstr>
      <vt:lpstr>LLM，是继数据库和搜索引擎之后的“全新⼀代知识表示和调⽤⽅式”， 将会极⼤改善⼈类的专业能⼒之间的交互⽅式。</vt:lpstr>
      <vt:lpstr>AI应用三角定律：语料、算力、算法</vt:lpstr>
      <vt:lpstr>PowerPoint 演示文稿</vt:lpstr>
      <vt:lpstr>编程技能：</vt:lpstr>
      <vt:lpstr>Quick Commands</vt:lpstr>
      <vt:lpstr>About Tag</vt:lpstr>
      <vt:lpstr>Improve writing</vt:lpstr>
      <vt:lpstr>Selection</vt:lpstr>
      <vt:lpstr>Items</vt:lpstr>
      <vt:lpstr>AskPDF</vt:lpstr>
      <vt:lpstr>About Input Text</vt:lpstr>
      <vt:lpstr>PowerPoint 演示文稿</vt:lpstr>
      <vt:lpstr>PowerPoint 演示文稿</vt:lpstr>
      <vt:lpstr>DeepSeek: 能力细节（文本、非视觉模型）</vt:lpstr>
      <vt:lpstr>长文本与跨文本</vt:lpstr>
      <vt:lpstr>脚本改进：代码解密</vt:lpstr>
      <vt:lpstr>PowerPoint 演示文稿</vt:lpstr>
      <vt:lpstr>提示词元素</vt:lpstr>
      <vt:lpstr>GPT使用策略</vt:lpstr>
      <vt:lpstr>ChatGPT谈战略与创新：交互式问题</vt:lpstr>
      <vt:lpstr>测试问题</vt:lpstr>
      <vt:lpstr>主要判据</vt:lpstr>
      <vt:lpstr>对于一般理论的提问：以惯例研究为例</vt:lpstr>
      <vt:lpstr>相关法律条款问题</vt:lpstr>
      <vt:lpstr>数字内容生成</vt:lpstr>
      <vt:lpstr>写作法则</vt:lpstr>
      <vt:lpstr>数据质量判定——内容生成</vt:lpstr>
      <vt:lpstr>JavaScript主要特点</vt:lpstr>
      <vt:lpstr>JavaScript学习资源</vt:lpstr>
      <vt:lpstr>数据库结构</vt:lpstr>
      <vt:lpstr>SQLite数据库</vt:lpstr>
      <vt:lpstr>完全功能的PDF电子书</vt:lpstr>
      <vt:lpstr>确保 PDF 内容不被修改</vt:lpstr>
      <vt:lpstr>要获取 PDF 文件的元数据：</vt:lpstr>
      <vt:lpstr>结论：官网AI效果最佳（比如OpenAI）</vt:lpstr>
      <vt:lpstr>第四天： 上午：本地RAG 下午：分组交流</vt:lpstr>
      <vt:lpstr>生成式AI的残酷真相</vt:lpstr>
      <vt:lpstr>剖析95%的失败：四大“天坑”如何吞噬企业的AI雄心</vt:lpstr>
      <vt:lpstr>解码5%的成功者：穿越鸿沟的四大黄金法则</vt:lpstr>
      <vt:lpstr>“影子AI”成为真正的生产力引擎</vt:lpstr>
      <vt:lpstr>AI技能不再是加分项，而是必备项</vt:lpstr>
      <vt:lpstr>一、无尽的提问</vt:lpstr>
      <vt:lpstr>PowerPoint 演示文稿</vt:lpstr>
      <vt:lpstr>PowerPoint 演示文稿</vt:lpstr>
      <vt:lpstr>二、提示词元素</vt:lpstr>
      <vt:lpstr>AI的⽐喻：超级热情但缺乏经验的实习⽣</vt:lpstr>
      <vt:lpstr>Context Engineering（上下⽂⼯程）</vt:lpstr>
      <vt:lpstr>三、提示词技巧</vt:lpstr>
      <vt:lpstr>1、Few-Shot Prompting（少样本示例）</vt:lpstr>
      <vt:lpstr>2、Chain-of-Thought（思维链推理）</vt:lpstr>
      <vt:lpstr>3、Reverse Prompting（反向提问）</vt:lpstr>
      <vt:lpstr>4、Role Assignment（⻆⾊赋能）</vt:lpstr>
      <vt:lpstr>四、三种思维训练</vt:lpstr>
      <vt:lpstr>模拟困难对话</vt:lpstr>
      <vt:lpstr>严苛批评</vt:lpstr>
      <vt:lpstr>扩展想象⼒</vt:lpstr>
      <vt:lpstr>训练案例</vt:lpstr>
      <vt:lpstr>PowerPoint 演示文稿</vt:lpstr>
      <vt:lpstr>AI Snake Oil《AI蛇油》  Arvind Narayanan &amp; Sayash Kapoor Princeton Univ. Press (2024)</vt:lpstr>
      <vt:lpstr>PowerPoint 演示文稿</vt:lpstr>
      <vt:lpstr>“混合型角色”的崛起</vt:lpstr>
      <vt:lpstr>术语介绍</vt:lpstr>
      <vt:lpstr>检索增强生成(Retrieval-augmented generation)</vt:lpstr>
      <vt:lpstr>技术简介</vt:lpstr>
      <vt:lpstr>RAG 流程应用于问答的代表性实例。它主要包括 3 个步骤。1）索引。将文档拆分成块，编码成向量，并存储在向量数据库中。2）检索。根据语义相似性检索与问题最相关的 Top k 个块。3)生成。将原始问题和检索到的块一起输入 LLM 以生成最终答案。</vt:lpstr>
      <vt:lpstr>以下是 RAG 发展的几个版本：</vt:lpstr>
      <vt:lpstr>PowerPoint 演示文稿</vt:lpstr>
      <vt:lpstr>PowerPoint 演示文稿</vt:lpstr>
      <vt:lpstr>PowerPoint 演示文稿</vt:lpstr>
      <vt:lpstr>PowerPoint 演示文稿</vt:lpstr>
      <vt:lpstr>PowerPoint 演示文稿</vt:lpstr>
      <vt:lpstr>技术框架</vt:lpstr>
      <vt:lpstr>RAG 技术编程领域实现原理</vt:lpstr>
      <vt:lpstr>https://tiktokenizer.f2api.com/</vt:lpstr>
      <vt:lpstr>文档解析神器——MinerU: https://mineru.net/</vt:lpstr>
      <vt:lpstr>LLM训练数据集的选择与清洗：从Common Crawl到高质量语料库</vt:lpstr>
      <vt:lpstr>分词挑战：词级与字符级的权衡</vt:lpstr>
      <vt:lpstr>字节对编码：GPT模型的分词选择</vt:lpstr>
      <vt:lpstr>对话格式与特殊标记的应用</vt:lpstr>
      <vt:lpstr>训练数据准备：上下文窗口与标签错位</vt:lpstr>
      <vt:lpstr>GPT系列模型的数据规模演进</vt:lpstr>
      <vt:lpstr>数据准备与分词处理结论</vt:lpstr>
      <vt:lpstr>机器学习中的文本数据转换基础</vt:lpstr>
      <vt:lpstr>独热编码：解决数值排序问题的方法</vt:lpstr>
      <vt:lpstr>词袋模型与n元语法：添加上下文信息</vt:lpstr>
      <vt:lpstr>词嵌入：捕捉词语语义的密集向量表示</vt:lpstr>
      <vt:lpstr>Word2Vec：训练词嵌入的经典方法</vt:lpstr>
      <vt:lpstr>Transformer中的词嵌入机制</vt:lpstr>
      <vt:lpstr>位置编码：添加序列信息</vt:lpstr>
      <vt:lpstr>结论：词嵌入在自然语言处理中的关键作用</vt:lpstr>
      <vt:lpstr>知识库AI——ima.copilot      https://ima.qq.com/</vt:lpstr>
      <vt:lpstr>知识库：从Zotero整体添加（Moov Add-on）</vt:lpstr>
      <vt:lpstr>PowerPoint 演示文稿</vt:lpstr>
      <vt:lpstr>PowerPoint 演示文稿</vt:lpstr>
      <vt:lpstr>AI-Butler: 文献自动全文解读 （Deepseek，185元看完我的4500篇）</vt:lpstr>
      <vt:lpstr>AI时代重要工具：数字笔记（Markdown）</vt:lpstr>
      <vt:lpstr>AI与知识库部署模式矩阵</vt:lpstr>
      <vt:lpstr>PowerPoint 演示文稿</vt:lpstr>
      <vt:lpstr>生成播客：Hambrick D C, 1994. What if the academy actually mattered?[J]. Academy of Management Review, 19(1): 11-16. </vt:lpstr>
      <vt:lpstr>本科项目管理大作业：用AI看45分钟纪录片视频写观后感（语音、文本、图片结合）</vt:lpstr>
      <vt:lpstr>PowerPoint 演示文稿</vt:lpstr>
      <vt:lpstr>PowerPoint 演示文稿</vt:lpstr>
      <vt:lpstr>PowerPoint 演示文稿</vt:lpstr>
      <vt:lpstr>总结：</vt:lpstr>
      <vt:lpstr>如果用Python，装个anaconda，Jupyter Notebook教学好用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启示：</vt:lpstr>
      <vt:lpstr>结语</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数字化写作</dc:title>
  <dc:creator>DELL</dc:creator>
  <cp:lastModifiedBy>Hao Yu</cp:lastModifiedBy>
  <cp:revision>389</cp:revision>
  <dcterms:created xsi:type="dcterms:W3CDTF">1900-01-01T00:00:00Z</dcterms:created>
  <dcterms:modified xsi:type="dcterms:W3CDTF">2026-08-20T11:53:38Z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1CE3D73E368C493CE8B903658A64F986_32</vt:lpwstr>
  </property>
  <property fmtid="{D5CDD505-2E9C-101B-9397-08002B2CF9AE}" pid="3" name="KSOProductBuildVer">
    <vt:lpwstr>2052-12.41.0</vt:lpwstr>
  </property>
</Properties>
</file>