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100"/>
    <p:sldId id="423" r:id="rId101"/>
    <p:sldId id="266" r:id="rId102"/>
    <p:sldId id="482" r:id="rId103"/>
    <p:sldId id="424" r:id="rId104"/>
    <p:sldId id="435" r:id="rId105"/>
    <p:sldId id="442" r:id="rId106"/>
    <p:sldId id="441" r:id="rId107"/>
    <p:sldId id="272" r:id="rId108"/>
    <p:sldId id="280" r:id="rId109"/>
    <p:sldId id="273" r:id="rId110"/>
    <p:sldId id="545" r:id="rId111"/>
    <p:sldId id="546" r:id="rId112"/>
    <p:sldId id="547" r:id="rId113"/>
    <p:sldId id="548" r:id="rId114"/>
    <p:sldId id="549" r:id="rId115"/>
    <p:sldId id="550" r:id="rId116"/>
    <p:sldId id="551" r:id="rId1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7252" autoAdjust="0"/>
    <p:restoredTop sz="94660"/>
  </p:normalViewPr>
  <p:slideViewPr>
    <p:cSldViewPr snapToGrid="0" showGuides="1">
      <p:cViewPr varScale="1">
        <p:scale>
          <a:sx n="60" d="100"/>
          <a:sy n="60" d="100"/>
        </p:scale>
        <p:origin x="27" y="52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283" Type="http://schemas.openxmlformats.org/officeDocument/2006/relationships/presProps" Target="presProps.xml"/><Relationship Id="rId284" Type="http://schemas.openxmlformats.org/officeDocument/2006/relationships/viewProps" Target="viewProps.xml"/><Relationship Id="rId285" Type="http://schemas.openxmlformats.org/officeDocument/2006/relationships/theme" Target="theme/theme1.xml"/><Relationship Id="rId28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7" name="Rectangle 4"/>
          <p:cNvSpPr>
            <a:spLocks noGrp="1"/>
          </p:cNvSpPr>
          <p:nvPr>
            <p:ph type="dt" sz="half" idx="10"/>
          </p:nvPr>
        </p:nvSpPr>
        <p:spPr/>
        <p:txBody>
          <a:bodyPr/>
          <a:lstStyle>
            <a:lvl1pPr>
              <a:defRPr/>
            </a:lvl1pPr>
          </a:lstStyle>
          <a:p>
            <a:pPr>
              <a:defRPr/>
            </a:pPr>
            <a:fld id="{BB962C8B-B14F-4D97-AF65-F5344CB8AC3E}" type="datetime1">
              <a:rPr lang="en-US" altLang="zh-CN"/>
              <a:t>8/20/2026</a:t>
            </a:fld>
            <a:endParaRPr lang="en-US" altLang="zh-CN"/>
          </a:p>
        </p:txBody>
      </p:sp>
      <p:sp>
        <p:nvSpPr>
          <p:cNvPr id="8" name="Rectangle 5"/>
          <p:cNvSpPr>
            <a:spLocks noGrp="1"/>
          </p:cNvSpPr>
          <p:nvPr>
            <p:ph type="ftr" sz="quarter" idx="11"/>
          </p:nvPr>
        </p:nvSpPr>
        <p:spPr/>
        <p:txBody>
          <a:bodyPr/>
          <a:lstStyle>
            <a:lvl1pPr>
              <a:defRPr/>
            </a:lvl1pPr>
          </a:lstStyle>
          <a:p>
            <a:pPr>
              <a:defRPr/>
            </a:pPr>
            <a:endParaRPr lang="en-US" altLang="zh-CN"/>
          </a:p>
        </p:txBody>
      </p:sp>
      <p:sp>
        <p:nvSpPr>
          <p:cNvPr id="9" name="Rectangle 6"/>
          <p:cNvSpPr>
            <a:spLocks noGrp="1"/>
          </p:cNvSpPr>
          <p:nvPr>
            <p:ph type="sldNum" sz="quarter" idx="12"/>
          </p:nvPr>
        </p:nvSpPr>
        <p:spPr/>
        <p:txBody>
          <a:bodyPr/>
          <a:lstStyle>
            <a:lvl1pPr>
              <a:defRPr smtClean="0"/>
            </a:lvl1pPr>
          </a:lstStyle>
          <a:p>
            <a:pPr>
              <a:defRPr/>
            </a:pPr>
            <a:fld id="{59BA1AF2-122D-413B-9A6F-A4FE069461D2}" type="slidenum">
              <a:rPr lang="en-US" altLang="zh-CN"/>
              <a:t>‹#›</a:t>
            </a:fld>
            <a:endParaRPr lang="en-US" altLang="zh-CN"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A03BB3-B2AA-4365-8D21-2931F66B564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 Id="rId3" Type="http://schemas.openxmlformats.org/officeDocument/2006/relationships/image" Target="../media/image5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2.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实操五：全局检索</a:t>
            </a:r>
          </a:p>
        </p:txBody>
      </p:sp>
      <p:sp>
        <p:nvSpPr>
          <p:cNvPr id="3" name="内容占位符 2"/>
          <p:cNvSpPr>
            <a:spLocks noGrp="1"/>
          </p:cNvSpPr>
          <p:nvPr>
            <p:ph idx="1"/>
          </p:nvPr>
        </p:nvSpPr>
        <p:spPr/>
        <p:txBody>
          <a:bodyPr>
            <a:normAutofit fontScale="92500" lnSpcReduction="20000"/>
          </a:bodyPr>
          <a:lstStyle/>
          <a:p>
            <a:pPr algn="l">
              <a:lnSpc>
                <a:spcPct val="150000"/>
              </a:lnSpc>
            </a:pPr>
            <a:r>
              <a:rPr lang="zh-CN" altLang="en-US" sz="1800" b="0" i="0" dirty="0">
                <a:solidFill>
                  <a:srgbClr val="24292F"/>
                </a:solidFill>
                <a:effectLst/>
                <a:latin typeface="-apple-system"/>
              </a:rPr>
              <a:t>计算机实现自动打标签的方法有多种，其中常见的包括以下几种：</a:t>
            </a:r>
          </a:p>
          <a:p>
            <a:pPr lvl="1">
              <a:lnSpc>
                <a:spcPct val="150000"/>
              </a:lnSpc>
              <a:buFont typeface="+mj-lt"/>
              <a:buAutoNum type="arabicPeriod"/>
            </a:pPr>
            <a:r>
              <a:rPr lang="zh-CN" altLang="en-US" sz="1600" b="0" i="0" dirty="0">
                <a:solidFill>
                  <a:srgbClr val="24292F"/>
                </a:solidFill>
                <a:effectLst/>
                <a:latin typeface="-apple-system"/>
              </a:rPr>
              <a:t>基于关键词匹配：计算机可以通过对文本、图像或其他类型的数据进行关键词匹配来自动为其打上相应的标签。例如，对于一篇文章，可以提取其中的关键词，并根据这些关键词来打上相应的标签。</a:t>
            </a:r>
          </a:p>
          <a:p>
            <a:pPr lvl="1">
              <a:lnSpc>
                <a:spcPct val="150000"/>
              </a:lnSpc>
              <a:buFont typeface="+mj-lt"/>
              <a:buAutoNum type="arabicPeriod"/>
            </a:pPr>
            <a:r>
              <a:rPr lang="zh-CN" altLang="en-US" sz="1600" b="0" i="0" dirty="0">
                <a:solidFill>
                  <a:srgbClr val="24292F"/>
                </a:solidFill>
                <a:effectLst/>
                <a:latin typeface="-apple-system"/>
              </a:rPr>
              <a:t>机器学习算法：可以使用机器学习算法来训练模型，使其能够自动从数据中学习并预测标签。这需要提供一组已经有标签的数据作为训练集，然后利用分类或聚类等算法进行训练，从而使模型能够根据输入数据自动预测相应的标签。</a:t>
            </a:r>
          </a:p>
          <a:p>
            <a:pPr lvl="1">
              <a:lnSpc>
                <a:spcPct val="150000"/>
              </a:lnSpc>
              <a:buFont typeface="+mj-lt"/>
              <a:buAutoNum type="arabicPeriod"/>
            </a:pPr>
            <a:r>
              <a:rPr lang="zh-CN" altLang="en-US" sz="1600" b="0" i="0" dirty="0">
                <a:solidFill>
                  <a:srgbClr val="24292F"/>
                </a:solidFill>
                <a:effectLst/>
                <a:latin typeface="-apple-system"/>
              </a:rPr>
              <a:t>自然语言处理（</a:t>
            </a:r>
            <a:r>
              <a:rPr lang="en-US" altLang="zh-CN" sz="1600" b="0" i="0" dirty="0">
                <a:solidFill>
                  <a:srgbClr val="24292F"/>
                </a:solidFill>
                <a:effectLst/>
                <a:latin typeface="-apple-system"/>
              </a:rPr>
              <a:t>NLP</a:t>
            </a:r>
            <a:r>
              <a:rPr lang="zh-CN" altLang="en-US" sz="1600" b="0" i="0" dirty="0">
                <a:solidFill>
                  <a:srgbClr val="24292F"/>
                </a:solidFill>
                <a:effectLst/>
                <a:latin typeface="-apple-system"/>
              </a:rPr>
              <a:t>）技术：对于文本数据，可以利用自然语言处理技术来进行标签的自动打标。这包括词性标注、命名实体识别、情感分析等技术，通过解析和理解文本的语义信息来自动为其打上标签。</a:t>
            </a:r>
          </a:p>
          <a:p>
            <a:pPr lvl="1">
              <a:lnSpc>
                <a:spcPct val="150000"/>
              </a:lnSpc>
              <a:buFont typeface="+mj-lt"/>
              <a:buAutoNum type="arabicPeriod"/>
            </a:pPr>
            <a:r>
              <a:rPr lang="zh-CN" altLang="en-US" sz="1600" b="0" i="0" dirty="0">
                <a:solidFill>
                  <a:srgbClr val="24292F"/>
                </a:solidFill>
                <a:effectLst/>
                <a:latin typeface="-apple-system"/>
              </a:rPr>
              <a:t>图像识别技术：对于图像数据，可以使用图像识别技术来进行自动打标签。这包括使用卷积神经网络（</a:t>
            </a:r>
            <a:r>
              <a:rPr lang="en-US" altLang="zh-CN" sz="1600" b="0" i="0" dirty="0">
                <a:solidFill>
                  <a:srgbClr val="24292F"/>
                </a:solidFill>
                <a:effectLst/>
                <a:latin typeface="-apple-system"/>
              </a:rPr>
              <a:t>CNN</a:t>
            </a:r>
            <a:r>
              <a:rPr lang="zh-CN" altLang="en-US" sz="1600" b="0" i="0" dirty="0">
                <a:solidFill>
                  <a:srgbClr val="24292F"/>
                </a:solidFill>
                <a:effectLst/>
                <a:latin typeface="-apple-system"/>
              </a:rPr>
              <a:t>）等深度学习模型，通过训练模型来识别图像中的物体、场景或特征，并为其打上相应的标签。</a:t>
            </a:r>
          </a:p>
          <a:p>
            <a:pPr>
              <a:lnSpc>
                <a:spcPct val="150000"/>
              </a:lnSpc>
            </a:pPr>
            <a:r>
              <a:rPr lang="zh-CN" altLang="en-US" sz="1800" b="0" i="0" dirty="0">
                <a:solidFill>
                  <a:srgbClr val="24292F"/>
                </a:solidFill>
                <a:effectLst/>
                <a:latin typeface="-apple-system"/>
              </a:rPr>
              <a:t>需要根据具体的任务和数据类型选择适合的方法，有时候也需要结合多种技术来实现更准确的自动打标签。此外，自动打标签的准确性也受到训练数据的质量和算法的选择等因素的影响。</a:t>
            </a:r>
          </a:p>
          <a:p>
            <a:pPr>
              <a:lnSpc>
                <a:spcPct val="150000"/>
              </a:lnSpc>
            </a:pPr>
            <a:endParaRPr lang="zh-CN" altLang="en-US" sz="1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学习自动标签</a:t>
            </a:r>
          </a:p>
        </p:txBody>
      </p:sp>
      <p:sp>
        <p:nvSpPr>
          <p:cNvPr id="3" name="内容占位符 2"/>
          <p:cNvSpPr>
            <a:spLocks noGrp="1"/>
          </p:cNvSpPr>
          <p:nvPr>
            <p:ph idx="1"/>
          </p:nvPr>
        </p:nvSpPr>
        <p:spPr/>
        <p:txBody>
          <a:bodyPr/>
          <a:lstStyle/>
          <a:p>
            <a:r>
              <a:rPr lang="zh-CN" altLang="en-US" dirty="0"/>
              <a:t>有关中英文的标签快速入门</a:t>
            </a:r>
            <a:endParaRPr lang="en-US" altLang="zh-CN" dirty="0"/>
          </a:p>
          <a:p>
            <a:r>
              <a:rPr lang="zh-CN" altLang="en-US" dirty="0"/>
              <a:t>关注所建库中期刊文献数量多的（排序）</a:t>
            </a:r>
            <a:endParaRPr lang="en-US" altLang="zh-CN" dirty="0"/>
          </a:p>
          <a:p>
            <a:r>
              <a:rPr lang="zh-CN" altLang="en-US" dirty="0"/>
              <a:t>关注大佬文章</a:t>
            </a:r>
            <a:endParaRPr lang="en-US" altLang="zh-CN" dirty="0"/>
          </a:p>
          <a:p>
            <a:r>
              <a:rPr lang="zh-CN" altLang="en-US" dirty="0"/>
              <a:t>可以运用标签分类</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全文搜索（</a:t>
            </a:r>
            <a:r>
              <a:rPr lang="en-US" altLang="zh-CN" dirty="0"/>
              <a:t>Zotero</a:t>
            </a:r>
            <a:r>
              <a:rPr lang="zh-CN" altLang="en-US" dirty="0"/>
              <a:t>自带功能）</a:t>
            </a:r>
          </a:p>
        </p:txBody>
      </p:sp>
      <p:sp>
        <p:nvSpPr>
          <p:cNvPr id="3" name="内容占位符 2"/>
          <p:cNvSpPr>
            <a:spLocks noGrp="1"/>
          </p:cNvSpPr>
          <p:nvPr>
            <p:ph idx="1"/>
          </p:nvPr>
        </p:nvSpPr>
        <p:spPr/>
        <p:txBody>
          <a:bodyPr>
            <a:normAutofit fontScale="47500" lnSpcReduction="20000"/>
          </a:bodyPr>
          <a:lstStyle/>
          <a:p>
            <a:pPr algn="l">
              <a:lnSpc>
                <a:spcPct val="120000"/>
              </a:lnSpc>
            </a:pPr>
            <a:r>
              <a:rPr lang="zh-CN" altLang="en-US" b="0" i="0" dirty="0">
                <a:solidFill>
                  <a:srgbClr val="24292F"/>
                </a:solidFill>
                <a:effectLst/>
                <a:latin typeface="-apple-system"/>
              </a:rPr>
              <a:t>索引是数据库管理系统（</a:t>
            </a:r>
            <a:r>
              <a:rPr lang="en-US" altLang="zh-CN" b="0" i="0" dirty="0">
                <a:solidFill>
                  <a:srgbClr val="24292F"/>
                </a:solidFill>
                <a:effectLst/>
                <a:latin typeface="-apple-system"/>
              </a:rPr>
              <a:t>DBMS</a:t>
            </a:r>
            <a:r>
              <a:rPr lang="zh-CN" altLang="en-US" b="0" i="0" dirty="0">
                <a:solidFill>
                  <a:srgbClr val="24292F"/>
                </a:solidFill>
                <a:effectLst/>
                <a:latin typeface="-apple-system"/>
              </a:rPr>
              <a:t>）中用于提高数据检索效率的一种机制。它是对数据库表或视图中的一列或多列进行预处理，以便快速定位和访问数据行的数据结构。索引可以加速数据查询操作，减少磁盘</a:t>
            </a:r>
            <a:r>
              <a:rPr lang="en-US" altLang="zh-CN" b="0" i="0" dirty="0">
                <a:solidFill>
                  <a:srgbClr val="24292F"/>
                </a:solidFill>
                <a:effectLst/>
                <a:latin typeface="-apple-system"/>
              </a:rPr>
              <a:t>IO</a:t>
            </a:r>
            <a:r>
              <a:rPr lang="zh-CN" altLang="en-US" b="0" i="0" dirty="0">
                <a:solidFill>
                  <a:srgbClr val="24292F"/>
                </a:solidFill>
                <a:effectLst/>
                <a:latin typeface="-apple-system"/>
              </a:rPr>
              <a:t>和</a:t>
            </a:r>
            <a:r>
              <a:rPr lang="en-US" altLang="zh-CN" b="0" i="0" dirty="0">
                <a:solidFill>
                  <a:srgbClr val="24292F"/>
                </a:solidFill>
                <a:effectLst/>
                <a:latin typeface="-apple-system"/>
              </a:rPr>
              <a:t>CPU</a:t>
            </a:r>
            <a:r>
              <a:rPr lang="zh-CN" altLang="en-US" b="0" i="0" dirty="0">
                <a:solidFill>
                  <a:srgbClr val="24292F"/>
                </a:solidFill>
                <a:effectLst/>
                <a:latin typeface="-apple-system"/>
              </a:rPr>
              <a:t>开销，提高数据库的性能。</a:t>
            </a:r>
          </a:p>
          <a:p>
            <a:pPr algn="l">
              <a:lnSpc>
                <a:spcPct val="120000"/>
              </a:lnSpc>
            </a:pPr>
            <a:r>
              <a:rPr lang="zh-CN" altLang="en-US" b="0" i="0" dirty="0">
                <a:solidFill>
                  <a:srgbClr val="24292F"/>
                </a:solidFill>
                <a:effectLst/>
                <a:latin typeface="-apple-system"/>
              </a:rPr>
              <a:t>常见的索引机制包括以下几种：</a:t>
            </a:r>
          </a:p>
          <a:p>
            <a:pPr lvl="1">
              <a:lnSpc>
                <a:spcPct val="120000"/>
              </a:lnSpc>
              <a:buFont typeface="+mj-lt"/>
              <a:buAutoNum type="arabicPeriod"/>
            </a:pPr>
            <a:r>
              <a:rPr lang="en-US" altLang="zh-CN" b="0" i="0" dirty="0">
                <a:solidFill>
                  <a:srgbClr val="24292F"/>
                </a:solidFill>
                <a:effectLst/>
                <a:latin typeface="-apple-system"/>
              </a:rPr>
              <a:t>B</a:t>
            </a:r>
            <a:r>
              <a:rPr lang="zh-CN" altLang="en-US" b="0" i="0" dirty="0">
                <a:solidFill>
                  <a:srgbClr val="24292F"/>
                </a:solidFill>
                <a:effectLst/>
                <a:latin typeface="-apple-system"/>
              </a:rPr>
              <a:t>树索引（</a:t>
            </a:r>
            <a:r>
              <a:rPr lang="en-US" altLang="zh-CN" b="0" i="0" dirty="0">
                <a:solidFill>
                  <a:srgbClr val="24292F"/>
                </a:solidFill>
                <a:effectLst/>
                <a:latin typeface="-apple-system"/>
              </a:rPr>
              <a:t>B-tree Index</a:t>
            </a:r>
            <a:r>
              <a:rPr lang="zh-CN" altLang="en-US" b="0" i="0" dirty="0">
                <a:solidFill>
                  <a:srgbClr val="24292F"/>
                </a:solidFill>
                <a:effectLst/>
                <a:latin typeface="-apple-system"/>
              </a:rPr>
              <a:t>）：</a:t>
            </a:r>
            <a:r>
              <a:rPr lang="en-US" altLang="zh-CN" b="0" i="0" dirty="0">
                <a:solidFill>
                  <a:srgbClr val="24292F"/>
                </a:solidFill>
                <a:effectLst/>
                <a:latin typeface="-apple-system"/>
              </a:rPr>
              <a:t>B</a:t>
            </a:r>
            <a:r>
              <a:rPr lang="zh-CN" altLang="en-US" b="0" i="0" dirty="0">
                <a:solidFill>
                  <a:srgbClr val="24292F"/>
                </a:solidFill>
                <a:effectLst/>
                <a:latin typeface="-apple-system"/>
              </a:rPr>
              <a:t>树是一种自平衡的搜索树，广泛用于数据库中的索引。</a:t>
            </a:r>
            <a:r>
              <a:rPr lang="en-US" altLang="zh-CN" b="0" i="0" dirty="0">
                <a:solidFill>
                  <a:srgbClr val="24292F"/>
                </a:solidFill>
                <a:effectLst/>
                <a:latin typeface="-apple-system"/>
              </a:rPr>
              <a:t>B</a:t>
            </a:r>
            <a:r>
              <a:rPr lang="zh-CN" altLang="en-US" b="0" i="0" dirty="0">
                <a:solidFill>
                  <a:srgbClr val="24292F"/>
                </a:solidFill>
                <a:effectLst/>
                <a:latin typeface="-apple-system"/>
              </a:rPr>
              <a:t>树索引将数据按照键值的顺序组织，并存储在树形结构中。通过在每个节点中存储多个键值，</a:t>
            </a:r>
            <a:r>
              <a:rPr lang="en-US" altLang="zh-CN" b="0" i="0" dirty="0">
                <a:solidFill>
                  <a:srgbClr val="24292F"/>
                </a:solidFill>
                <a:effectLst/>
                <a:latin typeface="-apple-system"/>
              </a:rPr>
              <a:t>B</a:t>
            </a:r>
            <a:r>
              <a:rPr lang="zh-CN" altLang="en-US" b="0" i="0" dirty="0">
                <a:solidFill>
                  <a:srgbClr val="24292F"/>
                </a:solidFill>
                <a:effectLst/>
                <a:latin typeface="-apple-system"/>
              </a:rPr>
              <a:t>树索引可以减少磁盘</a:t>
            </a:r>
            <a:r>
              <a:rPr lang="en-US" altLang="zh-CN" b="0" i="0" dirty="0">
                <a:solidFill>
                  <a:srgbClr val="24292F"/>
                </a:solidFill>
                <a:effectLst/>
                <a:latin typeface="-apple-system"/>
              </a:rPr>
              <a:t>IO</a:t>
            </a:r>
            <a:r>
              <a:rPr lang="zh-CN" altLang="en-US" b="0" i="0" dirty="0">
                <a:solidFill>
                  <a:srgbClr val="24292F"/>
                </a:solidFill>
                <a:effectLst/>
                <a:latin typeface="-apple-system"/>
              </a:rPr>
              <a:t>次数，提高查询效率。</a:t>
            </a:r>
          </a:p>
          <a:p>
            <a:pPr lvl="1">
              <a:lnSpc>
                <a:spcPct val="120000"/>
              </a:lnSpc>
              <a:buFont typeface="+mj-lt"/>
              <a:buAutoNum type="arabicPeriod"/>
            </a:pPr>
            <a:r>
              <a:rPr lang="zh-CN" altLang="en-US" b="0" i="0" dirty="0">
                <a:solidFill>
                  <a:srgbClr val="24292F"/>
                </a:solidFill>
                <a:effectLst/>
                <a:latin typeface="-apple-system"/>
              </a:rPr>
              <a:t>哈希索引（</a:t>
            </a:r>
            <a:r>
              <a:rPr lang="en-US" altLang="zh-CN" b="0" i="0" dirty="0">
                <a:solidFill>
                  <a:srgbClr val="24292F"/>
                </a:solidFill>
                <a:effectLst/>
                <a:latin typeface="-apple-system"/>
              </a:rPr>
              <a:t>Hash Index</a:t>
            </a:r>
            <a:r>
              <a:rPr lang="zh-CN" altLang="en-US" b="0" i="0" dirty="0">
                <a:solidFill>
                  <a:srgbClr val="24292F"/>
                </a:solidFill>
                <a:effectLst/>
                <a:latin typeface="-apple-system"/>
              </a:rPr>
              <a:t>）：哈希索引使用散列函数将键值映射到索引位置。它适用于等值查询，可以通过直接计算散列值来快速定位数据。然而，哈希索引不适用于范围查询，且对于键值分布不均匀的情况下会导致存储空间的浪费。</a:t>
            </a:r>
          </a:p>
          <a:p>
            <a:pPr lvl="1">
              <a:lnSpc>
                <a:spcPct val="120000"/>
              </a:lnSpc>
              <a:buFont typeface="+mj-lt"/>
              <a:buAutoNum type="arabicPeriod"/>
            </a:pPr>
            <a:r>
              <a:rPr lang="zh-CN" altLang="en-US" b="0" i="0" dirty="0">
                <a:solidFill>
                  <a:srgbClr val="24292F"/>
                </a:solidFill>
                <a:effectLst/>
                <a:latin typeface="-apple-system"/>
              </a:rPr>
              <a:t>位图索引（</a:t>
            </a:r>
            <a:r>
              <a:rPr lang="en-US" altLang="zh-CN" b="0" i="0" dirty="0">
                <a:solidFill>
                  <a:srgbClr val="24292F"/>
                </a:solidFill>
                <a:effectLst/>
                <a:latin typeface="-apple-system"/>
              </a:rPr>
              <a:t>Bitmap Index</a:t>
            </a:r>
            <a:r>
              <a:rPr lang="zh-CN" altLang="en-US" b="0" i="0" dirty="0">
                <a:solidFill>
                  <a:srgbClr val="24292F"/>
                </a:solidFill>
                <a:effectLst/>
                <a:latin typeface="-apple-system"/>
              </a:rPr>
              <a:t>）：位图索引将每个不同的键值都映射到一个位向量中的一位或多位。通过对多个位图进行位运算，可以快速找到满足特定条件的数据行。位图索引适用于具有低基数（即唯一值较少）列的查询。</a:t>
            </a:r>
          </a:p>
          <a:p>
            <a:pPr lvl="1">
              <a:lnSpc>
                <a:spcPct val="120000"/>
              </a:lnSpc>
              <a:buFont typeface="+mj-lt"/>
              <a:buAutoNum type="arabicPeriod"/>
            </a:pPr>
            <a:r>
              <a:rPr lang="zh-CN" altLang="en-US" b="0" i="0" dirty="0">
                <a:solidFill>
                  <a:srgbClr val="24292F"/>
                </a:solidFill>
                <a:effectLst/>
                <a:latin typeface="-apple-system"/>
              </a:rPr>
              <a:t>全文索引（</a:t>
            </a:r>
            <a:r>
              <a:rPr lang="en-US" altLang="zh-CN" b="0" i="0" dirty="0">
                <a:solidFill>
                  <a:srgbClr val="24292F"/>
                </a:solidFill>
                <a:effectLst/>
                <a:latin typeface="-apple-system"/>
              </a:rPr>
              <a:t>Full-text Index</a:t>
            </a:r>
            <a:r>
              <a:rPr lang="zh-CN" altLang="en-US" b="0" i="0" dirty="0">
                <a:solidFill>
                  <a:srgbClr val="24292F"/>
                </a:solidFill>
                <a:effectLst/>
                <a:latin typeface="-apple-system"/>
              </a:rPr>
              <a:t>）：全文索引用于对文本类型的数据进行关键词搜索。它使用特殊的算法和数据结构来提高文本搜索的效率，可以支持在文本中进行模糊匹配、分词搜索等操作。</a:t>
            </a:r>
          </a:p>
          <a:p>
            <a:pPr algn="l">
              <a:lnSpc>
                <a:spcPct val="120000"/>
              </a:lnSpc>
            </a:pPr>
            <a:r>
              <a:rPr lang="zh-CN" altLang="en-US" b="0" i="0" dirty="0">
                <a:solidFill>
                  <a:srgbClr val="24292F"/>
                </a:solidFill>
                <a:effectLst/>
                <a:latin typeface="-apple-system"/>
              </a:rPr>
              <a:t>以上仅是一些常见的索引机制，实际上还有其他类型的索引，如</a:t>
            </a:r>
            <a:r>
              <a:rPr lang="en-US" altLang="zh-CN" b="0" i="0" dirty="0">
                <a:solidFill>
                  <a:srgbClr val="24292F"/>
                </a:solidFill>
                <a:effectLst/>
                <a:latin typeface="-apple-system"/>
              </a:rPr>
              <a:t>R</a:t>
            </a:r>
            <a:r>
              <a:rPr lang="zh-CN" altLang="en-US" b="0" i="0" dirty="0">
                <a:solidFill>
                  <a:srgbClr val="24292F"/>
                </a:solidFill>
                <a:effectLst/>
                <a:latin typeface="-apple-system"/>
              </a:rPr>
              <a:t>树索引、二进制索引等，每种索引机制都有其适用的场景和特点。在设计数据库表结构时，应根据具体需求和数据访问模式选择合适的索引机制，以优化数据库性能。</a:t>
            </a:r>
            <a:endParaRPr lang="en-US" altLang="zh-CN" dirty="0"/>
          </a:p>
          <a:p>
            <a:pPr>
              <a:lnSpc>
                <a:spcPct val="120000"/>
              </a:lnSpc>
            </a:pPr>
            <a:r>
              <a:rPr lang="zh-CN" altLang="en-US" dirty="0"/>
              <a:t>首先完成索引，部分选项要调整，如页数</a:t>
            </a:r>
            <a:r>
              <a:rPr lang="en-US" altLang="zh-CN" dirty="0"/>
              <a:t>15</a:t>
            </a:r>
            <a:r>
              <a:rPr lang="zh-CN" altLang="en-US" dirty="0"/>
              <a:t>倍，字符数</a:t>
            </a:r>
            <a:r>
              <a:rPr lang="en-US" altLang="zh-CN" dirty="0"/>
              <a:t>100</a:t>
            </a:r>
            <a:r>
              <a:rPr lang="zh-CN" altLang="en-US" dirty="0"/>
              <a:t>倍。</a:t>
            </a:r>
            <a:endParaRPr lang="en-US" altLang="zh-CN" dirty="0"/>
          </a:p>
          <a:p>
            <a:pPr>
              <a:lnSpc>
                <a:spcPct val="120000"/>
              </a:lnSpc>
            </a:pPr>
            <a:r>
              <a:rPr lang="en-US" altLang="zh-CN" dirty="0"/>
              <a:t>Zotero creates an index to allow the full text contents of PDF and plain-text attachments in your library to be searched with Quick Search (“Everything” option) and Advanced Search (via “Attachment Content”).</a:t>
            </a:r>
          </a:p>
          <a:p>
            <a:pPr>
              <a:lnSpc>
                <a:spcPct val="120000"/>
              </a:lnSpc>
            </a:pPr>
            <a:r>
              <a:rPr lang="en-US" altLang="zh-CN" b="1" i="0" dirty="0">
                <a:solidFill>
                  <a:srgbClr val="444444"/>
                </a:solidFill>
                <a:effectLst/>
                <a:latin typeface="Lucida Grande"/>
              </a:rPr>
              <a:t>Note:</a:t>
            </a:r>
            <a:r>
              <a:rPr lang="en-US" altLang="zh-CN" b="0" i="0" dirty="0">
                <a:solidFill>
                  <a:srgbClr val="444444"/>
                </a:solidFill>
                <a:effectLst/>
                <a:latin typeface="Lucida Grande"/>
              </a:rPr>
              <a:t> At this time, only PDF full text content (and plain text files) can be indexed by Zotero. Other document types (e.g., .docx, .</a:t>
            </a:r>
            <a:r>
              <a:rPr lang="en-US" altLang="zh-CN" b="0" i="0" dirty="0" err="1">
                <a:solidFill>
                  <a:srgbClr val="444444"/>
                </a:solidFill>
                <a:effectLst/>
                <a:latin typeface="Lucida Grande"/>
              </a:rPr>
              <a:t>odt</a:t>
            </a:r>
            <a:r>
              <a:rPr lang="en-US" altLang="zh-CN" b="0" i="0" dirty="0">
                <a:solidFill>
                  <a:srgbClr val="444444"/>
                </a:solidFill>
                <a:effectLst/>
                <a:latin typeface="Lucida Grande"/>
              </a:rPr>
              <a:t>, .</a:t>
            </a:r>
            <a:r>
              <a:rPr lang="en-US" altLang="zh-CN" b="0" i="0" dirty="0" err="1">
                <a:solidFill>
                  <a:srgbClr val="444444"/>
                </a:solidFill>
                <a:effectLst/>
                <a:latin typeface="Lucida Grande"/>
              </a:rPr>
              <a:t>epub</a:t>
            </a:r>
            <a:r>
              <a:rPr lang="en-US" altLang="zh-CN" b="0" i="0" dirty="0">
                <a:solidFill>
                  <a:srgbClr val="444444"/>
                </a:solidFill>
                <a:effectLst/>
                <a:latin typeface="Lucida Grande"/>
              </a:rPr>
              <a:t>) cannot be indexed by Zotero.</a:t>
            </a:r>
            <a:endParaRPr lang="zh-CN" alt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先采用普通搜索：分三类</a:t>
            </a:r>
          </a:p>
        </p:txBody>
      </p:sp>
      <p:pic>
        <p:nvPicPr>
          <p:cNvPr id="5" name="内容占位符 4"/>
          <p:cNvPicPr>
            <a:picLocks noGrp="1" noChangeAspect="1"/>
          </p:cNvPicPr>
          <p:nvPr>
            <p:ph idx="1"/>
          </p:nvPr>
        </p:nvPicPr>
        <p:blipFill>
          <a:blip r:embed="rId2"/>
          <a:stretch>
            <a:fillRect/>
          </a:stretch>
        </p:blipFill>
        <p:spPr>
          <a:xfrm>
            <a:off x="2257825" y="1780819"/>
            <a:ext cx="8652952" cy="3296362"/>
          </a:xfr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运用标签去全文搜索</a:t>
            </a:r>
          </a:p>
        </p:txBody>
      </p:sp>
      <p:sp>
        <p:nvSpPr>
          <p:cNvPr id="3" name="内容占位符 2"/>
          <p:cNvSpPr>
            <a:spLocks noGrp="1"/>
          </p:cNvSpPr>
          <p:nvPr>
            <p:ph idx="1"/>
          </p:nvPr>
        </p:nvSpPr>
        <p:spPr/>
        <p:txBody>
          <a:bodyPr/>
          <a:lstStyle/>
          <a:p>
            <a:r>
              <a:rPr lang="zh-CN" altLang="en-US" dirty="0"/>
              <a:t>再用自带</a:t>
            </a:r>
            <a:r>
              <a:rPr lang="en-US" altLang="zh-CN" dirty="0"/>
              <a:t>PDF</a:t>
            </a:r>
            <a:r>
              <a:rPr lang="zh-CN" altLang="en-US" dirty="0"/>
              <a:t>浏览器去搜索</a:t>
            </a:r>
            <a:endParaRPr lang="en-US" altLang="zh-CN" dirty="0"/>
          </a:p>
          <a:p>
            <a:r>
              <a:rPr lang="zh-CN" altLang="en-US" dirty="0"/>
              <a:t>会告诉你所得到结果的数量</a:t>
            </a:r>
            <a:endParaRPr lang="en-US" altLang="zh-CN" dirty="0"/>
          </a:p>
          <a:p>
            <a:r>
              <a:rPr lang="zh-CN" altLang="en-US" dirty="0"/>
              <a:t>看数量多的文献（频次大于</a:t>
            </a:r>
            <a:r>
              <a:rPr lang="en-US" altLang="zh-CN" dirty="0"/>
              <a:t>10</a:t>
            </a:r>
            <a:r>
              <a:rPr lang="zh-CN" altLang="en-US" dirty="0"/>
              <a:t>次）</a:t>
            </a:r>
            <a:endParaRPr lang="en-US" altLang="zh-CN" dirty="0"/>
          </a:p>
          <a:p>
            <a:r>
              <a:rPr lang="zh-CN" altLang="en-US" dirty="0"/>
              <a:t>可新建一栏目</a:t>
            </a:r>
            <a:endParaRPr lang="en-US" altLang="zh-CN" dirty="0"/>
          </a:p>
          <a:p>
            <a:pPr lvl="1"/>
            <a:r>
              <a:rPr lang="zh-CN" altLang="en-US" dirty="0"/>
              <a:t>举例：</a:t>
            </a:r>
            <a:r>
              <a:rPr lang="en-US" altLang="zh-CN" dirty="0"/>
              <a:t>ostensive</a:t>
            </a:r>
            <a:r>
              <a:rPr lang="zh-CN" altLang="en-US" dirty="0"/>
              <a:t>、人工智能</a:t>
            </a:r>
            <a:endParaRPr lang="en-US" altLang="zh-CN" dirty="0"/>
          </a:p>
          <a:p>
            <a:pPr lvl="1"/>
            <a:endParaRPr lang="en-US" altLang="zh-CN" dirty="0"/>
          </a:p>
          <a:p>
            <a:pPr lvl="1"/>
            <a:r>
              <a:rPr lang="zh-CN" altLang="en-US"/>
              <a:t>演示：跨</a:t>
            </a:r>
            <a:r>
              <a:rPr lang="zh-CN" altLang="en-US" dirty="0"/>
              <a:t>界融合</a:t>
            </a:r>
            <a:endParaRPr lang="en-US" altLang="zh-CN" dirty="0"/>
          </a:p>
          <a:p>
            <a:pPr lvl="1"/>
            <a:endParaRPr lang="en-US" altLang="zh-CN" dirty="0"/>
          </a:p>
          <a:p>
            <a:pPr marL="457200" lvl="1" indent="0">
              <a:buNone/>
            </a:pPr>
            <a:endParaRPr lang="zh-CN" alt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全文搜索实现</a:t>
            </a:r>
          </a:p>
        </p:txBody>
      </p:sp>
      <p:sp>
        <p:nvSpPr>
          <p:cNvPr id="3" name="内容占位符 2"/>
          <p:cNvSpPr>
            <a:spLocks noGrp="1"/>
          </p:cNvSpPr>
          <p:nvPr>
            <p:ph idx="1"/>
          </p:nvPr>
        </p:nvSpPr>
        <p:spPr>
          <a:xfrm>
            <a:off x="838200" y="1825625"/>
            <a:ext cx="4439314" cy="4351338"/>
          </a:xfrm>
        </p:spPr>
        <p:txBody>
          <a:bodyPr/>
          <a:lstStyle/>
          <a:p>
            <a:r>
              <a:rPr lang="en-US" altLang="zh-CN" dirty="0"/>
              <a:t>PDF</a:t>
            </a:r>
            <a:r>
              <a:rPr lang="zh-CN" altLang="en-US" dirty="0"/>
              <a:t>要可识别</a:t>
            </a:r>
            <a:endParaRPr lang="en-US" altLang="zh-CN" dirty="0"/>
          </a:p>
          <a:p>
            <a:pPr lvl="1"/>
            <a:r>
              <a:rPr lang="zh-CN" altLang="en-US" dirty="0"/>
              <a:t>图片要加以识别</a:t>
            </a:r>
            <a:endParaRPr lang="en-US" altLang="zh-CN" dirty="0"/>
          </a:p>
          <a:p>
            <a:pPr lvl="1"/>
            <a:r>
              <a:rPr lang="zh-CN" altLang="en-US" dirty="0"/>
              <a:t>软件是很强大了</a:t>
            </a:r>
            <a:endParaRPr lang="en-US" altLang="zh-CN" dirty="0"/>
          </a:p>
          <a:p>
            <a:pPr lvl="1"/>
            <a:r>
              <a:rPr lang="en-US" altLang="zh-CN" dirty="0"/>
              <a:t>Acrobat</a:t>
            </a:r>
            <a:r>
              <a:rPr lang="zh-CN" altLang="en-US" dirty="0"/>
              <a:t>或</a:t>
            </a:r>
            <a:r>
              <a:rPr lang="en-US" altLang="zh-CN" dirty="0">
                <a:solidFill>
                  <a:srgbClr val="00B0F0"/>
                </a:solidFill>
              </a:rPr>
              <a:t>ABBYY FineReader</a:t>
            </a:r>
            <a:r>
              <a:rPr lang="zh-CN" altLang="en-US" dirty="0">
                <a:solidFill>
                  <a:srgbClr val="00B0F0"/>
                </a:solidFill>
              </a:rPr>
              <a:t>（本人最佳）</a:t>
            </a:r>
            <a:endParaRPr lang="en-US" altLang="zh-CN" dirty="0"/>
          </a:p>
          <a:p>
            <a:pPr lvl="1"/>
            <a:r>
              <a:rPr lang="en-US" altLang="zh-CN" i="1" u="sng" dirty="0" err="1">
                <a:solidFill>
                  <a:srgbClr val="FF0000"/>
                </a:solidFill>
              </a:rPr>
              <a:t>ZoteroOCR</a:t>
            </a:r>
            <a:r>
              <a:rPr lang="zh-CN" altLang="en-US" i="1" u="sng" dirty="0">
                <a:solidFill>
                  <a:srgbClr val="FF0000"/>
                </a:solidFill>
              </a:rPr>
              <a:t>（没搞定）</a:t>
            </a:r>
            <a:endParaRPr lang="en-US" altLang="zh-CN" i="1" u="sng" dirty="0">
              <a:solidFill>
                <a:srgbClr val="FF0000"/>
              </a:solidFill>
            </a:endParaRPr>
          </a:p>
          <a:p>
            <a:pPr lvl="1"/>
            <a:endParaRPr lang="en-US" altLang="zh-CN" dirty="0"/>
          </a:p>
          <a:p>
            <a:r>
              <a:rPr lang="zh-CN" altLang="en-US" dirty="0"/>
              <a:t>在首先项中完成设置</a:t>
            </a:r>
          </a:p>
        </p:txBody>
      </p:sp>
      <p:pic>
        <p:nvPicPr>
          <p:cNvPr id="5" name="图片 4"/>
          <p:cNvPicPr>
            <a:picLocks noChangeAspect="1"/>
          </p:cNvPicPr>
          <p:nvPr/>
        </p:nvPicPr>
        <p:blipFill>
          <a:blip r:embed="rId2"/>
          <a:stretch>
            <a:fillRect/>
          </a:stretch>
        </p:blipFill>
        <p:spPr>
          <a:xfrm>
            <a:off x="5277514" y="922316"/>
            <a:ext cx="6566020" cy="5417127"/>
          </a:xfrm>
          <a:prstGeom prst="rect">
            <a:avLst/>
          </a:prstGeom>
        </p:spPr>
      </p:pic>
      <p:pic>
        <p:nvPicPr>
          <p:cNvPr id="7" name="图片 6"/>
          <p:cNvPicPr>
            <a:picLocks noChangeAspect="1"/>
          </p:cNvPicPr>
          <p:nvPr/>
        </p:nvPicPr>
        <p:blipFill>
          <a:blip r:embed="rId3"/>
          <a:stretch>
            <a:fillRect/>
          </a:stretch>
        </p:blipFill>
        <p:spPr>
          <a:xfrm>
            <a:off x="8078837" y="3210296"/>
            <a:ext cx="2621081" cy="935439"/>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0" y="69743"/>
            <a:ext cx="12192000" cy="6635750"/>
          </a:xfrm>
          <a:prstGeom prst="rect">
            <a:avLst/>
          </a:prstGeom>
        </p:spPr>
      </p:pic>
      <p:sp>
        <p:nvSpPr>
          <p:cNvPr id="2" name="文本框 1"/>
          <p:cNvSpPr txBox="1"/>
          <p:nvPr/>
        </p:nvSpPr>
        <p:spPr>
          <a:xfrm>
            <a:off x="2793571" y="2496466"/>
            <a:ext cx="565688" cy="120111"/>
          </a:xfrm>
          <a:prstGeom prst="rect">
            <a:avLst/>
          </a:prstGeom>
          <a:noFill/>
          <a:ln>
            <a:solidFill>
              <a:srgbClr val="FF0000"/>
            </a:solidFill>
          </a:ln>
        </p:spPr>
        <p:txBody>
          <a:bodyPr wrap="square" rtlCol="0">
            <a:spAutoFit/>
          </a:bodyPr>
          <a:lstStyle/>
          <a:p>
            <a:endParaRPr lang="zh-CN" altLang="en-US" sz="800" dirty="0"/>
          </a:p>
        </p:txBody>
      </p:sp>
      <p:sp>
        <p:nvSpPr>
          <p:cNvPr id="3" name="文本框 2"/>
          <p:cNvSpPr txBox="1"/>
          <p:nvPr/>
        </p:nvSpPr>
        <p:spPr>
          <a:xfrm>
            <a:off x="4783921" y="2813841"/>
            <a:ext cx="655386" cy="215444"/>
          </a:xfrm>
          <a:prstGeom prst="rect">
            <a:avLst/>
          </a:prstGeom>
          <a:noFill/>
          <a:ln>
            <a:solidFill>
              <a:srgbClr val="FF0000"/>
            </a:solidFill>
          </a:ln>
        </p:spPr>
        <p:txBody>
          <a:bodyPr wrap="square" rtlCol="0">
            <a:spAutoFit/>
          </a:bodyPr>
          <a:lstStyle/>
          <a:p>
            <a:endParaRPr lang="zh-CN" altLang="en-US" sz="800" dirty="0"/>
          </a:p>
        </p:txBody>
      </p:sp>
      <p:sp>
        <p:nvSpPr>
          <p:cNvPr id="7" name="文本框 6"/>
          <p:cNvSpPr txBox="1"/>
          <p:nvPr/>
        </p:nvSpPr>
        <p:spPr>
          <a:xfrm>
            <a:off x="8351005" y="3067320"/>
            <a:ext cx="565688" cy="120111"/>
          </a:xfrm>
          <a:prstGeom prst="rect">
            <a:avLst/>
          </a:prstGeom>
          <a:noFill/>
          <a:ln>
            <a:solidFill>
              <a:srgbClr val="FF0000"/>
            </a:solidFill>
          </a:ln>
        </p:spPr>
        <p:txBody>
          <a:bodyPr wrap="square" rtlCol="0">
            <a:spAutoFit/>
          </a:bodyPr>
          <a:lstStyle/>
          <a:p>
            <a:endParaRPr lang="zh-CN" altLang="en-US" sz="8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如何解决未检索的文献</a:t>
            </a:r>
          </a:p>
        </p:txBody>
      </p:sp>
      <p:sp>
        <p:nvSpPr>
          <p:cNvPr id="3" name="内容占位符 2"/>
          <p:cNvSpPr>
            <a:spLocks noGrp="1"/>
          </p:cNvSpPr>
          <p:nvPr>
            <p:ph idx="1"/>
          </p:nvPr>
        </p:nvSpPr>
        <p:spPr/>
        <p:txBody>
          <a:bodyPr/>
          <a:lstStyle/>
          <a:p>
            <a:r>
              <a:rPr lang="en-US" altLang="zh-CN" dirty="0"/>
              <a:t>1</a:t>
            </a:r>
            <a:r>
              <a:rPr lang="zh-CN" altLang="en-US" dirty="0"/>
              <a:t>、文献附件的命名规则要用好</a:t>
            </a:r>
            <a:endParaRPr lang="en-US" altLang="zh-CN" dirty="0"/>
          </a:p>
          <a:p>
            <a:r>
              <a:rPr lang="en-US" altLang="zh-CN" dirty="0"/>
              <a:t>2</a:t>
            </a:r>
            <a:r>
              <a:rPr lang="zh-CN" altLang="en-US" dirty="0"/>
              <a:t>、全部命名为年份</a:t>
            </a:r>
            <a:endParaRPr lang="en-US" altLang="zh-CN" dirty="0"/>
          </a:p>
          <a:p>
            <a:r>
              <a:rPr lang="en-US" altLang="zh-CN" dirty="0"/>
              <a:t>3</a:t>
            </a:r>
            <a:r>
              <a:rPr lang="zh-CN" altLang="en-US" dirty="0"/>
              <a:t>、用</a:t>
            </a:r>
            <a:r>
              <a:rPr lang="en-US" altLang="zh-CN" dirty="0" err="1"/>
              <a:t>Zotfile</a:t>
            </a:r>
            <a:r>
              <a:rPr lang="zh-CN" altLang="en-US" dirty="0"/>
              <a:t>更新命名</a:t>
            </a:r>
            <a:endParaRPr lang="en-US" altLang="zh-CN" dirty="0"/>
          </a:p>
          <a:p>
            <a:r>
              <a:rPr lang="en-US" altLang="zh-CN" dirty="0"/>
              <a:t>4</a:t>
            </a:r>
            <a:r>
              <a:rPr lang="zh-CN" altLang="en-US" dirty="0"/>
              <a:t>、重新检索直到全部检索（书的页码设为</a:t>
            </a:r>
            <a:r>
              <a:rPr lang="en-US" altLang="zh-CN" dirty="0"/>
              <a:t>2000</a:t>
            </a:r>
            <a:r>
              <a:rPr lang="zh-CN" altLang="en-US" dirty="0"/>
              <a:t>，最大字符也可以倍增。）</a:t>
            </a:r>
            <a:endParaRPr lang="en-US" altLang="zh-CN" dirty="0"/>
          </a:p>
          <a:p>
            <a:r>
              <a:rPr lang="en-US" altLang="zh-CN" dirty="0"/>
              <a:t>5</a:t>
            </a:r>
            <a:r>
              <a:rPr lang="zh-CN" altLang="en-US" dirty="0"/>
              <a:t>、等候机器完成检索，看你的电脑强大度。</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解决未索引的文件</a:t>
            </a:r>
            <a:r>
              <a:rPr lang="en-US" altLang="zh-CN" dirty="0"/>
              <a:t>——</a:t>
            </a:r>
            <a:r>
              <a:rPr lang="zh-CN" altLang="en-US" dirty="0"/>
              <a:t>数字搜索</a:t>
            </a:r>
          </a:p>
        </p:txBody>
      </p:sp>
      <p:sp>
        <p:nvSpPr>
          <p:cNvPr id="3" name="内容占位符 2"/>
          <p:cNvSpPr>
            <a:spLocks noGrp="1"/>
          </p:cNvSpPr>
          <p:nvPr>
            <p:ph idx="1"/>
          </p:nvPr>
        </p:nvSpPr>
        <p:spPr/>
        <p:txBody>
          <a:bodyPr>
            <a:normAutofit fontScale="92500" lnSpcReduction="20000"/>
          </a:bodyPr>
          <a:lstStyle/>
          <a:p>
            <a:pPr algn="l">
              <a:lnSpc>
                <a:spcPct val="150000"/>
              </a:lnSpc>
              <a:buFont typeface="+mj-lt"/>
              <a:buAutoNum type="arabicPeriod"/>
            </a:pPr>
            <a:r>
              <a:rPr lang="zh-CN" altLang="en-US" sz="1400" b="0" i="0" dirty="0">
                <a:solidFill>
                  <a:srgbClr val="24292F"/>
                </a:solidFill>
                <a:effectLst/>
                <a:latin typeface="-apple-system"/>
              </a:rPr>
              <a:t>确认文件位置：首先，确定未索引文件所在的目录或文件夹。确保你可以访问该目录并具有合适的权限。</a:t>
            </a:r>
          </a:p>
          <a:p>
            <a:pPr algn="l">
              <a:lnSpc>
                <a:spcPct val="150000"/>
              </a:lnSpc>
              <a:buFont typeface="+mj-lt"/>
              <a:buAutoNum type="arabicPeriod"/>
            </a:pPr>
            <a:r>
              <a:rPr lang="zh-CN" altLang="en-US" sz="1400" b="0" i="0" dirty="0">
                <a:solidFill>
                  <a:srgbClr val="24292F"/>
                </a:solidFill>
                <a:effectLst/>
                <a:latin typeface="-apple-system"/>
              </a:rPr>
              <a:t>重新索引文件：如果使用的是特定的文件管理工具或搜索引擎，检查其设置选项，以确保自动索引未开启。对于 </a:t>
            </a:r>
            <a:r>
              <a:rPr lang="en-US" altLang="zh-CN" sz="1400" b="0" i="0" dirty="0">
                <a:solidFill>
                  <a:srgbClr val="24292F"/>
                </a:solidFill>
                <a:effectLst/>
                <a:latin typeface="-apple-system"/>
              </a:rPr>
              <a:t>Windows </a:t>
            </a:r>
            <a:r>
              <a:rPr lang="zh-CN" altLang="en-US" sz="1400" b="0" i="0" dirty="0">
                <a:solidFill>
                  <a:srgbClr val="24292F"/>
                </a:solidFill>
                <a:effectLst/>
                <a:latin typeface="-apple-system"/>
              </a:rPr>
              <a:t>操作系统，你可以通过右键点击文件夹，选择</a:t>
            </a:r>
            <a:r>
              <a:rPr lang="en-US" altLang="zh-CN" sz="1400" b="0" i="0" dirty="0">
                <a:solidFill>
                  <a:srgbClr val="24292F"/>
                </a:solidFill>
                <a:effectLst/>
                <a:latin typeface="-apple-system"/>
              </a:rPr>
              <a:t>"</a:t>
            </a:r>
            <a:r>
              <a:rPr lang="zh-CN" altLang="en-US" sz="1400" b="0" i="0" dirty="0">
                <a:solidFill>
                  <a:srgbClr val="24292F"/>
                </a:solidFill>
                <a:effectLst/>
                <a:latin typeface="-apple-system"/>
              </a:rPr>
              <a:t>属性</a:t>
            </a:r>
            <a:r>
              <a:rPr lang="en-US" altLang="zh-CN" sz="1400" b="0" i="0" dirty="0">
                <a:solidFill>
                  <a:srgbClr val="24292F"/>
                </a:solidFill>
                <a:effectLst/>
                <a:latin typeface="-apple-system"/>
              </a:rPr>
              <a:t>"</a:t>
            </a:r>
            <a:r>
              <a:rPr lang="zh-CN" altLang="en-US" sz="1400" b="0" i="0" dirty="0">
                <a:solidFill>
                  <a:srgbClr val="24292F"/>
                </a:solidFill>
                <a:effectLst/>
                <a:latin typeface="-apple-system"/>
              </a:rPr>
              <a:t>，然后取消勾选</a:t>
            </a:r>
            <a:r>
              <a:rPr lang="en-US" altLang="zh-CN" sz="1400" b="0" i="0" dirty="0">
                <a:solidFill>
                  <a:srgbClr val="24292F"/>
                </a:solidFill>
                <a:effectLst/>
                <a:latin typeface="-apple-system"/>
              </a:rPr>
              <a:t>"</a:t>
            </a:r>
            <a:r>
              <a:rPr lang="zh-CN" altLang="en-US" sz="1400" b="0" i="0" dirty="0">
                <a:solidFill>
                  <a:srgbClr val="24292F"/>
                </a:solidFill>
                <a:effectLst/>
                <a:latin typeface="-apple-system"/>
              </a:rPr>
              <a:t>允许此文件夹的内容被索引</a:t>
            </a:r>
            <a:r>
              <a:rPr lang="en-US" altLang="zh-CN" sz="1400" b="0" i="0" dirty="0">
                <a:solidFill>
                  <a:srgbClr val="24292F"/>
                </a:solidFill>
                <a:effectLst/>
                <a:latin typeface="-apple-system"/>
              </a:rPr>
              <a:t>"</a:t>
            </a:r>
            <a:r>
              <a:rPr lang="zh-CN" altLang="en-US" sz="1400" b="0" i="0" dirty="0">
                <a:solidFill>
                  <a:srgbClr val="24292F"/>
                </a:solidFill>
                <a:effectLst/>
                <a:latin typeface="-apple-system"/>
              </a:rPr>
              <a:t>的选项来重新索引文件。对于其他操作系统或工具，请参考相应的文档或帮助指南。</a:t>
            </a:r>
          </a:p>
          <a:p>
            <a:pPr algn="l">
              <a:lnSpc>
                <a:spcPct val="150000"/>
              </a:lnSpc>
              <a:buFont typeface="+mj-lt"/>
              <a:buAutoNum type="arabicPeriod"/>
            </a:pPr>
            <a:r>
              <a:rPr lang="zh-CN" altLang="en-US" sz="1400" b="0" i="0" dirty="0">
                <a:solidFill>
                  <a:srgbClr val="24292F"/>
                </a:solidFill>
                <a:effectLst/>
                <a:latin typeface="-apple-system"/>
              </a:rPr>
              <a:t>刷新索引或重建索引：在确认索引设置正确后，你可以尝试刷新现有的索引或进行完全的重建索引。这可以通过文件管理工具的选项或系统设置中的索引选项来完成。如果是重建索引，需要注意这可能需要一些时间和计算资源。</a:t>
            </a:r>
          </a:p>
          <a:p>
            <a:pPr algn="l">
              <a:lnSpc>
                <a:spcPct val="150000"/>
              </a:lnSpc>
              <a:buFont typeface="+mj-lt"/>
              <a:buAutoNum type="arabicPeriod"/>
            </a:pPr>
            <a:r>
              <a:rPr lang="zh-CN" altLang="en-US" sz="1400" b="0" i="0" dirty="0">
                <a:solidFill>
                  <a:srgbClr val="24292F"/>
                </a:solidFill>
                <a:effectLst/>
                <a:latin typeface="-apple-system"/>
              </a:rPr>
              <a:t>检查文件类型：某些文件类型可能不会被默认的索引程序识别。确保文件类型不包含在排除列表中，并根据需要进行调整。</a:t>
            </a:r>
          </a:p>
          <a:p>
            <a:pPr algn="l">
              <a:lnSpc>
                <a:spcPct val="150000"/>
              </a:lnSpc>
              <a:buFont typeface="+mj-lt"/>
              <a:buAutoNum type="arabicPeriod"/>
            </a:pPr>
            <a:r>
              <a:rPr lang="zh-CN" altLang="en-US" sz="1400" b="0" i="0" dirty="0">
                <a:solidFill>
                  <a:srgbClr val="24292F"/>
                </a:solidFill>
                <a:effectLst/>
                <a:latin typeface="-apple-system"/>
              </a:rPr>
              <a:t>更新文件关联：如果文件与特定的应用程序关联，但仍无法被索引，尝试更新文件关联。在文件管理工具中，你可以通过更改默认打开方式来执行此操作。</a:t>
            </a:r>
          </a:p>
          <a:p>
            <a:pPr algn="l">
              <a:lnSpc>
                <a:spcPct val="150000"/>
              </a:lnSpc>
              <a:buFont typeface="+mj-lt"/>
              <a:buAutoNum type="arabicPeriod"/>
            </a:pPr>
            <a:r>
              <a:rPr lang="zh-CN" altLang="en-US" sz="1400" b="0" i="0" dirty="0">
                <a:solidFill>
                  <a:srgbClr val="24292F"/>
                </a:solidFill>
                <a:effectLst/>
                <a:latin typeface="-apple-system"/>
              </a:rPr>
              <a:t>使用第三方工具：如果以上步骤无法解决问题，可以考虑使用第三方文件索引工具，例如 </a:t>
            </a:r>
            <a:r>
              <a:rPr lang="en-US" altLang="zh-CN" sz="1400" b="0" i="0" dirty="0">
                <a:solidFill>
                  <a:srgbClr val="24292F"/>
                </a:solidFill>
                <a:effectLst/>
                <a:latin typeface="-apple-system"/>
              </a:rPr>
              <a:t>Everything</a:t>
            </a:r>
            <a:r>
              <a:rPr lang="zh-CN" altLang="en-US" sz="1400" b="0" i="0" dirty="0">
                <a:solidFill>
                  <a:srgbClr val="24292F"/>
                </a:solidFill>
                <a:effectLst/>
                <a:latin typeface="-apple-system"/>
              </a:rPr>
              <a:t>、</a:t>
            </a:r>
            <a:r>
              <a:rPr lang="en-US" altLang="zh-CN" sz="1400" b="0" i="0" dirty="0" err="1">
                <a:solidFill>
                  <a:srgbClr val="24292F"/>
                </a:solidFill>
                <a:effectLst/>
                <a:latin typeface="-apple-system"/>
              </a:rPr>
              <a:t>DocFetcher</a:t>
            </a:r>
            <a:r>
              <a:rPr lang="en-US" altLang="zh-CN" sz="1400" b="0" i="0" dirty="0">
                <a:solidFill>
                  <a:srgbClr val="24292F"/>
                </a:solidFill>
                <a:effectLst/>
                <a:latin typeface="-apple-system"/>
              </a:rPr>
              <a:t> </a:t>
            </a:r>
            <a:r>
              <a:rPr lang="zh-CN" altLang="en-US" sz="1400" b="0" i="0" dirty="0">
                <a:solidFill>
                  <a:srgbClr val="24292F"/>
                </a:solidFill>
                <a:effectLst/>
                <a:latin typeface="-apple-system"/>
              </a:rPr>
              <a:t>等。这些工具可以提供更高级的文件搜索和索引功能。</a:t>
            </a:r>
          </a:p>
          <a:p>
            <a:pPr algn="l">
              <a:lnSpc>
                <a:spcPct val="150000"/>
              </a:lnSpc>
            </a:pPr>
            <a:r>
              <a:rPr lang="zh-CN" altLang="en-US" sz="1400" b="0" i="0" dirty="0">
                <a:solidFill>
                  <a:srgbClr val="24292F"/>
                </a:solidFill>
                <a:effectLst/>
                <a:latin typeface="-apple-system"/>
              </a:rPr>
              <a:t>请注意，以上步骤可能因操作系统、文件管理工具或特定设置而有所不同。在执行任何操作之前，请备份重要文件，并参考相关文档或向相关技术支持寻求帮助。</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未检索文献来源</a:t>
            </a:r>
          </a:p>
        </p:txBody>
      </p:sp>
      <p:sp>
        <p:nvSpPr>
          <p:cNvPr id="3" name="Content Placeholder 2"/>
          <p:cNvSpPr>
            <a:spLocks noGrp="1"/>
          </p:cNvSpPr>
          <p:nvPr>
            <p:ph idx="1"/>
          </p:nvPr>
        </p:nvSpPr>
        <p:spPr/>
        <p:txBody>
          <a:bodyPr/>
          <a:lstStyle/>
          <a:p>
            <a:pPr algn="just">
              <a:lnSpc>
                <a:spcPct val="200000"/>
              </a:lnSpc>
            </a:pPr>
            <a:r>
              <a:rPr lang="en-US" i="0" dirty="0">
                <a:effectLst/>
                <a:latin typeface="宋体" charset="-122"/>
                <a:ea typeface="宋体" charset="-122"/>
              </a:rPr>
              <a:t>PDF</a:t>
            </a:r>
            <a:r>
              <a:rPr lang="zh-TW" altLang="en-US" i="0" dirty="0">
                <a:effectLst/>
                <a:latin typeface="宋体" charset="-122"/>
                <a:ea typeface="宋体" charset="-122"/>
              </a:rPr>
              <a:t>可检索，</a:t>
            </a:r>
            <a:r>
              <a:rPr lang="en-US" i="0" dirty="0">
                <a:effectLst/>
                <a:latin typeface="宋体" charset="-122"/>
                <a:ea typeface="宋体" charset="-122"/>
              </a:rPr>
              <a:t>docx</a:t>
            </a:r>
            <a:r>
              <a:rPr lang="zh-TW" altLang="en-US" i="0" dirty="0">
                <a:effectLst/>
                <a:latin typeface="宋体" charset="-122"/>
                <a:ea typeface="宋体" charset="-122"/>
              </a:rPr>
              <a:t>和</a:t>
            </a:r>
            <a:r>
              <a:rPr lang="en-US" i="0" dirty="0">
                <a:effectLst/>
                <a:latin typeface="宋体" charset="-122"/>
                <a:ea typeface="宋体" charset="-122"/>
              </a:rPr>
              <a:t>zip</a:t>
            </a:r>
            <a:r>
              <a:rPr lang="zh-TW" altLang="en-US" i="0" dirty="0">
                <a:effectLst/>
                <a:latin typeface="宋体" charset="-122"/>
                <a:ea typeface="宋体" charset="-122"/>
              </a:rPr>
              <a:t>等不行</a:t>
            </a:r>
            <a:r>
              <a:rPr lang="zh-CN" altLang="en-US" i="0" dirty="0">
                <a:effectLst/>
                <a:latin typeface="宋体" charset="-122"/>
                <a:ea typeface="宋体" charset="-122"/>
              </a:rPr>
              <a:t>。</a:t>
            </a:r>
            <a:endParaRPr lang="en-US" altLang="zh-TW" i="0" dirty="0">
              <a:effectLst/>
              <a:latin typeface="宋体" charset="-122"/>
              <a:ea typeface="宋体" charset="-122"/>
            </a:endParaRPr>
          </a:p>
          <a:p>
            <a:pPr algn="just">
              <a:lnSpc>
                <a:spcPct val="200000"/>
              </a:lnSpc>
            </a:pPr>
            <a:r>
              <a:rPr lang="zh-TW" altLang="en-US" i="0" dirty="0">
                <a:effectLst/>
                <a:latin typeface="宋体" charset="-122"/>
                <a:ea typeface="宋体" charset="-122"/>
              </a:rPr>
              <a:t>笔记</a:t>
            </a:r>
            <a:r>
              <a:rPr lang="zh-CN" altLang="en-US" dirty="0">
                <a:latin typeface="宋体" charset="-122"/>
                <a:ea typeface="宋体" charset="-122"/>
              </a:rPr>
              <a:t>中包含图片内容的</a:t>
            </a:r>
            <a:r>
              <a:rPr lang="zh-TW" altLang="en-US" i="0" dirty="0">
                <a:effectLst/>
                <a:latin typeface="宋体" charset="-122"/>
                <a:ea typeface="宋体" charset="-122"/>
              </a:rPr>
              <a:t>也算入未检索。</a:t>
            </a:r>
            <a:endParaRPr lang="en-US" altLang="zh-TW" i="0" dirty="0">
              <a:effectLst/>
              <a:latin typeface="宋体" charset="-122"/>
              <a:ea typeface="宋体" charset="-122"/>
            </a:endParaRPr>
          </a:p>
          <a:p>
            <a:pPr algn="just">
              <a:lnSpc>
                <a:spcPct val="200000"/>
              </a:lnSpc>
            </a:pPr>
            <a:r>
              <a:rPr lang="zh-TW" altLang="en-US" i="0" dirty="0">
                <a:effectLst/>
                <a:latin typeface="宋体" charset="-122"/>
                <a:ea typeface="宋体" charset="-122"/>
              </a:rPr>
              <a:t>高级搜索</a:t>
            </a:r>
            <a:r>
              <a:rPr lang="zh-CN" altLang="en-US" i="0" dirty="0">
                <a:effectLst/>
                <a:latin typeface="宋体" charset="-122"/>
                <a:ea typeface="宋体" charset="-122"/>
              </a:rPr>
              <a:t>：</a:t>
            </a:r>
            <a:r>
              <a:rPr lang="zh-TW" altLang="en-US" i="0" dirty="0">
                <a:effectLst/>
                <a:latin typeface="宋体" charset="-122"/>
                <a:ea typeface="宋体" charset="-122"/>
              </a:rPr>
              <a:t>附件</a:t>
            </a:r>
            <a:r>
              <a:rPr lang="zh-CN" altLang="en-US" i="0" dirty="0">
                <a:effectLst/>
                <a:latin typeface="宋体" charset="-122"/>
                <a:ea typeface="宋体" charset="-122"/>
              </a:rPr>
              <a:t>类型</a:t>
            </a:r>
            <a:r>
              <a:rPr lang="zh-CN" altLang="en-US" dirty="0"/>
              <a:t>→</a:t>
            </a:r>
            <a:r>
              <a:rPr lang="zh-TW" altLang="en-US" i="0" dirty="0">
                <a:effectLst/>
                <a:latin typeface="宋体" charset="-122"/>
                <a:ea typeface="宋体" charset="-122"/>
              </a:rPr>
              <a:t>不是</a:t>
            </a:r>
            <a:r>
              <a:rPr lang="zh-CN" altLang="en-US" dirty="0"/>
              <a:t>→ </a:t>
            </a:r>
            <a:r>
              <a:rPr lang="en-US" i="0" dirty="0">
                <a:effectLst/>
                <a:latin typeface="宋体" charset="-122"/>
                <a:ea typeface="宋体" charset="-122"/>
              </a:rPr>
              <a:t>PDF</a:t>
            </a:r>
            <a:r>
              <a:rPr lang="zh-TW" altLang="en-US" i="0" dirty="0">
                <a:effectLst/>
                <a:latin typeface="宋体" charset="-122"/>
                <a:ea typeface="宋体" charset="-122"/>
              </a:rPr>
              <a:t>来</a:t>
            </a:r>
            <a:r>
              <a:rPr lang="zh-CN" altLang="en-US" dirty="0">
                <a:latin typeface="宋体" charset="-122"/>
                <a:ea typeface="宋体" charset="-122"/>
              </a:rPr>
              <a:t>彻底解决</a:t>
            </a:r>
            <a:r>
              <a:rPr lang="zh-TW" altLang="en-US" i="0" dirty="0">
                <a:effectLst/>
                <a:latin typeface="宋体" charset="-122"/>
                <a:ea typeface="宋体" charset="-122"/>
              </a:rPr>
              <a:t>。</a:t>
            </a:r>
            <a:endParaRPr lang="zh-TW" altLang="en-US" dirty="0">
              <a:effectLst/>
              <a:latin typeface="宋体" charset="-122"/>
              <a:ea typeface="宋体"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简洁命名</a:t>
            </a:r>
          </a:p>
        </p:txBody>
      </p:sp>
      <p:sp>
        <p:nvSpPr>
          <p:cNvPr id="3" name="内容占位符 2"/>
          <p:cNvSpPr>
            <a:spLocks noGrp="1"/>
          </p:cNvSpPr>
          <p:nvPr>
            <p:ph idx="1"/>
          </p:nvPr>
        </p:nvSpPr>
        <p:spPr/>
        <p:txBody>
          <a:bodyPr>
            <a:normAutofit/>
          </a:bodyPr>
          <a:lstStyle/>
          <a:p>
            <a:pPr algn="l"/>
            <a:r>
              <a:rPr lang="zh-CN" altLang="en-US" b="0" i="0" dirty="0">
                <a:solidFill>
                  <a:srgbClr val="24292F"/>
                </a:solidFill>
                <a:effectLst/>
                <a:latin typeface="-apple-system"/>
              </a:rPr>
              <a:t>未索引的文件的命名形式可能与文件名中包含的特殊字符有关。</a:t>
            </a:r>
          </a:p>
          <a:p>
            <a:pPr lvl="1"/>
            <a:r>
              <a:rPr lang="zh-CN" altLang="en-US" b="0" i="0" dirty="0">
                <a:solidFill>
                  <a:srgbClr val="24292F"/>
                </a:solidFill>
                <a:effectLst/>
                <a:latin typeface="-apple-system"/>
              </a:rPr>
              <a:t>某些文件系统或索引程序可能会限制文件名中可以使用的字符类型。如果文件名包含特殊字符，例如斜杠（</a:t>
            </a:r>
            <a:r>
              <a:rPr lang="en-US" altLang="zh-CN" b="0" i="0" dirty="0">
                <a:solidFill>
                  <a:srgbClr val="24292F"/>
                </a:solidFill>
                <a:effectLst/>
                <a:latin typeface="-apple-system"/>
              </a:rPr>
              <a:t>/</a:t>
            </a:r>
            <a:r>
              <a:rPr lang="zh-CN" altLang="en-US" b="0" i="0" dirty="0">
                <a:solidFill>
                  <a:srgbClr val="24292F"/>
                </a:solidFill>
                <a:effectLst/>
                <a:latin typeface="-apple-system"/>
              </a:rPr>
              <a:t>）、反斜杠（</a:t>
            </a:r>
            <a:r>
              <a:rPr lang="en-US" altLang="zh-CN" b="0" i="0" dirty="0">
                <a:solidFill>
                  <a:srgbClr val="24292F"/>
                </a:solidFill>
                <a:effectLst/>
                <a:latin typeface="-apple-system"/>
              </a:rPr>
              <a:t>\</a:t>
            </a:r>
            <a:r>
              <a:rPr lang="zh-CN" altLang="en-US" b="0" i="0" dirty="0">
                <a:solidFill>
                  <a:srgbClr val="24292F"/>
                </a:solidFill>
                <a:effectLst/>
                <a:latin typeface="-apple-system"/>
              </a:rPr>
              <a:t>）、冒号（</a:t>
            </a:r>
            <a:r>
              <a:rPr lang="en-US" altLang="zh-CN" b="0" i="0" dirty="0">
                <a:solidFill>
                  <a:srgbClr val="24292F"/>
                </a:solidFill>
                <a:effectLst/>
                <a:latin typeface="-apple-system"/>
              </a:rPr>
              <a:t>:</a:t>
            </a:r>
            <a:r>
              <a:rPr lang="zh-CN" altLang="en-US" b="0" i="0" dirty="0">
                <a:solidFill>
                  <a:srgbClr val="24292F"/>
                </a:solidFill>
                <a:effectLst/>
                <a:latin typeface="-apple-system"/>
              </a:rPr>
              <a:t>）、问号（</a:t>
            </a:r>
            <a:r>
              <a:rPr lang="en-US" altLang="zh-CN" b="0" i="0" dirty="0">
                <a:solidFill>
                  <a:srgbClr val="24292F"/>
                </a:solidFill>
                <a:effectLst/>
                <a:latin typeface="-apple-system"/>
              </a:rPr>
              <a:t>?</a:t>
            </a:r>
            <a:r>
              <a:rPr lang="zh-CN" altLang="en-US" b="0" i="0" dirty="0">
                <a:solidFill>
                  <a:srgbClr val="24292F"/>
                </a:solidFill>
                <a:effectLst/>
                <a:latin typeface="-apple-system"/>
              </a:rPr>
              <a:t>）、双引号（</a:t>
            </a:r>
            <a:r>
              <a:rPr lang="en-US" altLang="zh-CN" b="0" i="0" dirty="0">
                <a:solidFill>
                  <a:srgbClr val="24292F"/>
                </a:solidFill>
                <a:effectLst/>
                <a:latin typeface="-apple-system"/>
              </a:rPr>
              <a:t>"</a:t>
            </a:r>
            <a:r>
              <a:rPr lang="zh-CN" altLang="en-US" b="0" i="0" dirty="0">
                <a:solidFill>
                  <a:srgbClr val="24292F"/>
                </a:solidFill>
                <a:effectLst/>
                <a:latin typeface="-apple-system"/>
              </a:rPr>
              <a:t>）、尖括号（</a:t>
            </a:r>
            <a:r>
              <a:rPr lang="en-US" altLang="zh-CN" b="0" i="0" dirty="0">
                <a:solidFill>
                  <a:srgbClr val="24292F"/>
                </a:solidFill>
                <a:effectLst/>
                <a:latin typeface="-apple-system"/>
              </a:rPr>
              <a:t>&lt; &gt;</a:t>
            </a:r>
            <a:r>
              <a:rPr lang="zh-CN" altLang="en-US" b="0" i="0" dirty="0">
                <a:solidFill>
                  <a:srgbClr val="24292F"/>
                </a:solidFill>
                <a:effectLst/>
                <a:latin typeface="-apple-system"/>
              </a:rPr>
              <a:t>）等，这些字符可能会被解释为特殊字符而导致文件无法正确索引。</a:t>
            </a:r>
          </a:p>
          <a:p>
            <a:pPr lvl="1"/>
            <a:r>
              <a:rPr lang="zh-CN" altLang="en-US" b="0" i="0" dirty="0">
                <a:solidFill>
                  <a:srgbClr val="24292F"/>
                </a:solidFill>
                <a:effectLst/>
                <a:latin typeface="-apple-system"/>
              </a:rPr>
              <a:t>此外，一些索引程序可能会根据文件名的扩展名来判断文件类型，并仅索引特定类型的文件。如果文件名没有适当的扩展名或使用了不常见的扩展名，可能会影响索引的结果。</a:t>
            </a:r>
          </a:p>
          <a:p>
            <a:pPr algn="l"/>
            <a:r>
              <a:rPr lang="zh-CN" altLang="en-US" b="0" i="0" dirty="0">
                <a:solidFill>
                  <a:srgbClr val="24292F"/>
                </a:solidFill>
                <a:effectLst/>
                <a:latin typeface="-apple-system"/>
              </a:rPr>
              <a:t>因此，为了确保文件可以正确索引，建议将文件命名为简洁、明确且只包含合法字符的形式。避免使用特殊字符和非标准的扩展名，以提高索引的可靠性和准确性。</a:t>
            </a:r>
          </a:p>
          <a:p>
            <a:endParaRPr lang="zh-CN"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000000"/>
                </a:solidFill>
                <a:effectLst/>
              </a:rPr>
              <a:t>检索机制</a:t>
            </a:r>
            <a:endParaRPr lang="zh-CN" altLang="en-US" dirty="0"/>
          </a:p>
        </p:txBody>
      </p:sp>
      <p:sp>
        <p:nvSpPr>
          <p:cNvPr id="3" name="内容占位符 2"/>
          <p:cNvSpPr>
            <a:spLocks noGrp="1"/>
          </p:cNvSpPr>
          <p:nvPr>
            <p:ph idx="1"/>
          </p:nvPr>
        </p:nvSpPr>
        <p:spPr/>
        <p:txBody>
          <a:bodyPr/>
          <a:lstStyle/>
          <a:p>
            <a:r>
              <a:rPr lang="en-US" altLang="zh-CN" dirty="0">
                <a:solidFill>
                  <a:srgbClr val="000000"/>
                </a:solidFill>
                <a:effectLst/>
              </a:rPr>
              <a:t>Zotero </a:t>
            </a:r>
            <a:r>
              <a:rPr lang="zh-CN" altLang="en-US" dirty="0">
                <a:solidFill>
                  <a:srgbClr val="000000"/>
                </a:solidFill>
                <a:effectLst/>
              </a:rPr>
              <a:t>的检索机制基于</a:t>
            </a:r>
            <a:r>
              <a:rPr lang="zh-CN" altLang="en-US" b="1" dirty="0">
                <a:solidFill>
                  <a:srgbClr val="000000"/>
                </a:solidFill>
                <a:effectLst/>
              </a:rPr>
              <a:t>本地数据库索引</a:t>
            </a:r>
            <a:r>
              <a:rPr lang="zh-CN" altLang="en-US" dirty="0">
                <a:solidFill>
                  <a:srgbClr val="000000"/>
                </a:solidFill>
                <a:effectLst/>
              </a:rPr>
              <a:t>和</a:t>
            </a:r>
            <a:r>
              <a:rPr lang="zh-CN" altLang="en-US" b="1" dirty="0">
                <a:solidFill>
                  <a:srgbClr val="000000"/>
                </a:solidFill>
                <a:effectLst/>
              </a:rPr>
              <a:t>灵活的搜索语法</a:t>
            </a:r>
            <a:r>
              <a:rPr lang="zh-CN" altLang="en-US" dirty="0">
                <a:solidFill>
                  <a:srgbClr val="000000"/>
                </a:solidFill>
                <a:effectLst/>
              </a:rPr>
              <a:t>，允许用户快速定位文献、笔记或附件。以下是其核心特点和使用方法：</a:t>
            </a:r>
            <a:endParaRPr lang="en-US" altLang="zh-CN" dirty="0">
              <a:solidFill>
                <a:srgbClr val="000000"/>
              </a:solidFill>
              <a:effectLst/>
            </a:endParaRPr>
          </a:p>
          <a:p>
            <a:endParaRPr lang="zh-CN" altLang="en-US" dirty="0"/>
          </a:p>
          <a:p>
            <a:r>
              <a:rPr lang="en-US" altLang="zh-CN" b="1" dirty="0"/>
              <a:t>1. </a:t>
            </a:r>
            <a:r>
              <a:rPr lang="zh-CN" altLang="en-US" b="1" dirty="0"/>
              <a:t>检索范围</a:t>
            </a:r>
          </a:p>
          <a:p>
            <a:pPr lvl="1">
              <a:buFont typeface="Arial" charset="0"/>
              <a:buChar char="•"/>
            </a:pPr>
            <a:r>
              <a:rPr lang="zh-CN" altLang="en-US" b="1" dirty="0"/>
              <a:t>基础检索</a:t>
            </a:r>
            <a:r>
              <a:rPr lang="zh-CN" altLang="en-US" dirty="0"/>
              <a:t>：支持对</a:t>
            </a:r>
            <a:r>
              <a:rPr lang="zh-CN" altLang="en-US" b="1" dirty="0"/>
              <a:t>条目元数据</a:t>
            </a:r>
            <a:r>
              <a:rPr lang="zh-CN" altLang="en-US" dirty="0"/>
              <a:t>（标题、作者、期刊、标签等）、</a:t>
            </a:r>
            <a:r>
              <a:rPr lang="zh-CN" altLang="en-US" b="1" dirty="0"/>
              <a:t>附件内容</a:t>
            </a:r>
            <a:r>
              <a:rPr lang="zh-CN" altLang="en-US" dirty="0"/>
              <a:t>（如</a:t>
            </a:r>
            <a:r>
              <a:rPr lang="en-US" altLang="zh-CN" dirty="0"/>
              <a:t>PDF</a:t>
            </a:r>
            <a:r>
              <a:rPr lang="zh-CN" altLang="en-US" dirty="0"/>
              <a:t>文本）、</a:t>
            </a:r>
            <a:r>
              <a:rPr lang="zh-CN" altLang="en-US" b="1" dirty="0"/>
              <a:t>笔记</a:t>
            </a:r>
            <a:r>
              <a:rPr lang="zh-CN" altLang="en-US" dirty="0"/>
              <a:t>以及</a:t>
            </a:r>
            <a:r>
              <a:rPr lang="zh-CN" altLang="en-US" b="1" dirty="0"/>
              <a:t>全文索引</a:t>
            </a:r>
            <a:r>
              <a:rPr lang="zh-CN" altLang="en-US" dirty="0"/>
              <a:t>的搜索。</a:t>
            </a:r>
          </a:p>
          <a:p>
            <a:pPr lvl="1">
              <a:buFont typeface="Arial" charset="0"/>
              <a:buChar char="•"/>
            </a:pPr>
            <a:r>
              <a:rPr lang="zh-CN" altLang="en-US" b="1" dirty="0"/>
              <a:t>筛选条件</a:t>
            </a:r>
            <a:r>
              <a:rPr lang="zh-CN" altLang="en-US" dirty="0"/>
              <a:t>：可按条目类型（如书籍、论文）、标签、集合、日期等进一步过滤。</a:t>
            </a:r>
          </a:p>
          <a:p>
            <a:endParaRPr lang="zh-CN" alt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568064"/>
          </a:xfrm>
        </p:spPr>
        <p:txBody>
          <a:bodyPr>
            <a:normAutofit fontScale="90000"/>
          </a:bodyPr>
          <a:lstStyle/>
          <a:p>
            <a:r>
              <a:rPr lang="en-US" altLang="zh-CN" b="1" dirty="0"/>
              <a:t>2. </a:t>
            </a:r>
            <a:r>
              <a:rPr lang="zh-CN" altLang="en-US" b="1" dirty="0"/>
              <a:t>搜索语法</a:t>
            </a:r>
            <a:endParaRPr lang="zh-CN" altLang="en-US" dirty="0"/>
          </a:p>
        </p:txBody>
      </p:sp>
      <p:sp>
        <p:nvSpPr>
          <p:cNvPr id="4" name="Rectangle 1"/>
          <p:cNvSpPr>
            <a:spLocks noGrp="1"/>
          </p:cNvSpPr>
          <p:nvPr>
            <p:ph idx="1"/>
          </p:nvPr>
        </p:nvSpPr>
        <p:spPr bwMode="auto">
          <a:xfrm>
            <a:off x="324633" y="846599"/>
            <a:ext cx="11388054" cy="6309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b="1" i="0" u="none" strike="noStrike" cap="none" normalizeH="0" baseline="0" dirty="0">
                <a:ln>
                  <a:noFill/>
                </a:ln>
                <a:solidFill>
                  <a:schemeClr val="tx1"/>
                </a:solidFill>
                <a:effectLst/>
                <a:latin typeface="Arial" charset="0"/>
              </a:rPr>
              <a:t>关键词搜索</a:t>
            </a:r>
            <a:r>
              <a:rPr kumimoji="0" lang="zh-CN" altLang="zh-CN" b="0" i="0" u="none" strike="noStrike" cap="none" normalizeH="0" baseline="0" dirty="0">
                <a:ln>
                  <a:noFill/>
                </a:ln>
                <a:solidFill>
                  <a:schemeClr val="tx1"/>
                </a:solidFill>
                <a:effectLst/>
                <a:latin typeface="Arial" charset="0"/>
              </a:rPr>
              <a:t>：直接输入词汇（如 </a:t>
            </a:r>
            <a:r>
              <a:rPr kumimoji="0" lang="zh-CN" altLang="zh-CN" b="0" i="0" u="none" strike="noStrike" cap="none" normalizeH="0" baseline="0" dirty="0">
                <a:ln>
                  <a:noFill/>
                </a:ln>
                <a:solidFill>
                  <a:schemeClr val="tx1"/>
                </a:solidFill>
                <a:effectLst/>
                <a:latin typeface="Arial Unicode MS"/>
              </a:rPr>
              <a:t>neural network</a:t>
            </a:r>
            <a:r>
              <a:rPr kumimoji="0" lang="zh-CN" altLang="zh-CN" sz="2000" b="0" i="0" u="none" strike="noStrike" cap="none" normalizeH="0" baseline="0" dirty="0">
                <a:ln>
                  <a:noFill/>
                </a:ln>
                <a:solidFill>
                  <a:schemeClr val="tx1"/>
                </a:solidFill>
                <a:effectLst/>
              </a:rPr>
              <a:t>）会匹配所有包含该词的字段。</a:t>
            </a:r>
            <a:endParaRPr kumimoji="0" lang="zh-CN" altLang="zh-CN" sz="80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b="1" i="0" u="none" strike="noStrike" cap="none" normalizeH="0" baseline="0" dirty="0">
                <a:ln>
                  <a:noFill/>
                </a:ln>
                <a:solidFill>
                  <a:schemeClr val="tx1"/>
                </a:solidFill>
                <a:effectLst/>
                <a:latin typeface="Arial" charset="0"/>
              </a:rPr>
              <a:t>高级语法</a:t>
            </a:r>
            <a:r>
              <a:rPr kumimoji="0" lang="zh-CN" altLang="zh-CN" b="0" i="0" u="none" strike="noStrike" cap="none" normalizeH="0" baseline="0" dirty="0">
                <a:ln>
                  <a:noFill/>
                </a:ln>
                <a:solidFill>
                  <a:schemeClr val="tx1"/>
                </a:solidFill>
                <a:effectLst/>
                <a:latin typeface="Arial" charset="0"/>
              </a:rPr>
              <a:t>：</a:t>
            </a:r>
          </a:p>
          <a:p>
            <a:pPr marL="457200" marR="0" lvl="1" indent="0" algn="l" defTabSz="914400" rtl="0" eaLnBrk="0" fontAlgn="base" latinLnBrk="0" hangingPunct="0">
              <a:lnSpc>
                <a:spcPct val="100000"/>
              </a:lnSpc>
              <a:spcBef>
                <a:spcPct val="0"/>
              </a:spcBef>
              <a:spcAft>
                <a:spcPct val="0"/>
              </a:spcAft>
              <a:buClrTx/>
              <a:buSzTx/>
              <a:buFontTx/>
              <a:buChar char="•"/>
            </a:pPr>
            <a:r>
              <a:rPr kumimoji="0" lang="zh-CN" altLang="zh-CN" sz="2800" b="1" i="0" u="none" strike="noStrike" cap="none" normalizeH="0" baseline="0" dirty="0">
                <a:ln>
                  <a:noFill/>
                </a:ln>
                <a:solidFill>
                  <a:schemeClr val="tx1"/>
                </a:solidFill>
                <a:effectLst/>
                <a:latin typeface="Arial" charset="0"/>
              </a:rPr>
              <a:t>字段限定</a:t>
            </a:r>
            <a:r>
              <a:rPr kumimoji="0" lang="zh-CN" altLang="zh-CN" sz="2800" b="0" i="0" u="none" strike="noStrike" cap="none" normalizeH="0" baseline="0" dirty="0">
                <a:ln>
                  <a:noFill/>
                </a:ln>
                <a:solidFill>
                  <a:schemeClr val="tx1"/>
                </a:solidFill>
                <a:effectLst/>
                <a:latin typeface="Arial" charset="0"/>
              </a:rPr>
              <a:t>：指定搜索特定字段，格式为 </a:t>
            </a:r>
            <a:r>
              <a:rPr kumimoji="0" lang="zh-CN" altLang="zh-CN" b="0" i="0" u="none" strike="noStrike" cap="none" normalizeH="0" baseline="0" dirty="0">
                <a:ln>
                  <a:noFill/>
                </a:ln>
                <a:solidFill>
                  <a:schemeClr val="tx1"/>
                </a:solidFill>
                <a:effectLst/>
                <a:latin typeface="Arial Unicode MS"/>
              </a:rPr>
              <a:t>字段:关键词</a:t>
            </a:r>
            <a:r>
              <a:rPr kumimoji="0" lang="zh-CN" altLang="zh-CN" sz="1100" b="0" i="0" u="none" strike="noStrike" cap="none" normalizeH="0" baseline="0" dirty="0">
                <a:ln>
                  <a:noFill/>
                </a:ln>
                <a:solidFill>
                  <a:schemeClr val="tx1"/>
                </a:solidFill>
                <a:effectLst/>
              </a:rPr>
              <a:t>。</a:t>
            </a:r>
            <a:r>
              <a:rPr kumimoji="0" lang="zh-CN" altLang="zh-CN" b="0" i="0" u="none" strike="noStrike" cap="none" normalizeH="0" baseline="0" dirty="0">
                <a:ln>
                  <a:noFill/>
                </a:ln>
                <a:solidFill>
                  <a:schemeClr val="tx1"/>
                </a:solidFill>
                <a:effectLst/>
              </a:rPr>
              <a:t>例如：</a:t>
            </a:r>
            <a:endParaRPr kumimoji="0" lang="zh-CN" altLang="zh-CN" sz="8800" b="0" i="0" u="none" strike="noStrike" cap="none" normalizeH="0" baseline="0" dirty="0">
              <a:ln>
                <a:noFill/>
              </a:ln>
              <a:solidFill>
                <a:schemeClr val="tx1"/>
              </a:solidFill>
              <a:effectLst/>
              <a:latin typeface="Arial" charset="0"/>
            </a:endParaRPr>
          </a:p>
          <a:p>
            <a:pPr marL="914400" marR="0" lvl="2" indent="0" algn="l" defTabSz="914400" rtl="0" eaLnBrk="0" fontAlgn="base" latinLnBrk="0" hangingPunct="0">
              <a:lnSpc>
                <a:spcPct val="100000"/>
              </a:lnSpc>
              <a:spcBef>
                <a:spcPct val="0"/>
              </a:spcBef>
              <a:spcAft>
                <a:spcPct val="0"/>
              </a:spcAft>
              <a:buClrTx/>
              <a:buSzTx/>
              <a:buFontTx/>
              <a:buChar char="•"/>
            </a:pPr>
            <a:r>
              <a:rPr kumimoji="0" lang="zh-CN" altLang="zh-CN" sz="2800" b="0" i="0" u="none" strike="noStrike" cap="none" normalizeH="0" baseline="0" dirty="0">
                <a:ln>
                  <a:noFill/>
                </a:ln>
                <a:solidFill>
                  <a:schemeClr val="tx1"/>
                </a:solidFill>
                <a:effectLst/>
                <a:latin typeface="Arial Unicode MS"/>
              </a:rPr>
              <a:t>title:reinforcement</a:t>
            </a:r>
            <a:endParaRPr kumimoji="0" lang="zh-CN" altLang="zh-CN" sz="1200" b="0" i="0" u="none" strike="noStrike" cap="none" normalizeH="0" baseline="0" dirty="0">
              <a:ln>
                <a:noFill/>
              </a:ln>
              <a:solidFill>
                <a:schemeClr val="tx1"/>
              </a:solidFill>
              <a:effectLst/>
            </a:endParaRPr>
          </a:p>
          <a:p>
            <a:pPr marL="914400" marR="0" lvl="2" indent="0" algn="l" defTabSz="914400" rtl="0" eaLnBrk="0" fontAlgn="base" latinLnBrk="0" hangingPunct="0">
              <a:lnSpc>
                <a:spcPct val="100000"/>
              </a:lnSpc>
              <a:spcBef>
                <a:spcPct val="0"/>
              </a:spcBef>
              <a:spcAft>
                <a:spcPct val="0"/>
              </a:spcAft>
              <a:buClrTx/>
              <a:buSzTx/>
              <a:buFontTx/>
              <a:buChar char="•"/>
            </a:pPr>
            <a:r>
              <a:rPr kumimoji="0" lang="zh-CN" altLang="zh-CN" sz="2800" b="0" i="0" u="none" strike="noStrike" cap="none" normalizeH="0" baseline="0" dirty="0">
                <a:ln>
                  <a:noFill/>
                </a:ln>
                <a:solidFill>
                  <a:schemeClr val="tx1"/>
                </a:solidFill>
                <a:effectLst/>
                <a:latin typeface="Arial Unicode MS"/>
              </a:rPr>
              <a:t>creator:Smith</a:t>
            </a:r>
            <a:endParaRPr kumimoji="0" lang="zh-CN" altLang="zh-CN" sz="1200" b="0" i="0" u="none" strike="noStrike" cap="none" normalizeH="0" baseline="0" dirty="0">
              <a:ln>
                <a:noFill/>
              </a:ln>
              <a:solidFill>
                <a:schemeClr val="tx1"/>
              </a:solidFill>
              <a:effectLst/>
            </a:endParaRPr>
          </a:p>
          <a:p>
            <a:pPr marL="914400" marR="0" lvl="2" indent="0" algn="l" defTabSz="914400" rtl="0" eaLnBrk="0" fontAlgn="base" latinLnBrk="0" hangingPunct="0">
              <a:lnSpc>
                <a:spcPct val="100000"/>
              </a:lnSpc>
              <a:spcBef>
                <a:spcPct val="0"/>
              </a:spcBef>
              <a:spcAft>
                <a:spcPct val="0"/>
              </a:spcAft>
              <a:buClrTx/>
              <a:buSzTx/>
              <a:buFontTx/>
              <a:buChar char="•"/>
            </a:pPr>
            <a:r>
              <a:rPr kumimoji="0" lang="zh-CN" altLang="zh-CN" sz="2800" b="0" i="0" u="none" strike="noStrike" cap="none" normalizeH="0" baseline="0" dirty="0">
                <a:ln>
                  <a:noFill/>
                </a:ln>
                <a:solidFill>
                  <a:schemeClr val="tx1"/>
                </a:solidFill>
                <a:effectLst/>
                <a:latin typeface="Arial Unicode MS"/>
              </a:rPr>
              <a:t>tag:AI</a:t>
            </a:r>
            <a:endParaRPr kumimoji="0" lang="zh-CN" altLang="zh-CN" sz="1200" b="0" i="0" u="none" strike="noStrike" cap="none" normalizeH="0" baseline="0" dirty="0">
              <a:ln>
                <a:noFill/>
              </a:ln>
              <a:solidFill>
                <a:schemeClr val="tx1"/>
              </a:solidFill>
              <a:effectLst/>
            </a:endParaRPr>
          </a:p>
          <a:p>
            <a:pPr marL="914400" marR="0" lvl="2" indent="0" algn="l" defTabSz="914400" rtl="0" eaLnBrk="0" fontAlgn="base" latinLnBrk="0" hangingPunct="0">
              <a:lnSpc>
                <a:spcPct val="100000"/>
              </a:lnSpc>
              <a:spcBef>
                <a:spcPct val="0"/>
              </a:spcBef>
              <a:spcAft>
                <a:spcPct val="0"/>
              </a:spcAft>
              <a:buClrTx/>
              <a:buSzTx/>
              <a:buFontTx/>
              <a:buChar char="•"/>
            </a:pPr>
            <a:r>
              <a:rPr kumimoji="0" lang="zh-CN" altLang="zh-CN" sz="2800" b="0" i="0" u="none" strike="noStrike" cap="none" normalizeH="0" baseline="0" dirty="0">
                <a:ln>
                  <a:noFill/>
                </a:ln>
                <a:solidFill>
                  <a:schemeClr val="tx1"/>
                </a:solidFill>
                <a:effectLst/>
                <a:latin typeface="Arial Unicode MS"/>
              </a:rPr>
              <a:t>year:2020</a:t>
            </a:r>
            <a:endParaRPr kumimoji="0" lang="zh-CN" altLang="zh-CN" sz="12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zh-CN" altLang="zh-CN" sz="2800" b="1" i="0" u="none" strike="noStrike" cap="none" normalizeH="0" baseline="0" dirty="0">
                <a:ln>
                  <a:noFill/>
                </a:ln>
                <a:solidFill>
                  <a:schemeClr val="tx1"/>
                </a:solidFill>
                <a:effectLst/>
                <a:latin typeface="Arial" charset="0"/>
              </a:rPr>
              <a:t>布尔运算符</a:t>
            </a:r>
            <a:r>
              <a:rPr kumimoji="0" lang="zh-CN" altLang="zh-CN" sz="2800" b="0" i="0" u="none" strike="noStrike" cap="none" normalizeH="0" baseline="0" dirty="0">
                <a:ln>
                  <a:noFill/>
                </a:ln>
                <a:solidFill>
                  <a:schemeClr val="tx1"/>
                </a:solidFill>
                <a:effectLst/>
                <a:latin typeface="Arial" charset="0"/>
              </a:rPr>
              <a:t>：支持 </a:t>
            </a:r>
            <a:r>
              <a:rPr kumimoji="0" lang="zh-CN" altLang="zh-CN" sz="2800" b="0" i="0" u="none" strike="noStrike" cap="none" normalizeH="0" baseline="0" dirty="0">
                <a:ln>
                  <a:noFill/>
                </a:ln>
                <a:solidFill>
                  <a:schemeClr val="tx1"/>
                </a:solidFill>
                <a:effectLst/>
                <a:latin typeface="Arial Unicode MS"/>
              </a:rPr>
              <a:t>AND</a:t>
            </a:r>
            <a:r>
              <a:rPr kumimoji="0" lang="zh-CN" altLang="zh-CN" sz="1200" b="0" i="0" u="none" strike="noStrike" cap="none" normalizeH="0" baseline="0" dirty="0">
                <a:ln>
                  <a:noFill/>
                </a:ln>
                <a:solidFill>
                  <a:schemeClr val="tx1"/>
                </a:solidFill>
                <a:effectLst/>
              </a:rPr>
              <a:t>、</a:t>
            </a:r>
            <a:r>
              <a:rPr kumimoji="0" lang="zh-CN" altLang="zh-CN" sz="2800" b="0" i="0" u="none" strike="noStrike" cap="none" normalizeH="0" baseline="0" dirty="0">
                <a:ln>
                  <a:noFill/>
                </a:ln>
                <a:solidFill>
                  <a:schemeClr val="tx1"/>
                </a:solidFill>
                <a:effectLst/>
                <a:latin typeface="Arial Unicode MS"/>
              </a:rPr>
              <a:t>OR</a:t>
            </a:r>
            <a:r>
              <a:rPr kumimoji="0" lang="zh-CN" altLang="zh-CN" sz="1200" b="0" i="0" u="none" strike="noStrike" cap="none" normalizeH="0" baseline="0" dirty="0">
                <a:ln>
                  <a:noFill/>
                </a:ln>
                <a:solidFill>
                  <a:schemeClr val="tx1"/>
                </a:solidFill>
                <a:effectLst/>
              </a:rPr>
              <a:t>、</a:t>
            </a:r>
            <a:r>
              <a:rPr kumimoji="0" lang="zh-CN" altLang="zh-CN" sz="2800" b="0" i="0" u="none" strike="noStrike" cap="none" normalizeH="0" baseline="0" dirty="0">
                <a:ln>
                  <a:noFill/>
                </a:ln>
                <a:solidFill>
                  <a:schemeClr val="tx1"/>
                </a:solidFill>
                <a:effectLst/>
                <a:latin typeface="Arial Unicode MS"/>
              </a:rPr>
              <a:t>NOT</a:t>
            </a:r>
            <a:r>
              <a:rPr kumimoji="0" lang="zh-CN" altLang="zh-CN" sz="1600" b="0" i="0" u="none" strike="noStrike" cap="none" normalizeH="0" baseline="0" dirty="0">
                <a:ln>
                  <a:noFill/>
                </a:ln>
                <a:solidFill>
                  <a:schemeClr val="tx1"/>
                </a:solidFill>
                <a:effectLst/>
              </a:rPr>
              <a:t>（或 </a:t>
            </a:r>
            <a:r>
              <a:rPr kumimoji="0" lang="zh-CN" altLang="zh-CN" sz="3600" b="0" i="0" u="none" strike="noStrike" cap="none" normalizeH="0" baseline="0" dirty="0">
                <a:ln>
                  <a:noFill/>
                </a:ln>
                <a:solidFill>
                  <a:schemeClr val="tx1"/>
                </a:solidFill>
                <a:effectLst/>
                <a:latin typeface="Arial Unicode MS"/>
              </a:rPr>
              <a:t>-</a:t>
            </a:r>
            <a:r>
              <a:rPr kumimoji="0" lang="zh-CN" altLang="zh-CN" sz="1600" b="0" i="0" u="none" strike="noStrike" cap="none" normalizeH="0" baseline="0" dirty="0">
                <a:ln>
                  <a:noFill/>
                </a:ln>
                <a:solidFill>
                  <a:schemeClr val="tx1"/>
                </a:solidFill>
                <a:effectLst/>
              </a:rPr>
              <a:t>）。例如：</a:t>
            </a:r>
            <a:endParaRPr kumimoji="0" lang="zh-CN" altLang="zh-CN" sz="6600" b="0" i="0" u="none" strike="noStrike" cap="none" normalizeH="0" baseline="0" dirty="0">
              <a:ln>
                <a:noFill/>
              </a:ln>
              <a:solidFill>
                <a:schemeClr val="tx1"/>
              </a:solidFill>
              <a:effectLst/>
              <a:latin typeface="Arial" charset="0"/>
            </a:endParaRPr>
          </a:p>
          <a:p>
            <a:pPr marL="914400" marR="0" lvl="2" indent="0" algn="l" defTabSz="914400" rtl="0" eaLnBrk="0" fontAlgn="base" latinLnBrk="0" hangingPunct="0">
              <a:lnSpc>
                <a:spcPct val="100000"/>
              </a:lnSpc>
              <a:spcBef>
                <a:spcPct val="0"/>
              </a:spcBef>
              <a:spcAft>
                <a:spcPct val="0"/>
              </a:spcAft>
              <a:buClrTx/>
              <a:buSzTx/>
              <a:buFontTx/>
              <a:buChar char="•"/>
            </a:pPr>
            <a:r>
              <a:rPr kumimoji="0" lang="zh-CN" altLang="zh-CN" sz="2800" b="0" i="0" u="none" strike="noStrike" cap="none" normalizeH="0" baseline="0" dirty="0">
                <a:ln>
                  <a:noFill/>
                </a:ln>
                <a:solidFill>
                  <a:schemeClr val="tx1"/>
                </a:solidFill>
                <a:effectLst/>
                <a:latin typeface="Arial Unicode MS"/>
              </a:rPr>
              <a:t>machine learning AND biology</a:t>
            </a:r>
            <a:endParaRPr kumimoji="0" lang="zh-CN" altLang="zh-CN" sz="1200" b="0" i="0" u="none" strike="noStrike" cap="none" normalizeH="0" baseline="0" dirty="0">
              <a:ln>
                <a:noFill/>
              </a:ln>
              <a:solidFill>
                <a:schemeClr val="tx1"/>
              </a:solidFill>
              <a:effectLst/>
            </a:endParaRPr>
          </a:p>
          <a:p>
            <a:pPr marL="914400" marR="0" lvl="2" indent="0" algn="l" defTabSz="914400" rtl="0" eaLnBrk="0" fontAlgn="base" latinLnBrk="0" hangingPunct="0">
              <a:lnSpc>
                <a:spcPct val="100000"/>
              </a:lnSpc>
              <a:spcBef>
                <a:spcPct val="0"/>
              </a:spcBef>
              <a:spcAft>
                <a:spcPct val="0"/>
              </a:spcAft>
              <a:buClrTx/>
              <a:buSzTx/>
              <a:buFontTx/>
              <a:buChar char="•"/>
            </a:pPr>
            <a:r>
              <a:rPr kumimoji="0" lang="zh-CN" altLang="zh-CN" sz="2800" b="0" i="0" u="none" strike="noStrike" cap="none" normalizeH="0" baseline="0" dirty="0">
                <a:ln>
                  <a:noFill/>
                </a:ln>
                <a:solidFill>
                  <a:schemeClr val="tx1"/>
                </a:solidFill>
                <a:effectLst/>
                <a:latin typeface="Arial Unicode MS"/>
              </a:rPr>
              <a:t>-review</a:t>
            </a:r>
            <a:r>
              <a:rPr kumimoji="0" lang="zh-CN" altLang="zh-CN" sz="1800" b="0" i="0" u="none" strike="noStrike" cap="none" normalizeH="0" baseline="0" dirty="0">
                <a:ln>
                  <a:noFill/>
                </a:ln>
                <a:solidFill>
                  <a:schemeClr val="tx1"/>
                </a:solidFill>
                <a:effectLst/>
              </a:rPr>
              <a:t>（排除含 "review" 的结果）</a:t>
            </a:r>
            <a:endParaRPr kumimoji="0" lang="zh-CN" altLang="zh-CN" sz="7200" b="0" i="0" u="none" strike="noStrike" cap="none" normalizeH="0" baseline="0" dirty="0">
              <a:ln>
                <a:noFill/>
              </a:ln>
              <a:solidFill>
                <a:schemeClr val="tx1"/>
              </a:solidFill>
              <a:effectLst/>
              <a:latin typeface="Arial"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zh-CN" altLang="zh-CN" sz="2800" b="1" i="0" u="none" strike="noStrike" cap="none" normalizeH="0" baseline="0" dirty="0">
                <a:ln>
                  <a:noFill/>
                </a:ln>
                <a:solidFill>
                  <a:schemeClr val="tx1"/>
                </a:solidFill>
                <a:effectLst/>
                <a:latin typeface="Arial" charset="0"/>
              </a:rPr>
              <a:t>通配符</a:t>
            </a:r>
            <a:r>
              <a:rPr kumimoji="0" lang="zh-CN" altLang="zh-CN" sz="2800" b="0" i="0" u="none" strike="noStrike" cap="none" normalizeH="0" baseline="0" dirty="0">
                <a:ln>
                  <a:noFill/>
                </a:ln>
                <a:solidFill>
                  <a:schemeClr val="tx1"/>
                </a:solidFill>
                <a:effectLst/>
                <a:latin typeface="Arial" charset="0"/>
              </a:rPr>
              <a:t>：</a:t>
            </a:r>
            <a:r>
              <a:rPr kumimoji="0" lang="zh-CN" altLang="zh-CN" sz="3200" b="0" i="0" u="none" strike="noStrike" cap="none" normalizeH="0" baseline="0" dirty="0">
                <a:ln>
                  <a:noFill/>
                </a:ln>
                <a:solidFill>
                  <a:schemeClr val="tx1"/>
                </a:solidFill>
                <a:effectLst/>
                <a:latin typeface="Arial Unicode MS"/>
              </a:rPr>
              <a:t>?</a:t>
            </a:r>
            <a:r>
              <a:rPr kumimoji="0" lang="zh-CN" altLang="zh-CN" sz="1400" b="0" i="0" u="none" strike="noStrike" cap="none" normalizeH="0" baseline="0" dirty="0">
                <a:ln>
                  <a:noFill/>
                </a:ln>
                <a:solidFill>
                  <a:schemeClr val="tx1"/>
                </a:solidFill>
                <a:effectLst/>
              </a:rPr>
              <a:t> </a:t>
            </a:r>
            <a:r>
              <a:rPr kumimoji="0" lang="zh-CN" altLang="zh-CN" b="0" i="0" u="none" strike="noStrike" cap="none" normalizeH="0" baseline="0" dirty="0">
                <a:ln>
                  <a:noFill/>
                </a:ln>
                <a:solidFill>
                  <a:schemeClr val="tx1"/>
                </a:solidFill>
                <a:effectLst/>
              </a:rPr>
              <a:t>匹配单个字符</a:t>
            </a:r>
            <a:r>
              <a:rPr kumimoji="0" lang="zh-CN" altLang="zh-CN" sz="1400" b="0" i="0" u="none" strike="noStrike" cap="none" normalizeH="0" baseline="0" dirty="0">
                <a:ln>
                  <a:noFill/>
                </a:ln>
                <a:solidFill>
                  <a:schemeClr val="tx1"/>
                </a:solidFill>
                <a:effectLst/>
              </a:rPr>
              <a:t>，</a:t>
            </a:r>
            <a:r>
              <a:rPr kumimoji="0" lang="zh-CN" altLang="zh-CN" sz="3200" b="0" i="0" u="none" strike="noStrike" cap="none" normalizeH="0" baseline="0" dirty="0">
                <a:ln>
                  <a:noFill/>
                </a:ln>
                <a:solidFill>
                  <a:schemeClr val="tx1"/>
                </a:solidFill>
                <a:effectLst/>
                <a:latin typeface="Arial Unicode MS"/>
              </a:rPr>
              <a:t>*</a:t>
            </a:r>
            <a:r>
              <a:rPr kumimoji="0" lang="zh-CN" altLang="zh-CN" sz="1400" b="0" i="0" u="none" strike="noStrike" cap="none" normalizeH="0" baseline="0" dirty="0">
                <a:ln>
                  <a:noFill/>
                </a:ln>
                <a:solidFill>
                  <a:schemeClr val="tx1"/>
                </a:solidFill>
                <a:effectLst/>
              </a:rPr>
              <a:t> </a:t>
            </a:r>
            <a:r>
              <a:rPr kumimoji="0" lang="zh-CN" altLang="zh-CN" sz="2000" b="0" i="0" u="none" strike="noStrike" cap="none" normalizeH="0" baseline="0" dirty="0">
                <a:ln>
                  <a:noFill/>
                </a:ln>
                <a:solidFill>
                  <a:schemeClr val="tx1"/>
                </a:solidFill>
                <a:effectLst/>
              </a:rPr>
              <a:t>匹配多个字符。例如</a:t>
            </a:r>
            <a:r>
              <a:rPr kumimoji="0" lang="zh-CN" altLang="zh-CN" sz="1100" b="0" i="0" u="none" strike="noStrike" cap="none" normalizeH="0" baseline="0" dirty="0">
                <a:ln>
                  <a:noFill/>
                </a:ln>
                <a:solidFill>
                  <a:schemeClr val="tx1"/>
                </a:solidFill>
                <a:effectLst/>
              </a:rPr>
              <a:t>：</a:t>
            </a:r>
            <a:endParaRPr kumimoji="0" lang="zh-CN" altLang="zh-CN" sz="4800" b="0" i="0" u="none" strike="noStrike" cap="none" normalizeH="0" baseline="0" dirty="0">
              <a:ln>
                <a:noFill/>
              </a:ln>
              <a:solidFill>
                <a:schemeClr val="tx1"/>
              </a:solidFill>
              <a:effectLst/>
              <a:latin typeface="Arial" charset="0"/>
            </a:endParaRPr>
          </a:p>
          <a:p>
            <a:pPr marL="914400" marR="0" lvl="2" indent="0" algn="l" defTabSz="914400" rtl="0" eaLnBrk="0" fontAlgn="base" latinLnBrk="0" hangingPunct="0">
              <a:lnSpc>
                <a:spcPct val="100000"/>
              </a:lnSpc>
              <a:spcBef>
                <a:spcPct val="0"/>
              </a:spcBef>
              <a:spcAft>
                <a:spcPct val="0"/>
              </a:spcAft>
              <a:buClrTx/>
              <a:buSzTx/>
              <a:buFontTx/>
              <a:buChar char="•"/>
            </a:pPr>
            <a:r>
              <a:rPr kumimoji="0" lang="zh-CN" altLang="zh-CN" sz="2400" b="0" i="0" u="none" strike="noStrike" cap="none" normalizeH="0" baseline="0" dirty="0">
                <a:ln>
                  <a:noFill/>
                </a:ln>
                <a:solidFill>
                  <a:schemeClr val="tx1"/>
                </a:solidFill>
                <a:effectLst/>
                <a:latin typeface="Arial Unicode MS"/>
              </a:rPr>
              <a:t>comput*</a:t>
            </a:r>
            <a:r>
              <a:rPr kumimoji="0" lang="zh-CN" altLang="zh-CN" sz="1800" b="0" i="0" u="none" strike="noStrike" cap="none" normalizeH="0" baseline="0" dirty="0">
                <a:ln>
                  <a:noFill/>
                </a:ln>
                <a:solidFill>
                  <a:schemeClr val="tx1"/>
                </a:solidFill>
                <a:effectLst/>
              </a:rPr>
              <a:t>（匹配 "computer"、"computation" 等）</a:t>
            </a:r>
            <a:endParaRPr kumimoji="0" lang="zh-CN" altLang="zh-CN" sz="72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b="0" i="0" u="none" strike="noStrike" cap="none" normalizeH="0" baseline="0" dirty="0">
              <a:ln>
                <a:noFill/>
              </a:ln>
              <a:solidFill>
                <a:schemeClr val="tx1"/>
              </a:solidFill>
              <a:effectLst/>
              <a:latin typeface="Arial"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 </a:t>
            </a:r>
            <a:r>
              <a:rPr lang="zh-CN" altLang="en-US" b="1" dirty="0"/>
              <a:t>快速筛选与保存</a:t>
            </a:r>
            <a:endParaRPr lang="zh-CN" altLang="en-US" dirty="0"/>
          </a:p>
        </p:txBody>
      </p:sp>
      <p:sp>
        <p:nvSpPr>
          <p:cNvPr id="3" name="内容占位符 2"/>
          <p:cNvSpPr>
            <a:spLocks noGrp="1"/>
          </p:cNvSpPr>
          <p:nvPr>
            <p:ph idx="1"/>
          </p:nvPr>
        </p:nvSpPr>
        <p:spPr/>
        <p:txBody>
          <a:bodyPr/>
          <a:lstStyle/>
          <a:p>
            <a:pPr>
              <a:buFont typeface="Arial" charset="0"/>
              <a:buChar char="•"/>
            </a:pPr>
            <a:r>
              <a:rPr lang="zh-CN" altLang="en-US" b="1" dirty="0"/>
              <a:t>结果过滤</a:t>
            </a:r>
            <a:r>
              <a:rPr lang="zh-CN" altLang="en-US" dirty="0"/>
              <a:t>：在搜索结果中，左侧面板提供动态筛选选项（如文献类型、作者、年份等）。</a:t>
            </a:r>
          </a:p>
          <a:p>
            <a:pPr>
              <a:buFont typeface="Arial" charset="0"/>
              <a:buChar char="•"/>
            </a:pPr>
            <a:r>
              <a:rPr lang="zh-CN" altLang="en-US" b="1" dirty="0"/>
              <a:t>保存搜索</a:t>
            </a:r>
            <a:r>
              <a:rPr lang="zh-CN" altLang="en-US" dirty="0"/>
              <a:t>：点击搜索栏旁的星标，可将常用搜索条件保存为</a:t>
            </a:r>
            <a:r>
              <a:rPr lang="zh-CN" altLang="en-US" b="1" dirty="0"/>
              <a:t>动态收藏夹</a:t>
            </a:r>
            <a:r>
              <a:rPr lang="zh-CN" altLang="en-US" dirty="0"/>
              <a:t>，搜索结果会自动更新。</a:t>
            </a:r>
          </a:p>
          <a:p>
            <a:endParaRPr lang="zh-CN" alt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 </a:t>
            </a:r>
            <a:r>
              <a:rPr lang="zh-CN" altLang="en-US" b="1" dirty="0"/>
              <a:t>检索效率技巧</a:t>
            </a:r>
            <a:endParaRPr lang="zh-CN" altLang="en-US" dirty="0"/>
          </a:p>
        </p:txBody>
      </p:sp>
      <p:sp>
        <p:nvSpPr>
          <p:cNvPr id="4" name="Rectangle 1"/>
          <p:cNvSpPr>
            <a:spLocks noGrp="1"/>
          </p:cNvSpPr>
          <p:nvPr>
            <p:ph idx="1"/>
          </p:nvPr>
        </p:nvSpPr>
        <p:spPr bwMode="auto">
          <a:xfrm>
            <a:off x="601250" y="2890440"/>
            <a:ext cx="1111554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24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2400" b="1" i="0" u="none" strike="noStrike" cap="none" normalizeH="0" baseline="0" dirty="0">
                <a:ln>
                  <a:noFill/>
                </a:ln>
                <a:solidFill>
                  <a:schemeClr val="tx1"/>
                </a:solidFill>
                <a:effectLst/>
                <a:latin typeface="Arial" charset="0"/>
              </a:rPr>
              <a:t>快捷键</a:t>
            </a:r>
            <a:r>
              <a:rPr kumimoji="0" lang="zh-CN" altLang="zh-CN" sz="2400" b="0" i="0" u="none" strike="noStrike" cap="none" normalizeH="0" baseline="0" dirty="0">
                <a:ln>
                  <a:noFill/>
                </a:ln>
                <a:solidFill>
                  <a:schemeClr val="tx1"/>
                </a:solidFill>
                <a:effectLst/>
                <a:latin typeface="Arial" charset="0"/>
              </a:rPr>
              <a:t>：</a:t>
            </a:r>
            <a:r>
              <a:rPr kumimoji="0" lang="zh-CN" altLang="zh-CN" sz="2400" b="0" i="0" u="none" strike="noStrike" cap="none" normalizeH="0" baseline="0" dirty="0">
                <a:ln>
                  <a:noFill/>
                </a:ln>
                <a:solidFill>
                  <a:schemeClr val="tx1"/>
                </a:solidFill>
                <a:effectLst/>
                <a:latin typeface="Arial Unicode MS"/>
              </a:rPr>
              <a:t>Ctrl + Shift + F</a:t>
            </a:r>
            <a:r>
              <a:rPr kumimoji="0" lang="zh-CN" altLang="zh-CN" sz="2000" b="0" i="0" u="none" strike="noStrike" cap="none" normalizeH="0" baseline="0" dirty="0">
                <a:ln>
                  <a:noFill/>
                </a:ln>
                <a:solidFill>
                  <a:schemeClr val="tx1"/>
                </a:solidFill>
                <a:effectLst/>
              </a:rPr>
              <a:t>（Windows/Linux）或 </a:t>
            </a:r>
            <a:r>
              <a:rPr kumimoji="0" lang="zh-CN" altLang="zh-CN" sz="2400" b="0" i="0" u="none" strike="noStrike" cap="none" normalizeH="0" baseline="0" dirty="0">
                <a:ln>
                  <a:noFill/>
                </a:ln>
                <a:solidFill>
                  <a:schemeClr val="tx1"/>
                </a:solidFill>
                <a:effectLst/>
                <a:latin typeface="Arial Unicode MS"/>
              </a:rPr>
              <a:t>Cmd + Shift + F</a:t>
            </a:r>
            <a:r>
              <a:rPr kumimoji="0" lang="zh-CN" altLang="zh-CN" sz="1100" b="0" i="0" u="none" strike="noStrike" cap="none" normalizeH="0" baseline="0" dirty="0">
                <a:ln>
                  <a:noFill/>
                </a:ln>
                <a:solidFill>
                  <a:schemeClr val="tx1"/>
                </a:solidFill>
                <a:effectLst/>
              </a:rPr>
              <a:t>（</a:t>
            </a:r>
            <a:r>
              <a:rPr kumimoji="0" lang="zh-CN" altLang="zh-CN" sz="1800" b="0" i="0" u="none" strike="noStrike" cap="none" normalizeH="0" baseline="0" dirty="0">
                <a:ln>
                  <a:noFill/>
                </a:ln>
                <a:solidFill>
                  <a:schemeClr val="tx1"/>
                </a:solidFill>
                <a:effectLst/>
              </a:rPr>
              <a:t>Mac）快速聚焦搜索栏。</a:t>
            </a:r>
            <a:endParaRPr kumimoji="0" lang="zh-CN" altLang="zh-CN" sz="72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2400" b="1" i="0" u="none" strike="noStrike" cap="none" normalizeH="0" baseline="0" dirty="0">
                <a:ln>
                  <a:noFill/>
                </a:ln>
                <a:solidFill>
                  <a:schemeClr val="tx1"/>
                </a:solidFill>
                <a:effectLst/>
                <a:latin typeface="Arial" charset="0"/>
              </a:rPr>
              <a:t>模糊匹配</a:t>
            </a:r>
            <a:r>
              <a:rPr kumimoji="0" lang="zh-CN" altLang="zh-CN" sz="2400" b="0" i="0" u="none" strike="noStrike" cap="none" normalizeH="0" baseline="0" dirty="0">
                <a:ln>
                  <a:noFill/>
                </a:ln>
                <a:solidFill>
                  <a:schemeClr val="tx1"/>
                </a:solidFill>
                <a:effectLst/>
                <a:latin typeface="Arial" charset="0"/>
              </a:rPr>
              <a:t>：Zotero 对拼写错误有一定容错能力，但精确字段限定能提升准确性。</a:t>
            </a:r>
          </a:p>
          <a:p>
            <a:pPr marL="0" marR="0" lvl="0" indent="0" algn="l" defTabSz="914400" rtl="0" eaLnBrk="0" fontAlgn="base" latinLnBrk="0" hangingPunct="0">
              <a:lnSpc>
                <a:spcPct val="100000"/>
              </a:lnSpc>
              <a:spcBef>
                <a:spcPct val="0"/>
              </a:spcBef>
              <a:spcAft>
                <a:spcPct val="0"/>
              </a:spcAft>
              <a:buClrTx/>
              <a:buSzTx/>
              <a:buFontTx/>
              <a:buChar char="•"/>
            </a:pPr>
            <a:r>
              <a:rPr kumimoji="0" lang="zh-CN" altLang="zh-CN" sz="2400" b="1" i="0" u="none" strike="noStrike" cap="none" normalizeH="0" baseline="0" dirty="0">
                <a:ln>
                  <a:noFill/>
                </a:ln>
                <a:solidFill>
                  <a:schemeClr val="tx1"/>
                </a:solidFill>
                <a:effectLst/>
                <a:latin typeface="Arial" charset="0"/>
              </a:rPr>
              <a:t>批量操作</a:t>
            </a:r>
            <a:r>
              <a:rPr kumimoji="0" lang="zh-CN" altLang="zh-CN" sz="2400" b="0" i="0" u="none" strike="noStrike" cap="none" normalizeH="0" baseline="0" dirty="0">
                <a:ln>
                  <a:noFill/>
                </a:ln>
                <a:solidFill>
                  <a:schemeClr val="tx1"/>
                </a:solidFill>
                <a:effectLst/>
                <a:latin typeface="Arial" charset="0"/>
              </a:rPr>
              <a:t>：搜索后可按</a:t>
            </a:r>
            <a:r>
              <a:rPr kumimoji="0" lang="zh-CN" altLang="zh-CN" sz="4400" b="0" i="0" u="none" strike="noStrike" cap="none" normalizeH="0" baseline="0" dirty="0">
                <a:ln>
                  <a:noFill/>
                </a:ln>
                <a:solidFill>
                  <a:schemeClr val="tx1"/>
                </a:solidFill>
                <a:effectLst/>
                <a:latin typeface="Arial" charset="0"/>
              </a:rPr>
              <a:t> </a:t>
            </a:r>
            <a:r>
              <a:rPr kumimoji="0" lang="zh-CN" altLang="zh-CN" sz="2000" b="0" i="0" u="none" strike="noStrike" cap="none" normalizeH="0" baseline="0" dirty="0">
                <a:ln>
                  <a:noFill/>
                </a:ln>
                <a:solidFill>
                  <a:schemeClr val="tx1"/>
                </a:solidFill>
                <a:effectLst/>
                <a:latin typeface="Arial Unicode MS"/>
              </a:rPr>
              <a:t>Ctrl/Cmd + A</a:t>
            </a:r>
            <a:r>
              <a:rPr kumimoji="0" lang="zh-CN" altLang="zh-CN" sz="1050" b="0" i="0" u="none" strike="noStrike" cap="none" normalizeH="0" baseline="0" dirty="0">
                <a:ln>
                  <a:noFill/>
                </a:ln>
                <a:solidFill>
                  <a:schemeClr val="tx1"/>
                </a:solidFill>
                <a:effectLst/>
              </a:rPr>
              <a:t> </a:t>
            </a:r>
            <a:r>
              <a:rPr kumimoji="0" lang="zh-CN" altLang="zh-CN" sz="2000" b="0" i="0" u="none" strike="noStrike" cap="none" normalizeH="0" baseline="0" dirty="0">
                <a:ln>
                  <a:noFill/>
                </a:ln>
                <a:solidFill>
                  <a:schemeClr val="tx1"/>
                </a:solidFill>
                <a:effectLst/>
              </a:rPr>
              <a:t>全选结果，统一拖入新集合或添加标签。</a:t>
            </a:r>
            <a:endParaRPr kumimoji="0" lang="zh-CN" altLang="zh-CN" sz="8000" b="0" i="0" u="none" strike="noStrike" cap="none" normalizeH="0" baseline="0" dirty="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2400" b="0" i="0" u="none" strike="noStrike" cap="none" normalizeH="0" baseline="0" dirty="0">
              <a:ln>
                <a:noFill/>
              </a:ln>
              <a:solidFill>
                <a:schemeClr val="tx1"/>
              </a:solidFill>
              <a:effectLst/>
              <a:latin typeface="Arial"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文献管理合适量</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dirty="0"/>
              <a:t>Zotero </a:t>
            </a:r>
            <a:r>
              <a:rPr lang="zh-CN" altLang="en-US" dirty="0"/>
              <a:t>作为一款本地优先的文献管理工具，其</a:t>
            </a:r>
            <a:r>
              <a:rPr lang="zh-CN" altLang="en-US" b="1" dirty="0"/>
              <a:t>处理海量文献的能力</a:t>
            </a:r>
            <a:r>
              <a:rPr lang="zh-CN" altLang="en-US" dirty="0"/>
              <a:t>取决于</a:t>
            </a:r>
            <a:r>
              <a:rPr lang="zh-CN" altLang="en-US" b="1" dirty="0"/>
              <a:t>硬件配置、数据库优化和用户习惯</a:t>
            </a:r>
            <a:r>
              <a:rPr lang="zh-CN" altLang="en-US" dirty="0"/>
              <a:t>。以下是关键考量因素和建议：</a:t>
            </a:r>
          </a:p>
          <a:p>
            <a:r>
              <a:rPr lang="en-US" altLang="zh-CN" b="1" dirty="0"/>
              <a:t>1. </a:t>
            </a:r>
            <a:r>
              <a:rPr lang="zh-CN" altLang="en-US" b="1" dirty="0"/>
              <a:t>硬件性能与文献规模</a:t>
            </a:r>
          </a:p>
          <a:p>
            <a:pPr>
              <a:buFont typeface="Arial" charset="0"/>
              <a:buChar char="•"/>
            </a:pPr>
            <a:r>
              <a:rPr lang="zh-CN" altLang="en-US" b="1" dirty="0"/>
              <a:t>基础容量</a:t>
            </a:r>
            <a:r>
              <a:rPr lang="zh-CN" altLang="en-US" dirty="0"/>
              <a:t>：</a:t>
            </a:r>
          </a:p>
          <a:p>
            <a:pPr marL="742950" lvl="1" indent="-285750">
              <a:buFont typeface="Arial" charset="0"/>
              <a:buChar char="•"/>
            </a:pPr>
            <a:r>
              <a:rPr lang="zh-CN" altLang="en-US" b="1" dirty="0"/>
              <a:t>轻量级</a:t>
            </a:r>
            <a:r>
              <a:rPr lang="zh-CN" altLang="en-US" dirty="0"/>
              <a:t>（</a:t>
            </a:r>
            <a:r>
              <a:rPr lang="en-US" altLang="zh-CN" dirty="0"/>
              <a:t>&lt;5,000 </a:t>
            </a:r>
            <a:r>
              <a:rPr lang="zh-CN" altLang="en-US" dirty="0"/>
              <a:t>条目）：普通电脑（</a:t>
            </a:r>
            <a:r>
              <a:rPr lang="en-US" altLang="zh-CN" dirty="0"/>
              <a:t>4GB RAM</a:t>
            </a:r>
            <a:r>
              <a:rPr lang="zh-CN" altLang="en-US" dirty="0"/>
              <a:t>，</a:t>
            </a:r>
            <a:r>
              <a:rPr lang="en-US" altLang="zh-CN" dirty="0"/>
              <a:t>SSD</a:t>
            </a:r>
            <a:r>
              <a:rPr lang="zh-CN" altLang="en-US" dirty="0"/>
              <a:t>）即可流畅运行。</a:t>
            </a:r>
          </a:p>
          <a:p>
            <a:pPr marL="742950" lvl="1" indent="-285750">
              <a:buFont typeface="Arial" charset="0"/>
              <a:buChar char="•"/>
            </a:pPr>
            <a:r>
              <a:rPr lang="zh-CN" altLang="en-US" b="1" dirty="0"/>
              <a:t>中等规模</a:t>
            </a:r>
            <a:r>
              <a:rPr lang="zh-CN" altLang="en-US" dirty="0"/>
              <a:t>（</a:t>
            </a:r>
            <a:r>
              <a:rPr lang="en-US" altLang="zh-CN" dirty="0"/>
              <a:t>5,000–20,000 </a:t>
            </a:r>
            <a:r>
              <a:rPr lang="zh-CN" altLang="en-US" dirty="0"/>
              <a:t>条目）：建议 </a:t>
            </a:r>
            <a:r>
              <a:rPr lang="en-US" altLang="zh-CN" dirty="0"/>
              <a:t>8GB RAM + SSD</a:t>
            </a:r>
            <a:r>
              <a:rPr lang="zh-CN" altLang="en-US" dirty="0"/>
              <a:t>，数据库响应速度仍可接受。</a:t>
            </a:r>
          </a:p>
          <a:p>
            <a:pPr marL="742950" lvl="1" indent="-285750">
              <a:buFont typeface="Arial" charset="0"/>
              <a:buChar char="•"/>
            </a:pPr>
            <a:r>
              <a:rPr lang="zh-CN" altLang="en-US" b="1" dirty="0"/>
              <a:t>超大规模</a:t>
            </a:r>
            <a:r>
              <a:rPr lang="zh-CN" altLang="en-US" dirty="0"/>
              <a:t>（</a:t>
            </a:r>
            <a:r>
              <a:rPr lang="en-US" altLang="zh-CN" dirty="0"/>
              <a:t>&gt;20,000 </a:t>
            </a:r>
            <a:r>
              <a:rPr lang="zh-CN" altLang="en-US" dirty="0"/>
              <a:t>条目）：需 </a:t>
            </a:r>
            <a:r>
              <a:rPr lang="en-US" altLang="zh-CN" dirty="0"/>
              <a:t>16GB RAM + </a:t>
            </a:r>
            <a:r>
              <a:rPr lang="zh-CN" altLang="en-US" dirty="0"/>
              <a:t>高性能</a:t>
            </a:r>
            <a:r>
              <a:rPr lang="en-US" altLang="zh-CN" dirty="0"/>
              <a:t>SSD</a:t>
            </a:r>
            <a:r>
              <a:rPr lang="zh-CN" altLang="en-US" dirty="0"/>
              <a:t>，可能需优化（见后文）。</a:t>
            </a:r>
          </a:p>
          <a:p>
            <a:pPr>
              <a:buFont typeface="Arial" charset="0"/>
              <a:buChar char="•"/>
            </a:pPr>
            <a:r>
              <a:rPr lang="zh-CN" altLang="en-US" b="1" dirty="0"/>
              <a:t>附件影响</a:t>
            </a:r>
            <a:r>
              <a:rPr lang="zh-CN" altLang="en-US" dirty="0"/>
              <a:t>：</a:t>
            </a:r>
          </a:p>
          <a:p>
            <a:pPr marL="742950" lvl="1" indent="-285750">
              <a:buFont typeface="Arial" charset="0"/>
              <a:buChar char="•"/>
            </a:pPr>
            <a:r>
              <a:rPr lang="en-US" altLang="zh-CN" dirty="0"/>
              <a:t>PDF/</a:t>
            </a:r>
            <a:r>
              <a:rPr lang="zh-CN" altLang="en-US" dirty="0"/>
              <a:t>附件数量比条目数影响更大。若 </a:t>
            </a:r>
            <a:r>
              <a:rPr lang="en-US" altLang="zh-CN" dirty="0"/>
              <a:t>50% </a:t>
            </a:r>
            <a:r>
              <a:rPr lang="zh-CN" altLang="en-US" dirty="0"/>
              <a:t>条目含</a:t>
            </a:r>
            <a:r>
              <a:rPr lang="en-US" altLang="zh-CN" dirty="0"/>
              <a:t>PDF</a:t>
            </a:r>
            <a:r>
              <a:rPr lang="zh-CN" altLang="en-US" dirty="0"/>
              <a:t>（平均每篇 </a:t>
            </a:r>
            <a:r>
              <a:rPr lang="en-US" altLang="zh-CN" dirty="0"/>
              <a:t>5MB</a:t>
            </a:r>
            <a:r>
              <a:rPr lang="zh-CN" altLang="en-US" dirty="0"/>
              <a:t>），</a:t>
            </a:r>
            <a:r>
              <a:rPr lang="en-US" altLang="zh-CN" dirty="0"/>
              <a:t>1 </a:t>
            </a:r>
            <a:r>
              <a:rPr lang="zh-CN" altLang="en-US" dirty="0"/>
              <a:t>万条目约占用 </a:t>
            </a:r>
            <a:r>
              <a:rPr lang="en-US" altLang="zh-CN" dirty="0"/>
              <a:t>25GB </a:t>
            </a:r>
            <a:r>
              <a:rPr lang="zh-CN" altLang="en-US" dirty="0"/>
              <a:t>存储。</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2. Zotero </a:t>
            </a:r>
            <a:r>
              <a:rPr lang="zh-CN" altLang="en-US" b="1" dirty="0"/>
              <a:t>的软性限制</a:t>
            </a:r>
            <a:endParaRPr lang="zh-CN" altLang="en-US" dirty="0"/>
          </a:p>
        </p:txBody>
      </p:sp>
      <p:sp>
        <p:nvSpPr>
          <p:cNvPr id="3" name="内容占位符 2"/>
          <p:cNvSpPr>
            <a:spLocks noGrp="1"/>
          </p:cNvSpPr>
          <p:nvPr>
            <p:ph idx="1"/>
          </p:nvPr>
        </p:nvSpPr>
        <p:spPr/>
        <p:txBody>
          <a:bodyPr/>
          <a:lstStyle/>
          <a:p>
            <a:pPr>
              <a:buFont typeface="Arial" charset="0"/>
              <a:buChar char="•"/>
            </a:pPr>
            <a:r>
              <a:rPr lang="en-US" altLang="zh-CN" b="1" dirty="0"/>
              <a:t>SQLite </a:t>
            </a:r>
            <a:r>
              <a:rPr lang="zh-CN" altLang="en-US" b="1" dirty="0"/>
              <a:t>数据库限制</a:t>
            </a:r>
            <a:r>
              <a:rPr lang="zh-CN" altLang="en-US" dirty="0"/>
              <a:t>：</a:t>
            </a:r>
          </a:p>
          <a:p>
            <a:pPr marL="742950" lvl="1" indent="-285750">
              <a:buFont typeface="Arial" charset="0"/>
              <a:buChar char="•"/>
            </a:pPr>
            <a:r>
              <a:rPr lang="zh-CN" altLang="en-US" dirty="0"/>
              <a:t>理论支持百万级条目，但实际体验在 </a:t>
            </a:r>
            <a:r>
              <a:rPr lang="en-US" altLang="zh-CN" b="1" dirty="0"/>
              <a:t>5 </a:t>
            </a:r>
            <a:r>
              <a:rPr lang="zh-CN" altLang="en-US" b="1" dirty="0"/>
              <a:t>万条目以上</a:t>
            </a:r>
            <a:r>
              <a:rPr lang="zh-CN" altLang="en-US" dirty="0"/>
              <a:t> 可能变慢（搜索、同步延迟）。</a:t>
            </a:r>
          </a:p>
          <a:p>
            <a:pPr>
              <a:buFont typeface="Arial" charset="0"/>
              <a:buChar char="•"/>
            </a:pPr>
            <a:r>
              <a:rPr lang="zh-CN" altLang="en-US" b="1" dirty="0"/>
              <a:t>同步性能</a:t>
            </a:r>
            <a:r>
              <a:rPr lang="zh-CN" altLang="en-US" dirty="0"/>
              <a:t>：</a:t>
            </a:r>
          </a:p>
          <a:p>
            <a:pPr marL="742950" lvl="1" indent="-285750">
              <a:buFont typeface="Arial" charset="0"/>
              <a:buChar char="•"/>
            </a:pPr>
            <a:r>
              <a:rPr lang="en-US" altLang="zh-CN" dirty="0"/>
              <a:t>Zotero </a:t>
            </a:r>
            <a:r>
              <a:rPr lang="zh-CN" altLang="en-US" dirty="0"/>
              <a:t>官方云同步对</a:t>
            </a:r>
            <a:r>
              <a:rPr lang="zh-CN" altLang="en-US" b="1" dirty="0"/>
              <a:t>附件总大小限制为 </a:t>
            </a:r>
            <a:r>
              <a:rPr lang="en-US" altLang="zh-CN" b="1" dirty="0"/>
              <a:t>300MB</a:t>
            </a:r>
            <a:r>
              <a:rPr lang="zh-CN" altLang="en-US" b="1" dirty="0"/>
              <a:t>（免费版）</a:t>
            </a:r>
            <a:r>
              <a:rPr lang="zh-CN" altLang="en-US" dirty="0"/>
              <a:t>，付费订阅（</a:t>
            </a:r>
            <a:r>
              <a:rPr lang="en-US" altLang="zh-CN" dirty="0"/>
              <a:t>Zotero Storage</a:t>
            </a:r>
            <a:r>
              <a:rPr lang="zh-CN" altLang="en-US" dirty="0"/>
              <a:t>）可扩展至 </a:t>
            </a:r>
            <a:r>
              <a:rPr lang="en-US" altLang="zh-CN" dirty="0"/>
              <a:t>2GB–</a:t>
            </a:r>
            <a:r>
              <a:rPr lang="zh-CN" altLang="en-US" dirty="0"/>
              <a:t>无限（机构版）。</a:t>
            </a:r>
          </a:p>
          <a:p>
            <a:pPr marL="742950" lvl="1" indent="-285750">
              <a:buFont typeface="Arial" charset="0"/>
              <a:buChar char="•"/>
            </a:pPr>
            <a:r>
              <a:rPr lang="zh-CN" altLang="en-US" dirty="0"/>
              <a:t>大库推荐配合 </a:t>
            </a:r>
            <a:r>
              <a:rPr lang="en-US" altLang="zh-CN" b="1" dirty="0"/>
              <a:t>WebDAV</a:t>
            </a:r>
            <a:r>
              <a:rPr lang="zh-CN" altLang="en-US" dirty="0"/>
              <a:t>（如 </a:t>
            </a:r>
            <a:r>
              <a:rPr lang="en-US" altLang="zh-CN" dirty="0" err="1"/>
              <a:t>Nextcloud</a:t>
            </a:r>
            <a:r>
              <a:rPr lang="zh-CN" altLang="en-US" dirty="0"/>
              <a:t>）或仅同步元数据，附件通过局域网</a:t>
            </a:r>
            <a:r>
              <a:rPr lang="en-US" altLang="zh-CN" dirty="0"/>
              <a:t>/NAS</a:t>
            </a:r>
            <a:r>
              <a:rPr lang="zh-CN" altLang="en-US" dirty="0"/>
              <a:t>管理。</a:t>
            </a:r>
          </a:p>
          <a:p>
            <a:endParaRPr lang="zh-CN" alt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 </a:t>
            </a:r>
            <a:r>
              <a:rPr lang="zh-CN" altLang="en-US" b="1" dirty="0"/>
              <a:t>用户场景建议</a:t>
            </a:r>
            <a:endParaRPr lang="zh-CN" altLang="en-US" dirty="0"/>
          </a:p>
        </p:txBody>
      </p:sp>
      <p:sp>
        <p:nvSpPr>
          <p:cNvPr id="3" name="内容占位符 2"/>
          <p:cNvSpPr>
            <a:spLocks noGrp="1"/>
          </p:cNvSpPr>
          <p:nvPr>
            <p:ph idx="1"/>
          </p:nvPr>
        </p:nvSpPr>
        <p:spPr/>
        <p:txBody>
          <a:bodyPr/>
          <a:lstStyle/>
          <a:p>
            <a:pPr>
              <a:buFont typeface="Arial" charset="0"/>
              <a:buChar char="•"/>
            </a:pPr>
            <a:r>
              <a:rPr lang="zh-CN" altLang="en-US" b="1" dirty="0"/>
              <a:t>个人研究者</a:t>
            </a:r>
            <a:r>
              <a:rPr lang="zh-CN" altLang="en-US" dirty="0"/>
              <a:t>：</a:t>
            </a:r>
          </a:p>
          <a:p>
            <a:pPr marL="742950" lvl="1" indent="-285750">
              <a:buFont typeface="Arial" charset="0"/>
              <a:buChar char="•"/>
            </a:pPr>
            <a:r>
              <a:rPr lang="en-US" altLang="zh-CN" dirty="0"/>
              <a:t>5,000–15,000 </a:t>
            </a:r>
            <a:r>
              <a:rPr lang="zh-CN" altLang="en-US" dirty="0"/>
              <a:t>条目是</a:t>
            </a:r>
            <a:r>
              <a:rPr lang="en-US" altLang="zh-CN" dirty="0"/>
              <a:t>Zotero</a:t>
            </a:r>
            <a:r>
              <a:rPr lang="zh-CN" altLang="en-US" dirty="0"/>
              <a:t>舒适区，配合优化足够应对博士课题或终身学术积累。</a:t>
            </a:r>
          </a:p>
          <a:p>
            <a:pPr>
              <a:buFont typeface="Arial" charset="0"/>
              <a:buChar char="•"/>
            </a:pPr>
            <a:r>
              <a:rPr lang="zh-CN" altLang="en-US" b="1" dirty="0"/>
              <a:t>实验室</a:t>
            </a:r>
            <a:r>
              <a:rPr lang="en-US" altLang="zh-CN" b="1" dirty="0"/>
              <a:t>/</a:t>
            </a:r>
            <a:r>
              <a:rPr lang="zh-CN" altLang="en-US" b="1" dirty="0"/>
              <a:t>团队共享</a:t>
            </a:r>
            <a:r>
              <a:rPr lang="zh-CN" altLang="en-US" dirty="0"/>
              <a:t>：</a:t>
            </a:r>
          </a:p>
          <a:p>
            <a:pPr marL="742950" lvl="1" indent="-285750">
              <a:buFont typeface="Arial" charset="0"/>
              <a:buChar char="•"/>
            </a:pPr>
            <a:r>
              <a:rPr lang="zh-CN" altLang="en-US" dirty="0"/>
              <a:t>超过 </a:t>
            </a:r>
            <a:r>
              <a:rPr lang="en-US" altLang="zh-CN" dirty="0"/>
              <a:t>10,000 </a:t>
            </a:r>
            <a:r>
              <a:rPr lang="zh-CN" altLang="en-US" dirty="0"/>
              <a:t>条目建议拆分为多个子库（按项目</a:t>
            </a:r>
            <a:r>
              <a:rPr lang="en-US" altLang="zh-CN" dirty="0"/>
              <a:t>/</a:t>
            </a:r>
            <a:r>
              <a:rPr lang="zh-CN" altLang="en-US" dirty="0"/>
              <a:t>主题），用 </a:t>
            </a:r>
            <a:r>
              <a:rPr lang="en-US" altLang="zh-CN" b="1" dirty="0"/>
              <a:t>Zotero Groups</a:t>
            </a:r>
            <a:r>
              <a:rPr lang="zh-CN" altLang="en-US" dirty="0"/>
              <a:t> 功能协同。</a:t>
            </a:r>
          </a:p>
          <a:p>
            <a:r>
              <a:rPr lang="zh-CN" altLang="en-US" b="1" dirty="0"/>
              <a:t>总结</a:t>
            </a:r>
          </a:p>
          <a:p>
            <a:pPr lvl="1"/>
            <a:r>
              <a:rPr lang="en-US" altLang="zh-CN" dirty="0"/>
              <a:t>Zotero </a:t>
            </a:r>
            <a:r>
              <a:rPr lang="zh-CN" altLang="en-US" dirty="0"/>
              <a:t>在 </a:t>
            </a:r>
            <a:r>
              <a:rPr lang="en-US" altLang="zh-CN" b="1" dirty="0"/>
              <a:t>1 </a:t>
            </a:r>
            <a:r>
              <a:rPr lang="zh-CN" altLang="en-US" b="1" dirty="0"/>
              <a:t>万条目以内</a:t>
            </a:r>
            <a:r>
              <a:rPr lang="zh-CN" altLang="en-US" dirty="0"/>
              <a:t> 可保持优秀体验，</a:t>
            </a:r>
            <a:r>
              <a:rPr lang="en-US" altLang="zh-CN" b="1" dirty="0"/>
              <a:t>5 </a:t>
            </a:r>
            <a:r>
              <a:rPr lang="zh-CN" altLang="en-US" b="1" dirty="0"/>
              <a:t>万条目</a:t>
            </a:r>
            <a:r>
              <a:rPr lang="zh-CN" altLang="en-US" dirty="0"/>
              <a:t> 需针对性优化，</a:t>
            </a:r>
            <a:r>
              <a:rPr lang="zh-CN" altLang="en-US" b="1" dirty="0"/>
              <a:t>超过 </a:t>
            </a:r>
            <a:r>
              <a:rPr lang="en-US" altLang="zh-CN" b="1" dirty="0"/>
              <a:t>10 </a:t>
            </a:r>
            <a:r>
              <a:rPr lang="zh-CN" altLang="en-US" b="1" dirty="0"/>
              <a:t>万</a:t>
            </a:r>
            <a:r>
              <a:rPr lang="zh-CN" altLang="en-US" dirty="0"/>
              <a:t> 建议评估专业工具或分布式管理。实际容量也取决于用户对延迟的容忍度</a:t>
            </a:r>
            <a:r>
              <a:rPr lang="en-US" altLang="zh-CN" dirty="0"/>
              <a:t>——</a:t>
            </a:r>
            <a:r>
              <a:rPr lang="zh-CN" altLang="en-US" dirty="0"/>
              <a:t>良好的分类习惯比绝对性能更重要。</a:t>
            </a:r>
          </a:p>
          <a:p>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23684</Words>
  <Application>Microsoft Office PowerPoint</Application>
  <PresentationFormat>宽屏</PresentationFormat>
  <Paragraphs>1600</Paragraphs>
  <Slides>281</Slides>
  <Notes>0</Notes>
  <HiddenSlides>0</HiddenSlides>
  <MMClips>2</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281</vt:i4>
      </vt:variant>
    </vt:vector>
  </HeadingPairs>
  <TitlesOfParts>
    <vt:vector size="307" baseType="lpstr">
      <vt:lpstr>.AppleSystemUIFont</vt:lpstr>
      <vt:lpstr>.PingFang SC</vt:lpstr>
      <vt:lpstr>.PingFangSC-Regular</vt:lpstr>
      <vt:lpstr>.SFUI-Regular_wdth_opsz110000_GRAD_wght</vt:lpstr>
      <vt:lpstr>-apple-system</vt:lpstr>
      <vt:lpstr>Arial Unicode MS</vt:lpstr>
      <vt:lpstr>Helvetica Neue</vt:lpstr>
      <vt:lpstr>Lucida Grande</vt:lpstr>
      <vt:lpstr>Microsoft JhengHei UI Light</vt:lpstr>
      <vt:lpstr>PingFang SC</vt:lpstr>
      <vt:lpstr>PingFangSC-Regular</vt:lpstr>
      <vt:lpstr>PingFangSC-Semibold</vt:lpstr>
      <vt:lpstr>Roboto</vt:lpstr>
      <vt:lpstr>SFMono-Regular</vt:lpstr>
      <vt:lpstr>system-ui</vt:lpstr>
      <vt:lpstr>UICTFontTextStyleBody</vt:lpstr>
      <vt:lpstr>UICTFontTextStyleEmphasizedBody</vt:lpstr>
      <vt:lpstr>v-sans</vt:lpstr>
      <vt:lpstr>等线</vt:lpstr>
      <vt:lpstr>等线 Light</vt:lpstr>
      <vt:lpstr>宋体</vt:lpstr>
      <vt:lpstr>Microsoft YaHei</vt:lpstr>
      <vt:lpstr>Arial</vt:lpstr>
      <vt:lpstr>Times New Roman</vt:lpstr>
      <vt:lpstr>Wingdings</vt:lpstr>
      <vt:lpstr>Office 主题​​</vt:lpstr>
      <vt:lpstr>数字内容管理  Zotero x OpenCode</vt:lpstr>
      <vt:lpstr>余  浩  教授、博导</vt:lpstr>
      <vt:lpstr>第一天： 上午：导论与配置 下午：组织与引用</vt:lpstr>
      <vt:lpstr>导论：数字化学习——长期主义选择</vt:lpstr>
      <vt:lpstr>数字内容管理内容</vt:lpstr>
      <vt:lpstr>PowerPoint 演示文稿</vt:lpstr>
      <vt:lpstr>数字化基础</vt:lpstr>
      <vt:lpstr>数字化概念：从模拟到数字、从记录到创作</vt:lpstr>
      <vt:lpstr>国内现状</vt:lpstr>
      <vt:lpstr>PowerPoint 演示文稿</vt:lpstr>
      <vt:lpstr>PowerPoint 演示文稿</vt:lpstr>
      <vt:lpstr>多模态应用（文本、图表和音视频）</vt:lpstr>
      <vt:lpstr>知识库资料来源——小白学术： https://www.sssam.com/</vt:lpstr>
      <vt:lpstr>语音输入（2026方案）</vt:lpstr>
      <vt:lpstr>PowerPoint 演示文稿</vt:lpstr>
      <vt:lpstr>PowerPoint 演示文稿</vt:lpstr>
      <vt:lpstr>智能绘图2025方案——AI Draw Nexus https://ai-draw-nexus.aizhi.site/</vt:lpstr>
      <vt:lpstr>PowerPoint 演示文稿</vt:lpstr>
      <vt:lpstr>https://tiktokenizer.f2api.com/</vt:lpstr>
      <vt:lpstr>文档解析神器——MinerU: https://mineru.net/</vt:lpstr>
      <vt:lpstr>开源软件 Zotero定制：中台概念 （Endnote、Mendeley、Papers for Mac皆可转移至 Zotero）</vt:lpstr>
      <vt:lpstr>选择Zotero（平台工具）</vt:lpstr>
      <vt:lpstr>靶心文章选择（PDF格式）</vt:lpstr>
      <vt:lpstr>必读精品 （涌现结果：过去、现在和将来）</vt:lpstr>
      <vt:lpstr>PDF根据不同期刊有单栏、双栏甚至三栏</vt:lpstr>
      <vt:lpstr>PDF可抓取大量的信息</vt:lpstr>
      <vt:lpstr>文章状态</vt:lpstr>
      <vt:lpstr>数字信息重要</vt:lpstr>
      <vt:lpstr>实操一：组件引擎配置</vt:lpstr>
      <vt:lpstr>PowerPoint 演示文稿</vt:lpstr>
      <vt:lpstr>下载及添加插件的方式</vt:lpstr>
      <vt:lpstr>插件添加（Plugins）</vt:lpstr>
      <vt:lpstr>Zotero 插件商店 | Zotero 中文社区</vt:lpstr>
      <vt:lpstr>PowerPoint 演示文稿</vt:lpstr>
      <vt:lpstr>PowerPoint 演示文稿</vt:lpstr>
      <vt:lpstr>PowerPoint 演示文稿</vt:lpstr>
      <vt:lpstr>搜索引擎添加</vt:lpstr>
      <vt:lpstr>修改数据文件夹的引擎文件</vt:lpstr>
      <vt:lpstr>图谱分析（Connected Papers）</vt:lpstr>
      <vt:lpstr>PowerPoint 演示文稿</vt:lpstr>
      <vt:lpstr>关联文献补充（semanticscholar）</vt:lpstr>
      <vt:lpstr>PowerPoint 演示文稿</vt:lpstr>
      <vt:lpstr>PowerPoint 演示文稿</vt:lpstr>
      <vt:lpstr>实操二：分类条目创建</vt:lpstr>
      <vt:lpstr>PowerPoint 演示文稿</vt:lpstr>
      <vt:lpstr>现有信息学习</vt:lpstr>
      <vt:lpstr>相关信息如何拓展</vt:lpstr>
      <vt:lpstr>题录获取：第一种方式</vt:lpstr>
      <vt:lpstr>题录获取：第二种方式</vt:lpstr>
      <vt:lpstr>如何更新题录</vt:lpstr>
      <vt:lpstr>PowerPoint 演示文稿</vt:lpstr>
      <vt:lpstr>PowerPoint 演示文稿</vt:lpstr>
      <vt:lpstr>PowerPoint 演示文稿</vt:lpstr>
      <vt:lpstr>文献下载</vt:lpstr>
      <vt:lpstr>举例：先题录后PDF，还是先PDF后题录</vt:lpstr>
      <vt:lpstr>实操三：引用格式添加</vt:lpstr>
      <vt:lpstr>添加所需要的格式</vt:lpstr>
      <vt:lpstr>简单引用</vt:lpstr>
      <vt:lpstr>同一位置批量添加引用</vt:lpstr>
      <vt:lpstr>文献数据库建立</vt:lpstr>
      <vt:lpstr>PowerPoint 演示文稿</vt:lpstr>
      <vt:lpstr>第二天： 上午：备份与同步 下午：索引与检索</vt:lpstr>
      <vt:lpstr>电脑经验</vt:lpstr>
      <vt:lpstr>练习：</vt:lpstr>
      <vt:lpstr>Opencode x Zotero</vt:lpstr>
      <vt:lpstr>资源出处：GitHub让你保持领先</vt:lpstr>
      <vt:lpstr>请在此处添加标题</vt:lpstr>
      <vt:lpstr>四个基本问题</vt:lpstr>
      <vt:lpstr>PowerPoint 演示文稿</vt:lpstr>
      <vt:lpstr>配置：文件让AI帮你搞定</vt:lpstr>
      <vt:lpstr>技能包</vt:lpstr>
      <vt:lpstr>PowerPoint 演示文稿</vt:lpstr>
      <vt:lpstr>PowerPoint 演示文稿</vt:lpstr>
      <vt:lpstr>Zotero+Opencode</vt:lpstr>
      <vt:lpstr>PowerPoint 演示文稿</vt:lpstr>
      <vt:lpstr>PowerPoint 演示文稿</vt:lpstr>
      <vt:lpstr>PowerPoint 演示文稿</vt:lpstr>
      <vt:lpstr>PowerPoint 演示文稿</vt:lpstr>
      <vt:lpstr>PowerPoint 演示文稿</vt:lpstr>
      <vt:lpstr>Zotero：人工建库有价值？</vt:lpstr>
      <vt:lpstr>参考文献解析</vt:lpstr>
      <vt:lpstr>PowerPoint 演示文稿</vt:lpstr>
      <vt:lpstr>https://anystyle.io</vt:lpstr>
      <vt:lpstr>实操四：内容备份同步</vt:lpstr>
      <vt:lpstr>备份功能：导出分类</vt:lpstr>
      <vt:lpstr>复制备份</vt:lpstr>
      <vt:lpstr>Zotero的盈利功能： 云同步功能（Zotero帐号先注册上）</vt:lpstr>
      <vt:lpstr>PowerPoint 演示文稿</vt:lpstr>
      <vt:lpstr>步骤 1：准备 WebDAV 服务</vt:lpstr>
      <vt:lpstr>常见 WebDAV 服务：</vt:lpstr>
      <vt:lpstr>步骤 2：设置 WebDAV 同步</vt:lpstr>
      <vt:lpstr>步骤 3：验证同步</vt:lpstr>
      <vt:lpstr>常见问题解决</vt:lpstr>
      <vt:lpstr>备份建议</vt:lpstr>
      <vt:lpstr>万一出问题可恢复</vt:lpstr>
      <vt:lpstr>最后检查</vt:lpstr>
      <vt:lpstr>附件管理：位置</vt:lpstr>
      <vt:lpstr>演示：</vt:lpstr>
      <vt:lpstr>实操五：全局检索</vt:lpstr>
      <vt:lpstr>学习自动标签</vt:lpstr>
      <vt:lpstr>全文搜索（Zotero自带功能）</vt:lpstr>
      <vt:lpstr>先采用普通搜索：分三类</vt:lpstr>
      <vt:lpstr>运用标签去全文搜索</vt:lpstr>
      <vt:lpstr>全文搜索实现</vt:lpstr>
      <vt:lpstr>PowerPoint 演示文稿</vt:lpstr>
      <vt:lpstr>如何解决未检索的文献</vt:lpstr>
      <vt:lpstr>解决未索引的文件——数字搜索</vt:lpstr>
      <vt:lpstr>未检索文献来源</vt:lpstr>
      <vt:lpstr>简洁命名</vt:lpstr>
      <vt:lpstr>检索机制</vt:lpstr>
      <vt:lpstr>2. 搜索语法</vt:lpstr>
      <vt:lpstr>3. 快速筛选与保存</vt:lpstr>
      <vt:lpstr>4. 检索效率技巧</vt:lpstr>
      <vt:lpstr>文献管理合适量</vt:lpstr>
      <vt:lpstr>2. Zotero 的软性限制</vt:lpstr>
      <vt:lpstr>3. 用户场景建议</vt:lpstr>
      <vt:lpstr>第三天： 上午：翻译与笔记 下午：内容生成</vt:lpstr>
      <vt:lpstr>PowerPoint 演示文稿</vt:lpstr>
      <vt:lpstr>为何选择生成式人工智能（GenAI）</vt:lpstr>
      <vt:lpstr>生成式人工智能 (Generative AI)：算命先生</vt:lpstr>
      <vt:lpstr>概念定义</vt:lpstr>
      <vt:lpstr>离散数学中的自然语言处理相关知识</vt:lpstr>
      <vt:lpstr>表1：各国GenAI典型代表</vt:lpstr>
      <vt:lpstr>表2 自然语言处理（NLP）部分科学里程碑（Bouschery et al., 2023）</vt:lpstr>
      <vt:lpstr>大语言模型创新框架（Sundberg L 等, 2024）</vt:lpstr>
      <vt:lpstr>四大功能的解释（Sundberg L 等, 2024）</vt:lpstr>
      <vt:lpstr>情景问题？</vt:lpstr>
      <vt:lpstr>Mariani M, Dwivedi Y K, 2024. Generative artificial intelligence in innovation management: a preview of future research developments[J]. Journal of Business Research, 175(3): 114542.</vt:lpstr>
      <vt:lpstr>PowerPoint 演示文稿</vt:lpstr>
      <vt:lpstr>学术领域的观点</vt:lpstr>
      <vt:lpstr>图2. 人工智能准备度(AIR)的概念模型(Tehrani 等, 2024, p. 7)</vt:lpstr>
      <vt:lpstr>AI准备度可以归纳为八个关键维度：</vt:lpstr>
      <vt:lpstr>Moving from prediction to creativity: implications of generative AI on measurement of success</vt:lpstr>
      <vt:lpstr>PowerPoint 演示文稿</vt:lpstr>
      <vt:lpstr>Bahoo S, Cucculelli M, Qamar D, 2023. Artificial intelligence and corporate innovation: a review and research agenda[J]. Technological Forecasting and Social Change, 188(3): 122264.</vt:lpstr>
      <vt:lpstr>PowerPoint 演示文稿</vt:lpstr>
      <vt:lpstr>PowerPoint 演示文稿</vt:lpstr>
      <vt:lpstr>主要共识：</vt:lpstr>
      <vt:lpstr>PowerPoint 演示文稿</vt:lpstr>
      <vt:lpstr>实操六：智能翻译（ Zotero PDF Tranlate ）</vt:lpstr>
      <vt:lpstr>PowerPoint 演示文稿</vt:lpstr>
      <vt:lpstr>阅读基础：智能翻译</vt:lpstr>
      <vt:lpstr>PowerPoint 演示文稿</vt:lpstr>
      <vt:lpstr>Kindle精读应用背景</vt:lpstr>
      <vt:lpstr>设备越狱</vt:lpstr>
      <vt:lpstr>KUAL界面</vt:lpstr>
      <vt:lpstr>进入文件管理器</vt:lpstr>
      <vt:lpstr>KOReader印象笔记功能</vt:lpstr>
      <vt:lpstr>狗耳朵日报推送功能</vt:lpstr>
      <vt:lpstr>Kindle的字典功能与标注功能</vt:lpstr>
      <vt:lpstr>修改hosts文件——智能翻译</vt:lpstr>
      <vt:lpstr>解决谷歌翻译问题</vt:lpstr>
      <vt:lpstr>Mac修改hosts文档</vt:lpstr>
      <vt:lpstr>实操七：数字笔记（ Zotero Better Notes ）</vt:lpstr>
      <vt:lpstr>Markdown笔记的主要规则包括：</vt:lpstr>
      <vt:lpstr>Better Notes (BN) is a plugin for Zotero.</vt:lpstr>
      <vt:lpstr>文字内容</vt:lpstr>
      <vt:lpstr>表格内容</vt:lpstr>
      <vt:lpstr>PowerPoint 演示文稿</vt:lpstr>
      <vt:lpstr>图片内容</vt:lpstr>
      <vt:lpstr>PowerPoint 演示文稿</vt:lpstr>
      <vt:lpstr>公式生成</vt:lpstr>
      <vt:lpstr>实操八：内容生成（ Zotero GPT）</vt:lpstr>
      <vt:lpstr>PowerPoint 演示文稿</vt:lpstr>
      <vt:lpstr>PowerPoint 演示文稿</vt:lpstr>
      <vt:lpstr>PowerPoint 演示文稿</vt:lpstr>
      <vt:lpstr>PowerPoint 演示文稿</vt:lpstr>
      <vt:lpstr>LLM，是继数据库和搜索引擎之后的“全新⼀代知识表示和调⽤⽅式”， 将会极⼤改善⼈类的专业能⼒之间的交互⽅式。</vt:lpstr>
      <vt:lpstr>AI应用三角定律：语料、算力、算法</vt:lpstr>
      <vt:lpstr>PowerPoint 演示文稿</vt:lpstr>
      <vt:lpstr>编程技能：</vt:lpstr>
      <vt:lpstr>Quick Commands</vt:lpstr>
      <vt:lpstr>About Tag</vt:lpstr>
      <vt:lpstr>Improve writing</vt:lpstr>
      <vt:lpstr>Selection</vt:lpstr>
      <vt:lpstr>Items</vt:lpstr>
      <vt:lpstr>AskPDF</vt:lpstr>
      <vt:lpstr>About Input Text</vt:lpstr>
      <vt:lpstr>PowerPoint 演示文稿</vt:lpstr>
      <vt:lpstr>PowerPoint 演示文稿</vt:lpstr>
      <vt:lpstr>DeepSeek: 能力细节（文本、非视觉模型）</vt:lpstr>
      <vt:lpstr>长文本与跨文本</vt:lpstr>
      <vt:lpstr>脚本改进：代码解密</vt:lpstr>
      <vt:lpstr>PowerPoint 演示文稿</vt:lpstr>
      <vt:lpstr>提示词元素</vt:lpstr>
      <vt:lpstr>GPT使用策略</vt:lpstr>
      <vt:lpstr>ChatGPT谈战略与创新：交互式问题</vt:lpstr>
      <vt:lpstr>测试问题</vt:lpstr>
      <vt:lpstr>主要判据</vt:lpstr>
      <vt:lpstr>对于一般理论的提问：以惯例研究为例</vt:lpstr>
      <vt:lpstr>相关法律条款问题</vt:lpstr>
      <vt:lpstr>数字内容生成</vt:lpstr>
      <vt:lpstr>写作法则</vt:lpstr>
      <vt:lpstr>数据质量判定——内容生成</vt:lpstr>
      <vt:lpstr>JavaScript主要特点</vt:lpstr>
      <vt:lpstr>JavaScript学习资源</vt:lpstr>
      <vt:lpstr>数据库结构</vt:lpstr>
      <vt:lpstr>SQLite数据库</vt:lpstr>
      <vt:lpstr>完全功能的PDF电子书</vt:lpstr>
      <vt:lpstr>确保 PDF 内容不被修改</vt:lpstr>
      <vt:lpstr>要获取 PDF 文件的元数据：</vt:lpstr>
      <vt:lpstr>结论：官网AI效果最佳（比如OpenAI）</vt:lpstr>
      <vt:lpstr>第四天： 上午：本地RAG 下午：分组交流</vt:lpstr>
      <vt:lpstr>生成式AI的残酷真相</vt:lpstr>
      <vt:lpstr>剖析95%的失败：四大“天坑”如何吞噬企业的AI雄心</vt:lpstr>
      <vt:lpstr>解码5%的成功者：穿越鸿沟的四大黄金法则</vt:lpstr>
      <vt:lpstr>“影子AI”成为真正的生产力引擎</vt:lpstr>
      <vt:lpstr>AI技能不再是加分项，而是必备项</vt:lpstr>
      <vt:lpstr>一、无尽的提问</vt:lpstr>
      <vt:lpstr>PowerPoint 演示文稿</vt:lpstr>
      <vt:lpstr>PowerPoint 演示文稿</vt:lpstr>
      <vt:lpstr>二、提示词元素</vt:lpstr>
      <vt:lpstr>AI的⽐喻：超级热情但缺乏经验的实习⽣</vt:lpstr>
      <vt:lpstr>Context Engineering（上下⽂⼯程）</vt:lpstr>
      <vt:lpstr>三、提示词技巧</vt:lpstr>
      <vt:lpstr>1、Few-Shot Prompting（少样本示例）</vt:lpstr>
      <vt:lpstr>2、Chain-of-Thought（思维链推理）</vt:lpstr>
      <vt:lpstr>3、Reverse Prompting（反向提问）</vt:lpstr>
      <vt:lpstr>4、Role Assignment（⻆⾊赋能）</vt:lpstr>
      <vt:lpstr>四、三种思维训练</vt:lpstr>
      <vt:lpstr>模拟困难对话</vt:lpstr>
      <vt:lpstr>严苛批评</vt:lpstr>
      <vt:lpstr>扩展想象⼒</vt:lpstr>
      <vt:lpstr>训练案例</vt:lpstr>
      <vt:lpstr>PowerPoint 演示文稿</vt:lpstr>
      <vt:lpstr>AI Snake Oil《AI蛇油》  Arvind Narayanan &amp; Sayash Kapoor Princeton Univ. Press (2024)</vt:lpstr>
      <vt:lpstr>PowerPoint 演示文稿</vt:lpstr>
      <vt:lpstr>“混合型角色”的崛起</vt:lpstr>
      <vt:lpstr>术语介绍</vt:lpstr>
      <vt:lpstr>检索增强生成(Retrieval-augmented generation)</vt:lpstr>
      <vt:lpstr>技术简介</vt:lpstr>
      <vt:lpstr>RAG 流程应用于问答的代表性实例。它主要包括 3 个步骤。1）索引。将文档拆分成块，编码成向量，并存储在向量数据库中。2）检索。根据语义相似性检索与问题最相关的 Top k 个块。3)生成。将原始问题和检索到的块一起输入 LLM 以生成最终答案。</vt:lpstr>
      <vt:lpstr>以下是 RAG 发展的几个版本：</vt:lpstr>
      <vt:lpstr>PowerPoint 演示文稿</vt:lpstr>
      <vt:lpstr>PowerPoint 演示文稿</vt:lpstr>
      <vt:lpstr>PowerPoint 演示文稿</vt:lpstr>
      <vt:lpstr>PowerPoint 演示文稿</vt:lpstr>
      <vt:lpstr>PowerPoint 演示文稿</vt:lpstr>
      <vt:lpstr>技术框架</vt:lpstr>
      <vt:lpstr>RAG 技术编程领域实现原理</vt:lpstr>
      <vt:lpstr>https://tiktokenizer.f2api.com/</vt:lpstr>
      <vt:lpstr>文档解析神器——MinerU: https://mineru.net/</vt:lpstr>
      <vt:lpstr>LLM训练数据集的选择与清洗：从Common Crawl到高质量语料库</vt:lpstr>
      <vt:lpstr>分词挑战：词级与字符级的权衡</vt:lpstr>
      <vt:lpstr>字节对编码：GPT模型的分词选择</vt:lpstr>
      <vt:lpstr>对话格式与特殊标记的应用</vt:lpstr>
      <vt:lpstr>训练数据准备：上下文窗口与标签错位</vt:lpstr>
      <vt:lpstr>GPT系列模型的数据规模演进</vt:lpstr>
      <vt:lpstr>数据准备与分词处理结论</vt:lpstr>
      <vt:lpstr>机器学习中的文本数据转换基础</vt:lpstr>
      <vt:lpstr>独热编码：解决数值排序问题的方法</vt:lpstr>
      <vt:lpstr>词袋模型与n元语法：添加上下文信息</vt:lpstr>
      <vt:lpstr>词嵌入：捕捉词语语义的密集向量表示</vt:lpstr>
      <vt:lpstr>Word2Vec：训练词嵌入的经典方法</vt:lpstr>
      <vt:lpstr>Transformer中的词嵌入机制</vt:lpstr>
      <vt:lpstr>位置编码：添加序列信息</vt:lpstr>
      <vt:lpstr>结论：词嵌入在自然语言处理中的关键作用</vt:lpstr>
      <vt:lpstr>知识库AI——ima.copilot      https://ima.qq.com/</vt:lpstr>
      <vt:lpstr>知识库：从Zotero整体添加（Moov Add-on）</vt:lpstr>
      <vt:lpstr>PowerPoint 演示文稿</vt:lpstr>
      <vt:lpstr>PowerPoint 演示文稿</vt:lpstr>
      <vt:lpstr>AI-Butler: 文献自动全文解读 （Deepseek，185元看完我的4500篇）</vt:lpstr>
      <vt:lpstr>AI时代重要工具：数字笔记（Markdown）</vt:lpstr>
      <vt:lpstr>AI与知识库部署模式矩阵</vt:lpstr>
      <vt:lpstr>PowerPoint 演示文稿</vt:lpstr>
      <vt:lpstr>生成播客：Hambrick D C, 1994. What if the academy actually mattered?[J]. Academy of Management Review, 19(1): 11-16. </vt:lpstr>
      <vt:lpstr>本科项目管理大作业：用AI看45分钟纪录片视频写观后感（语音、文本、图片结合）</vt:lpstr>
      <vt:lpstr>PowerPoint 演示文稿</vt:lpstr>
      <vt:lpstr>PowerPoint 演示文稿</vt:lpstr>
      <vt:lpstr>PowerPoint 演示文稿</vt:lpstr>
      <vt:lpstr>总结：</vt:lpstr>
      <vt:lpstr>如果用Python，装个anaconda，Jupyter Notebook教学好用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启示：</vt:lpstr>
      <vt:lpstr>结语</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数字化写作</dc:title>
  <dc:creator>DELL</dc:creator>
  <cp:lastModifiedBy>Hao Yu</cp:lastModifiedBy>
  <cp:revision>389</cp:revision>
  <dcterms:created xsi:type="dcterms:W3CDTF">1900-01-01T00:00:00Z</dcterms:created>
  <dcterms:modified xsi:type="dcterms:W3CDTF">2026-08-20T11:53:38Z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1CE3D73E368C493CE8B903658A64F986_32</vt:lpwstr>
  </property>
  <property fmtid="{D5CDD505-2E9C-101B-9397-08002B2CF9AE}" pid="3" name="KSOProductBuildVer">
    <vt:lpwstr>2052-12.41.0</vt:lpwstr>
  </property>
</Properties>
</file>