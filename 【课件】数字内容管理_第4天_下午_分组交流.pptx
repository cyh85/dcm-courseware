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838" r:id="rId268"/>
    <p:sldId id="839" r:id="rId269"/>
    <p:sldId id="840" r:id="rId270"/>
    <p:sldId id="841" r:id="rId271"/>
    <p:sldId id="842" r:id="rId272"/>
    <p:sldId id="843" r:id="rId273"/>
    <p:sldId id="882" r:id="rId274"/>
    <p:sldId id="881" r:id="rId275"/>
    <p:sldId id="880" r:id="rId276"/>
    <p:sldId id="879" r:id="rId277"/>
    <p:sldId id="878" r:id="rId278"/>
    <p:sldId id="877" r:id="rId279"/>
    <p:sldId id="876" r:id="rId280"/>
    <p:sldId id="844" r:id="rId281"/>
    <p:sldId id="279" r:id="rId28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7252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27" y="52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68" Type="http://schemas.openxmlformats.org/officeDocument/2006/relationships/slide" Target="slides/slide267.xml"/><Relationship Id="rId269" Type="http://schemas.openxmlformats.org/officeDocument/2006/relationships/slide" Target="slides/slide268.xml"/><Relationship Id="rId270" Type="http://schemas.openxmlformats.org/officeDocument/2006/relationships/slide" Target="slides/slide269.xml"/><Relationship Id="rId271" Type="http://schemas.openxmlformats.org/officeDocument/2006/relationships/slide" Target="slides/slide270.xml"/><Relationship Id="rId272" Type="http://schemas.openxmlformats.org/officeDocument/2006/relationships/slide" Target="slides/slide271.xml"/><Relationship Id="rId273" Type="http://schemas.openxmlformats.org/officeDocument/2006/relationships/slide" Target="slides/slide272.xml"/><Relationship Id="rId274" Type="http://schemas.openxmlformats.org/officeDocument/2006/relationships/slide" Target="slides/slide273.xml"/><Relationship Id="rId275" Type="http://schemas.openxmlformats.org/officeDocument/2006/relationships/slide" Target="slides/slide274.xml"/><Relationship Id="rId276" Type="http://schemas.openxmlformats.org/officeDocument/2006/relationships/slide" Target="slides/slide275.xml"/><Relationship Id="rId277" Type="http://schemas.openxmlformats.org/officeDocument/2006/relationships/slide" Target="slides/slide276.xml"/><Relationship Id="rId278" Type="http://schemas.openxmlformats.org/officeDocument/2006/relationships/slide" Target="slides/slide277.xml"/><Relationship Id="rId279" Type="http://schemas.openxmlformats.org/officeDocument/2006/relationships/slide" Target="slides/slide278.xml"/><Relationship Id="rId280" Type="http://schemas.openxmlformats.org/officeDocument/2006/relationships/slide" Target="slides/slide279.xml"/><Relationship Id="rId281" Type="http://schemas.openxmlformats.org/officeDocument/2006/relationships/slide" Target="slides/slide280.xml"/><Relationship Id="rId282" Type="http://schemas.openxmlformats.org/officeDocument/2006/relationships/slide" Target="slides/slide281.xml"/><Relationship Id="rId283" Type="http://schemas.openxmlformats.org/officeDocument/2006/relationships/presProps" Target="presProps.xml"/><Relationship Id="rId284" Type="http://schemas.openxmlformats.org/officeDocument/2006/relationships/viewProps" Target="viewProps.xml"/><Relationship Id="rId285" Type="http://schemas.openxmlformats.org/officeDocument/2006/relationships/theme" Target="theme/theme1.xml"/><Relationship Id="rId28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8FF56-40DD-471D-9572-94446A225DB0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3BB3-B2AA-4365-8D21-2931F66B56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8FF56-40DD-471D-9572-94446A225DB0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3BB3-B2AA-4365-8D21-2931F66B56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8FF56-40DD-471D-9572-94446A225DB0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3BB3-B2AA-4365-8D21-2931F66B56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8FF56-40DD-471D-9572-94446A225DB0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3BB3-B2AA-4365-8D21-2931F66B56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8FF56-40DD-471D-9572-94446A225DB0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3BB3-B2AA-4365-8D21-2931F66B56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8FF56-40DD-471D-9572-94446A225DB0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3BB3-B2AA-4365-8D21-2931F66B56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8FF56-40DD-471D-9572-94446A225DB0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3BB3-B2AA-4365-8D21-2931F66B56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8FF56-40DD-471D-9572-94446A225DB0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3BB3-B2AA-4365-8D21-2931F66B56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8FF56-40DD-471D-9572-94446A225DB0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3BB3-B2AA-4365-8D21-2931F66B56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8FF56-40DD-471D-9572-94446A225DB0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3BB3-B2AA-4365-8D21-2931F66B56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8FF56-40DD-471D-9572-94446A225DB0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3BB3-B2AA-4365-8D21-2931F66B56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962C8B-B14F-4D97-AF65-F5344CB8AC3E}" type="datetime1">
              <a:rPr lang="en-US" altLang="zh-CN"/>
              <a:t>8/20/2026</a:t>
            </a:fld>
            <a:endParaRPr lang="en-US" altLang="zh-CN"/>
          </a:p>
        </p:txBody>
      </p:sp>
      <p:sp>
        <p:nvSpPr>
          <p:cNvPr id="8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9BA1AF2-122D-413B-9A6F-A4FE069461D2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8FF56-40DD-471D-9572-94446A225DB0}" type="datetime1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03BB3-B2AA-4365-8D21-2931F66B56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4.png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9.xml.rels><?xml version='1.0' encoding='UTF-8' standalone='yes'?>
<Relationships xmlns="http://schemas.openxmlformats.org/package/2006/relationships"><Relationship Id="rId1" Type="http://schemas.microsoft.com/office/2007/relationships/media" Target="../media/media2.mp4"/><Relationship Id="rId2" Type="http://schemas.openxmlformats.org/officeDocument/2006/relationships/video" Target="../media/media2.mp4"/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105.png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6.png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7.png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8.png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9.png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0.png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1.png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2.png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3.png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4.png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BBB061-F8B7-48F3-B975-154B8FF3C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本科项目管理大作业：用</a:t>
            </a:r>
            <a:r>
              <a:rPr lang="en-US" altLang="zh-CN" dirty="0"/>
              <a:t>AI</a:t>
            </a:r>
            <a:r>
              <a:rPr lang="zh-CN" altLang="en-US" dirty="0"/>
              <a:t>看</a:t>
            </a:r>
            <a:r>
              <a:rPr lang="en-US" altLang="zh-CN" dirty="0"/>
              <a:t>45</a:t>
            </a:r>
            <a:r>
              <a:rPr lang="zh-CN" altLang="en-US" dirty="0"/>
              <a:t>分钟纪录片视频写观后感（语音、文本、图片结合）</a:t>
            </a:r>
            <a:endParaRPr 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B38304F-D9EF-4221-972D-A127407650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3674" y="1781616"/>
            <a:ext cx="7950264" cy="5032375"/>
          </a:xfrm>
        </p:spPr>
      </p:pic>
    </p:spTree>
    <p:extLst>
      <p:ext uri="{BB962C8B-B14F-4D97-AF65-F5344CB8AC3E}">
        <p14:creationId xmlns:p14="http://schemas.microsoft.com/office/powerpoint/2010/main" val="3364872070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51553BF-CC60-4131-B3CA-2D15D4CD85DB}"/>
              </a:ext>
            </a:extLst>
          </p:cNvPr>
          <p:cNvGraphicFramePr>
            <a:graphicFrameLocks noGrp="1"/>
          </p:cNvGraphicFramePr>
          <p:nvPr/>
        </p:nvGraphicFramePr>
        <p:xfrm>
          <a:off x="0" y="44008"/>
          <a:ext cx="12192000" cy="683661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27350">
                  <a:extLst>
                    <a:ext uri="{9D8B030D-6E8A-4147-A177-3AD203B41FA5}">
                      <a16:colId xmlns:a16="http://schemas.microsoft.com/office/drawing/2014/main" val="2465833783"/>
                    </a:ext>
                  </a:extLst>
                </a:gridCol>
                <a:gridCol w="3691829">
                  <a:extLst>
                    <a:ext uri="{9D8B030D-6E8A-4147-A177-3AD203B41FA5}">
                      <a16:colId xmlns:a16="http://schemas.microsoft.com/office/drawing/2014/main" val="273598663"/>
                    </a:ext>
                  </a:extLst>
                </a:gridCol>
                <a:gridCol w="3662489">
                  <a:extLst>
                    <a:ext uri="{9D8B030D-6E8A-4147-A177-3AD203B41FA5}">
                      <a16:colId xmlns:a16="http://schemas.microsoft.com/office/drawing/2014/main" val="2536934031"/>
                    </a:ext>
                  </a:extLst>
                </a:gridCol>
                <a:gridCol w="3610332">
                  <a:extLst>
                    <a:ext uri="{9D8B030D-6E8A-4147-A177-3AD203B41FA5}">
                      <a16:colId xmlns:a16="http://schemas.microsoft.com/office/drawing/2014/main" val="1014962101"/>
                    </a:ext>
                  </a:extLst>
                </a:gridCol>
              </a:tblGrid>
              <a:tr h="299517">
                <a:tc>
                  <a:txBody>
                    <a:bodyPr/>
                    <a:lstStyle/>
                    <a:p>
                      <a:r>
                        <a:rPr lang="zh-CN" altLang="en-US" sz="1800">
                          <a:effectLst/>
                        </a:rPr>
                        <a:t>任务</a:t>
                      </a:r>
                      <a:r>
                        <a:rPr lang="en-US" altLang="zh-CN" sz="1800">
                          <a:effectLst/>
                        </a:rPr>
                        <a:t>/</a:t>
                      </a:r>
                      <a:r>
                        <a:rPr lang="zh-CN" altLang="en-US" sz="1800">
                          <a:effectLst/>
                        </a:rPr>
                        <a:t>模态</a:t>
                      </a:r>
                      <a:endParaRPr lang="zh-CN" altLang="en-US" sz="180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文本</a:t>
                      </a:r>
                      <a:endParaRPr lang="zh-CN" altLang="en-US" sz="1800" dirty="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图片</a:t>
                      </a:r>
                      <a:endParaRPr lang="zh-CN" altLang="en-US" sz="1800" dirty="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音视频</a:t>
                      </a:r>
                      <a:endParaRPr lang="zh-CN" altLang="en-US" sz="1800" dirty="0"/>
                    </a:p>
                  </a:txBody>
                  <a:tcPr marL="47817" marR="47817" marT="23908" marB="23908" anchor="ctr"/>
                </a:tc>
                <a:extLst>
                  <a:ext uri="{0D108BD9-81ED-4DB2-BD59-A6C34878D82A}">
                    <a16:rowId xmlns:a16="http://schemas.microsoft.com/office/drawing/2014/main" val="1402282941"/>
                  </a:ext>
                </a:extLst>
              </a:tr>
              <a:tr h="18719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搜</a:t>
                      </a:r>
                      <a:endParaRPr lang="zh-CN" altLang="en-US" sz="1800" dirty="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dirty="0"/>
                        <a:t>1. </a:t>
                      </a:r>
                      <a:r>
                        <a:rPr lang="zh-CN" altLang="en-US" sz="1800" b="1" dirty="0"/>
                        <a:t>全网检索</a:t>
                      </a:r>
                      <a:r>
                        <a:rPr lang="zh-CN" altLang="en-US" sz="1800" dirty="0"/>
                        <a:t>：</a:t>
                      </a:r>
                      <a:r>
                        <a:rPr lang="en-US" altLang="zh-CN" sz="1800" dirty="0"/>
                        <a:t>AI</a:t>
                      </a:r>
                      <a:r>
                        <a:rPr lang="zh-CN" altLang="en-US" sz="1800" dirty="0"/>
                        <a:t>根据问题从互联网抓取信息并整合回答。 </a:t>
                      </a:r>
                      <a:endParaRPr lang="en-US" altLang="zh-CN" sz="1800" dirty="0"/>
                    </a:p>
                    <a:p>
                      <a:pPr algn="l"/>
                      <a:r>
                        <a:rPr lang="en-US" altLang="zh-CN" sz="1800" dirty="0"/>
                        <a:t>2. </a:t>
                      </a:r>
                      <a:r>
                        <a:rPr lang="zh-CN" altLang="en-US" sz="1800" b="1" dirty="0"/>
                        <a:t>知识库检索</a:t>
                      </a:r>
                      <a:r>
                        <a:rPr lang="zh-CN" altLang="en-US" sz="1800" dirty="0"/>
                        <a:t>：在用户上传的文档（如</a:t>
                      </a:r>
                      <a:r>
                        <a:rPr lang="en-US" altLang="zh-CN" sz="1800" dirty="0"/>
                        <a:t>PDF</a:t>
                      </a:r>
                      <a:r>
                        <a:rPr lang="zh-CN" altLang="en-US" sz="1800" dirty="0"/>
                        <a:t>、</a:t>
                      </a:r>
                      <a:r>
                        <a:rPr lang="en-US" altLang="zh-CN" sz="1800" dirty="0"/>
                        <a:t>Word</a:t>
                      </a:r>
                      <a:r>
                        <a:rPr lang="zh-CN" altLang="en-US" sz="1800" dirty="0"/>
                        <a:t>）中查找相关信息。 </a:t>
                      </a:r>
                      <a:r>
                        <a:rPr lang="en-US" altLang="zh-CN" sz="1800" dirty="0"/>
                        <a:t>3. </a:t>
                      </a:r>
                      <a:r>
                        <a:rPr lang="zh-CN" altLang="en-US" sz="1800" b="1" dirty="0"/>
                        <a:t>混合检索</a:t>
                      </a:r>
                      <a:r>
                        <a:rPr lang="zh-CN" altLang="en-US" sz="1800" dirty="0"/>
                        <a:t>：结合关键词与语义搜索，提升结果准确度。</a:t>
                      </a:r>
                    </a:p>
                  </a:txBody>
                  <a:tcPr marL="47817" marR="47817" marT="23908" marB="2390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dirty="0"/>
                        <a:t>1.</a:t>
                      </a:r>
                      <a:r>
                        <a:rPr lang="zh-CN" altLang="en-US" sz="1800" b="1" dirty="0"/>
                        <a:t>以文搜图</a:t>
                      </a:r>
                      <a:r>
                        <a:rPr lang="zh-CN" altLang="en-US" sz="1800" dirty="0"/>
                        <a:t>：用语言描述，</a:t>
                      </a:r>
                      <a:r>
                        <a:rPr lang="en-US" altLang="zh-CN" sz="1800" dirty="0"/>
                        <a:t>AI</a:t>
                      </a:r>
                      <a:r>
                        <a:rPr lang="zh-CN" altLang="en-US" sz="1800" dirty="0"/>
                        <a:t>搜索险关图片</a:t>
                      </a:r>
                      <a:endParaRPr lang="en-US" altLang="zh-CN" sz="1800" dirty="0"/>
                    </a:p>
                    <a:p>
                      <a:pPr algn="l"/>
                      <a:r>
                        <a:rPr lang="en-US" altLang="zh-CN" sz="1800" dirty="0"/>
                        <a:t>2. </a:t>
                      </a:r>
                      <a:r>
                        <a:rPr lang="zh-CN" altLang="en-US" sz="1800" b="1" dirty="0"/>
                        <a:t>以图搜图</a:t>
                      </a:r>
                      <a:r>
                        <a:rPr lang="zh-CN" altLang="en-US" sz="1800" dirty="0"/>
                        <a:t>：上传图片，</a:t>
                      </a:r>
                      <a:r>
                        <a:rPr lang="en-US" altLang="zh-CN" sz="1800" dirty="0"/>
                        <a:t>AI</a:t>
                      </a:r>
                      <a:r>
                        <a:rPr lang="zh-CN" altLang="en-US" sz="1800" dirty="0"/>
                        <a:t>识别内容并搜索相关信息。 </a:t>
                      </a:r>
                      <a:endParaRPr lang="en-US" altLang="zh-CN" sz="1800" dirty="0"/>
                    </a:p>
                    <a:p>
                      <a:pPr algn="l"/>
                      <a:r>
                        <a:rPr lang="en-US" altLang="zh-CN" sz="1800" dirty="0"/>
                        <a:t>3. </a:t>
                      </a:r>
                      <a:r>
                        <a:rPr lang="zh-CN" altLang="en-US" sz="1800" b="1" dirty="0"/>
                        <a:t>图文理解搜索</a:t>
                      </a:r>
                      <a:r>
                        <a:rPr lang="zh-CN" altLang="en-US" sz="1800" dirty="0"/>
                        <a:t>：理解图片中的文字、物体或场景，进行关联搜索。</a:t>
                      </a:r>
                    </a:p>
                  </a:txBody>
                  <a:tcPr marL="47817" marR="47817" marT="23908" marB="2390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dirty="0"/>
                        <a:t>1. </a:t>
                      </a:r>
                      <a:r>
                        <a:rPr lang="zh-CN" altLang="en-US" sz="1800" b="1" dirty="0"/>
                        <a:t>语音搜索</a:t>
                      </a:r>
                      <a:r>
                        <a:rPr lang="zh-CN" altLang="en-US" sz="1800" dirty="0"/>
                        <a:t>：通过语音提问，</a:t>
                      </a:r>
                      <a:r>
                        <a:rPr lang="en-US" altLang="zh-CN" sz="1800" dirty="0"/>
                        <a:t>AI</a:t>
                      </a:r>
                      <a:r>
                        <a:rPr lang="zh-CN" altLang="en-US" sz="1800" dirty="0"/>
                        <a:t>识别后执行文本搜索。 </a:t>
                      </a:r>
                      <a:endParaRPr lang="en-US" altLang="zh-CN" sz="1800" dirty="0"/>
                    </a:p>
                    <a:p>
                      <a:pPr algn="l"/>
                      <a:r>
                        <a:rPr lang="en-US" altLang="zh-CN" sz="1800" dirty="0"/>
                        <a:t>2. </a:t>
                      </a:r>
                      <a:r>
                        <a:rPr lang="zh-CN" altLang="en-US" sz="1800" b="1" dirty="0"/>
                        <a:t>视频内容搜索</a:t>
                      </a:r>
                      <a:r>
                        <a:rPr lang="zh-CN" altLang="en-US" sz="1800" dirty="0"/>
                        <a:t>：分析视频帧、字幕或音频，提取关键信息进行搜索。</a:t>
                      </a:r>
                    </a:p>
                  </a:txBody>
                  <a:tcPr marL="47817" marR="47817" marT="23908" marB="23908"/>
                </a:tc>
                <a:extLst>
                  <a:ext uri="{0D108BD9-81ED-4DB2-BD59-A6C34878D82A}">
                    <a16:rowId xmlns:a16="http://schemas.microsoft.com/office/drawing/2014/main" val="583219801"/>
                  </a:ext>
                </a:extLst>
              </a:tr>
              <a:tr h="23212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读</a:t>
                      </a:r>
                      <a:endParaRPr lang="zh-CN" altLang="en-US" sz="1800" dirty="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dirty="0"/>
                        <a:t>1. </a:t>
                      </a:r>
                      <a:r>
                        <a:rPr lang="zh-CN" altLang="en-US" sz="1800" b="1" dirty="0"/>
                        <a:t>文档解读与总结</a:t>
                      </a:r>
                      <a:r>
                        <a:rPr lang="zh-CN" altLang="en-US" sz="1800" dirty="0"/>
                        <a:t>：上传长文档（如论文、报告），</a:t>
                      </a:r>
                      <a:r>
                        <a:rPr lang="en-US" altLang="zh-CN" sz="1800" dirty="0"/>
                        <a:t>AI</a:t>
                      </a:r>
                      <a:r>
                        <a:rPr lang="zh-CN" altLang="en-US" sz="1800" dirty="0"/>
                        <a:t>可总结内容、提取要点并生成思维导图。 </a:t>
                      </a:r>
                      <a:endParaRPr lang="en-US" altLang="zh-CN" sz="1800" dirty="0"/>
                    </a:p>
                    <a:p>
                      <a:pPr algn="l"/>
                      <a:r>
                        <a:rPr lang="en-US" altLang="zh-CN" sz="1800" dirty="0"/>
                        <a:t>2. </a:t>
                      </a:r>
                      <a:r>
                        <a:rPr lang="zh-CN" altLang="en-US" sz="1800" b="1" dirty="0"/>
                        <a:t>深度分析与提问</a:t>
                      </a:r>
                      <a:r>
                        <a:rPr lang="zh-CN" altLang="en-US" sz="1800" dirty="0"/>
                        <a:t>：针对文档内容进行多轮、深入的问答。 </a:t>
                      </a:r>
                      <a:endParaRPr lang="en-US" altLang="zh-CN" sz="1800" dirty="0"/>
                    </a:p>
                    <a:p>
                      <a:pPr algn="l"/>
                      <a:r>
                        <a:rPr lang="en-US" altLang="zh-CN" sz="1800" dirty="0"/>
                        <a:t>3. </a:t>
                      </a:r>
                      <a:r>
                        <a:rPr lang="zh-CN" altLang="en-US" sz="1800" b="1" dirty="0"/>
                        <a:t>多文档对比分析</a:t>
                      </a:r>
                      <a:r>
                        <a:rPr lang="zh-CN" altLang="en-US" sz="1800" dirty="0"/>
                        <a:t>：同时处理多个文档，进行交叉对比和信息整合。</a:t>
                      </a:r>
                    </a:p>
                  </a:txBody>
                  <a:tcPr marL="47817" marR="47817" marT="23908" marB="2390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dirty="0"/>
                        <a:t>1. </a:t>
                      </a:r>
                      <a:r>
                        <a:rPr lang="zh-CN" altLang="en-US" sz="1800" b="1" dirty="0"/>
                        <a:t>图片内容描述</a:t>
                      </a:r>
                      <a:r>
                        <a:rPr lang="zh-CN" altLang="en-US" sz="1800" dirty="0"/>
                        <a:t>：识别并描述图片中的物体、场景、文字和关系。 </a:t>
                      </a:r>
                      <a:endParaRPr lang="en-US" altLang="zh-CN" sz="1800" dirty="0"/>
                    </a:p>
                    <a:p>
                      <a:pPr algn="l"/>
                      <a:endParaRPr lang="en-US" altLang="zh-CN" sz="1800" dirty="0"/>
                    </a:p>
                    <a:p>
                      <a:pPr algn="l"/>
                      <a:r>
                        <a:rPr lang="en-US" altLang="zh-CN" sz="1800" dirty="0"/>
                        <a:t>2. </a:t>
                      </a:r>
                      <a:r>
                        <a:rPr lang="zh-CN" altLang="en-US" sz="1800" b="1" dirty="0"/>
                        <a:t>图表数据分析</a:t>
                      </a:r>
                      <a:r>
                        <a:rPr lang="zh-CN" altLang="en-US" sz="1800" dirty="0"/>
                        <a:t>：读取图表（如柱状图、趋势图），提取并解释数据。 </a:t>
                      </a:r>
                      <a:endParaRPr lang="en-US" altLang="zh-CN" sz="1800" dirty="0"/>
                    </a:p>
                    <a:p>
                      <a:pPr algn="l"/>
                      <a:r>
                        <a:rPr lang="en-US" altLang="zh-CN" sz="1800" dirty="0"/>
                        <a:t>3. </a:t>
                      </a:r>
                      <a:r>
                        <a:rPr lang="zh-CN" altLang="en-US" sz="1800" b="1" dirty="0"/>
                        <a:t>图文信息提取</a:t>
                      </a:r>
                      <a:r>
                        <a:rPr lang="zh-CN" altLang="en-US" sz="1800" dirty="0"/>
                        <a:t>：从复杂的图文混排资料（如研报、海报）中提取结构化信息。</a:t>
                      </a:r>
                    </a:p>
                  </a:txBody>
                  <a:tcPr marL="47817" marR="47817" marT="23908" marB="2390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dirty="0"/>
                        <a:t>1. </a:t>
                      </a:r>
                      <a:r>
                        <a:rPr lang="zh-CN" altLang="en-US" sz="1800" b="1" dirty="0"/>
                        <a:t>音视频转录</a:t>
                      </a:r>
                      <a:r>
                        <a:rPr lang="zh-CN" altLang="en-US" sz="1800" dirty="0"/>
                        <a:t>：将音频或视频内容转写成文字稿。</a:t>
                      </a:r>
                      <a:endParaRPr lang="en-US" altLang="zh-CN" sz="1800" dirty="0"/>
                    </a:p>
                    <a:p>
                      <a:pPr algn="l"/>
                      <a:r>
                        <a:rPr lang="zh-CN" altLang="en-US" sz="1800" dirty="0"/>
                        <a:t> </a:t>
                      </a:r>
                      <a:endParaRPr lang="en-US" altLang="zh-CN" sz="1800" dirty="0"/>
                    </a:p>
                    <a:p>
                      <a:pPr algn="l"/>
                      <a:r>
                        <a:rPr lang="en-US" altLang="zh-CN" sz="1800" dirty="0"/>
                        <a:t>2. </a:t>
                      </a:r>
                      <a:r>
                        <a:rPr lang="zh-CN" altLang="en-US" sz="1800" b="1" dirty="0"/>
                        <a:t>内容摘要</a:t>
                      </a:r>
                      <a:r>
                        <a:rPr lang="zh-CN" altLang="en-US" sz="1800" dirty="0"/>
                        <a:t>：对长视频或音频生成内容摘要和章节划分。 </a:t>
                      </a:r>
                      <a:endParaRPr lang="en-US" altLang="zh-CN" sz="1800" dirty="0"/>
                    </a:p>
                    <a:p>
                      <a:pPr algn="l"/>
                      <a:r>
                        <a:rPr lang="en-US" altLang="zh-CN" sz="1800" dirty="0"/>
                        <a:t>3. </a:t>
                      </a:r>
                      <a:r>
                        <a:rPr lang="zh-CN" altLang="en-US" sz="1800" b="1" dirty="0"/>
                        <a:t>情绪与语义分析</a:t>
                      </a:r>
                      <a:r>
                        <a:rPr lang="zh-CN" altLang="en-US" sz="1800" dirty="0"/>
                        <a:t>：分析语音中的情绪，或理解视频对话的核心语义。</a:t>
                      </a:r>
                    </a:p>
                  </a:txBody>
                  <a:tcPr marL="47817" marR="47817" marT="23908" marB="23908"/>
                </a:tc>
                <a:extLst>
                  <a:ext uri="{0D108BD9-81ED-4DB2-BD59-A6C34878D82A}">
                    <a16:rowId xmlns:a16="http://schemas.microsoft.com/office/drawing/2014/main" val="777434206"/>
                  </a:ext>
                </a:extLst>
              </a:tr>
              <a:tr h="23212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写</a:t>
                      </a:r>
                      <a:endParaRPr lang="zh-CN" altLang="en-US" sz="1800" dirty="0"/>
                    </a:p>
                  </a:txBody>
                  <a:tcPr marL="47817" marR="47817" marT="23908" marB="239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dirty="0"/>
                        <a:t>1. </a:t>
                      </a:r>
                      <a:r>
                        <a:rPr lang="zh-CN" altLang="en-US" sz="1800" b="1" dirty="0"/>
                        <a:t>内容生成</a:t>
                      </a:r>
                      <a:r>
                        <a:rPr lang="zh-CN" altLang="en-US" sz="1800" dirty="0"/>
                        <a:t>：根据主题、参考文档和场景要求（如论文、文案）生成结构化内容。 </a:t>
                      </a:r>
                      <a:endParaRPr lang="en-US" altLang="zh-CN" sz="1800" dirty="0"/>
                    </a:p>
                    <a:p>
                      <a:pPr algn="l"/>
                      <a:r>
                        <a:rPr lang="en-US" altLang="zh-CN" sz="1800" dirty="0"/>
                        <a:t>2. </a:t>
                      </a:r>
                      <a:r>
                        <a:rPr lang="zh-CN" altLang="en-US" sz="1800" b="1" dirty="0"/>
                        <a:t>辅助写作</a:t>
                      </a:r>
                      <a:r>
                        <a:rPr lang="zh-CN" altLang="en-US" sz="1800" dirty="0"/>
                        <a:t>：提供大纲建议、段落扩写、语言润色和学术规范调整。 </a:t>
                      </a:r>
                      <a:endParaRPr lang="en-US" altLang="zh-CN" sz="1800" dirty="0"/>
                    </a:p>
                    <a:p>
                      <a:pPr algn="l"/>
                      <a:endParaRPr lang="en-US" altLang="zh-CN" sz="1800" dirty="0"/>
                    </a:p>
                    <a:p>
                      <a:pPr algn="l"/>
                      <a:r>
                        <a:rPr lang="en-US" altLang="zh-CN" sz="1800" dirty="0"/>
                        <a:t>3. </a:t>
                      </a:r>
                      <a:r>
                        <a:rPr lang="zh-CN" altLang="en-US" sz="1800" b="1" dirty="0"/>
                        <a:t>智能续写与改写</a:t>
                      </a:r>
                      <a:r>
                        <a:rPr lang="zh-CN" altLang="en-US" sz="1800" dirty="0"/>
                        <a:t>：根据已有内容进行续写、风格改写或举例补充。</a:t>
                      </a:r>
                    </a:p>
                  </a:txBody>
                  <a:tcPr marL="47817" marR="47817" marT="23908" marB="23908"/>
                </a:tc>
                <a:tc>
                  <a:txBody>
                    <a:bodyPr/>
                    <a:lstStyle/>
                    <a:p>
                      <a:pPr marL="342900" indent="-342900" algn="l">
                        <a:buAutoNum type="arabicPeriod"/>
                      </a:pPr>
                      <a:r>
                        <a:rPr lang="zh-CN" altLang="en-US" sz="1800" b="1" dirty="0"/>
                        <a:t>文生图</a:t>
                      </a:r>
                      <a:r>
                        <a:rPr lang="zh-CN" altLang="en-US" sz="1800" dirty="0"/>
                        <a:t>：根据详细的文字描述生成或修改图片。 </a:t>
                      </a:r>
                      <a:endParaRPr lang="en-US" altLang="zh-CN" sz="1800" dirty="0"/>
                    </a:p>
                    <a:p>
                      <a:pPr marL="342900" indent="-342900" algn="l">
                        <a:buAutoNum type="arabicPeriod"/>
                      </a:pPr>
                      <a:endParaRPr lang="en-US" altLang="zh-CN" sz="1800" dirty="0"/>
                    </a:p>
                    <a:p>
                      <a:pPr algn="l"/>
                      <a:r>
                        <a:rPr lang="en-US" altLang="zh-CN" sz="1800" dirty="0"/>
                        <a:t>2. </a:t>
                      </a:r>
                      <a:r>
                        <a:rPr lang="zh-CN" altLang="en-US" sz="1800" b="1" dirty="0"/>
                        <a:t>图表生成</a:t>
                      </a:r>
                      <a:r>
                        <a:rPr lang="zh-CN" altLang="en-US" sz="1800" dirty="0"/>
                        <a:t>：根据提供的数据或描述，自动生成图表（如柱状图、流程图）。</a:t>
                      </a:r>
                      <a:endParaRPr lang="en-US" altLang="zh-CN" sz="1800" dirty="0"/>
                    </a:p>
                    <a:p>
                      <a:pPr algn="l"/>
                      <a:r>
                        <a:rPr lang="en-US" altLang="zh-CN" sz="1800" dirty="0"/>
                        <a:t>3. </a:t>
                      </a:r>
                      <a:r>
                        <a:rPr lang="zh-CN" altLang="en-US" sz="1800" b="1" dirty="0"/>
                        <a:t>设计辅助</a:t>
                      </a:r>
                      <a:r>
                        <a:rPr lang="zh-CN" altLang="en-US" sz="1800" dirty="0"/>
                        <a:t>：生成海报、示意图等视觉内容的草图或元素。</a:t>
                      </a:r>
                    </a:p>
                  </a:txBody>
                  <a:tcPr marL="47817" marR="47817" marT="23908" marB="2390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dirty="0"/>
                        <a:t>1. </a:t>
                      </a:r>
                      <a:r>
                        <a:rPr lang="zh-CN" altLang="en-US" sz="1800" b="1" dirty="0"/>
                        <a:t>脚本生成</a:t>
                      </a:r>
                      <a:r>
                        <a:rPr lang="zh-CN" altLang="en-US" sz="1800" dirty="0"/>
                        <a:t>：根据主题生成视频拍摄脚本或分镜描述。 </a:t>
                      </a:r>
                      <a:endParaRPr lang="en-US" altLang="zh-CN" sz="1800" dirty="0"/>
                    </a:p>
                    <a:p>
                      <a:pPr algn="l"/>
                      <a:endParaRPr lang="en-US" altLang="zh-CN" sz="1800" dirty="0"/>
                    </a:p>
                    <a:p>
                      <a:pPr algn="l"/>
                      <a:r>
                        <a:rPr lang="en-US" altLang="zh-CN" sz="1800" dirty="0"/>
                        <a:t>2. </a:t>
                      </a:r>
                      <a:r>
                        <a:rPr lang="zh-CN" altLang="en-US" sz="1800" b="1" dirty="0"/>
                        <a:t>语音合成</a:t>
                      </a:r>
                      <a:r>
                        <a:rPr lang="zh-CN" altLang="en-US" sz="1800" dirty="0"/>
                        <a:t>：将文本内容转换为语音，并可调整音色、语速。</a:t>
                      </a:r>
                      <a:endParaRPr lang="en-US" altLang="zh-CN" sz="1800" dirty="0"/>
                    </a:p>
                    <a:p>
                      <a:pPr algn="l"/>
                      <a:endParaRPr lang="en-US" altLang="zh-CN" sz="1800" dirty="0"/>
                    </a:p>
                    <a:p>
                      <a:pPr algn="l"/>
                      <a:r>
                        <a:rPr lang="en-US" altLang="zh-CN" sz="1800" dirty="0"/>
                        <a:t>3. </a:t>
                      </a:r>
                      <a:r>
                        <a:rPr lang="zh-CN" altLang="en-US" sz="1800" b="1" dirty="0"/>
                        <a:t>视频生成</a:t>
                      </a:r>
                      <a:r>
                        <a:rPr lang="zh-CN" altLang="en-US" sz="1800" dirty="0"/>
                        <a:t>：根据文本描述或图片序列，生成短视频片段。</a:t>
                      </a:r>
                    </a:p>
                  </a:txBody>
                  <a:tcPr marL="47817" marR="47817" marT="23908" marB="23908"/>
                </a:tc>
                <a:extLst>
                  <a:ext uri="{0D108BD9-81ED-4DB2-BD59-A6C34878D82A}">
                    <a16:rowId xmlns:a16="http://schemas.microsoft.com/office/drawing/2014/main" val="1843812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865975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F4CE57-2431-48DB-B155-59A4A7D3B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aa16784e-fe6e-11f0-832e-2278999ced9f-v8_f2_t1_YvUkT8X2">
            <a:hlinkClick r:id="" action="ppaction://media"/>
            <a:extLst>
              <a:ext uri="{FF2B5EF4-FFF2-40B4-BE49-F238E27FC236}">
                <a16:creationId xmlns:a16="http://schemas.microsoft.com/office/drawing/2014/main" id="{F716C27A-EE2E-49D2-90CC-E2DF09AF1B00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7844"/>
          </a:xfrm>
        </p:spPr>
      </p:pic>
    </p:spTree>
    <p:extLst>
      <p:ext uri="{BB962C8B-B14F-4D97-AF65-F5344CB8AC3E}">
        <p14:creationId xmlns:p14="http://schemas.microsoft.com/office/powerpoint/2010/main" val="1172872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68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BE93BAF-77D1-4492-B474-85A0A79B8E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5225" y="0"/>
            <a:ext cx="6743089" cy="6861718"/>
          </a:xfrm>
        </p:spPr>
      </p:pic>
    </p:spTree>
    <p:extLst>
      <p:ext uri="{BB962C8B-B14F-4D97-AF65-F5344CB8AC3E}">
        <p14:creationId xmlns:p14="http://schemas.microsoft.com/office/powerpoint/2010/main" val="326566633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861E0E-7B11-4ED3-916C-4C1817665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总结：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70F2C8-33A5-4D64-8180-8D93A022E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选择</a:t>
            </a:r>
            <a:r>
              <a:rPr lang="en-US" altLang="zh-CN" dirty="0"/>
              <a:t>AI</a:t>
            </a:r>
            <a:r>
              <a:rPr lang="zh-CN" altLang="en-US" dirty="0"/>
              <a:t>工具原则：开源免费（</a:t>
            </a:r>
            <a:r>
              <a:rPr lang="en-US" altLang="zh-CN" dirty="0"/>
              <a:t>GitHub</a:t>
            </a:r>
            <a:r>
              <a:rPr lang="zh-CN" altLang="en-US" dirty="0"/>
              <a:t>可以</a:t>
            </a:r>
            <a:r>
              <a:rPr lang="en-US" altLang="zh-CN" dirty="0"/>
              <a:t>Docker</a:t>
            </a:r>
            <a:r>
              <a:rPr lang="zh-CN" altLang="en-US" dirty="0"/>
              <a:t>布局）</a:t>
            </a: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                                     不用</a:t>
            </a:r>
            <a:r>
              <a:rPr lang="en-US" altLang="zh-CN" dirty="0"/>
              <a:t>VPN</a:t>
            </a:r>
            <a:r>
              <a:rPr lang="zh-CN" altLang="en-US" dirty="0"/>
              <a:t>，合规；不用</a:t>
            </a:r>
            <a:r>
              <a:rPr lang="en-US" altLang="zh-CN" dirty="0"/>
              <a:t>Python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Ima</a:t>
            </a:r>
            <a:r>
              <a:rPr lang="zh-CN" altLang="en-US" dirty="0"/>
              <a:t>：大厂、全云端、有开源项目（</a:t>
            </a:r>
            <a:r>
              <a:rPr lang="en-US" altLang="zh-CN" dirty="0" err="1"/>
              <a:t>Weknora</a:t>
            </a:r>
            <a:r>
              <a:rPr lang="zh-CN" altLang="en-US" dirty="0"/>
              <a:t>），手机端方便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总理座上宾：</a:t>
            </a:r>
            <a:r>
              <a:rPr lang="en-US" altLang="zh-CN" dirty="0"/>
              <a:t>25</a:t>
            </a:r>
            <a:r>
              <a:rPr lang="zh-CN" altLang="en-US" dirty="0"/>
              <a:t>年初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梁文锋，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26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年</a:t>
            </a:r>
            <a:r>
              <a:rPr lang="zh-CN" altLang="en-US" dirty="0"/>
              <a:t>初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闫俊杰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lnSpc>
                <a:spcPct val="150000"/>
              </a:lnSpc>
            </a:pPr>
            <a:r>
              <a:rPr lang="en-US" altLang="zh-CN" dirty="0"/>
              <a:t>AI</a:t>
            </a:r>
            <a:r>
              <a:rPr lang="zh-CN" altLang="en-US" dirty="0"/>
              <a:t>可以引入各个场景：上网、文件管理、视频等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883053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1081E6-1A2B-4D2E-8C30-19DCA80EF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如果用</a:t>
            </a:r>
            <a:r>
              <a:rPr lang="en-US" altLang="zh-CN" dirty="0"/>
              <a:t>Python</a:t>
            </a:r>
            <a:r>
              <a:rPr lang="zh-CN" altLang="en-US" dirty="0"/>
              <a:t>，装个</a:t>
            </a:r>
            <a:r>
              <a:rPr lang="en-US" altLang="zh-CN" dirty="0"/>
              <a:t>anaconda</a:t>
            </a:r>
            <a:r>
              <a:rPr lang="zh-CN" altLang="en-US" dirty="0"/>
              <a:t>，</a:t>
            </a:r>
            <a:r>
              <a:rPr lang="en-US" altLang="zh-CN" dirty="0"/>
              <a:t>Jupyter</a:t>
            </a:r>
            <a:r>
              <a:rPr lang="zh-CN" altLang="en-US" dirty="0"/>
              <a:t> </a:t>
            </a:r>
            <a:r>
              <a:rPr lang="en-US" altLang="zh-CN" dirty="0"/>
              <a:t>Notebook</a:t>
            </a:r>
            <a:r>
              <a:rPr lang="zh-CN" altLang="en-US" dirty="0"/>
              <a:t>教学好用</a:t>
            </a:r>
            <a:endParaRPr 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9442E7B-60D1-42BA-957E-25BA3B8879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4806" y="1825625"/>
            <a:ext cx="6922388" cy="4351338"/>
          </a:xfrm>
        </p:spPr>
      </p:pic>
    </p:spTree>
    <p:extLst>
      <p:ext uri="{BB962C8B-B14F-4D97-AF65-F5344CB8AC3E}">
        <p14:creationId xmlns:p14="http://schemas.microsoft.com/office/powerpoint/2010/main" val="1799089557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0EDDF6-7A57-48E1-A22D-DF2E9B5AF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52B428-EC2E-4169-92B5-C1376C4EB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4093BE2-4B4A-4F5A-9D1B-79405F34D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2"/>
            <a:ext cx="12192000" cy="684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03519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4039C2-4A48-4B3C-83EC-7362F38B7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4D035C-A481-4104-8328-A6E9619F9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D0FDE0-9794-4D29-867C-D017BB8A4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539049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8B74AC-F080-4DCD-AEF3-8A832F987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4347D-9FBF-494E-B7B1-6BCC85656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596229C-7B99-4A27-8633-95E33E6CC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742229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232DB1-1AA4-4370-A483-833AF5708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75D63D-CBEE-433B-B875-B6DA6E192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6E7A815-E5BF-44D4-A40E-A6A8013D4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819947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40457F-2C43-4270-A76B-4EAFFD34C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BC3A43-5343-499F-AF45-E21F34449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9AEA71D-6654-49CD-B303-9475B6969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010993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87C1DE-7EE9-428D-8B76-E255797B6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133533-2470-4D31-90E7-8F4B5C30E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0EF7FA1-4163-428A-99E5-787A2F3EF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534052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86E95C-FF6A-4D26-8F46-08CAEF10F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76FE18-6C63-4A43-B101-CEBFBD896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F8AEE57-BDCA-46B7-8FEF-40C0A1FFD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684520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7071AC-2240-EB86-AE7C-BC7054843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启示：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F6161D-7E49-1ADA-73F3-3DFF02F73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b="1" i="0" dirty="0">
              <a:effectLst/>
              <a:latin typeface="UICTFontTextStyleEmphasizedBody"/>
            </a:endParaRPr>
          </a:p>
          <a:p>
            <a:r>
              <a:rPr lang="zh-CN" altLang="en-US" b="1" i="0" dirty="0">
                <a:effectLst/>
                <a:latin typeface="UICTFontTextStyleEmphasizedBody"/>
              </a:rPr>
              <a:t>超越语言模型：世界远比“语言</a:t>
            </a:r>
            <a:r>
              <a:rPr lang="zh-CN" altLang="en-US" b="1" dirty="0">
                <a:latin typeface="UICTFontTextStyleEmphasizedBody"/>
              </a:rPr>
              <a:t>”</a:t>
            </a:r>
            <a:r>
              <a:rPr lang="zh-CN" altLang="en-US" b="1" i="0" dirty="0">
                <a:effectLst/>
                <a:latin typeface="UICTFontTextStyleEmphasizedBody"/>
              </a:rPr>
              <a:t>更丰满</a:t>
            </a:r>
          </a:p>
          <a:p>
            <a:endParaRPr lang="zh-CN" altLang="en-US" b="1" dirty="0">
              <a:latin typeface="UICTFontTextStyleEmphasizedBody"/>
            </a:endParaRPr>
          </a:p>
          <a:p>
            <a:r>
              <a:rPr lang="en-US" altLang="zh-CN" b="1" dirty="0">
                <a:effectLst/>
                <a:latin typeface="UICTFontTextStyleEmphasizedBody"/>
              </a:rPr>
              <a:t>R&amp;D</a:t>
            </a:r>
            <a:r>
              <a:rPr lang="zh-CN" altLang="en-US" b="1" dirty="0">
                <a:effectLst/>
                <a:latin typeface="UICTFontTextStyleEmphasizedBody"/>
              </a:rPr>
              <a:t>到</a:t>
            </a:r>
            <a:r>
              <a:rPr lang="en-US" altLang="zh-CN" b="1" dirty="0">
                <a:effectLst/>
                <a:latin typeface="UICTFontTextStyleEmphasizedBody"/>
              </a:rPr>
              <a:t>R&amp;E</a:t>
            </a:r>
            <a:r>
              <a:rPr lang="zh-CN" altLang="en-US" b="1" dirty="0">
                <a:effectLst/>
                <a:latin typeface="UICTFontTextStyleEmphasizedBody"/>
              </a:rPr>
              <a:t>：拼研究到工程的能力</a:t>
            </a:r>
            <a:endParaRPr lang="zh-CN" altLang="en-US" dirty="0">
              <a:effectLst/>
              <a:latin typeface=".AppleSystemUIFont"/>
            </a:endParaRPr>
          </a:p>
          <a:p>
            <a:endParaRPr lang="zh-CN" altLang="en-US" dirty="0"/>
          </a:p>
          <a:p>
            <a:r>
              <a:rPr lang="zh-CN" altLang="en-US" b="1" i="0" dirty="0">
                <a:effectLst/>
                <a:latin typeface="UICTFontTextStyleEmphasizedBody"/>
              </a:rPr>
              <a:t>时代最紧迫的呼吁：发起一场“教育革命”</a:t>
            </a:r>
            <a:endParaRPr lang="en-US" altLang="zh-CN" b="1" i="0" dirty="0">
              <a:effectLst/>
              <a:latin typeface="UICTFontTextStyleEmphasizedBody"/>
            </a:endParaRPr>
          </a:p>
          <a:p>
            <a:pPr marL="0" indent="0">
              <a:buNone/>
            </a:pPr>
            <a:r>
              <a:rPr lang="en-US" altLang="zh-CN" b="1" dirty="0">
                <a:latin typeface="UICTFontTextStyleEmphasizedBody"/>
              </a:rPr>
              <a:t>                                          </a:t>
            </a:r>
            <a:r>
              <a:rPr lang="zh-CN" altLang="en-US" b="1" dirty="0">
                <a:effectLst/>
                <a:latin typeface="UICTFontTextStyleEmphasizedBody"/>
              </a:rPr>
              <a:t>反向工程教育</a:t>
            </a:r>
            <a:endParaRPr lang="en-US" altLang="zh-CN" b="1" dirty="0">
              <a:effectLst/>
              <a:latin typeface="UICTFontTextStyleEmphasizedBody"/>
            </a:endParaRPr>
          </a:p>
          <a:p>
            <a:r>
              <a:rPr lang="zh-CN" altLang="en-US" b="1" dirty="0">
                <a:latin typeface="UICTFontTextStyleEmphasizedBody"/>
              </a:rPr>
              <a:t>自己兴趣在哪里？</a:t>
            </a:r>
            <a:endParaRPr lang="zh-CN" altLang="en-US" dirty="0"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1162309561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结语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862014" y="1835603"/>
            <a:ext cx="5157787" cy="3684588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zh-CN" altLang="en-US" dirty="0"/>
              <a:t>招式训练</a:t>
            </a:r>
          </a:p>
          <a:p>
            <a:pPr>
              <a:lnSpc>
                <a:spcPct val="200000"/>
              </a:lnSpc>
            </a:pPr>
            <a:r>
              <a:rPr lang="en-US" dirty="0" err="1"/>
              <a:t>组合</a:t>
            </a:r>
            <a:r>
              <a:rPr lang="zh-CN" altLang="en-US" dirty="0"/>
              <a:t>套路</a:t>
            </a:r>
          </a:p>
          <a:p>
            <a:pPr>
              <a:lnSpc>
                <a:spcPct val="200000"/>
              </a:lnSpc>
            </a:pPr>
            <a:r>
              <a:rPr lang="zh-CN" altLang="en-US" dirty="0"/>
              <a:t>快速迭代</a:t>
            </a:r>
          </a:p>
          <a:p>
            <a:pPr>
              <a:lnSpc>
                <a:spcPct val="200000"/>
              </a:lnSpc>
            </a:pPr>
            <a:r>
              <a:rPr lang="zh-CN" altLang="en-US" dirty="0"/>
              <a:t>知识结构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1931497"/>
            <a:ext cx="5183188" cy="3684588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数字化研究</a:t>
            </a:r>
            <a:endParaRPr lang="en-US" altLang="zh-CN" dirty="0"/>
          </a:p>
          <a:p>
            <a:endParaRPr lang="zh-CN" altLang="en-US" dirty="0"/>
          </a:p>
          <a:p>
            <a:pPr lvl="1"/>
            <a:r>
              <a:rPr lang="zh-CN" altLang="en-US" dirty="0"/>
              <a:t>不是读一本书，几篇文献</a:t>
            </a:r>
          </a:p>
          <a:p>
            <a:pPr lvl="1"/>
            <a:r>
              <a:rPr lang="zh-CN" altLang="en-US" dirty="0"/>
              <a:t>我们是在数据库中进行预训练</a:t>
            </a:r>
          </a:p>
          <a:p>
            <a:pPr lvl="1"/>
            <a:r>
              <a:rPr lang="zh-CN" altLang="en-US" dirty="0"/>
              <a:t>干中学的训练</a:t>
            </a:r>
          </a:p>
          <a:p>
            <a:endParaRPr lang="en-US" altLang="zh-CN" dirty="0"/>
          </a:p>
          <a:p>
            <a:r>
              <a:rPr lang="zh-CN" altLang="en-US" dirty="0"/>
              <a:t>自建泳池游泳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23684</Words>
  <Application>Microsoft Office PowerPoint</Application>
  <PresentationFormat>宽屏</PresentationFormat>
  <Paragraphs>1600</Paragraphs>
  <Slides>281</Slides>
  <Notes>0</Notes>
  <HiddenSlides>0</HiddenSlides>
  <MMClips>2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281</vt:i4>
      </vt:variant>
    </vt:vector>
  </HeadingPairs>
  <TitlesOfParts>
    <vt:vector size="307" baseType="lpstr">
      <vt:lpstr>.AppleSystemUIFont</vt:lpstr>
      <vt:lpstr>.PingFang SC</vt:lpstr>
      <vt:lpstr>.PingFangSC-Regular</vt:lpstr>
      <vt:lpstr>.SFUI-Regular_wdth_opsz110000_GRAD_wght</vt:lpstr>
      <vt:lpstr>-apple-system</vt:lpstr>
      <vt:lpstr>Arial Unicode MS</vt:lpstr>
      <vt:lpstr>Helvetica Neue</vt:lpstr>
      <vt:lpstr>Lucida Grande</vt:lpstr>
      <vt:lpstr>Microsoft JhengHei UI Light</vt:lpstr>
      <vt:lpstr>PingFang SC</vt:lpstr>
      <vt:lpstr>PingFangSC-Regular</vt:lpstr>
      <vt:lpstr>PingFangSC-Semibold</vt:lpstr>
      <vt:lpstr>Roboto</vt:lpstr>
      <vt:lpstr>SFMono-Regular</vt:lpstr>
      <vt:lpstr>system-ui</vt:lpstr>
      <vt:lpstr>UICTFontTextStyleBody</vt:lpstr>
      <vt:lpstr>UICTFontTextStyleEmphasizedBody</vt:lpstr>
      <vt:lpstr>v-sans</vt:lpstr>
      <vt:lpstr>等线</vt:lpstr>
      <vt:lpstr>等线 Light</vt:lpstr>
      <vt:lpstr>宋体</vt:lpstr>
      <vt:lpstr>Microsoft YaHei</vt:lpstr>
      <vt:lpstr>Arial</vt:lpstr>
      <vt:lpstr>Times New Roman</vt:lpstr>
      <vt:lpstr>Wingdings</vt:lpstr>
      <vt:lpstr>Office 主题​​</vt:lpstr>
      <vt:lpstr>数字内容管理  Zotero x OpenCode</vt:lpstr>
      <vt:lpstr>余  浩  教授、博导</vt:lpstr>
      <vt:lpstr>第一天： 上午：导论与配置 下午：组织与引用</vt:lpstr>
      <vt:lpstr>导论：数字化学习——长期主义选择</vt:lpstr>
      <vt:lpstr>数字内容管理内容</vt:lpstr>
      <vt:lpstr>PowerPoint 演示文稿</vt:lpstr>
      <vt:lpstr>数字化基础</vt:lpstr>
      <vt:lpstr>数字化概念：从模拟到数字、从记录到创作</vt:lpstr>
      <vt:lpstr>国内现状</vt:lpstr>
      <vt:lpstr>PowerPoint 演示文稿</vt:lpstr>
      <vt:lpstr>PowerPoint 演示文稿</vt:lpstr>
      <vt:lpstr>多模态应用（文本、图表和音视频）</vt:lpstr>
      <vt:lpstr>知识库资料来源——小白学术： https://www.sssam.com/</vt:lpstr>
      <vt:lpstr>语音输入（2026方案）</vt:lpstr>
      <vt:lpstr>PowerPoint 演示文稿</vt:lpstr>
      <vt:lpstr>PowerPoint 演示文稿</vt:lpstr>
      <vt:lpstr>智能绘图2025方案——AI Draw Nexus https://ai-draw-nexus.aizhi.site/</vt:lpstr>
      <vt:lpstr>PowerPoint 演示文稿</vt:lpstr>
      <vt:lpstr>https://tiktokenizer.f2api.com/</vt:lpstr>
      <vt:lpstr>文档解析神器——MinerU: https://mineru.net/</vt:lpstr>
      <vt:lpstr>开源软件 Zotero定制：中台概念 （Endnote、Mendeley、Papers for Mac皆可转移至 Zotero）</vt:lpstr>
      <vt:lpstr>选择Zotero（平台工具）</vt:lpstr>
      <vt:lpstr>靶心文章选择（PDF格式）</vt:lpstr>
      <vt:lpstr>必读精品 （涌现结果：过去、现在和将来）</vt:lpstr>
      <vt:lpstr>PDF根据不同期刊有单栏、双栏甚至三栏</vt:lpstr>
      <vt:lpstr>PDF可抓取大量的信息</vt:lpstr>
      <vt:lpstr>文章状态</vt:lpstr>
      <vt:lpstr>数字信息重要</vt:lpstr>
      <vt:lpstr>实操一：组件引擎配置</vt:lpstr>
      <vt:lpstr>PowerPoint 演示文稿</vt:lpstr>
      <vt:lpstr>下载及添加插件的方式</vt:lpstr>
      <vt:lpstr>插件添加（Plugins）</vt:lpstr>
      <vt:lpstr>Zotero 插件商店 | Zotero 中文社区</vt:lpstr>
      <vt:lpstr>PowerPoint 演示文稿</vt:lpstr>
      <vt:lpstr>PowerPoint 演示文稿</vt:lpstr>
      <vt:lpstr>PowerPoint 演示文稿</vt:lpstr>
      <vt:lpstr>搜索引擎添加</vt:lpstr>
      <vt:lpstr>修改数据文件夹的引擎文件</vt:lpstr>
      <vt:lpstr>图谱分析（Connected Papers）</vt:lpstr>
      <vt:lpstr>PowerPoint 演示文稿</vt:lpstr>
      <vt:lpstr>关联文献补充（semanticscholar）</vt:lpstr>
      <vt:lpstr>PowerPoint 演示文稿</vt:lpstr>
      <vt:lpstr>PowerPoint 演示文稿</vt:lpstr>
      <vt:lpstr>实操二：分类条目创建</vt:lpstr>
      <vt:lpstr>PowerPoint 演示文稿</vt:lpstr>
      <vt:lpstr>现有信息学习</vt:lpstr>
      <vt:lpstr>相关信息如何拓展</vt:lpstr>
      <vt:lpstr>题录获取：第一种方式</vt:lpstr>
      <vt:lpstr>题录获取：第二种方式</vt:lpstr>
      <vt:lpstr>如何更新题录</vt:lpstr>
      <vt:lpstr>PowerPoint 演示文稿</vt:lpstr>
      <vt:lpstr>PowerPoint 演示文稿</vt:lpstr>
      <vt:lpstr>PowerPoint 演示文稿</vt:lpstr>
      <vt:lpstr>文献下载</vt:lpstr>
      <vt:lpstr>举例：先题录后PDF，还是先PDF后题录</vt:lpstr>
      <vt:lpstr>实操三：引用格式添加</vt:lpstr>
      <vt:lpstr>添加所需要的格式</vt:lpstr>
      <vt:lpstr>简单引用</vt:lpstr>
      <vt:lpstr>同一位置批量添加引用</vt:lpstr>
      <vt:lpstr>文献数据库建立</vt:lpstr>
      <vt:lpstr>PowerPoint 演示文稿</vt:lpstr>
      <vt:lpstr>第二天： 上午：备份与同步 下午：索引与检索</vt:lpstr>
      <vt:lpstr>电脑经验</vt:lpstr>
      <vt:lpstr>练习：</vt:lpstr>
      <vt:lpstr>Opencode x Zotero</vt:lpstr>
      <vt:lpstr>资源出处：GitHub让你保持领先</vt:lpstr>
      <vt:lpstr>请在此处添加标题</vt:lpstr>
      <vt:lpstr>四个基本问题</vt:lpstr>
      <vt:lpstr>PowerPoint 演示文稿</vt:lpstr>
      <vt:lpstr>配置：文件让AI帮你搞定</vt:lpstr>
      <vt:lpstr>技能包</vt:lpstr>
      <vt:lpstr>PowerPoint 演示文稿</vt:lpstr>
      <vt:lpstr>PowerPoint 演示文稿</vt:lpstr>
      <vt:lpstr>Zotero+Opencode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Zotero：人工建库有价值？</vt:lpstr>
      <vt:lpstr>参考文献解析</vt:lpstr>
      <vt:lpstr>PowerPoint 演示文稿</vt:lpstr>
      <vt:lpstr>https://anystyle.io</vt:lpstr>
      <vt:lpstr>实操四：内容备份同步</vt:lpstr>
      <vt:lpstr>备份功能：导出分类</vt:lpstr>
      <vt:lpstr>复制备份</vt:lpstr>
      <vt:lpstr>Zotero的盈利功能： 云同步功能（Zotero帐号先注册上）</vt:lpstr>
      <vt:lpstr>PowerPoint 演示文稿</vt:lpstr>
      <vt:lpstr>步骤 1：准备 WebDAV 服务</vt:lpstr>
      <vt:lpstr>常见 WebDAV 服务：</vt:lpstr>
      <vt:lpstr>步骤 2：设置 WebDAV 同步</vt:lpstr>
      <vt:lpstr>步骤 3：验证同步</vt:lpstr>
      <vt:lpstr>常见问题解决</vt:lpstr>
      <vt:lpstr>备份建议</vt:lpstr>
      <vt:lpstr>万一出问题可恢复</vt:lpstr>
      <vt:lpstr>最后检查</vt:lpstr>
      <vt:lpstr>附件管理：位置</vt:lpstr>
      <vt:lpstr>演示：</vt:lpstr>
      <vt:lpstr>实操五：全局检索</vt:lpstr>
      <vt:lpstr>学习自动标签</vt:lpstr>
      <vt:lpstr>全文搜索（Zotero自带功能）</vt:lpstr>
      <vt:lpstr>先采用普通搜索：分三类</vt:lpstr>
      <vt:lpstr>运用标签去全文搜索</vt:lpstr>
      <vt:lpstr>全文搜索实现</vt:lpstr>
      <vt:lpstr>PowerPoint 演示文稿</vt:lpstr>
      <vt:lpstr>如何解决未检索的文献</vt:lpstr>
      <vt:lpstr>解决未索引的文件——数字搜索</vt:lpstr>
      <vt:lpstr>未检索文献来源</vt:lpstr>
      <vt:lpstr>简洁命名</vt:lpstr>
      <vt:lpstr>检索机制</vt:lpstr>
      <vt:lpstr>2. 搜索语法</vt:lpstr>
      <vt:lpstr>3. 快速筛选与保存</vt:lpstr>
      <vt:lpstr>4. 检索效率技巧</vt:lpstr>
      <vt:lpstr>文献管理合适量</vt:lpstr>
      <vt:lpstr>2. Zotero 的软性限制</vt:lpstr>
      <vt:lpstr>3. 用户场景建议</vt:lpstr>
      <vt:lpstr>第三天： 上午：翻译与笔记 下午：内容生成</vt:lpstr>
      <vt:lpstr>PowerPoint 演示文稿</vt:lpstr>
      <vt:lpstr>为何选择生成式人工智能（GenAI）</vt:lpstr>
      <vt:lpstr>生成式人工智能 (Generative AI)：算命先生</vt:lpstr>
      <vt:lpstr>概念定义</vt:lpstr>
      <vt:lpstr>离散数学中的自然语言处理相关知识</vt:lpstr>
      <vt:lpstr>表1：各国GenAI典型代表</vt:lpstr>
      <vt:lpstr>表2 自然语言处理（NLP）部分科学里程碑（Bouschery et al., 2023）</vt:lpstr>
      <vt:lpstr>大语言模型创新框架（Sundberg L 等, 2024）</vt:lpstr>
      <vt:lpstr>四大功能的解释（Sundberg L 等, 2024）</vt:lpstr>
      <vt:lpstr>情景问题？</vt:lpstr>
      <vt:lpstr>Mariani M, Dwivedi Y K, 2024. Generative artificial intelligence in innovation management: a preview of future research developments[J]. Journal of Business Research, 175(3): 114542.</vt:lpstr>
      <vt:lpstr>PowerPoint 演示文稿</vt:lpstr>
      <vt:lpstr>学术领域的观点</vt:lpstr>
      <vt:lpstr>图2. 人工智能准备度(AIR)的概念模型(Tehrani 等, 2024, p. 7)</vt:lpstr>
      <vt:lpstr>AI准备度可以归纳为八个关键维度：</vt:lpstr>
      <vt:lpstr>Moving from prediction to creativity: implications of generative AI on measurement of success</vt:lpstr>
      <vt:lpstr>PowerPoint 演示文稿</vt:lpstr>
      <vt:lpstr>Bahoo S, Cucculelli M, Qamar D, 2023. Artificial intelligence and corporate innovation: a review and research agenda[J]. Technological Forecasting and Social Change, 188(3): 122264.</vt:lpstr>
      <vt:lpstr>PowerPoint 演示文稿</vt:lpstr>
      <vt:lpstr>PowerPoint 演示文稿</vt:lpstr>
      <vt:lpstr>主要共识：</vt:lpstr>
      <vt:lpstr>PowerPoint 演示文稿</vt:lpstr>
      <vt:lpstr>实操六：智能翻译（ Zotero PDF Tranlate ）</vt:lpstr>
      <vt:lpstr>PowerPoint 演示文稿</vt:lpstr>
      <vt:lpstr>阅读基础：智能翻译</vt:lpstr>
      <vt:lpstr>PowerPoint 演示文稿</vt:lpstr>
      <vt:lpstr>Kindle精读应用背景</vt:lpstr>
      <vt:lpstr>设备越狱</vt:lpstr>
      <vt:lpstr>KUAL界面</vt:lpstr>
      <vt:lpstr>进入文件管理器</vt:lpstr>
      <vt:lpstr>KOReader印象笔记功能</vt:lpstr>
      <vt:lpstr>狗耳朵日报推送功能</vt:lpstr>
      <vt:lpstr>Kindle的字典功能与标注功能</vt:lpstr>
      <vt:lpstr>修改hosts文件——智能翻译</vt:lpstr>
      <vt:lpstr>解决谷歌翻译问题</vt:lpstr>
      <vt:lpstr>Mac修改hosts文档</vt:lpstr>
      <vt:lpstr>实操七：数字笔记（ Zotero Better Notes ）</vt:lpstr>
      <vt:lpstr>Markdown笔记的主要规则包括：</vt:lpstr>
      <vt:lpstr>Better Notes (BN) is a plugin for Zotero.</vt:lpstr>
      <vt:lpstr>文字内容</vt:lpstr>
      <vt:lpstr>表格内容</vt:lpstr>
      <vt:lpstr>PowerPoint 演示文稿</vt:lpstr>
      <vt:lpstr>图片内容</vt:lpstr>
      <vt:lpstr>PowerPoint 演示文稿</vt:lpstr>
      <vt:lpstr>公式生成</vt:lpstr>
      <vt:lpstr>实操八：内容生成（ Zotero GPT）</vt:lpstr>
      <vt:lpstr>PowerPoint 演示文稿</vt:lpstr>
      <vt:lpstr>PowerPoint 演示文稿</vt:lpstr>
      <vt:lpstr>PowerPoint 演示文稿</vt:lpstr>
      <vt:lpstr>PowerPoint 演示文稿</vt:lpstr>
      <vt:lpstr>LLM，是继数据库和搜索引擎之后的“全新⼀代知识表示和调⽤⽅式”， 将会极⼤改善⼈类的专业能⼒之间的交互⽅式。</vt:lpstr>
      <vt:lpstr>AI应用三角定律：语料、算力、算法</vt:lpstr>
      <vt:lpstr>PowerPoint 演示文稿</vt:lpstr>
      <vt:lpstr>编程技能：</vt:lpstr>
      <vt:lpstr>Quick Commands</vt:lpstr>
      <vt:lpstr>About Tag</vt:lpstr>
      <vt:lpstr>Improve writing</vt:lpstr>
      <vt:lpstr>Selection</vt:lpstr>
      <vt:lpstr>Items</vt:lpstr>
      <vt:lpstr>AskPDF</vt:lpstr>
      <vt:lpstr>About Input Text</vt:lpstr>
      <vt:lpstr>PowerPoint 演示文稿</vt:lpstr>
      <vt:lpstr>PowerPoint 演示文稿</vt:lpstr>
      <vt:lpstr>DeepSeek: 能力细节（文本、非视觉模型）</vt:lpstr>
      <vt:lpstr>长文本与跨文本</vt:lpstr>
      <vt:lpstr>脚本改进：代码解密</vt:lpstr>
      <vt:lpstr>PowerPoint 演示文稿</vt:lpstr>
      <vt:lpstr>提示词元素</vt:lpstr>
      <vt:lpstr>GPT使用策略</vt:lpstr>
      <vt:lpstr>ChatGPT谈战略与创新：交互式问题</vt:lpstr>
      <vt:lpstr>测试问题</vt:lpstr>
      <vt:lpstr>主要判据</vt:lpstr>
      <vt:lpstr>对于一般理论的提问：以惯例研究为例</vt:lpstr>
      <vt:lpstr>相关法律条款问题</vt:lpstr>
      <vt:lpstr>数字内容生成</vt:lpstr>
      <vt:lpstr>写作法则</vt:lpstr>
      <vt:lpstr>数据质量判定——内容生成</vt:lpstr>
      <vt:lpstr>JavaScript主要特点</vt:lpstr>
      <vt:lpstr>JavaScript学习资源</vt:lpstr>
      <vt:lpstr>数据库结构</vt:lpstr>
      <vt:lpstr>SQLite数据库</vt:lpstr>
      <vt:lpstr>完全功能的PDF电子书</vt:lpstr>
      <vt:lpstr>确保 PDF 内容不被修改</vt:lpstr>
      <vt:lpstr>要获取 PDF 文件的元数据：</vt:lpstr>
      <vt:lpstr>结论：官网AI效果最佳（比如OpenAI）</vt:lpstr>
      <vt:lpstr>第四天： 上午：本地RAG 下午：分组交流</vt:lpstr>
      <vt:lpstr>生成式AI的残酷真相</vt:lpstr>
      <vt:lpstr>剖析95%的失败：四大“天坑”如何吞噬企业的AI雄心</vt:lpstr>
      <vt:lpstr>解码5%的成功者：穿越鸿沟的四大黄金法则</vt:lpstr>
      <vt:lpstr>“影子AI”成为真正的生产力引擎</vt:lpstr>
      <vt:lpstr>AI技能不再是加分项，而是必备项</vt:lpstr>
      <vt:lpstr>一、无尽的提问</vt:lpstr>
      <vt:lpstr>PowerPoint 演示文稿</vt:lpstr>
      <vt:lpstr>PowerPoint 演示文稿</vt:lpstr>
      <vt:lpstr>二、提示词元素</vt:lpstr>
      <vt:lpstr>AI的⽐喻：超级热情但缺乏经验的实习⽣</vt:lpstr>
      <vt:lpstr>Context Engineering（上下⽂⼯程）</vt:lpstr>
      <vt:lpstr>三、提示词技巧</vt:lpstr>
      <vt:lpstr>1、Few-Shot Prompting（少样本示例）</vt:lpstr>
      <vt:lpstr>2、Chain-of-Thought（思维链推理）</vt:lpstr>
      <vt:lpstr>3、Reverse Prompting（反向提问）</vt:lpstr>
      <vt:lpstr>4、Role Assignment（⻆⾊赋能）</vt:lpstr>
      <vt:lpstr>四、三种思维训练</vt:lpstr>
      <vt:lpstr>模拟困难对话</vt:lpstr>
      <vt:lpstr>严苛批评</vt:lpstr>
      <vt:lpstr>扩展想象⼒</vt:lpstr>
      <vt:lpstr>训练案例</vt:lpstr>
      <vt:lpstr>PowerPoint 演示文稿</vt:lpstr>
      <vt:lpstr>AI Snake Oil《AI蛇油》  Arvind Narayanan &amp; Sayash Kapoor Princeton Univ. Press (2024)</vt:lpstr>
      <vt:lpstr>PowerPoint 演示文稿</vt:lpstr>
      <vt:lpstr>“混合型角色”的崛起</vt:lpstr>
      <vt:lpstr>术语介绍</vt:lpstr>
      <vt:lpstr>检索增强生成(Retrieval-augmented generation)</vt:lpstr>
      <vt:lpstr>技术简介</vt:lpstr>
      <vt:lpstr>RAG 流程应用于问答的代表性实例。它主要包括 3 个步骤。1）索引。将文档拆分成块，编码成向量，并存储在向量数据库中。2）检索。根据语义相似性检索与问题最相关的 Top k 个块。3)生成。将原始问题和检索到的块一起输入 LLM 以生成最终答案。</vt:lpstr>
      <vt:lpstr>以下是 RAG 发展的几个版本：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技术框架</vt:lpstr>
      <vt:lpstr>RAG 技术编程领域实现原理</vt:lpstr>
      <vt:lpstr>https://tiktokenizer.f2api.com/</vt:lpstr>
      <vt:lpstr>文档解析神器——MinerU: https://mineru.net/</vt:lpstr>
      <vt:lpstr>LLM训练数据集的选择与清洗：从Common Crawl到高质量语料库</vt:lpstr>
      <vt:lpstr>分词挑战：词级与字符级的权衡</vt:lpstr>
      <vt:lpstr>字节对编码：GPT模型的分词选择</vt:lpstr>
      <vt:lpstr>对话格式与特殊标记的应用</vt:lpstr>
      <vt:lpstr>训练数据准备：上下文窗口与标签错位</vt:lpstr>
      <vt:lpstr>GPT系列模型的数据规模演进</vt:lpstr>
      <vt:lpstr>数据准备与分词处理结论</vt:lpstr>
      <vt:lpstr>机器学习中的文本数据转换基础</vt:lpstr>
      <vt:lpstr>独热编码：解决数值排序问题的方法</vt:lpstr>
      <vt:lpstr>词袋模型与n元语法：添加上下文信息</vt:lpstr>
      <vt:lpstr>词嵌入：捕捉词语语义的密集向量表示</vt:lpstr>
      <vt:lpstr>Word2Vec：训练词嵌入的经典方法</vt:lpstr>
      <vt:lpstr>Transformer中的词嵌入机制</vt:lpstr>
      <vt:lpstr>位置编码：添加序列信息</vt:lpstr>
      <vt:lpstr>结论：词嵌入在自然语言处理中的关键作用</vt:lpstr>
      <vt:lpstr>知识库AI——ima.copilot      https://ima.qq.com/</vt:lpstr>
      <vt:lpstr>知识库：从Zotero整体添加（Moov Add-on）</vt:lpstr>
      <vt:lpstr>PowerPoint 演示文稿</vt:lpstr>
      <vt:lpstr>PowerPoint 演示文稿</vt:lpstr>
      <vt:lpstr>AI-Butler: 文献自动全文解读 （Deepseek，185元看完我的4500篇）</vt:lpstr>
      <vt:lpstr>AI时代重要工具：数字笔记（Markdown）</vt:lpstr>
      <vt:lpstr>AI与知识库部署模式矩阵</vt:lpstr>
      <vt:lpstr>PowerPoint 演示文稿</vt:lpstr>
      <vt:lpstr>生成播客：Hambrick D C, 1994. What if the academy actually mattered?[J]. Academy of Management Review, 19(1): 11-16. </vt:lpstr>
      <vt:lpstr>本科项目管理大作业：用AI看45分钟纪录片视频写观后感（语音、文本、图片结合）</vt:lpstr>
      <vt:lpstr>PowerPoint 演示文稿</vt:lpstr>
      <vt:lpstr>PowerPoint 演示文稿</vt:lpstr>
      <vt:lpstr>PowerPoint 演示文稿</vt:lpstr>
      <vt:lpstr>总结：</vt:lpstr>
      <vt:lpstr>如果用Python，装个anaconda，Jupyter Notebook教学好用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启示：</vt:lpstr>
      <vt:lpstr>结语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数字化写作</dc:title>
  <dc:creator>DELL</dc:creator>
  <cp:lastModifiedBy>Hao Yu</cp:lastModifiedBy>
  <cp:revision>389</cp:revision>
  <dcterms:created xsi:type="dcterms:W3CDTF">1900-01-01T00:00:00Z</dcterms:created>
  <dcterms:modified xsi:type="dcterms:W3CDTF">2026-08-20T11:53:38Z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1CE3D73E368C493CE8B903658A64F986_32</vt:lpwstr>
  </property>
  <property fmtid="{D5CDD505-2E9C-101B-9397-08002B2CF9AE}" pid="3" name="KSOProductBuildVer">
    <vt:lpwstr>2052-12.41.0</vt:lpwstr>
  </property>
</Properties>
</file>