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534" r:id="rId118"/>
    <p:sldId id="304" r:id="rId119"/>
    <p:sldId id="852" r:id="rId120"/>
    <p:sldId id="853" r:id="rId121"/>
    <p:sldId id="854" r:id="rId122"/>
    <p:sldId id="855" r:id="rId123"/>
    <p:sldId id="856" r:id="rId124"/>
    <p:sldId id="857" r:id="rId125"/>
    <p:sldId id="283" r:id="rId126"/>
    <p:sldId id="284" r:id="rId127"/>
    <p:sldId id="296" r:id="rId128"/>
    <p:sldId id="303" r:id="rId129"/>
    <p:sldId id="297" r:id="rId130"/>
    <p:sldId id="858" r:id="rId131"/>
    <p:sldId id="859" r:id="rId132"/>
    <p:sldId id="306" r:id="rId133"/>
    <p:sldId id="860" r:id="rId134"/>
    <p:sldId id="861" r:id="rId135"/>
    <p:sldId id="862" r:id="rId136"/>
    <p:sldId id="863" r:id="rId137"/>
    <p:sldId id="864" r:id="rId138"/>
    <p:sldId id="865" r:id="rId139"/>
    <p:sldId id="305" r:id="rId140"/>
    <p:sldId id="274" r:id="rId141"/>
    <p:sldId id="440" r:id="rId142"/>
    <p:sldId id="425" r:id="rId143"/>
    <p:sldId id="485" r:id="rId144"/>
    <p:sldId id="475" r:id="rId145"/>
    <p:sldId id="476" r:id="rId146"/>
    <p:sldId id="477" r:id="rId147"/>
    <p:sldId id="478" r:id="rId148"/>
    <p:sldId id="479" r:id="rId149"/>
    <p:sldId id="480" r:id="rId150"/>
    <p:sldId id="481" r:id="rId151"/>
    <p:sldId id="278" r:id="rId152"/>
    <p:sldId id="486" r:id="rId153"/>
    <p:sldId id="487" r:id="rId154"/>
    <p:sldId id="263" r:id="rId155"/>
    <p:sldId id="461" r:id="rId156"/>
    <p:sldId id="460" r:id="rId157"/>
    <p:sldId id="552" r:id="rId158"/>
    <p:sldId id="553" r:id="rId159"/>
    <p:sldId id="554" r:id="rId160"/>
    <p:sldId id="555" r:id="rId161"/>
    <p:sldId id="556" r:id="rId162"/>
    <p:sldId id="557" r:id="rId16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7252" autoAdjust="0"/>
    <p:restoredTop sz="94660"/>
  </p:normalViewPr>
  <p:slideViewPr>
    <p:cSldViewPr snapToGrid="0" showGuides="1">
      <p:cViewPr varScale="1">
        <p:scale>
          <a:sx n="60" d="100"/>
          <a:sy n="60" d="100"/>
        </p:scale>
        <p:origin x="27" y="525"/>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283" Type="http://schemas.openxmlformats.org/officeDocument/2006/relationships/presProps" Target="presProps.xml"/><Relationship Id="rId284" Type="http://schemas.openxmlformats.org/officeDocument/2006/relationships/viewProps" Target="viewProps.xml"/><Relationship Id="rId285" Type="http://schemas.openxmlformats.org/officeDocument/2006/relationships/theme" Target="theme/theme1.xml"/><Relationship Id="rId286"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7" name="Rectangle 4"/>
          <p:cNvSpPr>
            <a:spLocks noGrp="1"/>
          </p:cNvSpPr>
          <p:nvPr>
            <p:ph type="dt" sz="half" idx="10"/>
          </p:nvPr>
        </p:nvSpPr>
        <p:spPr/>
        <p:txBody>
          <a:bodyPr/>
          <a:lstStyle>
            <a:lvl1pPr>
              <a:defRPr/>
            </a:lvl1pPr>
          </a:lstStyle>
          <a:p>
            <a:pPr>
              <a:defRPr/>
            </a:pPr>
            <a:fld id="{BB962C8B-B14F-4D97-AF65-F5344CB8AC3E}" type="datetime1">
              <a:rPr lang="en-US" altLang="zh-CN"/>
              <a:t>8/20/2026</a:t>
            </a:fld>
            <a:endParaRPr lang="en-US" altLang="zh-CN"/>
          </a:p>
        </p:txBody>
      </p:sp>
      <p:sp>
        <p:nvSpPr>
          <p:cNvPr id="8" name="Rectangle 5"/>
          <p:cNvSpPr>
            <a:spLocks noGrp="1"/>
          </p:cNvSpPr>
          <p:nvPr>
            <p:ph type="ftr" sz="quarter" idx="11"/>
          </p:nvPr>
        </p:nvSpPr>
        <p:spPr/>
        <p:txBody>
          <a:bodyPr/>
          <a:lstStyle>
            <a:lvl1pPr>
              <a:defRPr/>
            </a:lvl1pPr>
          </a:lstStyle>
          <a:p>
            <a:pPr>
              <a:defRPr/>
            </a:pPr>
            <a:endParaRPr lang="en-US" altLang="zh-CN"/>
          </a:p>
        </p:txBody>
      </p:sp>
      <p:sp>
        <p:nvSpPr>
          <p:cNvPr id="9" name="Rectangle 6"/>
          <p:cNvSpPr>
            <a:spLocks noGrp="1"/>
          </p:cNvSpPr>
          <p:nvPr>
            <p:ph type="sldNum" sz="quarter" idx="12"/>
          </p:nvPr>
        </p:nvSpPr>
        <p:spPr/>
        <p:txBody>
          <a:bodyPr/>
          <a:lstStyle>
            <a:lvl1pPr>
              <a:defRPr smtClean="0"/>
            </a:lvl1pPr>
          </a:lstStyle>
          <a:p>
            <a:pPr>
              <a:defRPr/>
            </a:pPr>
            <a:fld id="{59BA1AF2-122D-413B-9A6F-A4FE069461D2}" type="slidenum">
              <a:rPr lang="en-US" altLang="zh-CN"/>
              <a:t>‹#›</a:t>
            </a:fld>
            <a:endParaRPr lang="en-US" altLang="zh-CN" dirty="0"/>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48FF56-40DD-471D-9572-94446A225DB0}" type="datetime1">
              <a:rPr lang="zh-CN" altLang="en-US" smtClean="0"/>
              <a:t>2026/8/20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A03BB3-B2AA-4365-8D21-2931F66B5648}"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3.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4.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5.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6.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7.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8.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9.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0.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1.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zhuanlan.zhihu.com/p/571190754?utm_id=0" TargetMode="External"/><Relationship Id="rId3" Type="http://schemas.openxmlformats.org/officeDocument/2006/relationships/hyperlink" Target="https://zotero.yuque.com/staff-gkhviy/pdf-trans" TargetMode="External"/><Relationship Id="rId4" Type="http://schemas.openxmlformats.org/officeDocument/2006/relationships/hyperlink" Target="https://ping.chinaz.com/translate.google.cn" TargetMode="External"/><Relationship Id="rId5" Type="http://schemas.openxmlformats.org/officeDocument/2006/relationships/hyperlink" Target="https://github.com/GoodCoder666/GoogleTranslate_IPFinder" TargetMode="Externa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2.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3.png"/><Relationship Id="rId3" Type="http://schemas.openxmlformats.org/officeDocument/2006/relationships/image" Target="../media/image64.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5.png"/><Relationship Id="rId3" Type="http://schemas.openxmlformats.org/officeDocument/2006/relationships/image" Target="../media/image66.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7.png"/><Relationship Id="rId3" Type="http://schemas.openxmlformats.org/officeDocument/2006/relationships/image" Target="../media/image68.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9.png"/><Relationship Id="rId3" Type="http://schemas.openxmlformats.org/officeDocument/2006/relationships/image" Target="../media/image70.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1.png"/><Relationship Id="rId3" Type="http://schemas.openxmlformats.org/officeDocument/2006/relationships/image" Target="../media/image72.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3.png"/><Relationship Id="rId3" Type="http://schemas.openxmlformats.org/officeDocument/2006/relationships/image" Target="../media/image74.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hub.com/GoodCoder666/GoogleTranslate_IPFinder" TargetMode="Externa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zotero.org/" TargetMode="Externa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5.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6.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a:xfrm>
            <a:off x="1524000" y="1728593"/>
            <a:ext cx="9144000" cy="3563654"/>
          </a:xfrm>
        </p:spPr>
        <p:txBody>
          <a:bodyPr>
            <a:normAutofit fontScale="90000"/>
          </a:bodyPr>
          <a:lstStyle/>
          <a:p>
            <a:pPr>
              <a:lnSpc>
                <a:spcPct val="150000"/>
              </a:lnSpc>
            </a:pPr>
            <a:r>
              <a:rPr lang="zh-CN" altLang="en-US" dirty="0"/>
              <a:t>第三天：</a:t>
            </a:r>
            <a:br>
              <a:rPr lang="en-US" altLang="zh-CN" dirty="0"/>
            </a:br>
            <a:r>
              <a:rPr lang="zh-CN" altLang="en-US" dirty="0"/>
              <a:t>上午：翻译与笔记</a:t>
            </a:r>
            <a:br>
              <a:rPr lang="en-US" altLang="zh-CN" dirty="0"/>
            </a:br>
            <a:r>
              <a:rPr lang="zh-CN" altLang="en-US" dirty="0"/>
              <a:t>下午：内容生成</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F0D7613-A8EC-3A49-43B8-1B531C26879C}"/>
              </a:ext>
            </a:extLst>
          </p:cNvPr>
          <p:cNvSpPr>
            <a:spLocks noGrp="1"/>
          </p:cNvSpPr>
          <p:nvPr>
            <p:ph idx="1"/>
          </p:nvPr>
        </p:nvSpPr>
        <p:spPr>
          <a:xfrm>
            <a:off x="953600" y="2813448"/>
            <a:ext cx="10691501" cy="3581688"/>
          </a:xfrm>
        </p:spPr>
        <p:txBody>
          <a:bodyPr>
            <a:normAutofit fontScale="85000" lnSpcReduction="10000"/>
          </a:bodyPr>
          <a:lstStyle/>
          <a:p>
            <a:pPr marL="0" indent="0" algn="ctr">
              <a:lnSpc>
                <a:spcPct val="150000"/>
              </a:lnSpc>
              <a:buNone/>
            </a:pPr>
            <a:r>
              <a:rPr lang="en-US" altLang="zh-CN" sz="2710" dirty="0"/>
              <a:t>All life is problem solving.  </a:t>
            </a:r>
          </a:p>
          <a:p>
            <a:pPr marL="0" indent="0" algn="ctr">
              <a:lnSpc>
                <a:spcPct val="150000"/>
              </a:lnSpc>
              <a:buNone/>
            </a:pPr>
            <a:r>
              <a:rPr lang="en-US" altLang="zh-CN" sz="2032" dirty="0"/>
              <a:t>—Karl Popper, Philosopher of Science  </a:t>
            </a:r>
          </a:p>
          <a:p>
            <a:pPr algn="ctr">
              <a:lnSpc>
                <a:spcPct val="150000"/>
              </a:lnSpc>
            </a:pPr>
            <a:endParaRPr lang="en-US" altLang="zh-CN" sz="2032" dirty="0"/>
          </a:p>
          <a:p>
            <a:pPr marL="0" indent="0" algn="ctr">
              <a:lnSpc>
                <a:spcPct val="150000"/>
              </a:lnSpc>
              <a:buNone/>
            </a:pPr>
            <a:r>
              <a:rPr lang="en-US" altLang="zh-CN" sz="2710" dirty="0"/>
              <a:t>We are now solving problems with machine learning and artificial intelligence that were in the realm of science fiction for the last several decades.  </a:t>
            </a:r>
          </a:p>
          <a:p>
            <a:pPr marL="0" indent="0" algn="ctr">
              <a:lnSpc>
                <a:spcPct val="150000"/>
              </a:lnSpc>
              <a:buNone/>
            </a:pPr>
            <a:r>
              <a:rPr lang="en-US" altLang="zh-CN" sz="2032" dirty="0"/>
              <a:t>—Jeff Bezos, Chairman of Amazon</a:t>
            </a:r>
            <a:endParaRPr lang="zh-CN" altLang="en-US" sz="2032" dirty="0"/>
          </a:p>
        </p:txBody>
      </p:sp>
      <p:sp>
        <p:nvSpPr>
          <p:cNvPr id="2" name="标题 1">
            <a:extLst>
              <a:ext uri="{FF2B5EF4-FFF2-40B4-BE49-F238E27FC236}">
                <a16:creationId xmlns:a16="http://schemas.microsoft.com/office/drawing/2014/main" id="{CCEE2ADA-F5FE-9B1D-28C7-2E4731763BC2}"/>
              </a:ext>
            </a:extLst>
          </p:cNvPr>
          <p:cNvSpPr txBox="1">
            <a:spLocks/>
          </p:cNvSpPr>
          <p:nvPr/>
        </p:nvSpPr>
        <p:spPr>
          <a:xfrm>
            <a:off x="1265907" y="681480"/>
            <a:ext cx="9660186" cy="165576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790"/>
              <a:t>生成式人工智能与创新管理</a:t>
            </a:r>
            <a:endParaRPr lang="zh-CN" altLang="en-US" sz="4790" dirty="0"/>
          </a:p>
        </p:txBody>
      </p:sp>
    </p:spTree>
    <p:extLst>
      <p:ext uri="{BB962C8B-B14F-4D97-AF65-F5344CB8AC3E}">
        <p14:creationId xmlns:p14="http://schemas.microsoft.com/office/powerpoint/2010/main" val="163642261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05525B-49F0-C5B7-AD50-3DD25BCFA61E}"/>
              </a:ext>
            </a:extLst>
          </p:cNvPr>
          <p:cNvSpPr>
            <a:spLocks noGrp="1"/>
          </p:cNvSpPr>
          <p:nvPr>
            <p:ph type="title"/>
          </p:nvPr>
        </p:nvSpPr>
        <p:spPr/>
        <p:txBody>
          <a:bodyPr/>
          <a:lstStyle/>
          <a:p>
            <a:r>
              <a:rPr lang="zh-CN" altLang="en-US" dirty="0"/>
              <a:t>为何选择生成式人工智能（</a:t>
            </a:r>
            <a:r>
              <a:rPr lang="en-US" altLang="zh-CN" dirty="0" err="1"/>
              <a:t>GenAI</a:t>
            </a:r>
            <a:r>
              <a:rPr lang="zh-CN" altLang="en-US" dirty="0"/>
              <a:t>）</a:t>
            </a:r>
          </a:p>
        </p:txBody>
      </p:sp>
      <p:sp>
        <p:nvSpPr>
          <p:cNvPr id="3" name="内容占位符 2">
            <a:extLst>
              <a:ext uri="{FF2B5EF4-FFF2-40B4-BE49-F238E27FC236}">
                <a16:creationId xmlns:a16="http://schemas.microsoft.com/office/drawing/2014/main" id="{4A59A563-E490-B609-9F2F-CCEF67126CEB}"/>
              </a:ext>
            </a:extLst>
          </p:cNvPr>
          <p:cNvSpPr>
            <a:spLocks noGrp="1"/>
          </p:cNvSpPr>
          <p:nvPr>
            <p:ph idx="1"/>
          </p:nvPr>
        </p:nvSpPr>
        <p:spPr/>
        <p:txBody>
          <a:bodyPr>
            <a:normAutofit fontScale="92500"/>
          </a:bodyPr>
          <a:lstStyle/>
          <a:p>
            <a:pPr>
              <a:lnSpc>
                <a:spcPct val="150000"/>
              </a:lnSpc>
            </a:pPr>
            <a:r>
              <a:rPr lang="zh-CN" altLang="en-US" sz="2032" dirty="0"/>
              <a:t>研究结果表明，人工智能（</a:t>
            </a:r>
            <a:r>
              <a:rPr lang="en-US" altLang="zh-CN" sz="2032" dirty="0"/>
              <a:t>AI</a:t>
            </a:r>
            <a:r>
              <a:rPr lang="zh-CN" altLang="en-US" sz="2032" dirty="0"/>
              <a:t>）、物联网（</a:t>
            </a:r>
            <a:r>
              <a:rPr lang="en-US" altLang="zh-CN" sz="2032" dirty="0"/>
              <a:t>IoT</a:t>
            </a:r>
            <a:r>
              <a:rPr lang="zh-CN" altLang="en-US" sz="2032" dirty="0"/>
              <a:t>）、工业物联网（</a:t>
            </a:r>
            <a:r>
              <a:rPr lang="en-US" altLang="zh-CN" sz="2032" dirty="0" err="1"/>
              <a:t>IIoT</a:t>
            </a:r>
            <a:r>
              <a:rPr lang="zh-CN" altLang="en-US" sz="2032" dirty="0"/>
              <a:t>）、工业</a:t>
            </a:r>
            <a:r>
              <a:rPr lang="en-US" altLang="zh-CN" sz="2032" dirty="0"/>
              <a:t>4.0</a:t>
            </a:r>
            <a:r>
              <a:rPr lang="zh-CN" altLang="en-US" sz="2032" dirty="0"/>
              <a:t>、大数据以及机器学习是显著影响企业创新并扮演重要角色的</a:t>
            </a:r>
            <a:r>
              <a:rPr lang="en-US" altLang="zh-CN" sz="2032" dirty="0"/>
              <a:t>AI</a:t>
            </a:r>
            <a:r>
              <a:rPr lang="zh-CN" altLang="en-US" sz="2032" dirty="0"/>
              <a:t>技术。（</a:t>
            </a:r>
            <a:r>
              <a:rPr lang="en-US" altLang="zh-CN" sz="2032" dirty="0" err="1"/>
              <a:t>Bahoo</a:t>
            </a:r>
            <a:r>
              <a:rPr lang="zh-CN" altLang="en-US" sz="2032" dirty="0"/>
              <a:t>等人，</a:t>
            </a:r>
            <a:r>
              <a:rPr lang="en-US" altLang="zh-CN" sz="2032" dirty="0"/>
              <a:t>2023</a:t>
            </a:r>
            <a:r>
              <a:rPr lang="zh-CN" altLang="en-US" sz="2032" dirty="0"/>
              <a:t>，第</a:t>
            </a:r>
            <a:r>
              <a:rPr lang="en-US" altLang="zh-CN" sz="2032" dirty="0"/>
              <a:t>23</a:t>
            </a:r>
            <a:r>
              <a:rPr lang="zh-CN" altLang="en-US" sz="2032" dirty="0"/>
              <a:t>页）</a:t>
            </a:r>
            <a:endParaRPr lang="en-US" altLang="zh-CN" sz="2032" dirty="0"/>
          </a:p>
          <a:p>
            <a:pPr>
              <a:lnSpc>
                <a:spcPct val="150000"/>
              </a:lnSpc>
            </a:pPr>
            <a:r>
              <a:rPr lang="zh-CN" altLang="en-US" sz="2032" dirty="0"/>
              <a:t>作为人工智能领域内的一个子学科，生成式人工智能（</a:t>
            </a:r>
            <a:r>
              <a:rPr lang="en-US" altLang="zh-CN" sz="2032" dirty="0" err="1"/>
              <a:t>GenAI</a:t>
            </a:r>
            <a:r>
              <a:rPr lang="zh-CN" altLang="en-US" sz="2032" dirty="0"/>
              <a:t>）使用户能够创造新的内容，包括文本、图像、音频和视频。它已经吸引了诸如谷歌、微软、百度和苹果等众多科技公司的兴趣。</a:t>
            </a:r>
            <a:r>
              <a:rPr lang="en-US" altLang="zh-CN" sz="2032" dirty="0"/>
              <a:t>OpenAI</a:t>
            </a:r>
            <a:r>
              <a:rPr lang="zh-CN" altLang="en-US" sz="2032" dirty="0"/>
              <a:t>的</a:t>
            </a:r>
            <a:r>
              <a:rPr lang="en-US" altLang="zh-CN" sz="2032" dirty="0"/>
              <a:t>Codex</a:t>
            </a:r>
            <a:r>
              <a:rPr lang="zh-CN" altLang="en-US" sz="2032" dirty="0"/>
              <a:t>、</a:t>
            </a:r>
            <a:r>
              <a:rPr lang="en-US" altLang="zh-CN" sz="2032" dirty="0"/>
              <a:t>DALL-E</a:t>
            </a:r>
            <a:r>
              <a:rPr lang="zh-CN" altLang="en-US" sz="2032" dirty="0"/>
              <a:t>以及</a:t>
            </a:r>
            <a:r>
              <a:rPr lang="en-US" altLang="zh-CN" sz="2032" dirty="0"/>
              <a:t>ChatGPT</a:t>
            </a:r>
            <a:r>
              <a:rPr lang="zh-CN" altLang="en-US" sz="2032" dirty="0"/>
              <a:t>等工具便是用于此过程的一部分。（</a:t>
            </a:r>
            <a:r>
              <a:rPr lang="en-US" altLang="zh-CN" sz="2032" dirty="0"/>
              <a:t>Mondal</a:t>
            </a:r>
            <a:r>
              <a:rPr lang="zh-CN" altLang="en-US" sz="2032" dirty="0"/>
              <a:t>等人，</a:t>
            </a:r>
            <a:r>
              <a:rPr lang="en-US" altLang="zh-CN" sz="2032" dirty="0"/>
              <a:t>2023</a:t>
            </a:r>
            <a:r>
              <a:rPr lang="zh-CN" altLang="en-US" sz="2032" dirty="0"/>
              <a:t>）</a:t>
            </a:r>
            <a:endParaRPr lang="en-US" altLang="zh-CN" sz="2032" dirty="0"/>
          </a:p>
          <a:p>
            <a:pPr>
              <a:lnSpc>
                <a:spcPct val="150000"/>
              </a:lnSpc>
            </a:pPr>
            <a:r>
              <a:rPr lang="zh-CN" altLang="en-US" sz="2032" dirty="0"/>
              <a:t>自然语言处理（</a:t>
            </a:r>
            <a:r>
              <a:rPr lang="en-US" altLang="zh-CN" sz="2032" dirty="0"/>
              <a:t>Natural Language Processing, NLP</a:t>
            </a:r>
            <a:r>
              <a:rPr lang="zh-CN" altLang="en-US" sz="2032" dirty="0"/>
              <a:t>）、大语言模型（</a:t>
            </a:r>
            <a:r>
              <a:rPr lang="en-US" altLang="zh-CN" sz="2032" dirty="0"/>
              <a:t>Large Language Models, LLMs</a:t>
            </a:r>
            <a:r>
              <a:rPr lang="zh-CN" altLang="en-US" sz="2032" dirty="0"/>
              <a:t>）和生成式人工智能（</a:t>
            </a:r>
            <a:r>
              <a:rPr lang="en-US" altLang="zh-CN" sz="2032" dirty="0"/>
              <a:t>Generative Artificial Intelligence, AI</a:t>
            </a:r>
            <a:r>
              <a:rPr lang="zh-CN" altLang="en-US" sz="2032" dirty="0"/>
              <a:t>）这三者概念之间存在紧密的联系，但各自代表不同的技术和范畴。</a:t>
            </a:r>
          </a:p>
        </p:txBody>
      </p:sp>
    </p:spTree>
    <p:extLst>
      <p:ext uri="{BB962C8B-B14F-4D97-AF65-F5344CB8AC3E}">
        <p14:creationId xmlns:p14="http://schemas.microsoft.com/office/powerpoint/2010/main" val="412857777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4CE12A66-ED7F-EE92-ED16-5171317BCA8E}"/>
              </a:ext>
            </a:extLst>
          </p:cNvPr>
          <p:cNvSpPr>
            <a:spLocks noGrp="1"/>
          </p:cNvSpPr>
          <p:nvPr>
            <p:ph type="title"/>
          </p:nvPr>
        </p:nvSpPr>
        <p:spPr/>
        <p:txBody>
          <a:bodyPr/>
          <a:lstStyle/>
          <a:p>
            <a:r>
              <a:rPr lang="zh-CN" altLang="en-US" dirty="0"/>
              <a:t>生成式人工智能 </a:t>
            </a:r>
            <a:r>
              <a:rPr lang="en-US" altLang="zh-CN" dirty="0"/>
              <a:t>(Generative AI)</a:t>
            </a:r>
            <a:r>
              <a:rPr lang="zh-CN" altLang="en-US" dirty="0"/>
              <a:t>：算命先生</a:t>
            </a:r>
          </a:p>
        </p:txBody>
      </p:sp>
      <p:sp>
        <p:nvSpPr>
          <p:cNvPr id="7" name="内容占位符 6">
            <a:extLst>
              <a:ext uri="{FF2B5EF4-FFF2-40B4-BE49-F238E27FC236}">
                <a16:creationId xmlns:a16="http://schemas.microsoft.com/office/drawing/2014/main" id="{191C1F07-E785-3CFC-E324-0825C74AD782}"/>
              </a:ext>
            </a:extLst>
          </p:cNvPr>
          <p:cNvSpPr>
            <a:spLocks noGrp="1"/>
          </p:cNvSpPr>
          <p:nvPr>
            <p:ph idx="1"/>
          </p:nvPr>
        </p:nvSpPr>
        <p:spPr/>
        <p:txBody>
          <a:bodyPr>
            <a:normAutofit/>
          </a:bodyPr>
          <a:lstStyle/>
          <a:p>
            <a:pPr>
              <a:lnSpc>
                <a:spcPct val="150000"/>
              </a:lnSpc>
            </a:pPr>
            <a:r>
              <a:rPr lang="zh-CN" altLang="en-US" sz="2235" dirty="0"/>
              <a:t>因此，从某种意义上说，大语言模型是生成式人工智能在</a:t>
            </a:r>
            <a:r>
              <a:rPr lang="en-US" altLang="zh-CN" sz="2235" dirty="0"/>
              <a:t>NLP</a:t>
            </a:r>
            <a:r>
              <a:rPr lang="zh-CN" altLang="en-US" sz="2235" dirty="0"/>
              <a:t>领域的具体应用和体现。生成式</a:t>
            </a:r>
            <a:r>
              <a:rPr lang="en-US" altLang="zh-CN" sz="2235" dirty="0"/>
              <a:t>AI</a:t>
            </a:r>
            <a:r>
              <a:rPr lang="zh-CN" altLang="en-US" sz="2235" dirty="0"/>
              <a:t>的核心在于它的创造性，它不仅复制或重组已有的信息，还能依据上下文、风格或指令生成新颖的输出。</a:t>
            </a:r>
            <a:endParaRPr lang="en-US" altLang="zh-CN" sz="2235" dirty="0"/>
          </a:p>
          <a:p>
            <a:pPr>
              <a:lnSpc>
                <a:spcPct val="150000"/>
              </a:lnSpc>
            </a:pPr>
            <a:r>
              <a:rPr lang="zh-CN" altLang="en-US" sz="2235" dirty="0"/>
              <a:t>简而言之，</a:t>
            </a:r>
            <a:r>
              <a:rPr lang="en-US" altLang="zh-CN" sz="2235" dirty="0"/>
              <a:t>NLP</a:t>
            </a:r>
            <a:r>
              <a:rPr lang="zh-CN" altLang="en-US" sz="2235" dirty="0"/>
              <a:t>是一个宽泛的领域，涵盖了所有涉及自然语言与机器交互的技术；大语言模型是</a:t>
            </a:r>
            <a:r>
              <a:rPr lang="en-US" altLang="zh-CN" sz="2235" dirty="0"/>
              <a:t>NLP</a:t>
            </a:r>
            <a:r>
              <a:rPr lang="zh-CN" altLang="en-US" sz="2235" dirty="0"/>
              <a:t>近期发展的一个亮点，特别是针对生成式任务；而生成式人工智能则是一种更普遍的概念，不仅限于语言领域，也包括视觉艺术、音乐创作等方面，但在语言处理领域，大语言模型是实现生成式</a:t>
            </a:r>
            <a:r>
              <a:rPr lang="en-US" altLang="zh-CN" sz="2235" dirty="0"/>
              <a:t>AI</a:t>
            </a:r>
            <a:r>
              <a:rPr lang="zh-CN" altLang="en-US" sz="2235" dirty="0"/>
              <a:t>最前沿的方式之一。</a:t>
            </a:r>
          </a:p>
        </p:txBody>
      </p:sp>
    </p:spTree>
    <p:extLst>
      <p:ext uri="{BB962C8B-B14F-4D97-AF65-F5344CB8AC3E}">
        <p14:creationId xmlns:p14="http://schemas.microsoft.com/office/powerpoint/2010/main" val="1373463695"/>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5D5112-016B-FFA6-131F-8B6C309B49A4}"/>
              </a:ext>
            </a:extLst>
          </p:cNvPr>
          <p:cNvSpPr>
            <a:spLocks noGrp="1"/>
          </p:cNvSpPr>
          <p:nvPr>
            <p:ph type="title"/>
          </p:nvPr>
        </p:nvSpPr>
        <p:spPr>
          <a:xfrm>
            <a:off x="4234587" y="486981"/>
            <a:ext cx="2640277" cy="580729"/>
          </a:xfrm>
        </p:spPr>
        <p:txBody>
          <a:bodyPr>
            <a:normAutofit fontScale="90000"/>
          </a:bodyPr>
          <a:lstStyle/>
          <a:p>
            <a:pPr algn="ctr"/>
            <a:r>
              <a:rPr lang="zh-CN" altLang="en-US" dirty="0"/>
              <a:t>概念定义</a:t>
            </a:r>
          </a:p>
        </p:txBody>
      </p:sp>
      <p:graphicFrame>
        <p:nvGraphicFramePr>
          <p:cNvPr id="3" name="表格 2">
            <a:extLst>
              <a:ext uri="{FF2B5EF4-FFF2-40B4-BE49-F238E27FC236}">
                <a16:creationId xmlns:a16="http://schemas.microsoft.com/office/drawing/2014/main" id="{5B76444F-E48B-4A08-E958-B4BDED085C95}"/>
              </a:ext>
            </a:extLst>
          </p:cNvPr>
          <p:cNvGraphicFramePr>
            <a:graphicFrameLocks noGrp="1"/>
          </p:cNvGraphicFramePr>
          <p:nvPr/>
        </p:nvGraphicFramePr>
        <p:xfrm>
          <a:off x="703185" y="1457487"/>
          <a:ext cx="10335959" cy="4913532"/>
        </p:xfrm>
        <a:graphic>
          <a:graphicData uri="http://schemas.openxmlformats.org/drawingml/2006/table">
            <a:tbl>
              <a:tblPr firstRow="1" firstCol="1" bandRow="1">
                <a:tableStyleId>{5C22544A-7EE6-4342-B048-85BDC9FD1C3A}</a:tableStyleId>
              </a:tblPr>
              <a:tblGrid>
                <a:gridCol w="1083700">
                  <a:extLst>
                    <a:ext uri="{9D8B030D-6E8A-4147-A177-3AD203B41FA5}">
                      <a16:colId xmlns:a16="http://schemas.microsoft.com/office/drawing/2014/main" val="3700136324"/>
                    </a:ext>
                  </a:extLst>
                </a:gridCol>
                <a:gridCol w="2482657">
                  <a:extLst>
                    <a:ext uri="{9D8B030D-6E8A-4147-A177-3AD203B41FA5}">
                      <a16:colId xmlns:a16="http://schemas.microsoft.com/office/drawing/2014/main" val="3940614061"/>
                    </a:ext>
                  </a:extLst>
                </a:gridCol>
                <a:gridCol w="1933770">
                  <a:extLst>
                    <a:ext uri="{9D8B030D-6E8A-4147-A177-3AD203B41FA5}">
                      <a16:colId xmlns:a16="http://schemas.microsoft.com/office/drawing/2014/main" val="4139319589"/>
                    </a:ext>
                  </a:extLst>
                </a:gridCol>
                <a:gridCol w="4835832">
                  <a:extLst>
                    <a:ext uri="{9D8B030D-6E8A-4147-A177-3AD203B41FA5}">
                      <a16:colId xmlns:a16="http://schemas.microsoft.com/office/drawing/2014/main" val="907052526"/>
                    </a:ext>
                  </a:extLst>
                </a:gridCol>
              </a:tblGrid>
              <a:tr h="238334">
                <a:tc>
                  <a:txBody>
                    <a:bodyPr/>
                    <a:lstStyle/>
                    <a:p>
                      <a:pPr algn="ctr"/>
                      <a:r>
                        <a:rPr lang="zh-CN" sz="1400" kern="0">
                          <a:effectLst/>
                        </a:rPr>
                        <a:t>概念</a:t>
                      </a:r>
                      <a:endParaRPr lang="zh-CN" sz="900" kern="100">
                        <a:effectLst/>
                        <a:latin typeface="等线" panose="02010600030101010101" pitchFamily="2" charset="-122"/>
                        <a:ea typeface="等线" panose="02010600030101010101" pitchFamily="2" charset="-122"/>
                        <a:cs typeface="Times New Roman" panose="02020603050405020304" pitchFamily="18" charset="0"/>
                      </a:endParaRPr>
                    </a:p>
                  </a:txBody>
                  <a:tcPr marL="37604" marR="37604" marT="0" marB="0"/>
                </a:tc>
                <a:tc>
                  <a:txBody>
                    <a:bodyPr/>
                    <a:lstStyle/>
                    <a:p>
                      <a:pPr algn="ctr"/>
                      <a:r>
                        <a:rPr lang="zh-CN" sz="1400" kern="0">
                          <a:effectLst/>
                        </a:rPr>
                        <a:t>定义与特性</a:t>
                      </a:r>
                      <a:endParaRPr lang="zh-CN" sz="900" kern="100">
                        <a:effectLst/>
                        <a:latin typeface="等线" panose="02010600030101010101" pitchFamily="2" charset="-122"/>
                        <a:ea typeface="等线" panose="02010600030101010101" pitchFamily="2" charset="-122"/>
                        <a:cs typeface="Times New Roman" panose="02020603050405020304" pitchFamily="18" charset="0"/>
                      </a:endParaRPr>
                    </a:p>
                  </a:txBody>
                  <a:tcPr marL="37604" marR="37604" marT="0" marB="0"/>
                </a:tc>
                <a:tc>
                  <a:txBody>
                    <a:bodyPr/>
                    <a:lstStyle/>
                    <a:p>
                      <a:pPr algn="ctr"/>
                      <a:r>
                        <a:rPr lang="zh-CN" sz="1400" kern="0">
                          <a:effectLst/>
                        </a:rPr>
                        <a:t>相关技术与应用</a:t>
                      </a:r>
                      <a:endParaRPr lang="zh-CN" sz="900" kern="100">
                        <a:effectLst/>
                        <a:latin typeface="等线" panose="02010600030101010101" pitchFamily="2" charset="-122"/>
                        <a:ea typeface="等线" panose="02010600030101010101" pitchFamily="2" charset="-122"/>
                        <a:cs typeface="Times New Roman" panose="02020603050405020304" pitchFamily="18" charset="0"/>
                      </a:endParaRPr>
                    </a:p>
                  </a:txBody>
                  <a:tcPr marL="37604" marR="37604" marT="0" marB="0"/>
                </a:tc>
                <a:tc>
                  <a:txBody>
                    <a:bodyPr/>
                    <a:lstStyle/>
                    <a:p>
                      <a:pPr algn="ctr"/>
                      <a:r>
                        <a:rPr lang="zh-CN" sz="1400" kern="0" dirty="0">
                          <a:effectLst/>
                        </a:rPr>
                        <a:t>关系与区别</a:t>
                      </a:r>
                      <a:endParaRPr lang="zh-CN" sz="9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37604" marR="37604" marT="0" marB="0"/>
                </a:tc>
                <a:extLst>
                  <a:ext uri="{0D108BD9-81ED-4DB2-BD59-A6C34878D82A}">
                    <a16:rowId xmlns:a16="http://schemas.microsoft.com/office/drawing/2014/main" val="4120655208"/>
                  </a:ext>
                </a:extLst>
              </a:tr>
              <a:tr h="1558399">
                <a:tc>
                  <a:txBody>
                    <a:bodyPr/>
                    <a:lstStyle/>
                    <a:p>
                      <a:pPr algn="l"/>
                      <a:r>
                        <a:rPr lang="zh-CN" sz="1400" kern="0">
                          <a:effectLst/>
                        </a:rPr>
                        <a:t>人工智能（</a:t>
                      </a:r>
                      <a:r>
                        <a:rPr lang="en-US" sz="1400" kern="0">
                          <a:effectLst/>
                        </a:rPr>
                        <a:t>AI</a:t>
                      </a:r>
                      <a:r>
                        <a:rPr lang="zh-CN" sz="1400" kern="0">
                          <a:effectLst/>
                        </a:rPr>
                        <a:t>）</a:t>
                      </a:r>
                      <a:endParaRPr lang="zh-CN" sz="900" kern="100">
                        <a:effectLst/>
                        <a:latin typeface="等线" panose="02010600030101010101" pitchFamily="2" charset="-122"/>
                        <a:ea typeface="等线" panose="02010600030101010101" pitchFamily="2" charset="-122"/>
                        <a:cs typeface="Times New Roman" panose="02020603050405020304" pitchFamily="18" charset="0"/>
                      </a:endParaRPr>
                    </a:p>
                  </a:txBody>
                  <a:tcPr marL="37604" marR="37604" marT="0" marB="0"/>
                </a:tc>
                <a:tc>
                  <a:txBody>
                    <a:bodyPr/>
                    <a:lstStyle/>
                    <a:p>
                      <a:pPr algn="l"/>
                      <a:r>
                        <a:rPr lang="zh-CN" sz="1400" kern="0" dirty="0">
                          <a:effectLst/>
                        </a:rPr>
                        <a:t>旨在创建能够执行通常需要人类智能的任务的系统。包括学习、推理、感知、理解、交流等能力。</a:t>
                      </a:r>
                      <a:endParaRPr lang="zh-CN" sz="9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37604" marR="37604" marT="0" marB="0"/>
                </a:tc>
                <a:tc>
                  <a:txBody>
                    <a:bodyPr/>
                    <a:lstStyle/>
                    <a:p>
                      <a:pPr algn="l"/>
                      <a:r>
                        <a:rPr lang="zh-CN" sz="1400" kern="0" dirty="0">
                          <a:effectLst/>
                        </a:rPr>
                        <a:t>机器学习、深度学习、专家系统、自然语言处理等</a:t>
                      </a:r>
                      <a:endParaRPr lang="zh-CN" sz="9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37604" marR="37604" marT="0" marB="0"/>
                </a:tc>
                <a:tc>
                  <a:txBody>
                    <a:bodyPr/>
                    <a:lstStyle/>
                    <a:p>
                      <a:pPr algn="l"/>
                      <a:r>
                        <a:rPr lang="en-US" sz="1400" kern="0">
                          <a:effectLst/>
                        </a:rPr>
                        <a:t>AI</a:t>
                      </a:r>
                      <a:r>
                        <a:rPr lang="zh-CN" sz="1400" kern="0">
                          <a:effectLst/>
                        </a:rPr>
                        <a:t>是最广泛的概念，包含</a:t>
                      </a:r>
                      <a:r>
                        <a:rPr lang="en-US" sz="1400" kern="0">
                          <a:effectLst/>
                        </a:rPr>
                        <a:t>ML</a:t>
                      </a:r>
                      <a:r>
                        <a:rPr lang="zh-CN" sz="1400" kern="0">
                          <a:effectLst/>
                        </a:rPr>
                        <a:t>和</a:t>
                      </a:r>
                      <a:r>
                        <a:rPr lang="en-US" sz="1400" kern="0">
                          <a:effectLst/>
                        </a:rPr>
                        <a:t>NLP</a:t>
                      </a:r>
                      <a:r>
                        <a:rPr lang="zh-CN" sz="1400" kern="0">
                          <a:effectLst/>
                        </a:rPr>
                        <a:t>；</a:t>
                      </a:r>
                      <a:r>
                        <a:rPr lang="en-US" sz="1400" kern="0">
                          <a:effectLst/>
                        </a:rPr>
                        <a:t>ML</a:t>
                      </a:r>
                      <a:r>
                        <a:rPr lang="zh-CN" sz="1400" kern="0">
                          <a:effectLst/>
                        </a:rPr>
                        <a:t>是</a:t>
                      </a:r>
                      <a:r>
                        <a:rPr lang="en-US" sz="1400" kern="0">
                          <a:effectLst/>
                        </a:rPr>
                        <a:t>AI</a:t>
                      </a:r>
                      <a:r>
                        <a:rPr lang="zh-CN" sz="1400" kern="0">
                          <a:effectLst/>
                        </a:rPr>
                        <a:t>的一个分支，专注于通过数据学习模型；</a:t>
                      </a:r>
                      <a:r>
                        <a:rPr lang="en-US" sz="1400" kern="0">
                          <a:effectLst/>
                        </a:rPr>
                        <a:t>NLP</a:t>
                      </a:r>
                      <a:r>
                        <a:rPr lang="zh-CN" sz="1400" kern="0">
                          <a:effectLst/>
                        </a:rPr>
                        <a:t>是</a:t>
                      </a:r>
                      <a:r>
                        <a:rPr lang="en-US" sz="1400" kern="0">
                          <a:effectLst/>
                        </a:rPr>
                        <a:t>AI</a:t>
                      </a:r>
                      <a:r>
                        <a:rPr lang="zh-CN" sz="1400" kern="0">
                          <a:effectLst/>
                        </a:rPr>
                        <a:t>的一个子领域，专注于处理语言信息；生成式</a:t>
                      </a:r>
                      <a:r>
                        <a:rPr lang="en-US" sz="1400" kern="0">
                          <a:effectLst/>
                        </a:rPr>
                        <a:t>AI</a:t>
                      </a:r>
                      <a:r>
                        <a:rPr lang="zh-CN" sz="1400" kern="0">
                          <a:effectLst/>
                        </a:rPr>
                        <a:t>是基于</a:t>
                      </a:r>
                      <a:r>
                        <a:rPr lang="en-US" sz="1400" kern="0">
                          <a:effectLst/>
                        </a:rPr>
                        <a:t>ML</a:t>
                      </a:r>
                      <a:r>
                        <a:rPr lang="zh-CN" sz="1400" kern="0">
                          <a:effectLst/>
                        </a:rPr>
                        <a:t>的一种方法，特别擅长于创造新内容或模仿复杂模式。</a:t>
                      </a:r>
                      <a:r>
                        <a:rPr lang="en-US" sz="1400" kern="0">
                          <a:effectLst/>
                        </a:rPr>
                        <a:t>AI</a:t>
                      </a:r>
                      <a:r>
                        <a:rPr lang="zh-CN" sz="1400" kern="0">
                          <a:effectLst/>
                        </a:rPr>
                        <a:t>提供了一种通用框架，而</a:t>
                      </a:r>
                      <a:r>
                        <a:rPr lang="en-US" sz="1400" kern="0">
                          <a:effectLst/>
                        </a:rPr>
                        <a:t>ML</a:t>
                      </a:r>
                      <a:r>
                        <a:rPr lang="zh-CN" sz="1400" kern="0">
                          <a:effectLst/>
                        </a:rPr>
                        <a:t>、</a:t>
                      </a:r>
                      <a:r>
                        <a:rPr lang="en-US" sz="1400" kern="0">
                          <a:effectLst/>
                        </a:rPr>
                        <a:t>NLP</a:t>
                      </a:r>
                      <a:r>
                        <a:rPr lang="zh-CN" sz="1400" kern="0">
                          <a:effectLst/>
                        </a:rPr>
                        <a:t>和生成式</a:t>
                      </a:r>
                      <a:r>
                        <a:rPr lang="en-US" sz="1400" kern="0">
                          <a:effectLst/>
                        </a:rPr>
                        <a:t>AI</a:t>
                      </a:r>
                      <a:r>
                        <a:rPr lang="zh-CN" sz="1400" kern="0">
                          <a:effectLst/>
                        </a:rPr>
                        <a:t>则是在这个框架下的特定技术和方法。</a:t>
                      </a:r>
                      <a:endParaRPr lang="zh-CN" sz="900" kern="100">
                        <a:effectLst/>
                        <a:latin typeface="等线" panose="02010600030101010101" pitchFamily="2" charset="-122"/>
                        <a:ea typeface="等线" panose="02010600030101010101" pitchFamily="2" charset="-122"/>
                        <a:cs typeface="Times New Roman" panose="02020603050405020304" pitchFamily="18" charset="0"/>
                      </a:endParaRPr>
                    </a:p>
                  </a:txBody>
                  <a:tcPr marL="37604" marR="37604" marT="0" marB="0"/>
                </a:tc>
                <a:extLst>
                  <a:ext uri="{0D108BD9-81ED-4DB2-BD59-A6C34878D82A}">
                    <a16:rowId xmlns:a16="http://schemas.microsoft.com/office/drawing/2014/main" val="3532825209"/>
                  </a:ext>
                </a:extLst>
              </a:tr>
              <a:tr h="1212088">
                <a:tc>
                  <a:txBody>
                    <a:bodyPr/>
                    <a:lstStyle/>
                    <a:p>
                      <a:pPr algn="l"/>
                      <a:r>
                        <a:rPr lang="zh-CN" sz="1400" kern="0">
                          <a:effectLst/>
                        </a:rPr>
                        <a:t>生成式</a:t>
                      </a:r>
                      <a:r>
                        <a:rPr lang="en-US" sz="1400" kern="0">
                          <a:effectLst/>
                        </a:rPr>
                        <a:t>AI</a:t>
                      </a:r>
                      <a:endParaRPr lang="zh-CN" sz="900" kern="100">
                        <a:effectLst/>
                        <a:latin typeface="等线" panose="02010600030101010101" pitchFamily="2" charset="-122"/>
                        <a:ea typeface="等线" panose="02010600030101010101" pitchFamily="2" charset="-122"/>
                        <a:cs typeface="Times New Roman" panose="02020603050405020304" pitchFamily="18" charset="0"/>
                      </a:endParaRPr>
                    </a:p>
                  </a:txBody>
                  <a:tcPr marL="37604" marR="37604" marT="0" marB="0"/>
                </a:tc>
                <a:tc>
                  <a:txBody>
                    <a:bodyPr/>
                    <a:lstStyle/>
                    <a:p>
                      <a:pPr algn="l"/>
                      <a:r>
                        <a:rPr lang="zh-CN" sz="1400" kern="0" dirty="0">
                          <a:effectLst/>
                        </a:rPr>
                        <a:t>利用</a:t>
                      </a:r>
                      <a:r>
                        <a:rPr lang="en-US" sz="1400" kern="0" dirty="0">
                          <a:effectLst/>
                        </a:rPr>
                        <a:t>ML</a:t>
                      </a:r>
                      <a:r>
                        <a:rPr lang="zh-CN" sz="1400" kern="0" dirty="0">
                          <a:effectLst/>
                        </a:rPr>
                        <a:t>模型生成新的数据样本，如文本、图像、音频或视频，通常模仿现有数据的风格和结构。</a:t>
                      </a:r>
                      <a:endParaRPr lang="zh-CN" sz="9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37604" marR="37604" marT="0" marB="0"/>
                </a:tc>
                <a:tc>
                  <a:txBody>
                    <a:bodyPr/>
                    <a:lstStyle/>
                    <a:p>
                      <a:pPr algn="l"/>
                      <a:r>
                        <a:rPr lang="en-US" sz="1400" kern="0">
                          <a:effectLst/>
                        </a:rPr>
                        <a:t>GANs</a:t>
                      </a:r>
                      <a:r>
                        <a:rPr lang="zh-CN" sz="1400" kern="0">
                          <a:effectLst/>
                        </a:rPr>
                        <a:t>（生成对抗网络）、</a:t>
                      </a:r>
                      <a:r>
                        <a:rPr lang="en-US" sz="1400" kern="0">
                          <a:effectLst/>
                        </a:rPr>
                        <a:t>Transformer</a:t>
                      </a:r>
                      <a:r>
                        <a:rPr lang="zh-CN" sz="1400" kern="0">
                          <a:effectLst/>
                        </a:rPr>
                        <a:t>、</a:t>
                      </a:r>
                      <a:r>
                        <a:rPr lang="en-US" sz="1400" kern="0">
                          <a:effectLst/>
                        </a:rPr>
                        <a:t>RNN</a:t>
                      </a:r>
                      <a:endParaRPr lang="zh-CN" sz="900" kern="100">
                        <a:effectLst/>
                        <a:latin typeface="等线" panose="02010600030101010101" pitchFamily="2" charset="-122"/>
                        <a:ea typeface="等线" panose="02010600030101010101" pitchFamily="2" charset="-122"/>
                        <a:cs typeface="Times New Roman" panose="02020603050405020304" pitchFamily="18" charset="0"/>
                      </a:endParaRPr>
                    </a:p>
                  </a:txBody>
                  <a:tcPr marL="37604" marR="37604" marT="0" marB="0"/>
                </a:tc>
                <a:tc>
                  <a:txBody>
                    <a:bodyPr/>
                    <a:lstStyle/>
                    <a:p>
                      <a:pPr algn="l"/>
                      <a:r>
                        <a:rPr lang="zh-CN" sz="1400" kern="0">
                          <a:effectLst/>
                        </a:rPr>
                        <a:t>生成式</a:t>
                      </a:r>
                      <a:r>
                        <a:rPr lang="en-US" sz="1400" kern="0">
                          <a:effectLst/>
                        </a:rPr>
                        <a:t>AI</a:t>
                      </a:r>
                      <a:r>
                        <a:rPr lang="zh-CN" sz="1400" kern="0">
                          <a:effectLst/>
                        </a:rPr>
                        <a:t>是</a:t>
                      </a:r>
                      <a:r>
                        <a:rPr lang="en-US" sz="1400" kern="0">
                          <a:effectLst/>
                        </a:rPr>
                        <a:t>ML</a:t>
                      </a:r>
                      <a:r>
                        <a:rPr lang="zh-CN" sz="1400" kern="0">
                          <a:effectLst/>
                        </a:rPr>
                        <a:t>技术的一个特定应用，它专注于创造而不是分类或回归。与其他形式的</a:t>
                      </a:r>
                      <a:r>
                        <a:rPr lang="en-US" sz="1400" kern="0">
                          <a:effectLst/>
                        </a:rPr>
                        <a:t>AI</a:t>
                      </a:r>
                      <a:r>
                        <a:rPr lang="zh-CN" sz="1400" kern="0">
                          <a:effectLst/>
                        </a:rPr>
                        <a:t>相比，生成式</a:t>
                      </a:r>
                      <a:r>
                        <a:rPr lang="en-US" sz="1400" kern="0">
                          <a:effectLst/>
                        </a:rPr>
                        <a:t>AI</a:t>
                      </a:r>
                      <a:r>
                        <a:rPr lang="zh-CN" sz="1400" kern="0">
                          <a:effectLst/>
                        </a:rPr>
                        <a:t>更注重创造性输出，如生成新的文章、图像或音乐作品。它通常利用深度学习技术，特别是神经网络模型，来达到这一目的。</a:t>
                      </a:r>
                      <a:endParaRPr lang="zh-CN" sz="900" kern="100">
                        <a:effectLst/>
                        <a:latin typeface="等线" panose="02010600030101010101" pitchFamily="2" charset="-122"/>
                        <a:ea typeface="等线" panose="02010600030101010101" pitchFamily="2" charset="-122"/>
                        <a:cs typeface="Times New Roman" panose="02020603050405020304" pitchFamily="18" charset="0"/>
                      </a:endParaRPr>
                    </a:p>
                  </a:txBody>
                  <a:tcPr marL="37604" marR="37604" marT="0" marB="0"/>
                </a:tc>
                <a:extLst>
                  <a:ext uri="{0D108BD9-81ED-4DB2-BD59-A6C34878D82A}">
                    <a16:rowId xmlns:a16="http://schemas.microsoft.com/office/drawing/2014/main" val="719065276"/>
                  </a:ext>
                </a:extLst>
              </a:tr>
              <a:tr h="865778">
                <a:tc>
                  <a:txBody>
                    <a:bodyPr/>
                    <a:lstStyle/>
                    <a:p>
                      <a:pPr algn="l"/>
                      <a:r>
                        <a:rPr lang="zh-CN" sz="1400" kern="0">
                          <a:effectLst/>
                        </a:rPr>
                        <a:t>机器学习（</a:t>
                      </a:r>
                      <a:r>
                        <a:rPr lang="en-US" sz="1400" kern="0">
                          <a:effectLst/>
                        </a:rPr>
                        <a:t>ML</a:t>
                      </a:r>
                      <a:r>
                        <a:rPr lang="zh-CN" sz="1400" kern="0">
                          <a:effectLst/>
                        </a:rPr>
                        <a:t>）</a:t>
                      </a:r>
                      <a:endParaRPr lang="zh-CN" sz="900" kern="100">
                        <a:effectLst/>
                        <a:latin typeface="等线" panose="02010600030101010101" pitchFamily="2" charset="-122"/>
                        <a:ea typeface="等线" panose="02010600030101010101" pitchFamily="2" charset="-122"/>
                        <a:cs typeface="Times New Roman" panose="02020603050405020304" pitchFamily="18" charset="0"/>
                      </a:endParaRPr>
                    </a:p>
                  </a:txBody>
                  <a:tcPr marL="37604" marR="37604" marT="0" marB="0"/>
                </a:tc>
                <a:tc>
                  <a:txBody>
                    <a:bodyPr/>
                    <a:lstStyle/>
                    <a:p>
                      <a:pPr algn="l"/>
                      <a:r>
                        <a:rPr lang="zh-CN" sz="1400" kern="0">
                          <a:effectLst/>
                        </a:rPr>
                        <a:t>是</a:t>
                      </a:r>
                      <a:r>
                        <a:rPr lang="en-US" sz="1400" kern="0">
                          <a:effectLst/>
                        </a:rPr>
                        <a:t>AI</a:t>
                      </a:r>
                      <a:r>
                        <a:rPr lang="zh-CN" sz="1400" kern="0">
                          <a:effectLst/>
                        </a:rPr>
                        <a:t>的一个子集，强调通过数据训练算法以改进其性能，而不是明确编程。</a:t>
                      </a:r>
                      <a:endParaRPr lang="zh-CN" sz="900" kern="100">
                        <a:effectLst/>
                        <a:latin typeface="等线" panose="02010600030101010101" pitchFamily="2" charset="-122"/>
                        <a:ea typeface="等线" panose="02010600030101010101" pitchFamily="2" charset="-122"/>
                        <a:cs typeface="Times New Roman" panose="02020603050405020304" pitchFamily="18" charset="0"/>
                      </a:endParaRPr>
                    </a:p>
                  </a:txBody>
                  <a:tcPr marL="37604" marR="37604" marT="0" marB="0"/>
                </a:tc>
                <a:tc>
                  <a:txBody>
                    <a:bodyPr/>
                    <a:lstStyle/>
                    <a:p>
                      <a:pPr algn="l"/>
                      <a:r>
                        <a:rPr lang="zh-CN" sz="1400" kern="0">
                          <a:effectLst/>
                        </a:rPr>
                        <a:t>监督学习、非监督学习、强化学习、神经网络</a:t>
                      </a:r>
                      <a:endParaRPr lang="zh-CN" sz="900" kern="100">
                        <a:effectLst/>
                        <a:latin typeface="等线" panose="02010600030101010101" pitchFamily="2" charset="-122"/>
                        <a:ea typeface="等线" panose="02010600030101010101" pitchFamily="2" charset="-122"/>
                        <a:cs typeface="Times New Roman" panose="02020603050405020304" pitchFamily="18" charset="0"/>
                      </a:endParaRPr>
                    </a:p>
                  </a:txBody>
                  <a:tcPr marL="37604" marR="37604" marT="0" marB="0"/>
                </a:tc>
                <a:tc>
                  <a:txBody>
                    <a:bodyPr/>
                    <a:lstStyle/>
                    <a:p>
                      <a:pPr algn="l"/>
                      <a:r>
                        <a:rPr lang="en-US" sz="1400" kern="0">
                          <a:effectLst/>
                        </a:rPr>
                        <a:t>ML</a:t>
                      </a:r>
                      <a:r>
                        <a:rPr lang="zh-CN" sz="1400" kern="0">
                          <a:effectLst/>
                        </a:rPr>
                        <a:t>是实现</a:t>
                      </a:r>
                      <a:r>
                        <a:rPr lang="en-US" sz="1400" kern="0">
                          <a:effectLst/>
                        </a:rPr>
                        <a:t>AI</a:t>
                      </a:r>
                      <a:r>
                        <a:rPr lang="zh-CN" sz="1400" kern="0">
                          <a:effectLst/>
                        </a:rPr>
                        <a:t>的一种具体方式，它依赖于大量数据和统计学方法来让计算机自动</a:t>
                      </a:r>
                      <a:r>
                        <a:rPr lang="en-US" sz="1400" kern="0">
                          <a:effectLst/>
                        </a:rPr>
                        <a:t>“</a:t>
                      </a:r>
                      <a:r>
                        <a:rPr lang="zh-CN" sz="1400" kern="0">
                          <a:effectLst/>
                        </a:rPr>
                        <a:t>学习</a:t>
                      </a:r>
                      <a:r>
                        <a:rPr lang="en-US" sz="1400" kern="0">
                          <a:effectLst/>
                        </a:rPr>
                        <a:t>”</a:t>
                      </a:r>
                      <a:r>
                        <a:rPr lang="zh-CN" sz="1400" kern="0">
                          <a:effectLst/>
                        </a:rPr>
                        <a:t>如何完成任务。相较于传统编程，</a:t>
                      </a:r>
                      <a:r>
                        <a:rPr lang="en-US" sz="1400" kern="0">
                          <a:effectLst/>
                        </a:rPr>
                        <a:t>ML</a:t>
                      </a:r>
                      <a:r>
                        <a:rPr lang="zh-CN" sz="1400" kern="0">
                          <a:effectLst/>
                        </a:rPr>
                        <a:t>更加侧重于数据驱动的方法。</a:t>
                      </a:r>
                      <a:endParaRPr lang="zh-CN" sz="900" kern="100">
                        <a:effectLst/>
                        <a:latin typeface="等线" panose="02010600030101010101" pitchFamily="2" charset="-122"/>
                        <a:ea typeface="等线" panose="02010600030101010101" pitchFamily="2" charset="-122"/>
                        <a:cs typeface="Times New Roman" panose="02020603050405020304" pitchFamily="18" charset="0"/>
                      </a:endParaRPr>
                    </a:p>
                  </a:txBody>
                  <a:tcPr marL="37604" marR="37604" marT="0" marB="0"/>
                </a:tc>
                <a:extLst>
                  <a:ext uri="{0D108BD9-81ED-4DB2-BD59-A6C34878D82A}">
                    <a16:rowId xmlns:a16="http://schemas.microsoft.com/office/drawing/2014/main" val="3461016062"/>
                  </a:ext>
                </a:extLst>
              </a:tr>
              <a:tr h="1038933">
                <a:tc>
                  <a:txBody>
                    <a:bodyPr/>
                    <a:lstStyle/>
                    <a:p>
                      <a:pPr algn="l"/>
                      <a:r>
                        <a:rPr lang="zh-CN" sz="1400" kern="0">
                          <a:effectLst/>
                        </a:rPr>
                        <a:t>自然语言处理（</a:t>
                      </a:r>
                      <a:r>
                        <a:rPr lang="en-US" sz="1400" kern="0">
                          <a:effectLst/>
                        </a:rPr>
                        <a:t>NLP</a:t>
                      </a:r>
                      <a:r>
                        <a:rPr lang="zh-CN" sz="1400" kern="0">
                          <a:effectLst/>
                        </a:rPr>
                        <a:t>）</a:t>
                      </a:r>
                      <a:endParaRPr lang="zh-CN" sz="900" kern="100">
                        <a:effectLst/>
                        <a:latin typeface="等线" panose="02010600030101010101" pitchFamily="2" charset="-122"/>
                        <a:ea typeface="等线" panose="02010600030101010101" pitchFamily="2" charset="-122"/>
                        <a:cs typeface="Times New Roman" panose="02020603050405020304" pitchFamily="18" charset="0"/>
                      </a:endParaRPr>
                    </a:p>
                  </a:txBody>
                  <a:tcPr marL="37604" marR="37604" marT="0" marB="0"/>
                </a:tc>
                <a:tc>
                  <a:txBody>
                    <a:bodyPr/>
                    <a:lstStyle/>
                    <a:p>
                      <a:pPr algn="l"/>
                      <a:r>
                        <a:rPr lang="en-US" sz="1400" kern="0">
                          <a:effectLst/>
                        </a:rPr>
                        <a:t>AI</a:t>
                      </a:r>
                      <a:r>
                        <a:rPr lang="zh-CN" sz="1400" kern="0">
                          <a:effectLst/>
                        </a:rPr>
                        <a:t>的一个子领域，专注于让计算机理解、解释和生成人类语言。</a:t>
                      </a:r>
                      <a:endParaRPr lang="zh-CN" sz="900" kern="100">
                        <a:effectLst/>
                        <a:latin typeface="等线" panose="02010600030101010101" pitchFamily="2" charset="-122"/>
                        <a:ea typeface="等线" panose="02010600030101010101" pitchFamily="2" charset="-122"/>
                        <a:cs typeface="Times New Roman" panose="02020603050405020304" pitchFamily="18" charset="0"/>
                      </a:endParaRPr>
                    </a:p>
                  </a:txBody>
                  <a:tcPr marL="37604" marR="37604" marT="0" marB="0"/>
                </a:tc>
                <a:tc>
                  <a:txBody>
                    <a:bodyPr/>
                    <a:lstStyle/>
                    <a:p>
                      <a:pPr algn="l"/>
                      <a:r>
                        <a:rPr lang="zh-CN" sz="1400" kern="0" dirty="0">
                          <a:effectLst/>
                        </a:rPr>
                        <a:t>词嵌入、语义分析、情感分析、机器翻译</a:t>
                      </a:r>
                      <a:endParaRPr lang="zh-CN" sz="9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37604" marR="37604" marT="0" marB="0"/>
                </a:tc>
                <a:tc>
                  <a:txBody>
                    <a:bodyPr/>
                    <a:lstStyle/>
                    <a:p>
                      <a:pPr algn="l"/>
                      <a:r>
                        <a:rPr lang="en-US" sz="1400" kern="0" dirty="0">
                          <a:effectLst/>
                        </a:rPr>
                        <a:t>NLP</a:t>
                      </a:r>
                      <a:r>
                        <a:rPr lang="zh-CN" sz="1400" kern="0" dirty="0">
                          <a:effectLst/>
                        </a:rPr>
                        <a:t>是</a:t>
                      </a:r>
                      <a:r>
                        <a:rPr lang="en-US" sz="1400" kern="0" dirty="0">
                          <a:effectLst/>
                        </a:rPr>
                        <a:t>AI</a:t>
                      </a:r>
                      <a:r>
                        <a:rPr lang="zh-CN" sz="1400" kern="0" dirty="0">
                          <a:effectLst/>
                        </a:rPr>
                        <a:t>和</a:t>
                      </a:r>
                      <a:r>
                        <a:rPr lang="en-US" sz="1400" kern="0" dirty="0">
                          <a:effectLst/>
                        </a:rPr>
                        <a:t>ML</a:t>
                      </a:r>
                      <a:r>
                        <a:rPr lang="zh-CN" sz="1400" kern="0" dirty="0">
                          <a:effectLst/>
                        </a:rPr>
                        <a:t>在处理文本和语音数据方面的应用，它结合了语言学和计算理论，使计算机能够理解和生成自然语言。</a:t>
                      </a:r>
                      <a:r>
                        <a:rPr lang="en-US" sz="1400" kern="0" dirty="0">
                          <a:effectLst/>
                        </a:rPr>
                        <a:t>NLP</a:t>
                      </a:r>
                      <a:r>
                        <a:rPr lang="zh-CN" sz="1400" kern="0" dirty="0">
                          <a:effectLst/>
                        </a:rPr>
                        <a:t>可以被视为</a:t>
                      </a:r>
                      <a:r>
                        <a:rPr lang="en-US" sz="1400" kern="0" dirty="0">
                          <a:effectLst/>
                        </a:rPr>
                        <a:t>ML</a:t>
                      </a:r>
                      <a:r>
                        <a:rPr lang="zh-CN" sz="1400" kern="0" dirty="0">
                          <a:effectLst/>
                        </a:rPr>
                        <a:t>的一个具体应用场景，尤其是在处理结构化和非结构化文本数据时。</a:t>
                      </a:r>
                      <a:endParaRPr lang="zh-CN" sz="9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37604" marR="37604" marT="0" marB="0"/>
                </a:tc>
                <a:extLst>
                  <a:ext uri="{0D108BD9-81ED-4DB2-BD59-A6C34878D82A}">
                    <a16:rowId xmlns:a16="http://schemas.microsoft.com/office/drawing/2014/main" val="2943516153"/>
                  </a:ext>
                </a:extLst>
              </a:tr>
            </a:tbl>
          </a:graphicData>
        </a:graphic>
      </p:graphicFrame>
    </p:spTree>
    <p:extLst>
      <p:ext uri="{BB962C8B-B14F-4D97-AF65-F5344CB8AC3E}">
        <p14:creationId xmlns:p14="http://schemas.microsoft.com/office/powerpoint/2010/main" val="32444756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F25695-8B7A-24F2-8133-BC87B0300B96}"/>
              </a:ext>
            </a:extLst>
          </p:cNvPr>
          <p:cNvSpPr>
            <a:spLocks noGrp="1"/>
          </p:cNvSpPr>
          <p:nvPr>
            <p:ph type="title"/>
          </p:nvPr>
        </p:nvSpPr>
        <p:spPr>
          <a:xfrm>
            <a:off x="1460547" y="294436"/>
            <a:ext cx="8648476" cy="824787"/>
          </a:xfrm>
        </p:spPr>
        <p:txBody>
          <a:bodyPr>
            <a:normAutofit fontScale="90000"/>
          </a:bodyPr>
          <a:lstStyle/>
          <a:p>
            <a:r>
              <a:rPr lang="zh-CN" altLang="en-US" dirty="0"/>
              <a:t>离散数学中的自然语言处理相关知识</a:t>
            </a:r>
          </a:p>
        </p:txBody>
      </p:sp>
      <p:graphicFrame>
        <p:nvGraphicFramePr>
          <p:cNvPr id="4" name="表格 3">
            <a:extLst>
              <a:ext uri="{FF2B5EF4-FFF2-40B4-BE49-F238E27FC236}">
                <a16:creationId xmlns:a16="http://schemas.microsoft.com/office/drawing/2014/main" id="{C24977FA-3BCB-910C-23E9-27CC43A4E039}"/>
              </a:ext>
            </a:extLst>
          </p:cNvPr>
          <p:cNvGraphicFramePr>
            <a:graphicFrameLocks noGrp="1"/>
          </p:cNvGraphicFramePr>
          <p:nvPr/>
        </p:nvGraphicFramePr>
        <p:xfrm>
          <a:off x="563063" y="1295421"/>
          <a:ext cx="11112477" cy="5345958"/>
        </p:xfrm>
        <a:graphic>
          <a:graphicData uri="http://schemas.openxmlformats.org/drawingml/2006/table">
            <a:tbl>
              <a:tblPr/>
              <a:tblGrid>
                <a:gridCol w="3704159">
                  <a:extLst>
                    <a:ext uri="{9D8B030D-6E8A-4147-A177-3AD203B41FA5}">
                      <a16:colId xmlns:a16="http://schemas.microsoft.com/office/drawing/2014/main" val="3402719742"/>
                    </a:ext>
                  </a:extLst>
                </a:gridCol>
                <a:gridCol w="3704159">
                  <a:extLst>
                    <a:ext uri="{9D8B030D-6E8A-4147-A177-3AD203B41FA5}">
                      <a16:colId xmlns:a16="http://schemas.microsoft.com/office/drawing/2014/main" val="3038835702"/>
                    </a:ext>
                  </a:extLst>
                </a:gridCol>
                <a:gridCol w="3704159">
                  <a:extLst>
                    <a:ext uri="{9D8B030D-6E8A-4147-A177-3AD203B41FA5}">
                      <a16:colId xmlns:a16="http://schemas.microsoft.com/office/drawing/2014/main" val="3445483171"/>
                    </a:ext>
                  </a:extLst>
                </a:gridCol>
              </a:tblGrid>
              <a:tr h="534595">
                <a:tc>
                  <a:txBody>
                    <a:bodyPr/>
                    <a:lstStyle/>
                    <a:p>
                      <a:r>
                        <a:rPr lang="zh-CN" altLang="en-US" sz="1600"/>
                        <a:t>离散数学分支</a:t>
                      </a:r>
                    </a:p>
                  </a:txBody>
                  <a:tcPr marL="56895" marR="56895" marT="28448" marB="28448" anchor="ctr">
                    <a:lnL>
                      <a:noFill/>
                    </a:lnL>
                    <a:lnR>
                      <a:noFill/>
                    </a:lnR>
                    <a:lnT>
                      <a:noFill/>
                    </a:lnT>
                    <a:lnB>
                      <a:noFill/>
                    </a:lnB>
                    <a:noFill/>
                  </a:tcPr>
                </a:tc>
                <a:tc>
                  <a:txBody>
                    <a:bodyPr/>
                    <a:lstStyle/>
                    <a:p>
                      <a:r>
                        <a:rPr lang="en-US" sz="1600" dirty="0"/>
                        <a:t>NLP</a:t>
                      </a:r>
                      <a:r>
                        <a:rPr lang="zh-CN" altLang="en-US" sz="1600" dirty="0"/>
                        <a:t>应用领域</a:t>
                      </a:r>
                    </a:p>
                  </a:txBody>
                  <a:tcPr marL="56895" marR="56895" marT="28448" marB="28448" anchor="ctr">
                    <a:lnL>
                      <a:noFill/>
                    </a:lnL>
                    <a:lnR>
                      <a:noFill/>
                    </a:lnR>
                    <a:lnT>
                      <a:noFill/>
                    </a:lnT>
                    <a:lnB>
                      <a:noFill/>
                    </a:lnB>
                    <a:noFill/>
                  </a:tcPr>
                </a:tc>
                <a:tc>
                  <a:txBody>
                    <a:bodyPr/>
                    <a:lstStyle/>
                    <a:p>
                      <a:r>
                        <a:rPr lang="zh-CN" altLang="en-US" sz="1600"/>
                        <a:t>关键概念</a:t>
                      </a:r>
                      <a:r>
                        <a:rPr lang="en-US" altLang="zh-CN" sz="1600"/>
                        <a:t>/</a:t>
                      </a:r>
                      <a:r>
                        <a:rPr lang="zh-CN" altLang="en-US" sz="1600"/>
                        <a:t>技术</a:t>
                      </a:r>
                    </a:p>
                  </a:txBody>
                  <a:tcPr marL="56895" marR="56895" marT="28448" marB="28448" anchor="ctr">
                    <a:lnL>
                      <a:noFill/>
                    </a:lnL>
                    <a:lnR>
                      <a:noFill/>
                    </a:lnR>
                    <a:lnT>
                      <a:noFill/>
                    </a:lnT>
                    <a:lnB>
                      <a:noFill/>
                    </a:lnB>
                    <a:noFill/>
                  </a:tcPr>
                </a:tc>
                <a:extLst>
                  <a:ext uri="{0D108BD9-81ED-4DB2-BD59-A6C34878D82A}">
                    <a16:rowId xmlns:a16="http://schemas.microsoft.com/office/drawing/2014/main" val="1308036360"/>
                  </a:ext>
                </a:extLst>
              </a:tr>
              <a:tr h="935543">
                <a:tc>
                  <a:txBody>
                    <a:bodyPr/>
                    <a:lstStyle/>
                    <a:p>
                      <a:r>
                        <a:rPr lang="zh-CN" altLang="en-US" sz="1600" b="1"/>
                        <a:t>集合论</a:t>
                      </a:r>
                      <a:endParaRPr lang="zh-CN" altLang="en-US" sz="1600"/>
                    </a:p>
                  </a:txBody>
                  <a:tcPr marL="56895" marR="56895" marT="28448" marB="28448" anchor="ctr">
                    <a:lnL>
                      <a:noFill/>
                    </a:lnL>
                    <a:lnR>
                      <a:noFill/>
                    </a:lnR>
                    <a:lnT>
                      <a:noFill/>
                    </a:lnT>
                    <a:lnB>
                      <a:noFill/>
                    </a:lnB>
                    <a:noFill/>
                  </a:tcPr>
                </a:tc>
                <a:tc>
                  <a:txBody>
                    <a:bodyPr/>
                    <a:lstStyle/>
                    <a:p>
                      <a:r>
                        <a:rPr lang="zh-CN" altLang="en-US" sz="1600"/>
                        <a:t>词汇统计、信息检索</a:t>
                      </a:r>
                    </a:p>
                  </a:txBody>
                  <a:tcPr marL="56895" marR="56895" marT="28448" marB="28448" anchor="ctr">
                    <a:lnL>
                      <a:noFill/>
                    </a:lnL>
                    <a:lnR>
                      <a:noFill/>
                    </a:lnR>
                    <a:lnT>
                      <a:noFill/>
                    </a:lnT>
                    <a:lnB>
                      <a:noFill/>
                    </a:lnB>
                    <a:noFill/>
                  </a:tcPr>
                </a:tc>
                <a:tc>
                  <a:txBody>
                    <a:bodyPr/>
                    <a:lstStyle/>
                    <a:p>
                      <a:r>
                        <a:rPr lang="zh-CN" altLang="en-US" sz="1600"/>
                        <a:t>词汇库、文档集合、交集、并集、补集</a:t>
                      </a:r>
                    </a:p>
                  </a:txBody>
                  <a:tcPr marL="56895" marR="56895" marT="28448" marB="28448" anchor="ctr">
                    <a:lnL>
                      <a:noFill/>
                    </a:lnL>
                    <a:lnR>
                      <a:noFill/>
                    </a:lnR>
                    <a:lnT>
                      <a:noFill/>
                    </a:lnT>
                    <a:lnB>
                      <a:noFill/>
                    </a:lnB>
                    <a:noFill/>
                  </a:tcPr>
                </a:tc>
                <a:extLst>
                  <a:ext uri="{0D108BD9-81ED-4DB2-BD59-A6C34878D82A}">
                    <a16:rowId xmlns:a16="http://schemas.microsoft.com/office/drawing/2014/main" val="998905709"/>
                  </a:ext>
                </a:extLst>
              </a:tr>
              <a:tr h="935543">
                <a:tc>
                  <a:txBody>
                    <a:bodyPr/>
                    <a:lstStyle/>
                    <a:p>
                      <a:r>
                        <a:rPr lang="zh-CN" altLang="en-US" sz="1600" b="1"/>
                        <a:t>图论</a:t>
                      </a:r>
                      <a:endParaRPr lang="zh-CN" altLang="en-US" sz="1600"/>
                    </a:p>
                  </a:txBody>
                  <a:tcPr marL="56895" marR="56895" marT="28448" marB="28448" anchor="ctr">
                    <a:lnL>
                      <a:noFill/>
                    </a:lnL>
                    <a:lnR>
                      <a:noFill/>
                    </a:lnR>
                    <a:lnT>
                      <a:noFill/>
                    </a:lnT>
                    <a:lnB>
                      <a:noFill/>
                    </a:lnB>
                    <a:noFill/>
                  </a:tcPr>
                </a:tc>
                <a:tc>
                  <a:txBody>
                    <a:bodyPr/>
                    <a:lstStyle/>
                    <a:p>
                      <a:r>
                        <a:rPr lang="zh-CN" altLang="en-US" sz="1600" dirty="0"/>
                        <a:t>语义分析、信息抽取</a:t>
                      </a:r>
                    </a:p>
                  </a:txBody>
                  <a:tcPr marL="56895" marR="56895" marT="28448" marB="28448" anchor="ctr">
                    <a:lnL>
                      <a:noFill/>
                    </a:lnL>
                    <a:lnR>
                      <a:noFill/>
                    </a:lnR>
                    <a:lnT>
                      <a:noFill/>
                    </a:lnT>
                    <a:lnB>
                      <a:noFill/>
                    </a:lnB>
                    <a:noFill/>
                  </a:tcPr>
                </a:tc>
                <a:tc>
                  <a:txBody>
                    <a:bodyPr/>
                    <a:lstStyle/>
                    <a:p>
                      <a:r>
                        <a:rPr lang="zh-CN" altLang="en-US" sz="1600"/>
                        <a:t>节点</a:t>
                      </a:r>
                      <a:r>
                        <a:rPr lang="en-US" altLang="zh-CN" sz="1600"/>
                        <a:t>(</a:t>
                      </a:r>
                      <a:r>
                        <a:rPr lang="zh-CN" altLang="en-US" sz="1600"/>
                        <a:t>词汇</a:t>
                      </a:r>
                      <a:r>
                        <a:rPr lang="en-US" altLang="zh-CN" sz="1600"/>
                        <a:t>/</a:t>
                      </a:r>
                      <a:r>
                        <a:rPr lang="zh-CN" altLang="en-US" sz="1600"/>
                        <a:t>句子</a:t>
                      </a:r>
                      <a:r>
                        <a:rPr lang="en-US" altLang="zh-CN" sz="1600"/>
                        <a:t>)</a:t>
                      </a:r>
                      <a:r>
                        <a:rPr lang="zh-CN" altLang="en-US" sz="1600"/>
                        <a:t>、边</a:t>
                      </a:r>
                      <a:r>
                        <a:rPr lang="en-US" altLang="zh-CN" sz="1600"/>
                        <a:t>(</a:t>
                      </a:r>
                      <a:r>
                        <a:rPr lang="zh-CN" altLang="en-US" sz="1600"/>
                        <a:t>关系</a:t>
                      </a:r>
                      <a:r>
                        <a:rPr lang="en-US" altLang="zh-CN" sz="1600"/>
                        <a:t>)</a:t>
                      </a:r>
                      <a:r>
                        <a:rPr lang="zh-CN" altLang="en-US" sz="1600"/>
                        <a:t>、依存句法树、语义网络</a:t>
                      </a:r>
                    </a:p>
                  </a:txBody>
                  <a:tcPr marL="56895" marR="56895" marT="28448" marB="28448" anchor="ctr">
                    <a:lnL>
                      <a:noFill/>
                    </a:lnL>
                    <a:lnR>
                      <a:noFill/>
                    </a:lnR>
                    <a:lnT>
                      <a:noFill/>
                    </a:lnT>
                    <a:lnB>
                      <a:noFill/>
                    </a:lnB>
                    <a:noFill/>
                  </a:tcPr>
                </a:tc>
                <a:extLst>
                  <a:ext uri="{0D108BD9-81ED-4DB2-BD59-A6C34878D82A}">
                    <a16:rowId xmlns:a16="http://schemas.microsoft.com/office/drawing/2014/main" val="3705821495"/>
                  </a:ext>
                </a:extLst>
              </a:tr>
              <a:tr h="534595">
                <a:tc>
                  <a:txBody>
                    <a:bodyPr/>
                    <a:lstStyle/>
                    <a:p>
                      <a:r>
                        <a:rPr lang="zh-CN" altLang="en-US" sz="1600" b="1" dirty="0"/>
                        <a:t>逻辑</a:t>
                      </a:r>
                      <a:endParaRPr lang="zh-CN" altLang="en-US" sz="1600" dirty="0"/>
                    </a:p>
                  </a:txBody>
                  <a:tcPr marL="56895" marR="56895" marT="28448" marB="28448" anchor="ctr">
                    <a:lnL>
                      <a:noFill/>
                    </a:lnL>
                    <a:lnR>
                      <a:noFill/>
                    </a:lnR>
                    <a:lnT>
                      <a:noFill/>
                    </a:lnT>
                    <a:lnB>
                      <a:noFill/>
                    </a:lnB>
                    <a:noFill/>
                  </a:tcPr>
                </a:tc>
                <a:tc>
                  <a:txBody>
                    <a:bodyPr/>
                    <a:lstStyle/>
                    <a:p>
                      <a:r>
                        <a:rPr lang="zh-CN" altLang="en-US" sz="1600"/>
                        <a:t>语义表示、自然语言推理</a:t>
                      </a:r>
                    </a:p>
                  </a:txBody>
                  <a:tcPr marL="56895" marR="56895" marT="28448" marB="28448" anchor="ctr">
                    <a:lnL>
                      <a:noFill/>
                    </a:lnL>
                    <a:lnR>
                      <a:noFill/>
                    </a:lnR>
                    <a:lnT>
                      <a:noFill/>
                    </a:lnT>
                    <a:lnB>
                      <a:noFill/>
                    </a:lnB>
                    <a:noFill/>
                  </a:tcPr>
                </a:tc>
                <a:tc>
                  <a:txBody>
                    <a:bodyPr/>
                    <a:lstStyle/>
                    <a:p>
                      <a:r>
                        <a:rPr lang="zh-CN" altLang="en-US" sz="1600"/>
                        <a:t>命题逻辑、一阶逻辑、推理</a:t>
                      </a:r>
                    </a:p>
                  </a:txBody>
                  <a:tcPr marL="56895" marR="56895" marT="28448" marB="28448" anchor="ctr">
                    <a:lnL>
                      <a:noFill/>
                    </a:lnL>
                    <a:lnR>
                      <a:noFill/>
                    </a:lnR>
                    <a:lnT>
                      <a:noFill/>
                    </a:lnT>
                    <a:lnB>
                      <a:noFill/>
                    </a:lnB>
                    <a:noFill/>
                  </a:tcPr>
                </a:tc>
                <a:extLst>
                  <a:ext uri="{0D108BD9-81ED-4DB2-BD59-A6C34878D82A}">
                    <a16:rowId xmlns:a16="http://schemas.microsoft.com/office/drawing/2014/main" val="2448305332"/>
                  </a:ext>
                </a:extLst>
              </a:tr>
              <a:tr h="534595">
                <a:tc>
                  <a:txBody>
                    <a:bodyPr/>
                    <a:lstStyle/>
                    <a:p>
                      <a:r>
                        <a:rPr lang="zh-CN" altLang="en-US" sz="1600" b="1"/>
                        <a:t>组合学</a:t>
                      </a:r>
                      <a:endParaRPr lang="zh-CN" altLang="en-US" sz="1600"/>
                    </a:p>
                  </a:txBody>
                  <a:tcPr marL="56895" marR="56895" marT="28448" marB="28448" anchor="ctr">
                    <a:lnL>
                      <a:noFill/>
                    </a:lnL>
                    <a:lnR>
                      <a:noFill/>
                    </a:lnR>
                    <a:lnT>
                      <a:noFill/>
                    </a:lnT>
                    <a:lnB>
                      <a:noFill/>
                    </a:lnB>
                    <a:noFill/>
                  </a:tcPr>
                </a:tc>
                <a:tc>
                  <a:txBody>
                    <a:bodyPr/>
                    <a:lstStyle/>
                    <a:p>
                      <a:r>
                        <a:rPr lang="zh-CN" altLang="en-US" sz="1600"/>
                        <a:t>特征选择、计算语言模型</a:t>
                      </a:r>
                    </a:p>
                  </a:txBody>
                  <a:tcPr marL="56895" marR="56895" marT="28448" marB="28448" anchor="ctr">
                    <a:lnL>
                      <a:noFill/>
                    </a:lnL>
                    <a:lnR>
                      <a:noFill/>
                    </a:lnR>
                    <a:lnT>
                      <a:noFill/>
                    </a:lnT>
                    <a:lnB>
                      <a:noFill/>
                    </a:lnB>
                    <a:noFill/>
                  </a:tcPr>
                </a:tc>
                <a:tc>
                  <a:txBody>
                    <a:bodyPr/>
                    <a:lstStyle/>
                    <a:p>
                      <a:r>
                        <a:rPr lang="zh-CN" altLang="en-US" sz="1600"/>
                        <a:t>排列组合、计数问题</a:t>
                      </a:r>
                    </a:p>
                  </a:txBody>
                  <a:tcPr marL="56895" marR="56895" marT="28448" marB="28448" anchor="ctr">
                    <a:lnL>
                      <a:noFill/>
                    </a:lnL>
                    <a:lnR>
                      <a:noFill/>
                    </a:lnR>
                    <a:lnT>
                      <a:noFill/>
                    </a:lnT>
                    <a:lnB>
                      <a:noFill/>
                    </a:lnB>
                    <a:noFill/>
                  </a:tcPr>
                </a:tc>
                <a:extLst>
                  <a:ext uri="{0D108BD9-81ED-4DB2-BD59-A6C34878D82A}">
                    <a16:rowId xmlns:a16="http://schemas.microsoft.com/office/drawing/2014/main" val="76298028"/>
                  </a:ext>
                </a:extLst>
              </a:tr>
              <a:tr h="935543">
                <a:tc>
                  <a:txBody>
                    <a:bodyPr/>
                    <a:lstStyle/>
                    <a:p>
                      <a:r>
                        <a:rPr lang="zh-CN" altLang="en-US" sz="1600" b="1" dirty="0"/>
                        <a:t>概率论与统计</a:t>
                      </a:r>
                      <a:endParaRPr lang="zh-CN" altLang="en-US" sz="1600" dirty="0"/>
                    </a:p>
                  </a:txBody>
                  <a:tcPr marL="56895" marR="56895" marT="28448" marB="28448" anchor="ctr">
                    <a:lnL>
                      <a:noFill/>
                    </a:lnL>
                    <a:lnR>
                      <a:noFill/>
                    </a:lnR>
                    <a:lnT>
                      <a:noFill/>
                    </a:lnT>
                    <a:lnB>
                      <a:noFill/>
                    </a:lnB>
                    <a:noFill/>
                  </a:tcPr>
                </a:tc>
                <a:tc>
                  <a:txBody>
                    <a:bodyPr/>
                    <a:lstStyle/>
                    <a:p>
                      <a:r>
                        <a:rPr lang="zh-CN" altLang="en-US" sz="1600"/>
                        <a:t>语言模型、分类任务</a:t>
                      </a:r>
                    </a:p>
                  </a:txBody>
                  <a:tcPr marL="56895" marR="56895" marT="28448" marB="28448" anchor="ctr">
                    <a:lnL>
                      <a:noFill/>
                    </a:lnL>
                    <a:lnR>
                      <a:noFill/>
                    </a:lnR>
                    <a:lnT>
                      <a:noFill/>
                    </a:lnT>
                    <a:lnB>
                      <a:noFill/>
                    </a:lnB>
                    <a:noFill/>
                  </a:tcPr>
                </a:tc>
                <a:tc>
                  <a:txBody>
                    <a:bodyPr/>
                    <a:lstStyle/>
                    <a:p>
                      <a:r>
                        <a:rPr lang="en-US" sz="1600"/>
                        <a:t>n-gram</a:t>
                      </a:r>
                      <a:r>
                        <a:rPr lang="zh-CN" altLang="en-US" sz="1600"/>
                        <a:t>模型、朴素贝叶斯、马尔可夫模型、概率分布</a:t>
                      </a:r>
                    </a:p>
                  </a:txBody>
                  <a:tcPr marL="56895" marR="56895" marT="28448" marB="28448" anchor="ctr">
                    <a:lnL>
                      <a:noFill/>
                    </a:lnL>
                    <a:lnR>
                      <a:noFill/>
                    </a:lnR>
                    <a:lnT>
                      <a:noFill/>
                    </a:lnT>
                    <a:lnB>
                      <a:noFill/>
                    </a:lnB>
                    <a:noFill/>
                  </a:tcPr>
                </a:tc>
                <a:extLst>
                  <a:ext uri="{0D108BD9-81ED-4DB2-BD59-A6C34878D82A}">
                    <a16:rowId xmlns:a16="http://schemas.microsoft.com/office/drawing/2014/main" val="1630394612"/>
                  </a:ext>
                </a:extLst>
              </a:tr>
              <a:tr h="935543">
                <a:tc>
                  <a:txBody>
                    <a:bodyPr/>
                    <a:lstStyle/>
                    <a:p>
                      <a:r>
                        <a:rPr lang="zh-CN" altLang="en-US" sz="1600" b="1"/>
                        <a:t>算法与数据结构</a:t>
                      </a:r>
                      <a:endParaRPr lang="zh-CN" altLang="en-US" sz="1600"/>
                    </a:p>
                  </a:txBody>
                  <a:tcPr marL="56895" marR="56895" marT="28448" marB="28448" anchor="ctr">
                    <a:lnL>
                      <a:noFill/>
                    </a:lnL>
                    <a:lnR>
                      <a:noFill/>
                    </a:lnR>
                    <a:lnT>
                      <a:noFill/>
                    </a:lnT>
                    <a:lnB>
                      <a:noFill/>
                    </a:lnB>
                    <a:noFill/>
                  </a:tcPr>
                </a:tc>
                <a:tc>
                  <a:txBody>
                    <a:bodyPr/>
                    <a:lstStyle/>
                    <a:p>
                      <a:r>
                        <a:rPr lang="zh-CN" altLang="en-US" sz="1600"/>
                        <a:t>文本处理、索引、序列比对</a:t>
                      </a:r>
                    </a:p>
                  </a:txBody>
                  <a:tcPr marL="56895" marR="56895" marT="28448" marB="28448" anchor="ctr">
                    <a:lnL>
                      <a:noFill/>
                    </a:lnL>
                    <a:lnR>
                      <a:noFill/>
                    </a:lnR>
                    <a:lnT>
                      <a:noFill/>
                    </a:lnT>
                    <a:lnB>
                      <a:noFill/>
                    </a:lnB>
                    <a:noFill/>
                  </a:tcPr>
                </a:tc>
                <a:tc>
                  <a:txBody>
                    <a:bodyPr/>
                    <a:lstStyle/>
                    <a:p>
                      <a:r>
                        <a:rPr lang="zh-CN" altLang="en-US" sz="1600" dirty="0">
                          <a:highlight>
                            <a:srgbClr val="FFFF00"/>
                          </a:highlight>
                        </a:rPr>
                        <a:t>动态规划</a:t>
                      </a:r>
                      <a:r>
                        <a:rPr lang="zh-CN" altLang="en-US" sz="1600" dirty="0"/>
                        <a:t>、索引结构</a:t>
                      </a:r>
                      <a:r>
                        <a:rPr lang="en-US" altLang="zh-CN" sz="1600" dirty="0"/>
                        <a:t>(</a:t>
                      </a:r>
                      <a:r>
                        <a:rPr lang="zh-CN" altLang="en-US" sz="1600" dirty="0"/>
                        <a:t>如倒排索引</a:t>
                      </a:r>
                      <a:r>
                        <a:rPr lang="en-US" altLang="zh-CN" sz="1600" dirty="0"/>
                        <a:t>)</a:t>
                      </a:r>
                      <a:r>
                        <a:rPr lang="zh-CN" altLang="en-US" sz="1600" dirty="0"/>
                        <a:t>、字符串匹配算法</a:t>
                      </a:r>
                    </a:p>
                  </a:txBody>
                  <a:tcPr marL="56895" marR="56895" marT="28448" marB="28448" anchor="ctr">
                    <a:lnL>
                      <a:noFill/>
                    </a:lnL>
                    <a:lnR>
                      <a:noFill/>
                    </a:lnR>
                    <a:lnT>
                      <a:noFill/>
                    </a:lnT>
                    <a:lnB>
                      <a:noFill/>
                    </a:lnB>
                    <a:noFill/>
                  </a:tcPr>
                </a:tc>
                <a:extLst>
                  <a:ext uri="{0D108BD9-81ED-4DB2-BD59-A6C34878D82A}">
                    <a16:rowId xmlns:a16="http://schemas.microsoft.com/office/drawing/2014/main" val="722117134"/>
                  </a:ext>
                </a:extLst>
              </a:tr>
            </a:tbl>
          </a:graphicData>
        </a:graphic>
      </p:graphicFrame>
    </p:spTree>
    <p:extLst>
      <p:ext uri="{BB962C8B-B14F-4D97-AF65-F5344CB8AC3E}">
        <p14:creationId xmlns:p14="http://schemas.microsoft.com/office/powerpoint/2010/main" val="293689004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45B5A3-6616-673B-52B1-BB90A5A8D9CA}"/>
              </a:ext>
            </a:extLst>
          </p:cNvPr>
          <p:cNvSpPr>
            <a:spLocks noGrp="1"/>
          </p:cNvSpPr>
          <p:nvPr>
            <p:ph type="title"/>
          </p:nvPr>
        </p:nvSpPr>
        <p:spPr>
          <a:xfrm>
            <a:off x="1687829" y="209932"/>
            <a:ext cx="7034174" cy="824787"/>
          </a:xfrm>
        </p:spPr>
        <p:txBody>
          <a:bodyPr>
            <a:normAutofit/>
          </a:bodyPr>
          <a:lstStyle/>
          <a:p>
            <a:r>
              <a:rPr lang="zh-CN" altLang="en-US" dirty="0"/>
              <a:t>表</a:t>
            </a:r>
            <a:r>
              <a:rPr lang="en-US" altLang="zh-CN" dirty="0"/>
              <a:t>1</a:t>
            </a:r>
            <a:r>
              <a:rPr lang="zh-CN" altLang="en-US" dirty="0"/>
              <a:t>：各国</a:t>
            </a:r>
            <a:r>
              <a:rPr lang="en-US" altLang="zh-CN" dirty="0" err="1"/>
              <a:t>GenAI</a:t>
            </a:r>
            <a:r>
              <a:rPr lang="zh-CN" altLang="en-US" dirty="0"/>
              <a:t>典型代表</a:t>
            </a:r>
          </a:p>
        </p:txBody>
      </p:sp>
      <p:graphicFrame>
        <p:nvGraphicFramePr>
          <p:cNvPr id="5" name="表格 4">
            <a:extLst>
              <a:ext uri="{FF2B5EF4-FFF2-40B4-BE49-F238E27FC236}">
                <a16:creationId xmlns:a16="http://schemas.microsoft.com/office/drawing/2014/main" id="{C36CF25D-D878-D2FC-A309-BDA8A4A2F9B5}"/>
              </a:ext>
            </a:extLst>
          </p:cNvPr>
          <p:cNvGraphicFramePr>
            <a:graphicFrameLocks noGrp="1"/>
          </p:cNvGraphicFramePr>
          <p:nvPr/>
        </p:nvGraphicFramePr>
        <p:xfrm>
          <a:off x="1028123" y="1165262"/>
          <a:ext cx="10478169" cy="5353731"/>
        </p:xfrm>
        <a:graphic>
          <a:graphicData uri="http://schemas.openxmlformats.org/drawingml/2006/table">
            <a:tbl>
              <a:tblPr firstRow="1" firstCol="1" bandRow="1">
                <a:tableStyleId>{7DF18680-E054-41AD-8BC1-D1AEF772440D}</a:tableStyleId>
              </a:tblPr>
              <a:tblGrid>
                <a:gridCol w="1437850">
                  <a:extLst>
                    <a:ext uri="{9D8B030D-6E8A-4147-A177-3AD203B41FA5}">
                      <a16:colId xmlns:a16="http://schemas.microsoft.com/office/drawing/2014/main" val="1401306519"/>
                    </a:ext>
                  </a:extLst>
                </a:gridCol>
                <a:gridCol w="9040319">
                  <a:extLst>
                    <a:ext uri="{9D8B030D-6E8A-4147-A177-3AD203B41FA5}">
                      <a16:colId xmlns:a16="http://schemas.microsoft.com/office/drawing/2014/main" val="1927366955"/>
                    </a:ext>
                  </a:extLst>
                </a:gridCol>
              </a:tblGrid>
              <a:tr h="535373">
                <a:tc>
                  <a:txBody>
                    <a:bodyPr/>
                    <a:lstStyle/>
                    <a:p>
                      <a:pPr algn="ctr"/>
                      <a:r>
                        <a:rPr lang="zh-CN" sz="2400" b="1" kern="0" dirty="0">
                          <a:effectLst/>
                        </a:rPr>
                        <a:t>国家</a:t>
                      </a:r>
                      <a:endParaRPr lang="zh-CN" sz="19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42671" marR="42671" marT="0" marB="0"/>
                </a:tc>
                <a:tc>
                  <a:txBody>
                    <a:bodyPr/>
                    <a:lstStyle/>
                    <a:p>
                      <a:pPr algn="ctr"/>
                      <a:r>
                        <a:rPr lang="zh-CN" sz="2400" b="1" kern="0" dirty="0">
                          <a:effectLst/>
                        </a:rPr>
                        <a:t>生成式人工智能代表</a:t>
                      </a:r>
                      <a:endParaRPr lang="zh-CN" sz="19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42671" marR="42671" marT="0" marB="0"/>
                </a:tc>
                <a:extLst>
                  <a:ext uri="{0D108BD9-81ED-4DB2-BD59-A6C34878D82A}">
                    <a16:rowId xmlns:a16="http://schemas.microsoft.com/office/drawing/2014/main" val="3680411627"/>
                  </a:ext>
                </a:extLst>
              </a:tr>
              <a:tr h="535373">
                <a:tc>
                  <a:txBody>
                    <a:bodyPr/>
                    <a:lstStyle/>
                    <a:p>
                      <a:pPr algn="l"/>
                      <a:r>
                        <a:rPr lang="zh-CN" sz="2400" kern="0">
                          <a:effectLst/>
                        </a:rPr>
                        <a:t>美国</a:t>
                      </a:r>
                      <a:endParaRPr lang="zh-CN" sz="19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2671" marR="42671" marT="0" marB="0"/>
                </a:tc>
                <a:tc>
                  <a:txBody>
                    <a:bodyPr/>
                    <a:lstStyle/>
                    <a:p>
                      <a:pPr algn="l"/>
                      <a:r>
                        <a:rPr lang="en-US" sz="2400" kern="0" dirty="0">
                          <a:effectLst/>
                        </a:rPr>
                        <a:t>OpenAI</a:t>
                      </a:r>
                      <a:r>
                        <a:rPr lang="zh-CN" sz="2400" kern="0" dirty="0">
                          <a:effectLst/>
                        </a:rPr>
                        <a:t>的</a:t>
                      </a:r>
                      <a:r>
                        <a:rPr lang="en-US" sz="2400" kern="0" dirty="0">
                          <a:effectLst/>
                        </a:rPr>
                        <a:t>GPT</a:t>
                      </a:r>
                      <a:r>
                        <a:rPr lang="zh-CN" sz="2400" kern="0" dirty="0">
                          <a:effectLst/>
                        </a:rPr>
                        <a:t>系列、</a:t>
                      </a:r>
                      <a:r>
                        <a:rPr lang="en-US" sz="2400" kern="0" dirty="0">
                          <a:effectLst/>
                        </a:rPr>
                        <a:t>Google</a:t>
                      </a:r>
                      <a:r>
                        <a:rPr lang="zh-CN" sz="2400" kern="0" dirty="0">
                          <a:effectLst/>
                        </a:rPr>
                        <a:t>的</a:t>
                      </a:r>
                      <a:r>
                        <a:rPr lang="en-US" sz="2400" kern="0" dirty="0">
                          <a:effectLst/>
                        </a:rPr>
                        <a:t>BERT</a:t>
                      </a:r>
                      <a:r>
                        <a:rPr lang="zh-CN" sz="2400" kern="0" dirty="0">
                          <a:effectLst/>
                        </a:rPr>
                        <a:t>、</a:t>
                      </a:r>
                      <a:r>
                        <a:rPr lang="en-US" sz="2400" kern="0" dirty="0">
                          <a:effectLst/>
                        </a:rPr>
                        <a:t>Meta</a:t>
                      </a:r>
                      <a:r>
                        <a:rPr lang="zh-CN" sz="2400" kern="0" dirty="0">
                          <a:effectLst/>
                        </a:rPr>
                        <a:t>的</a:t>
                      </a:r>
                      <a:r>
                        <a:rPr lang="en-US" sz="2400" kern="0" dirty="0">
                          <a:effectLst/>
                        </a:rPr>
                        <a:t>LLAMA</a:t>
                      </a:r>
                      <a:endParaRPr lang="zh-CN" sz="19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42671" marR="42671" marT="0" marB="0"/>
                </a:tc>
                <a:extLst>
                  <a:ext uri="{0D108BD9-81ED-4DB2-BD59-A6C34878D82A}">
                    <a16:rowId xmlns:a16="http://schemas.microsoft.com/office/drawing/2014/main" val="2086858679"/>
                  </a:ext>
                </a:extLst>
              </a:tr>
              <a:tr h="535373">
                <a:tc>
                  <a:txBody>
                    <a:bodyPr/>
                    <a:lstStyle/>
                    <a:p>
                      <a:pPr algn="l"/>
                      <a:r>
                        <a:rPr lang="zh-CN" sz="2400" kern="0">
                          <a:effectLst/>
                        </a:rPr>
                        <a:t>中国</a:t>
                      </a:r>
                      <a:endParaRPr lang="zh-CN" sz="19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2671" marR="42671" marT="0" marB="0"/>
                </a:tc>
                <a:tc>
                  <a:txBody>
                    <a:bodyPr/>
                    <a:lstStyle/>
                    <a:p>
                      <a:pPr algn="l"/>
                      <a:r>
                        <a:rPr lang="zh-CN" sz="2400" kern="0" dirty="0">
                          <a:effectLst/>
                        </a:rPr>
                        <a:t>阿里云的通义千问、百度的</a:t>
                      </a:r>
                      <a:r>
                        <a:rPr lang="en-US" sz="2400" kern="0" dirty="0">
                          <a:effectLst/>
                        </a:rPr>
                        <a:t>ERNIE</a:t>
                      </a:r>
                      <a:endParaRPr lang="zh-CN" sz="19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42671" marR="42671" marT="0" marB="0"/>
                </a:tc>
                <a:extLst>
                  <a:ext uri="{0D108BD9-81ED-4DB2-BD59-A6C34878D82A}">
                    <a16:rowId xmlns:a16="http://schemas.microsoft.com/office/drawing/2014/main" val="4157925286"/>
                  </a:ext>
                </a:extLst>
              </a:tr>
              <a:tr h="535373">
                <a:tc>
                  <a:txBody>
                    <a:bodyPr/>
                    <a:lstStyle/>
                    <a:p>
                      <a:pPr algn="l"/>
                      <a:r>
                        <a:rPr lang="zh-CN" sz="2400" kern="0">
                          <a:effectLst/>
                        </a:rPr>
                        <a:t>英国</a:t>
                      </a:r>
                      <a:endParaRPr lang="zh-CN" sz="19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2671" marR="42671" marT="0" marB="0"/>
                </a:tc>
                <a:tc>
                  <a:txBody>
                    <a:bodyPr/>
                    <a:lstStyle/>
                    <a:p>
                      <a:pPr algn="l"/>
                      <a:r>
                        <a:rPr lang="en-US" sz="2400" kern="0" dirty="0">
                          <a:effectLst/>
                        </a:rPr>
                        <a:t>DeepMind</a:t>
                      </a:r>
                      <a:r>
                        <a:rPr lang="zh-CN" sz="2400" kern="0" dirty="0">
                          <a:effectLst/>
                        </a:rPr>
                        <a:t>的</a:t>
                      </a:r>
                      <a:r>
                        <a:rPr lang="en-US" sz="2400" kern="0" dirty="0">
                          <a:effectLst/>
                        </a:rPr>
                        <a:t>AlphaGo</a:t>
                      </a:r>
                      <a:r>
                        <a:rPr lang="zh-CN" sz="2400" kern="0" dirty="0">
                          <a:effectLst/>
                        </a:rPr>
                        <a:t>、</a:t>
                      </a:r>
                      <a:r>
                        <a:rPr lang="en-US" sz="2400" kern="0" dirty="0">
                          <a:effectLst/>
                        </a:rPr>
                        <a:t>GATO</a:t>
                      </a:r>
                      <a:endParaRPr lang="zh-CN" sz="19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42671" marR="42671" marT="0" marB="0"/>
                </a:tc>
                <a:extLst>
                  <a:ext uri="{0D108BD9-81ED-4DB2-BD59-A6C34878D82A}">
                    <a16:rowId xmlns:a16="http://schemas.microsoft.com/office/drawing/2014/main" val="4054837422"/>
                  </a:ext>
                </a:extLst>
              </a:tr>
              <a:tr h="535373">
                <a:tc>
                  <a:txBody>
                    <a:bodyPr/>
                    <a:lstStyle/>
                    <a:p>
                      <a:pPr algn="l"/>
                      <a:r>
                        <a:rPr lang="zh-CN" sz="2400" kern="0">
                          <a:effectLst/>
                        </a:rPr>
                        <a:t>加拿大</a:t>
                      </a:r>
                      <a:endParaRPr lang="zh-CN" sz="19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2671" marR="42671" marT="0" marB="0"/>
                </a:tc>
                <a:tc>
                  <a:txBody>
                    <a:bodyPr/>
                    <a:lstStyle/>
                    <a:p>
                      <a:pPr algn="l"/>
                      <a:r>
                        <a:rPr lang="en-US" sz="2400" kern="0">
                          <a:effectLst/>
                        </a:rPr>
                        <a:t>Cohere</a:t>
                      </a:r>
                      <a:r>
                        <a:rPr lang="zh-CN" sz="2400" kern="0">
                          <a:effectLst/>
                        </a:rPr>
                        <a:t>的</a:t>
                      </a:r>
                      <a:r>
                        <a:rPr lang="en-US" sz="2400" kern="0">
                          <a:effectLst/>
                        </a:rPr>
                        <a:t>Cohere API</a:t>
                      </a:r>
                      <a:r>
                        <a:rPr lang="zh-CN" sz="2400" kern="0">
                          <a:effectLst/>
                        </a:rPr>
                        <a:t>、</a:t>
                      </a:r>
                      <a:r>
                        <a:rPr lang="en-US" sz="2400" kern="0">
                          <a:effectLst/>
                        </a:rPr>
                        <a:t>Element AI</a:t>
                      </a:r>
                      <a:r>
                        <a:rPr lang="zh-CN" sz="2400" kern="0">
                          <a:effectLst/>
                        </a:rPr>
                        <a:t>的生成模型</a:t>
                      </a:r>
                      <a:endParaRPr lang="zh-CN" sz="19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2671" marR="42671" marT="0" marB="0"/>
                </a:tc>
                <a:extLst>
                  <a:ext uri="{0D108BD9-81ED-4DB2-BD59-A6C34878D82A}">
                    <a16:rowId xmlns:a16="http://schemas.microsoft.com/office/drawing/2014/main" val="233051952"/>
                  </a:ext>
                </a:extLst>
              </a:tr>
              <a:tr h="535373">
                <a:tc>
                  <a:txBody>
                    <a:bodyPr/>
                    <a:lstStyle/>
                    <a:p>
                      <a:pPr algn="l"/>
                      <a:r>
                        <a:rPr lang="zh-CN" sz="2400" kern="0">
                          <a:effectLst/>
                        </a:rPr>
                        <a:t>德国</a:t>
                      </a:r>
                      <a:endParaRPr lang="zh-CN" sz="19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2671" marR="42671" marT="0" marB="0"/>
                </a:tc>
                <a:tc>
                  <a:txBody>
                    <a:bodyPr/>
                    <a:lstStyle/>
                    <a:p>
                      <a:pPr algn="l"/>
                      <a:r>
                        <a:rPr lang="en-US" sz="2400" kern="0">
                          <a:effectLst/>
                        </a:rPr>
                        <a:t>Aleph Alpha</a:t>
                      </a:r>
                      <a:r>
                        <a:rPr lang="zh-CN" sz="2400" kern="0">
                          <a:effectLst/>
                        </a:rPr>
                        <a:t>的大型语言模型</a:t>
                      </a:r>
                      <a:endParaRPr lang="zh-CN" sz="19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2671" marR="42671" marT="0" marB="0"/>
                </a:tc>
                <a:extLst>
                  <a:ext uri="{0D108BD9-81ED-4DB2-BD59-A6C34878D82A}">
                    <a16:rowId xmlns:a16="http://schemas.microsoft.com/office/drawing/2014/main" val="2003352166"/>
                  </a:ext>
                </a:extLst>
              </a:tr>
              <a:tr h="1070747">
                <a:tc>
                  <a:txBody>
                    <a:bodyPr/>
                    <a:lstStyle/>
                    <a:p>
                      <a:pPr algn="l"/>
                      <a:r>
                        <a:rPr lang="zh-CN" sz="2400" kern="0">
                          <a:effectLst/>
                        </a:rPr>
                        <a:t>法国</a:t>
                      </a:r>
                      <a:endParaRPr lang="zh-CN" sz="19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2671" marR="42671" marT="0" marB="0"/>
                </a:tc>
                <a:tc>
                  <a:txBody>
                    <a:bodyPr/>
                    <a:lstStyle/>
                    <a:p>
                      <a:pPr algn="l"/>
                      <a:r>
                        <a:rPr lang="en-US" sz="2400" kern="0">
                          <a:effectLst/>
                        </a:rPr>
                        <a:t>MosaicML</a:t>
                      </a:r>
                      <a:r>
                        <a:rPr lang="zh-CN" sz="2400" kern="0">
                          <a:effectLst/>
                        </a:rPr>
                        <a:t>的</a:t>
                      </a:r>
                      <a:r>
                        <a:rPr lang="en-US" sz="2400" kern="0">
                          <a:effectLst/>
                        </a:rPr>
                        <a:t>Mistral</a:t>
                      </a:r>
                      <a:r>
                        <a:rPr lang="zh-CN" sz="2400" kern="0">
                          <a:effectLst/>
                        </a:rPr>
                        <a:t>、</a:t>
                      </a:r>
                      <a:r>
                        <a:rPr lang="en-US" sz="2400" kern="0">
                          <a:effectLst/>
                        </a:rPr>
                        <a:t>NAVER Labs Europe</a:t>
                      </a:r>
                      <a:r>
                        <a:rPr lang="zh-CN" sz="2400" kern="0">
                          <a:effectLst/>
                        </a:rPr>
                        <a:t>的超大规模语言模型</a:t>
                      </a:r>
                      <a:endParaRPr lang="zh-CN" sz="19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2671" marR="42671" marT="0" marB="0"/>
                </a:tc>
                <a:extLst>
                  <a:ext uri="{0D108BD9-81ED-4DB2-BD59-A6C34878D82A}">
                    <a16:rowId xmlns:a16="http://schemas.microsoft.com/office/drawing/2014/main" val="422918306"/>
                  </a:ext>
                </a:extLst>
              </a:tr>
              <a:tr h="535373">
                <a:tc>
                  <a:txBody>
                    <a:bodyPr/>
                    <a:lstStyle/>
                    <a:p>
                      <a:pPr algn="l"/>
                      <a:r>
                        <a:rPr lang="zh-CN" sz="2400" kern="0">
                          <a:effectLst/>
                        </a:rPr>
                        <a:t>日本</a:t>
                      </a:r>
                      <a:endParaRPr lang="zh-CN" sz="19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2671" marR="42671" marT="0" marB="0"/>
                </a:tc>
                <a:tc>
                  <a:txBody>
                    <a:bodyPr/>
                    <a:lstStyle/>
                    <a:p>
                      <a:pPr algn="l"/>
                      <a:r>
                        <a:rPr lang="en-US" sz="2400" kern="0">
                          <a:effectLst/>
                        </a:rPr>
                        <a:t>Preferred Networks</a:t>
                      </a:r>
                      <a:r>
                        <a:rPr lang="zh-CN" sz="2400" kern="0">
                          <a:effectLst/>
                        </a:rPr>
                        <a:t>的</a:t>
                      </a:r>
                      <a:r>
                        <a:rPr lang="en-US" sz="2400" kern="0">
                          <a:effectLst/>
                        </a:rPr>
                        <a:t>Chainer</a:t>
                      </a:r>
                      <a:endParaRPr lang="zh-CN" sz="19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2671" marR="42671" marT="0" marB="0"/>
                </a:tc>
                <a:extLst>
                  <a:ext uri="{0D108BD9-81ED-4DB2-BD59-A6C34878D82A}">
                    <a16:rowId xmlns:a16="http://schemas.microsoft.com/office/drawing/2014/main" val="2844506737"/>
                  </a:ext>
                </a:extLst>
              </a:tr>
              <a:tr h="535373">
                <a:tc>
                  <a:txBody>
                    <a:bodyPr/>
                    <a:lstStyle/>
                    <a:p>
                      <a:pPr algn="l"/>
                      <a:r>
                        <a:rPr lang="zh-CN" sz="2400" kern="0">
                          <a:effectLst/>
                        </a:rPr>
                        <a:t>俄罗斯</a:t>
                      </a:r>
                      <a:endParaRPr lang="zh-CN" sz="19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42671" marR="42671" marT="0" marB="0"/>
                </a:tc>
                <a:tc>
                  <a:txBody>
                    <a:bodyPr/>
                    <a:lstStyle/>
                    <a:p>
                      <a:pPr algn="l"/>
                      <a:r>
                        <a:rPr lang="en-US" sz="2400" kern="0" dirty="0">
                          <a:effectLst/>
                        </a:rPr>
                        <a:t>Yandex</a:t>
                      </a:r>
                      <a:r>
                        <a:rPr lang="zh-CN" sz="2400" kern="0" dirty="0">
                          <a:effectLst/>
                        </a:rPr>
                        <a:t>的</a:t>
                      </a:r>
                      <a:r>
                        <a:rPr lang="en-US" sz="2400" kern="0" dirty="0" err="1">
                          <a:effectLst/>
                        </a:rPr>
                        <a:t>YaLM</a:t>
                      </a:r>
                      <a:endParaRPr lang="zh-CN" sz="19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42671" marR="42671" marT="0" marB="0"/>
                </a:tc>
                <a:extLst>
                  <a:ext uri="{0D108BD9-81ED-4DB2-BD59-A6C34878D82A}">
                    <a16:rowId xmlns:a16="http://schemas.microsoft.com/office/drawing/2014/main" val="1378247573"/>
                  </a:ext>
                </a:extLst>
              </a:tr>
            </a:tbl>
          </a:graphicData>
        </a:graphic>
      </p:graphicFrame>
    </p:spTree>
    <p:extLst>
      <p:ext uri="{BB962C8B-B14F-4D97-AF65-F5344CB8AC3E}">
        <p14:creationId xmlns:p14="http://schemas.microsoft.com/office/powerpoint/2010/main" val="378136684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7685CC-FC90-1CFC-3D21-6E4BD52B91AF}"/>
              </a:ext>
            </a:extLst>
          </p:cNvPr>
          <p:cNvSpPr>
            <a:spLocks noGrp="1"/>
          </p:cNvSpPr>
          <p:nvPr>
            <p:ph type="title"/>
          </p:nvPr>
        </p:nvSpPr>
        <p:spPr>
          <a:xfrm>
            <a:off x="1486910" y="351076"/>
            <a:ext cx="9654092" cy="944345"/>
          </a:xfrm>
        </p:spPr>
        <p:txBody>
          <a:bodyPr>
            <a:normAutofit/>
          </a:bodyPr>
          <a:lstStyle/>
          <a:p>
            <a:pPr algn="ctr"/>
            <a:r>
              <a:rPr lang="zh-CN" altLang="en-US" sz="2489" dirty="0"/>
              <a:t>表</a:t>
            </a:r>
            <a:r>
              <a:rPr lang="en-US" altLang="zh-CN" sz="2489" dirty="0"/>
              <a:t>2 </a:t>
            </a:r>
            <a:r>
              <a:rPr lang="zh-CN" altLang="en-US" sz="2489" dirty="0"/>
              <a:t>自然语言处理（</a:t>
            </a:r>
            <a:r>
              <a:rPr lang="en-US" altLang="zh-CN" sz="2489" dirty="0"/>
              <a:t>NLP</a:t>
            </a:r>
            <a:r>
              <a:rPr lang="zh-CN" altLang="en-US" sz="2489" dirty="0"/>
              <a:t>）部分科学里程碑（</a:t>
            </a:r>
            <a:r>
              <a:rPr lang="en-US" altLang="zh-CN" sz="2489" dirty="0" err="1"/>
              <a:t>Bouschery</a:t>
            </a:r>
            <a:r>
              <a:rPr lang="en-US" altLang="zh-CN" sz="2489" dirty="0"/>
              <a:t> et al., 2023</a:t>
            </a:r>
            <a:r>
              <a:rPr lang="zh-CN" altLang="en-US" sz="2489" dirty="0"/>
              <a:t>）</a:t>
            </a:r>
          </a:p>
        </p:txBody>
      </p:sp>
      <p:graphicFrame>
        <p:nvGraphicFramePr>
          <p:cNvPr id="4" name="表格 3">
            <a:extLst>
              <a:ext uri="{FF2B5EF4-FFF2-40B4-BE49-F238E27FC236}">
                <a16:creationId xmlns:a16="http://schemas.microsoft.com/office/drawing/2014/main" id="{43F87DE6-EB9F-21F5-304A-478CE6A9B804}"/>
              </a:ext>
            </a:extLst>
          </p:cNvPr>
          <p:cNvGraphicFramePr>
            <a:graphicFrameLocks noGrp="1"/>
          </p:cNvGraphicFramePr>
          <p:nvPr/>
        </p:nvGraphicFramePr>
        <p:xfrm>
          <a:off x="742072" y="1301728"/>
          <a:ext cx="10707857" cy="5179737"/>
        </p:xfrm>
        <a:graphic>
          <a:graphicData uri="http://schemas.openxmlformats.org/drawingml/2006/table">
            <a:tbl>
              <a:tblPr firstRow="1" firstCol="1" bandRow="1">
                <a:tableStyleId>{5C22544A-7EE6-4342-B048-85BDC9FD1C3A}</a:tableStyleId>
              </a:tblPr>
              <a:tblGrid>
                <a:gridCol w="2503540">
                  <a:extLst>
                    <a:ext uri="{9D8B030D-6E8A-4147-A177-3AD203B41FA5}">
                      <a16:colId xmlns:a16="http://schemas.microsoft.com/office/drawing/2014/main" val="1145152704"/>
                    </a:ext>
                  </a:extLst>
                </a:gridCol>
                <a:gridCol w="3721958">
                  <a:extLst>
                    <a:ext uri="{9D8B030D-6E8A-4147-A177-3AD203B41FA5}">
                      <a16:colId xmlns:a16="http://schemas.microsoft.com/office/drawing/2014/main" val="804350956"/>
                    </a:ext>
                  </a:extLst>
                </a:gridCol>
                <a:gridCol w="4482359">
                  <a:extLst>
                    <a:ext uri="{9D8B030D-6E8A-4147-A177-3AD203B41FA5}">
                      <a16:colId xmlns:a16="http://schemas.microsoft.com/office/drawing/2014/main" val="3974255376"/>
                    </a:ext>
                  </a:extLst>
                </a:gridCol>
              </a:tblGrid>
              <a:tr h="437796">
                <a:tc>
                  <a:txBody>
                    <a:bodyPr/>
                    <a:lstStyle/>
                    <a:p>
                      <a:pPr algn="ctr"/>
                      <a:r>
                        <a:rPr lang="zh-CN" sz="1500" kern="100">
                          <a:effectLst/>
                        </a:rPr>
                        <a:t>参考文献</a:t>
                      </a:r>
                      <a:endParaRPr lang="zh-CN" sz="1500" kern="100">
                        <a:effectLst/>
                        <a:latin typeface="等线" panose="02010600030101010101" pitchFamily="2" charset="-122"/>
                        <a:ea typeface="等线" panose="02010600030101010101" pitchFamily="2" charset="-122"/>
                      </a:endParaRPr>
                    </a:p>
                  </a:txBody>
                  <a:tcPr marL="42671" marR="42671" marT="0" marB="0"/>
                </a:tc>
                <a:tc>
                  <a:txBody>
                    <a:bodyPr/>
                    <a:lstStyle/>
                    <a:p>
                      <a:pPr algn="ctr"/>
                      <a:r>
                        <a:rPr lang="zh-CN" sz="1500" kern="100" dirty="0">
                          <a:effectLst/>
                        </a:rPr>
                        <a:t>标题</a:t>
                      </a:r>
                      <a:endParaRPr lang="zh-CN" sz="1500" kern="100" dirty="0">
                        <a:effectLst/>
                        <a:latin typeface="等线" panose="02010600030101010101" pitchFamily="2" charset="-122"/>
                        <a:ea typeface="等线" panose="02010600030101010101" pitchFamily="2" charset="-122"/>
                      </a:endParaRPr>
                    </a:p>
                  </a:txBody>
                  <a:tcPr marL="42671" marR="42671" marT="0" marB="0"/>
                </a:tc>
                <a:tc>
                  <a:txBody>
                    <a:bodyPr/>
                    <a:lstStyle/>
                    <a:p>
                      <a:pPr algn="ctr"/>
                      <a:r>
                        <a:rPr lang="zh-CN" sz="1500" kern="100" dirty="0">
                          <a:effectLst/>
                        </a:rPr>
                        <a:t>里程碑</a:t>
                      </a:r>
                      <a:endParaRPr lang="zh-CN" sz="1500" kern="100" dirty="0">
                        <a:effectLst/>
                        <a:latin typeface="等线" panose="02010600030101010101" pitchFamily="2" charset="-122"/>
                        <a:ea typeface="等线" panose="02010600030101010101" pitchFamily="2" charset="-122"/>
                      </a:endParaRPr>
                    </a:p>
                  </a:txBody>
                  <a:tcPr marL="42671" marR="42671" marT="0" marB="0"/>
                </a:tc>
                <a:extLst>
                  <a:ext uri="{0D108BD9-81ED-4DB2-BD59-A6C34878D82A}">
                    <a16:rowId xmlns:a16="http://schemas.microsoft.com/office/drawing/2014/main" val="1999448772"/>
                  </a:ext>
                </a:extLst>
              </a:tr>
              <a:tr h="555526">
                <a:tc>
                  <a:txBody>
                    <a:bodyPr/>
                    <a:lstStyle/>
                    <a:p>
                      <a:r>
                        <a:rPr lang="en-US" sz="1500" kern="100">
                          <a:effectLst/>
                        </a:rPr>
                        <a:t>Garay-Vitoria</a:t>
                      </a:r>
                      <a:r>
                        <a:rPr lang="zh-CN" sz="1500" kern="100">
                          <a:effectLst/>
                        </a:rPr>
                        <a:t>和</a:t>
                      </a:r>
                      <a:r>
                        <a:rPr lang="en-US" sz="1500" kern="100">
                          <a:effectLst/>
                        </a:rPr>
                        <a:t>González-Abascal (1997)</a:t>
                      </a:r>
                      <a:endParaRPr lang="zh-CN" sz="1500" kern="100">
                        <a:effectLst/>
                        <a:latin typeface="等线" panose="02010600030101010101" pitchFamily="2" charset="-122"/>
                        <a:ea typeface="等线" panose="02010600030101010101" pitchFamily="2" charset="-122"/>
                      </a:endParaRPr>
                    </a:p>
                  </a:txBody>
                  <a:tcPr marL="42671" marR="42671" marT="0" marB="0"/>
                </a:tc>
                <a:tc>
                  <a:txBody>
                    <a:bodyPr/>
                    <a:lstStyle/>
                    <a:p>
                      <a:r>
                        <a:rPr lang="zh-CN" sz="1500" kern="100" dirty="0">
                          <a:effectLst/>
                        </a:rPr>
                        <a:t>基于语法分析的智能单词预测</a:t>
                      </a:r>
                      <a:endParaRPr lang="zh-CN" sz="1500" kern="100" dirty="0">
                        <a:effectLst/>
                        <a:latin typeface="等线" panose="02010600030101010101" pitchFamily="2" charset="-122"/>
                        <a:ea typeface="等线" panose="02010600030101010101" pitchFamily="2" charset="-122"/>
                      </a:endParaRPr>
                    </a:p>
                  </a:txBody>
                  <a:tcPr marL="42671" marR="42671" marT="0" marB="0"/>
                </a:tc>
                <a:tc>
                  <a:txBody>
                    <a:bodyPr/>
                    <a:lstStyle/>
                    <a:p>
                      <a:r>
                        <a:rPr lang="zh-CN" sz="1500" kern="100">
                          <a:effectLst/>
                        </a:rPr>
                        <a:t>为重度运动和语言障碍者引入语法分析的单词预测技术</a:t>
                      </a:r>
                      <a:endParaRPr lang="zh-CN" sz="1500" kern="100">
                        <a:effectLst/>
                        <a:latin typeface="等线" panose="02010600030101010101" pitchFamily="2" charset="-122"/>
                        <a:ea typeface="等线" panose="02010600030101010101" pitchFamily="2" charset="-122"/>
                      </a:endParaRPr>
                    </a:p>
                  </a:txBody>
                  <a:tcPr marL="42671" marR="42671" marT="0" marB="0"/>
                </a:tc>
                <a:extLst>
                  <a:ext uri="{0D108BD9-81ED-4DB2-BD59-A6C34878D82A}">
                    <a16:rowId xmlns:a16="http://schemas.microsoft.com/office/drawing/2014/main" val="1516925076"/>
                  </a:ext>
                </a:extLst>
              </a:tr>
              <a:tr h="437796">
                <a:tc>
                  <a:txBody>
                    <a:bodyPr/>
                    <a:lstStyle/>
                    <a:p>
                      <a:r>
                        <a:rPr lang="en-US" sz="1500" kern="100">
                          <a:effectLst/>
                        </a:rPr>
                        <a:t>Bengio</a:t>
                      </a:r>
                      <a:r>
                        <a:rPr lang="zh-CN" sz="1500" kern="100">
                          <a:effectLst/>
                        </a:rPr>
                        <a:t>等人</a:t>
                      </a:r>
                      <a:r>
                        <a:rPr lang="en-US" sz="1500" kern="100">
                          <a:effectLst/>
                        </a:rPr>
                        <a:t> (2003)</a:t>
                      </a:r>
                      <a:endParaRPr lang="zh-CN" sz="1500" kern="100">
                        <a:effectLst/>
                        <a:latin typeface="等线" panose="02010600030101010101" pitchFamily="2" charset="-122"/>
                        <a:ea typeface="等线" panose="02010600030101010101" pitchFamily="2" charset="-122"/>
                      </a:endParaRPr>
                    </a:p>
                  </a:txBody>
                  <a:tcPr marL="42671" marR="42671" marT="0" marB="0"/>
                </a:tc>
                <a:tc>
                  <a:txBody>
                    <a:bodyPr/>
                    <a:lstStyle/>
                    <a:p>
                      <a:r>
                        <a:rPr lang="zh-CN" sz="1500" kern="100">
                          <a:effectLst/>
                        </a:rPr>
                        <a:t>神经概率语言模型</a:t>
                      </a:r>
                      <a:endParaRPr lang="zh-CN" sz="1500" kern="100">
                        <a:effectLst/>
                        <a:latin typeface="等线" panose="02010600030101010101" pitchFamily="2" charset="-122"/>
                        <a:ea typeface="等线" panose="02010600030101010101" pitchFamily="2" charset="-122"/>
                      </a:endParaRPr>
                    </a:p>
                  </a:txBody>
                  <a:tcPr marL="42671" marR="42671" marT="0" marB="0"/>
                </a:tc>
                <a:tc>
                  <a:txBody>
                    <a:bodyPr/>
                    <a:lstStyle/>
                    <a:p>
                      <a:r>
                        <a:rPr lang="zh-CN" sz="1500" kern="100" dirty="0">
                          <a:effectLst/>
                          <a:highlight>
                            <a:srgbClr val="FFFF00"/>
                          </a:highlight>
                        </a:rPr>
                        <a:t>引入神经网络计算词序列概率函数</a:t>
                      </a:r>
                      <a:endParaRPr lang="zh-CN" sz="1500" kern="100" dirty="0">
                        <a:effectLst/>
                        <a:highlight>
                          <a:srgbClr val="FFFF00"/>
                        </a:highlight>
                        <a:latin typeface="等线" panose="02010600030101010101" pitchFamily="2" charset="-122"/>
                        <a:ea typeface="等线" panose="02010600030101010101" pitchFamily="2" charset="-122"/>
                      </a:endParaRPr>
                    </a:p>
                  </a:txBody>
                  <a:tcPr marL="42671" marR="42671" marT="0" marB="0"/>
                </a:tc>
                <a:extLst>
                  <a:ext uri="{0D108BD9-81ED-4DB2-BD59-A6C34878D82A}">
                    <a16:rowId xmlns:a16="http://schemas.microsoft.com/office/drawing/2014/main" val="2763142173"/>
                  </a:ext>
                </a:extLst>
              </a:tr>
              <a:tr h="437796">
                <a:tc>
                  <a:txBody>
                    <a:bodyPr/>
                    <a:lstStyle/>
                    <a:p>
                      <a:r>
                        <a:rPr lang="en-US" sz="1500" kern="100">
                          <a:effectLst/>
                        </a:rPr>
                        <a:t>Mikolov</a:t>
                      </a:r>
                      <a:r>
                        <a:rPr lang="zh-CN" sz="1500" kern="100">
                          <a:effectLst/>
                        </a:rPr>
                        <a:t>等人 </a:t>
                      </a:r>
                      <a:r>
                        <a:rPr lang="en-US" sz="1500" kern="100">
                          <a:effectLst/>
                        </a:rPr>
                        <a:t>(2010)</a:t>
                      </a:r>
                      <a:endParaRPr lang="zh-CN" sz="1500" kern="100">
                        <a:effectLst/>
                        <a:latin typeface="等线" panose="02010600030101010101" pitchFamily="2" charset="-122"/>
                        <a:ea typeface="等线" panose="02010600030101010101" pitchFamily="2" charset="-122"/>
                      </a:endParaRPr>
                    </a:p>
                  </a:txBody>
                  <a:tcPr marL="42671" marR="42671" marT="0" marB="0"/>
                </a:tc>
                <a:tc>
                  <a:txBody>
                    <a:bodyPr/>
                    <a:lstStyle/>
                    <a:p>
                      <a:r>
                        <a:rPr lang="zh-CN" sz="1500" kern="100" dirty="0">
                          <a:effectLst/>
                        </a:rPr>
                        <a:t>基于循环神经网络</a:t>
                      </a:r>
                      <a:r>
                        <a:rPr lang="en-US" sz="1500" kern="100" dirty="0">
                          <a:effectLst/>
                        </a:rPr>
                        <a:t>(RNN)</a:t>
                      </a:r>
                      <a:r>
                        <a:rPr lang="zh-CN" sz="1500" kern="100">
                          <a:effectLst/>
                        </a:rPr>
                        <a:t>的语言模型</a:t>
                      </a:r>
                      <a:endParaRPr lang="zh-CN" sz="1500" kern="100">
                        <a:effectLst/>
                        <a:latin typeface="等线" panose="02010600030101010101" pitchFamily="2" charset="-122"/>
                        <a:ea typeface="等线" panose="02010600030101010101" pitchFamily="2" charset="-122"/>
                      </a:endParaRPr>
                    </a:p>
                  </a:txBody>
                  <a:tcPr marL="42671" marR="42671" marT="0" marB="0"/>
                </a:tc>
                <a:tc>
                  <a:txBody>
                    <a:bodyPr/>
                    <a:lstStyle/>
                    <a:p>
                      <a:r>
                        <a:rPr lang="zh-CN" sz="1500" kern="100" dirty="0">
                          <a:effectLst/>
                        </a:rPr>
                        <a:t>利用</a:t>
                      </a:r>
                      <a:r>
                        <a:rPr lang="en-US" sz="1500" kern="100" dirty="0">
                          <a:effectLst/>
                        </a:rPr>
                        <a:t>RNN</a:t>
                      </a:r>
                      <a:r>
                        <a:rPr lang="zh-CN" sz="1500" kern="100" dirty="0">
                          <a:effectLst/>
                        </a:rPr>
                        <a:t>进行语言建模的新方法</a:t>
                      </a:r>
                      <a:endParaRPr lang="zh-CN" sz="1500" kern="100" dirty="0">
                        <a:effectLst/>
                        <a:latin typeface="等线" panose="02010600030101010101" pitchFamily="2" charset="-122"/>
                        <a:ea typeface="等线" panose="02010600030101010101" pitchFamily="2" charset="-122"/>
                      </a:endParaRPr>
                    </a:p>
                  </a:txBody>
                  <a:tcPr marL="42671" marR="42671" marT="0" marB="0"/>
                </a:tc>
                <a:extLst>
                  <a:ext uri="{0D108BD9-81ED-4DB2-BD59-A6C34878D82A}">
                    <a16:rowId xmlns:a16="http://schemas.microsoft.com/office/drawing/2014/main" val="1795995711"/>
                  </a:ext>
                </a:extLst>
              </a:tr>
              <a:tr h="496322">
                <a:tc>
                  <a:txBody>
                    <a:bodyPr/>
                    <a:lstStyle/>
                    <a:p>
                      <a:r>
                        <a:rPr lang="en-US" sz="1500" kern="100">
                          <a:effectLst/>
                        </a:rPr>
                        <a:t>Graves (2013)</a:t>
                      </a:r>
                      <a:endParaRPr lang="zh-CN" sz="1500" kern="100">
                        <a:effectLst/>
                        <a:latin typeface="等线" panose="02010600030101010101" pitchFamily="2" charset="-122"/>
                        <a:ea typeface="等线" panose="02010600030101010101" pitchFamily="2" charset="-122"/>
                      </a:endParaRPr>
                    </a:p>
                  </a:txBody>
                  <a:tcPr marL="42671" marR="42671" marT="0" marB="0"/>
                </a:tc>
                <a:tc>
                  <a:txBody>
                    <a:bodyPr/>
                    <a:lstStyle/>
                    <a:p>
                      <a:r>
                        <a:rPr lang="zh-CN" sz="1500" kern="100" dirty="0">
                          <a:effectLst/>
                        </a:rPr>
                        <a:t>使用</a:t>
                      </a:r>
                      <a:r>
                        <a:rPr lang="en-US" sz="1500" kern="100" dirty="0">
                          <a:effectLst/>
                        </a:rPr>
                        <a:t>RNN</a:t>
                      </a:r>
                      <a:r>
                        <a:rPr lang="zh-CN" sz="1500" kern="100" dirty="0">
                          <a:effectLst/>
                        </a:rPr>
                        <a:t>生成序列</a:t>
                      </a:r>
                      <a:endParaRPr lang="zh-CN" sz="1500" kern="100" dirty="0">
                        <a:effectLst/>
                        <a:latin typeface="等线" panose="02010600030101010101" pitchFamily="2" charset="-122"/>
                        <a:ea typeface="等线" panose="02010600030101010101" pitchFamily="2" charset="-122"/>
                      </a:endParaRPr>
                    </a:p>
                  </a:txBody>
                  <a:tcPr marL="42671" marR="42671" marT="0" marB="0"/>
                </a:tc>
                <a:tc>
                  <a:txBody>
                    <a:bodyPr/>
                    <a:lstStyle/>
                    <a:p>
                      <a:r>
                        <a:rPr lang="zh-CN" sz="1500" kern="100">
                          <a:effectLst/>
                        </a:rPr>
                        <a:t>为文本预测引入长短期记忆</a:t>
                      </a:r>
                      <a:r>
                        <a:rPr lang="en-US" sz="1500" kern="100">
                          <a:effectLst/>
                        </a:rPr>
                        <a:t>(LSTM) RNN</a:t>
                      </a:r>
                      <a:endParaRPr lang="zh-CN" sz="1500" kern="100">
                        <a:effectLst/>
                        <a:latin typeface="等线" panose="02010600030101010101" pitchFamily="2" charset="-122"/>
                        <a:ea typeface="等线" panose="02010600030101010101" pitchFamily="2" charset="-122"/>
                      </a:endParaRPr>
                    </a:p>
                  </a:txBody>
                  <a:tcPr marL="42671" marR="42671" marT="0" marB="0"/>
                </a:tc>
                <a:extLst>
                  <a:ext uri="{0D108BD9-81ED-4DB2-BD59-A6C34878D82A}">
                    <a16:rowId xmlns:a16="http://schemas.microsoft.com/office/drawing/2014/main" val="2892000639"/>
                  </a:ext>
                </a:extLst>
              </a:tr>
              <a:tr h="555526">
                <a:tc>
                  <a:txBody>
                    <a:bodyPr/>
                    <a:lstStyle/>
                    <a:p>
                      <a:r>
                        <a:rPr lang="en-US" sz="1500" kern="100">
                          <a:effectLst/>
                        </a:rPr>
                        <a:t>Bahdanau</a:t>
                      </a:r>
                      <a:r>
                        <a:rPr lang="zh-CN" sz="1500" kern="100">
                          <a:effectLst/>
                        </a:rPr>
                        <a:t>等人</a:t>
                      </a:r>
                      <a:r>
                        <a:rPr lang="en-US" sz="1500" kern="100">
                          <a:effectLst/>
                        </a:rPr>
                        <a:t> (2014)</a:t>
                      </a:r>
                      <a:endParaRPr lang="zh-CN" sz="1500" kern="100">
                        <a:effectLst/>
                        <a:latin typeface="等线" panose="02010600030101010101" pitchFamily="2" charset="-122"/>
                        <a:ea typeface="等线" panose="02010600030101010101" pitchFamily="2" charset="-122"/>
                      </a:endParaRPr>
                    </a:p>
                  </a:txBody>
                  <a:tcPr marL="42671" marR="42671" marT="0" marB="0"/>
                </a:tc>
                <a:tc>
                  <a:txBody>
                    <a:bodyPr/>
                    <a:lstStyle/>
                    <a:p>
                      <a:r>
                        <a:rPr lang="zh-CN" sz="1500" kern="100">
                          <a:effectLst/>
                        </a:rPr>
                        <a:t>通过联合学习对齐和翻译的神经机器翻译</a:t>
                      </a:r>
                      <a:endParaRPr lang="zh-CN" sz="1500" kern="100">
                        <a:effectLst/>
                        <a:latin typeface="等线" panose="02010600030101010101" pitchFamily="2" charset="-122"/>
                        <a:ea typeface="等线" panose="02010600030101010101" pitchFamily="2" charset="-122"/>
                      </a:endParaRPr>
                    </a:p>
                  </a:txBody>
                  <a:tcPr marL="42671" marR="42671" marT="0" marB="0"/>
                </a:tc>
                <a:tc>
                  <a:txBody>
                    <a:bodyPr/>
                    <a:lstStyle/>
                    <a:p>
                      <a:r>
                        <a:rPr lang="zh-CN" sz="1500" kern="100" dirty="0">
                          <a:effectLst/>
                        </a:rPr>
                        <a:t>首次提出在机器翻译中使用</a:t>
                      </a:r>
                      <a:r>
                        <a:rPr lang="zh-CN" sz="1500" kern="100" dirty="0">
                          <a:effectLst/>
                          <a:highlight>
                            <a:srgbClr val="FFFF00"/>
                          </a:highlight>
                        </a:rPr>
                        <a:t>注意力机制</a:t>
                      </a:r>
                      <a:endParaRPr lang="zh-CN" sz="1500" kern="100" dirty="0">
                        <a:effectLst/>
                        <a:highlight>
                          <a:srgbClr val="FFFF00"/>
                        </a:highlight>
                        <a:latin typeface="等线" panose="02010600030101010101" pitchFamily="2" charset="-122"/>
                        <a:ea typeface="等线" panose="02010600030101010101" pitchFamily="2" charset="-122"/>
                      </a:endParaRPr>
                    </a:p>
                  </a:txBody>
                  <a:tcPr marL="42671" marR="42671" marT="0" marB="0"/>
                </a:tc>
                <a:extLst>
                  <a:ext uri="{0D108BD9-81ED-4DB2-BD59-A6C34878D82A}">
                    <a16:rowId xmlns:a16="http://schemas.microsoft.com/office/drawing/2014/main" val="2556932241"/>
                  </a:ext>
                </a:extLst>
              </a:tr>
              <a:tr h="496322">
                <a:tc>
                  <a:txBody>
                    <a:bodyPr/>
                    <a:lstStyle/>
                    <a:p>
                      <a:r>
                        <a:rPr lang="en-US" sz="1500" kern="100">
                          <a:effectLst/>
                        </a:rPr>
                        <a:t>Vaswani</a:t>
                      </a:r>
                      <a:r>
                        <a:rPr lang="zh-CN" sz="1500" kern="100">
                          <a:effectLst/>
                        </a:rPr>
                        <a:t>等人</a:t>
                      </a:r>
                      <a:r>
                        <a:rPr lang="en-US" sz="1500" kern="100">
                          <a:effectLst/>
                        </a:rPr>
                        <a:t> (2017)</a:t>
                      </a:r>
                      <a:endParaRPr lang="zh-CN" sz="1500" kern="100">
                        <a:effectLst/>
                        <a:latin typeface="等线" panose="02010600030101010101" pitchFamily="2" charset="-122"/>
                        <a:ea typeface="等线" panose="02010600030101010101" pitchFamily="2" charset="-122"/>
                      </a:endParaRPr>
                    </a:p>
                  </a:txBody>
                  <a:tcPr marL="42671" marR="42671" marT="0" marB="0"/>
                </a:tc>
                <a:tc>
                  <a:txBody>
                    <a:bodyPr/>
                    <a:lstStyle/>
                    <a:p>
                      <a:r>
                        <a:rPr lang="zh-CN" sz="1500" kern="100" dirty="0">
                          <a:effectLst/>
                          <a:highlight>
                            <a:srgbClr val="FFFF00"/>
                          </a:highlight>
                        </a:rPr>
                        <a:t>注意力就是你所需要的</a:t>
                      </a:r>
                      <a:endParaRPr lang="zh-CN" sz="1500" kern="100" dirty="0">
                        <a:effectLst/>
                        <a:highlight>
                          <a:srgbClr val="FFFF00"/>
                        </a:highlight>
                        <a:latin typeface="等线" panose="02010600030101010101" pitchFamily="2" charset="-122"/>
                        <a:ea typeface="等线" panose="02010600030101010101" pitchFamily="2" charset="-122"/>
                      </a:endParaRPr>
                    </a:p>
                  </a:txBody>
                  <a:tcPr marL="42671" marR="42671" marT="0" marB="0"/>
                </a:tc>
                <a:tc>
                  <a:txBody>
                    <a:bodyPr/>
                    <a:lstStyle/>
                    <a:p>
                      <a:r>
                        <a:rPr lang="zh-CN" sz="1500" kern="100">
                          <a:effectLst/>
                        </a:rPr>
                        <a:t>发明</a:t>
                      </a:r>
                      <a:r>
                        <a:rPr lang="en-US" sz="1500" kern="100">
                          <a:effectLst/>
                        </a:rPr>
                        <a:t>Transformer</a:t>
                      </a:r>
                      <a:r>
                        <a:rPr lang="zh-CN" sz="1500" kern="100">
                          <a:effectLst/>
                        </a:rPr>
                        <a:t>架构，革新了序列建模领域</a:t>
                      </a:r>
                      <a:endParaRPr lang="zh-CN" sz="1500" kern="100">
                        <a:effectLst/>
                        <a:latin typeface="等线" panose="02010600030101010101" pitchFamily="2" charset="-122"/>
                        <a:ea typeface="等线" panose="02010600030101010101" pitchFamily="2" charset="-122"/>
                      </a:endParaRPr>
                    </a:p>
                  </a:txBody>
                  <a:tcPr marL="42671" marR="42671" marT="0" marB="0"/>
                </a:tc>
                <a:extLst>
                  <a:ext uri="{0D108BD9-81ED-4DB2-BD59-A6C34878D82A}">
                    <a16:rowId xmlns:a16="http://schemas.microsoft.com/office/drawing/2014/main" val="1901480851"/>
                  </a:ext>
                </a:extLst>
              </a:tr>
              <a:tr h="555526">
                <a:tc>
                  <a:txBody>
                    <a:bodyPr/>
                    <a:lstStyle/>
                    <a:p>
                      <a:r>
                        <a:rPr lang="en-US" sz="1500" kern="100">
                          <a:effectLst/>
                        </a:rPr>
                        <a:t>Devlin</a:t>
                      </a:r>
                      <a:r>
                        <a:rPr lang="zh-CN" sz="1500" kern="100">
                          <a:effectLst/>
                        </a:rPr>
                        <a:t>等人</a:t>
                      </a:r>
                      <a:r>
                        <a:rPr lang="en-US" sz="1500" kern="100">
                          <a:effectLst/>
                        </a:rPr>
                        <a:t> (2018)</a:t>
                      </a:r>
                      <a:endParaRPr lang="zh-CN" sz="1500" kern="100">
                        <a:effectLst/>
                        <a:latin typeface="等线" panose="02010600030101010101" pitchFamily="2" charset="-122"/>
                        <a:ea typeface="等线" panose="02010600030101010101" pitchFamily="2" charset="-122"/>
                      </a:endParaRPr>
                    </a:p>
                  </a:txBody>
                  <a:tcPr marL="42671" marR="42671" marT="0" marB="0"/>
                </a:tc>
                <a:tc>
                  <a:txBody>
                    <a:bodyPr/>
                    <a:lstStyle/>
                    <a:p>
                      <a:r>
                        <a:rPr lang="en-US" sz="1500" kern="100">
                          <a:effectLst/>
                        </a:rPr>
                        <a:t>BERT: </a:t>
                      </a:r>
                      <a:r>
                        <a:rPr lang="zh-CN" sz="1500" kern="100">
                          <a:effectLst/>
                        </a:rPr>
                        <a:t>深度双向</a:t>
                      </a:r>
                      <a:r>
                        <a:rPr lang="en-US" sz="1500" kern="100">
                          <a:effectLst/>
                        </a:rPr>
                        <a:t>Transformer</a:t>
                      </a:r>
                      <a:r>
                        <a:rPr lang="zh-CN" sz="1500" kern="100">
                          <a:effectLst/>
                        </a:rPr>
                        <a:t>的预训练以进行语言理解</a:t>
                      </a:r>
                      <a:endParaRPr lang="zh-CN" sz="1500" kern="100">
                        <a:effectLst/>
                        <a:latin typeface="等线" panose="02010600030101010101" pitchFamily="2" charset="-122"/>
                        <a:ea typeface="等线" panose="02010600030101010101" pitchFamily="2" charset="-122"/>
                      </a:endParaRPr>
                    </a:p>
                  </a:txBody>
                  <a:tcPr marL="42671" marR="42671" marT="0" marB="0"/>
                </a:tc>
                <a:tc>
                  <a:txBody>
                    <a:bodyPr/>
                    <a:lstStyle/>
                    <a:p>
                      <a:r>
                        <a:rPr lang="zh-CN" sz="1500" kern="100" dirty="0">
                          <a:effectLst/>
                        </a:rPr>
                        <a:t>推出大型双向</a:t>
                      </a:r>
                      <a:r>
                        <a:rPr lang="en-US" sz="1500" kern="100" dirty="0">
                          <a:effectLst/>
                        </a:rPr>
                        <a:t>Transformer</a:t>
                      </a:r>
                      <a:r>
                        <a:rPr lang="zh-CN" sz="1500" kern="100" dirty="0">
                          <a:effectLst/>
                        </a:rPr>
                        <a:t>预训练模型，提升语言理解能力</a:t>
                      </a:r>
                      <a:endParaRPr lang="zh-CN" sz="1500" kern="100" dirty="0">
                        <a:effectLst/>
                        <a:latin typeface="等线" panose="02010600030101010101" pitchFamily="2" charset="-122"/>
                        <a:ea typeface="等线" panose="02010600030101010101" pitchFamily="2" charset="-122"/>
                      </a:endParaRPr>
                    </a:p>
                  </a:txBody>
                  <a:tcPr marL="42671" marR="42671" marT="0" marB="0"/>
                </a:tc>
                <a:extLst>
                  <a:ext uri="{0D108BD9-81ED-4DB2-BD59-A6C34878D82A}">
                    <a16:rowId xmlns:a16="http://schemas.microsoft.com/office/drawing/2014/main" val="1205164784"/>
                  </a:ext>
                </a:extLst>
              </a:tr>
              <a:tr h="555526">
                <a:tc>
                  <a:txBody>
                    <a:bodyPr/>
                    <a:lstStyle/>
                    <a:p>
                      <a:r>
                        <a:rPr lang="en-US" sz="1500" kern="100">
                          <a:effectLst/>
                        </a:rPr>
                        <a:t>Radford</a:t>
                      </a:r>
                      <a:r>
                        <a:rPr lang="zh-CN" sz="1500" kern="100">
                          <a:effectLst/>
                        </a:rPr>
                        <a:t>等人</a:t>
                      </a:r>
                      <a:r>
                        <a:rPr lang="en-US" sz="1500" kern="100">
                          <a:effectLst/>
                        </a:rPr>
                        <a:t> (2018)</a:t>
                      </a:r>
                      <a:endParaRPr lang="zh-CN" sz="1500" kern="100">
                        <a:effectLst/>
                        <a:latin typeface="等线" panose="02010600030101010101" pitchFamily="2" charset="-122"/>
                        <a:ea typeface="等线" panose="02010600030101010101" pitchFamily="2" charset="-122"/>
                      </a:endParaRPr>
                    </a:p>
                  </a:txBody>
                  <a:tcPr marL="42671" marR="42671" marT="0" marB="0"/>
                </a:tc>
                <a:tc>
                  <a:txBody>
                    <a:bodyPr/>
                    <a:lstStyle/>
                    <a:p>
                      <a:r>
                        <a:rPr lang="zh-CN" sz="1500" kern="100">
                          <a:effectLst/>
                        </a:rPr>
                        <a:t>通过生成式预训练改进语言理解</a:t>
                      </a:r>
                      <a:endParaRPr lang="zh-CN" sz="1500" kern="100">
                        <a:effectLst/>
                        <a:latin typeface="等线" panose="02010600030101010101" pitchFamily="2" charset="-122"/>
                        <a:ea typeface="等线" panose="02010600030101010101" pitchFamily="2" charset="-122"/>
                      </a:endParaRPr>
                    </a:p>
                  </a:txBody>
                  <a:tcPr marL="42671" marR="42671" marT="0" marB="0"/>
                </a:tc>
                <a:tc>
                  <a:txBody>
                    <a:bodyPr/>
                    <a:lstStyle/>
                    <a:p>
                      <a:r>
                        <a:rPr lang="zh-CN" sz="1500" kern="100">
                          <a:effectLst/>
                        </a:rPr>
                        <a:t>开创一系列生成式预训练语言模型，进一步推动</a:t>
                      </a:r>
                      <a:r>
                        <a:rPr lang="en-US" sz="1500" kern="100">
                          <a:effectLst/>
                        </a:rPr>
                        <a:t>NLP</a:t>
                      </a:r>
                      <a:r>
                        <a:rPr lang="zh-CN" sz="1500" kern="100">
                          <a:effectLst/>
                        </a:rPr>
                        <a:t>进步</a:t>
                      </a:r>
                      <a:endParaRPr lang="zh-CN" sz="1500" kern="100">
                        <a:effectLst/>
                        <a:latin typeface="等线" panose="02010600030101010101" pitchFamily="2" charset="-122"/>
                        <a:ea typeface="等线" panose="02010600030101010101" pitchFamily="2" charset="-122"/>
                      </a:endParaRPr>
                    </a:p>
                  </a:txBody>
                  <a:tcPr marL="42671" marR="42671" marT="0" marB="0"/>
                </a:tc>
                <a:extLst>
                  <a:ext uri="{0D108BD9-81ED-4DB2-BD59-A6C34878D82A}">
                    <a16:rowId xmlns:a16="http://schemas.microsoft.com/office/drawing/2014/main" val="1337553851"/>
                  </a:ext>
                </a:extLst>
              </a:tr>
              <a:tr h="651600">
                <a:tc>
                  <a:txBody>
                    <a:bodyPr/>
                    <a:lstStyle/>
                    <a:p>
                      <a:r>
                        <a:rPr lang="en-US" sz="1500" kern="100">
                          <a:effectLst/>
                        </a:rPr>
                        <a:t>Brown</a:t>
                      </a:r>
                      <a:r>
                        <a:rPr lang="zh-CN" sz="1500" kern="100">
                          <a:effectLst/>
                        </a:rPr>
                        <a:t>等人</a:t>
                      </a:r>
                      <a:r>
                        <a:rPr lang="en-US" sz="1500" kern="100">
                          <a:effectLst/>
                        </a:rPr>
                        <a:t> (2020)</a:t>
                      </a:r>
                      <a:endParaRPr lang="zh-CN" sz="1500" kern="100">
                        <a:effectLst/>
                        <a:latin typeface="等线" panose="02010600030101010101" pitchFamily="2" charset="-122"/>
                        <a:ea typeface="等线" panose="02010600030101010101" pitchFamily="2" charset="-122"/>
                      </a:endParaRPr>
                    </a:p>
                  </a:txBody>
                  <a:tcPr marL="42671" marR="42671" marT="0" marB="0"/>
                </a:tc>
                <a:tc>
                  <a:txBody>
                    <a:bodyPr/>
                    <a:lstStyle/>
                    <a:p>
                      <a:r>
                        <a:rPr lang="zh-CN" sz="1500" kern="100" dirty="0">
                          <a:effectLst/>
                          <a:highlight>
                            <a:srgbClr val="FFFF00"/>
                          </a:highlight>
                        </a:rPr>
                        <a:t>语言模型是少量样本学习者</a:t>
                      </a:r>
                      <a:endParaRPr lang="zh-CN" sz="1500" kern="100" dirty="0">
                        <a:effectLst/>
                        <a:highlight>
                          <a:srgbClr val="FFFF00"/>
                        </a:highlight>
                        <a:latin typeface="等线" panose="02010600030101010101" pitchFamily="2" charset="-122"/>
                        <a:ea typeface="等线" panose="02010600030101010101" pitchFamily="2" charset="-122"/>
                      </a:endParaRPr>
                    </a:p>
                  </a:txBody>
                  <a:tcPr marL="42671" marR="42671" marT="0" marB="0"/>
                </a:tc>
                <a:tc>
                  <a:txBody>
                    <a:bodyPr/>
                    <a:lstStyle/>
                    <a:p>
                      <a:r>
                        <a:rPr lang="zh-CN" sz="1500" kern="100" dirty="0">
                          <a:effectLst/>
                        </a:rPr>
                        <a:t>强调并展示了大型语言模型在少量样本学习任务上的高效性</a:t>
                      </a:r>
                      <a:endParaRPr lang="zh-CN" sz="1500" kern="100" dirty="0">
                        <a:effectLst/>
                        <a:latin typeface="等线" panose="02010600030101010101" pitchFamily="2" charset="-122"/>
                        <a:ea typeface="等线" panose="02010600030101010101" pitchFamily="2" charset="-122"/>
                      </a:endParaRPr>
                    </a:p>
                  </a:txBody>
                  <a:tcPr marL="42671" marR="42671" marT="0" marB="0"/>
                </a:tc>
                <a:extLst>
                  <a:ext uri="{0D108BD9-81ED-4DB2-BD59-A6C34878D82A}">
                    <a16:rowId xmlns:a16="http://schemas.microsoft.com/office/drawing/2014/main" val="2243331305"/>
                  </a:ext>
                </a:extLst>
              </a:tr>
            </a:tbl>
          </a:graphicData>
        </a:graphic>
      </p:graphicFrame>
    </p:spTree>
    <p:extLst>
      <p:ext uri="{BB962C8B-B14F-4D97-AF65-F5344CB8AC3E}">
        <p14:creationId xmlns:p14="http://schemas.microsoft.com/office/powerpoint/2010/main" val="216994265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2D1AB6-0B7C-4F6D-913B-3753C942994A}"/>
              </a:ext>
            </a:extLst>
          </p:cNvPr>
          <p:cNvSpPr>
            <a:spLocks noGrp="1"/>
          </p:cNvSpPr>
          <p:nvPr>
            <p:ph type="title"/>
          </p:nvPr>
        </p:nvSpPr>
        <p:spPr>
          <a:xfrm>
            <a:off x="838283" y="3109688"/>
            <a:ext cx="2126943" cy="824787"/>
          </a:xfrm>
        </p:spPr>
        <p:txBody>
          <a:bodyPr>
            <a:normAutofit fontScale="90000"/>
          </a:bodyPr>
          <a:lstStyle/>
          <a:p>
            <a:r>
              <a:rPr lang="zh-CN" altLang="en-US" sz="2489" dirty="0"/>
              <a:t>大语言模型创新框架（</a:t>
            </a:r>
            <a:r>
              <a:rPr lang="en-US" altLang="zh-CN" sz="2489" dirty="0"/>
              <a:t>Sundberg L </a:t>
            </a:r>
            <a:r>
              <a:rPr lang="zh-CN" altLang="en-US" sz="2489" dirty="0"/>
              <a:t>等</a:t>
            </a:r>
            <a:r>
              <a:rPr lang="en-US" altLang="zh-CN" sz="2489" dirty="0"/>
              <a:t>, 2024</a:t>
            </a:r>
            <a:r>
              <a:rPr lang="zh-CN" altLang="en-US" sz="2489" dirty="0"/>
              <a:t>）</a:t>
            </a:r>
          </a:p>
        </p:txBody>
      </p:sp>
      <p:pic>
        <p:nvPicPr>
          <p:cNvPr id="1026" name="Picture 2">
            <a:extLst>
              <a:ext uri="{FF2B5EF4-FFF2-40B4-BE49-F238E27FC236}">
                <a16:creationId xmlns:a16="http://schemas.microsoft.com/office/drawing/2014/main" id="{B1F31AEF-326D-4B84-80F7-38649CA48C6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381447" y="66113"/>
            <a:ext cx="6021298" cy="6725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804138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B066ED-22B8-4033-8810-58C47234DBFA}"/>
              </a:ext>
            </a:extLst>
          </p:cNvPr>
          <p:cNvSpPr>
            <a:spLocks noGrp="1"/>
          </p:cNvSpPr>
          <p:nvPr>
            <p:ph type="title"/>
          </p:nvPr>
        </p:nvSpPr>
        <p:spPr>
          <a:xfrm>
            <a:off x="1503049" y="250727"/>
            <a:ext cx="9022080" cy="824787"/>
          </a:xfrm>
        </p:spPr>
        <p:txBody>
          <a:bodyPr>
            <a:normAutofit fontScale="90000"/>
          </a:bodyPr>
          <a:lstStyle/>
          <a:p>
            <a:r>
              <a:rPr lang="zh-CN" altLang="en-US" dirty="0"/>
              <a:t>四大功能的解释（</a:t>
            </a:r>
            <a:r>
              <a:rPr lang="en-US" altLang="zh-CN" dirty="0"/>
              <a:t>Sundberg L </a:t>
            </a:r>
            <a:r>
              <a:rPr lang="zh-CN" altLang="en-US" dirty="0"/>
              <a:t>等</a:t>
            </a:r>
            <a:r>
              <a:rPr lang="en-US" altLang="zh-CN" dirty="0"/>
              <a:t>, 2024</a:t>
            </a:r>
            <a:r>
              <a:rPr lang="zh-CN" altLang="en-US" dirty="0"/>
              <a:t>）</a:t>
            </a:r>
          </a:p>
        </p:txBody>
      </p:sp>
      <p:graphicFrame>
        <p:nvGraphicFramePr>
          <p:cNvPr id="5" name="表格 5">
            <a:extLst>
              <a:ext uri="{FF2B5EF4-FFF2-40B4-BE49-F238E27FC236}">
                <a16:creationId xmlns:a16="http://schemas.microsoft.com/office/drawing/2014/main" id="{5239273D-AC42-4A75-92CE-0A501113C5A5}"/>
              </a:ext>
            </a:extLst>
          </p:cNvPr>
          <p:cNvGraphicFramePr>
            <a:graphicFrameLocks noGrp="1"/>
          </p:cNvGraphicFramePr>
          <p:nvPr>
            <p:ph idx="1"/>
          </p:nvPr>
        </p:nvGraphicFramePr>
        <p:xfrm>
          <a:off x="825325" y="1354384"/>
          <a:ext cx="10541351" cy="4944318"/>
        </p:xfrm>
        <a:graphic>
          <a:graphicData uri="http://schemas.openxmlformats.org/drawingml/2006/table">
            <a:tbl>
              <a:tblPr firstRow="1" bandRow="1">
                <a:tableStyleId>{5C22544A-7EE6-4342-B048-85BDC9FD1C3A}</a:tableStyleId>
              </a:tblPr>
              <a:tblGrid>
                <a:gridCol w="1881316">
                  <a:extLst>
                    <a:ext uri="{9D8B030D-6E8A-4147-A177-3AD203B41FA5}">
                      <a16:colId xmlns:a16="http://schemas.microsoft.com/office/drawing/2014/main" val="1255391647"/>
                    </a:ext>
                  </a:extLst>
                </a:gridCol>
                <a:gridCol w="3855556">
                  <a:extLst>
                    <a:ext uri="{9D8B030D-6E8A-4147-A177-3AD203B41FA5}">
                      <a16:colId xmlns:a16="http://schemas.microsoft.com/office/drawing/2014/main" val="2260412036"/>
                    </a:ext>
                  </a:extLst>
                </a:gridCol>
                <a:gridCol w="4804478">
                  <a:extLst>
                    <a:ext uri="{9D8B030D-6E8A-4147-A177-3AD203B41FA5}">
                      <a16:colId xmlns:a16="http://schemas.microsoft.com/office/drawing/2014/main" val="1902195451"/>
                    </a:ext>
                  </a:extLst>
                </a:gridCol>
              </a:tblGrid>
              <a:tr h="479601">
                <a:tc>
                  <a:txBody>
                    <a:bodyPr/>
                    <a:lstStyle/>
                    <a:p>
                      <a:pPr algn="ctr"/>
                      <a:r>
                        <a:rPr lang="en-US" sz="1900" b="1" kern="100" dirty="0">
                          <a:effectLst/>
                          <a:latin typeface="等线" panose="02010600030101010101" pitchFamily="2" charset="-122"/>
                          <a:ea typeface="等线" panose="02010600030101010101" pitchFamily="2" charset="-122"/>
                        </a:rPr>
                        <a:t>Type</a:t>
                      </a:r>
                      <a:endParaRPr lang="zh-CN" sz="1900" kern="100" dirty="0">
                        <a:effectLst/>
                        <a:latin typeface="等线" panose="02010600030101010101" pitchFamily="2" charset="-122"/>
                        <a:ea typeface="等线" panose="02010600030101010101" pitchFamily="2" charset="-122"/>
                      </a:endParaRPr>
                    </a:p>
                  </a:txBody>
                  <a:tcPr marL="5927" marR="5927" marT="5927" marB="5927" anchor="ctr"/>
                </a:tc>
                <a:tc>
                  <a:txBody>
                    <a:bodyPr/>
                    <a:lstStyle/>
                    <a:p>
                      <a:pPr algn="ctr"/>
                      <a:r>
                        <a:rPr lang="en-US" sz="1900" b="1" kern="100">
                          <a:effectLst/>
                          <a:latin typeface="等线" panose="02010600030101010101" pitchFamily="2" charset="-122"/>
                          <a:ea typeface="等线" panose="02010600030101010101" pitchFamily="2" charset="-122"/>
                        </a:rPr>
                        <a:t>Description</a:t>
                      </a:r>
                      <a:endParaRPr lang="zh-CN" sz="1900" kern="100">
                        <a:effectLst/>
                        <a:latin typeface="等线" panose="02010600030101010101" pitchFamily="2" charset="-122"/>
                        <a:ea typeface="等线" panose="02010600030101010101" pitchFamily="2" charset="-122"/>
                      </a:endParaRPr>
                    </a:p>
                  </a:txBody>
                  <a:tcPr marL="5927" marR="5927" marT="5927" marB="5927" anchor="ctr"/>
                </a:tc>
                <a:tc>
                  <a:txBody>
                    <a:bodyPr/>
                    <a:lstStyle/>
                    <a:p>
                      <a:pPr algn="ctr"/>
                      <a:r>
                        <a:rPr lang="en-US" sz="1900" b="1" kern="100">
                          <a:effectLst/>
                          <a:latin typeface="等线" panose="02010600030101010101" pitchFamily="2" charset="-122"/>
                          <a:ea typeface="等线" panose="02010600030101010101" pitchFamily="2" charset="-122"/>
                        </a:rPr>
                        <a:t>Example(s) of use cases</a:t>
                      </a:r>
                      <a:endParaRPr lang="zh-CN" sz="1900" kern="100">
                        <a:effectLst/>
                        <a:latin typeface="等线" panose="02010600030101010101" pitchFamily="2" charset="-122"/>
                        <a:ea typeface="等线" panose="02010600030101010101" pitchFamily="2" charset="-122"/>
                      </a:endParaRPr>
                    </a:p>
                  </a:txBody>
                  <a:tcPr marL="5927" marR="5927" marT="5927" marB="5927" anchor="ctr"/>
                </a:tc>
                <a:extLst>
                  <a:ext uri="{0D108BD9-81ED-4DB2-BD59-A6C34878D82A}">
                    <a16:rowId xmlns:a16="http://schemas.microsoft.com/office/drawing/2014/main" val="1281777954"/>
                  </a:ext>
                </a:extLst>
              </a:tr>
              <a:tr h="1215410">
                <a:tc>
                  <a:txBody>
                    <a:bodyPr/>
                    <a:lstStyle/>
                    <a:p>
                      <a:r>
                        <a:rPr lang="en-US" sz="1900" kern="100">
                          <a:effectLst/>
                          <a:latin typeface="等线" panose="02010600030101010101" pitchFamily="2" charset="-122"/>
                          <a:ea typeface="等线" panose="02010600030101010101" pitchFamily="2" charset="-122"/>
                        </a:rPr>
                        <a:t>Translation</a:t>
                      </a:r>
                      <a:endParaRPr lang="zh-CN" sz="1900" kern="100">
                        <a:effectLst/>
                        <a:latin typeface="等线" panose="02010600030101010101" pitchFamily="2" charset="-122"/>
                        <a:ea typeface="等线" panose="02010600030101010101" pitchFamily="2" charset="-122"/>
                      </a:endParaRPr>
                    </a:p>
                  </a:txBody>
                  <a:tcPr marL="5927" marR="5927" marT="5927" marB="5927" anchor="ctr"/>
                </a:tc>
                <a:tc>
                  <a:txBody>
                    <a:bodyPr/>
                    <a:lstStyle/>
                    <a:p>
                      <a:r>
                        <a:rPr lang="en-US" sz="1900" kern="100">
                          <a:effectLst/>
                          <a:latin typeface="等线" panose="02010600030101010101" pitchFamily="2" charset="-122"/>
                          <a:ea typeface="等线" panose="02010600030101010101" pitchFamily="2" charset="-122"/>
                        </a:rPr>
                        <a:t>Translation between languages, changing formats, switching tones.</a:t>
                      </a:r>
                      <a:endParaRPr lang="zh-CN" sz="1900" kern="100">
                        <a:effectLst/>
                        <a:latin typeface="等线" panose="02010600030101010101" pitchFamily="2" charset="-122"/>
                        <a:ea typeface="等线" panose="02010600030101010101" pitchFamily="2" charset="-122"/>
                      </a:endParaRPr>
                    </a:p>
                  </a:txBody>
                  <a:tcPr marL="5927" marR="5927" marT="5927" marB="5927" anchor="ctr"/>
                </a:tc>
                <a:tc>
                  <a:txBody>
                    <a:bodyPr/>
                    <a:lstStyle/>
                    <a:p>
                      <a:r>
                        <a:rPr lang="en-US" sz="1900" kern="100" dirty="0">
                          <a:effectLst/>
                          <a:latin typeface="等线" panose="02010600030101010101" pitchFamily="2" charset="-122"/>
                          <a:ea typeface="等线" panose="02010600030101010101" pitchFamily="2" charset="-122"/>
                        </a:rPr>
                        <a:t>Content generation, automatic translation services, educational accessibility, improved doctor-patient communication.</a:t>
                      </a:r>
                      <a:endParaRPr lang="zh-CN" sz="1900" kern="100" dirty="0">
                        <a:effectLst/>
                        <a:latin typeface="等线" panose="02010600030101010101" pitchFamily="2" charset="-122"/>
                        <a:ea typeface="等线" panose="02010600030101010101" pitchFamily="2" charset="-122"/>
                      </a:endParaRPr>
                    </a:p>
                  </a:txBody>
                  <a:tcPr marL="5927" marR="5927" marT="5927" marB="5927" anchor="ctr"/>
                </a:tc>
                <a:extLst>
                  <a:ext uri="{0D108BD9-81ED-4DB2-BD59-A6C34878D82A}">
                    <a16:rowId xmlns:a16="http://schemas.microsoft.com/office/drawing/2014/main" val="3011904732"/>
                  </a:ext>
                </a:extLst>
              </a:tr>
              <a:tr h="1215410">
                <a:tc>
                  <a:txBody>
                    <a:bodyPr/>
                    <a:lstStyle/>
                    <a:p>
                      <a:r>
                        <a:rPr lang="en-US" sz="1900" kern="100" dirty="0">
                          <a:effectLst/>
                          <a:latin typeface="等线" panose="02010600030101010101" pitchFamily="2" charset="-122"/>
                          <a:ea typeface="等线" panose="02010600030101010101" pitchFamily="2" charset="-122"/>
                        </a:rPr>
                        <a:t>Summarization</a:t>
                      </a:r>
                      <a:endParaRPr lang="zh-CN" sz="1900" kern="100" dirty="0">
                        <a:effectLst/>
                        <a:latin typeface="等线" panose="02010600030101010101" pitchFamily="2" charset="-122"/>
                        <a:ea typeface="等线" panose="02010600030101010101" pitchFamily="2" charset="-122"/>
                      </a:endParaRPr>
                    </a:p>
                  </a:txBody>
                  <a:tcPr marL="5927" marR="5927" marT="5927" marB="5927" anchor="ctr"/>
                </a:tc>
                <a:tc>
                  <a:txBody>
                    <a:bodyPr/>
                    <a:lstStyle/>
                    <a:p>
                      <a:r>
                        <a:rPr lang="en-US" sz="1900" kern="100">
                          <a:effectLst/>
                          <a:latin typeface="等线" panose="02010600030101010101" pitchFamily="2" charset="-122"/>
                          <a:ea typeface="等线" panose="02010600030101010101" pitchFamily="2" charset="-122"/>
                        </a:rPr>
                        <a:t>Condensing text corpora to shorter, more condensed versions.</a:t>
                      </a:r>
                      <a:endParaRPr lang="zh-CN" sz="1900" kern="100">
                        <a:effectLst/>
                        <a:latin typeface="等线" panose="02010600030101010101" pitchFamily="2" charset="-122"/>
                        <a:ea typeface="等线" panose="02010600030101010101" pitchFamily="2" charset="-122"/>
                      </a:endParaRPr>
                    </a:p>
                  </a:txBody>
                  <a:tcPr marL="5927" marR="5927" marT="5927" marB="5927" anchor="ctr"/>
                </a:tc>
                <a:tc>
                  <a:txBody>
                    <a:bodyPr/>
                    <a:lstStyle/>
                    <a:p>
                      <a:r>
                        <a:rPr lang="en-US" sz="1900" kern="100" dirty="0">
                          <a:effectLst/>
                          <a:latin typeface="等线" panose="02010600030101010101" pitchFamily="2" charset="-122"/>
                          <a:ea typeface="等线" panose="02010600030101010101" pitchFamily="2" charset="-122"/>
                        </a:rPr>
                        <a:t>Cataloging, </a:t>
                      </a:r>
                      <a:r>
                        <a:rPr lang="en-US" sz="1900" kern="100" dirty="0">
                          <a:effectLst/>
                          <a:highlight>
                            <a:srgbClr val="FFFF00"/>
                          </a:highlight>
                          <a:latin typeface="等线" panose="02010600030101010101" pitchFamily="2" charset="-122"/>
                          <a:ea typeface="等线" panose="02010600030101010101" pitchFamily="2" charset="-122"/>
                        </a:rPr>
                        <a:t>metadata</a:t>
                      </a:r>
                      <a:r>
                        <a:rPr lang="en-US" sz="1900" kern="100" dirty="0">
                          <a:effectLst/>
                          <a:latin typeface="等线" panose="02010600030101010101" pitchFamily="2" charset="-122"/>
                          <a:ea typeface="等线" panose="02010600030101010101" pitchFamily="2" charset="-122"/>
                        </a:rPr>
                        <a:t> creation, summarizing medical journals automatically.</a:t>
                      </a:r>
                      <a:endParaRPr lang="zh-CN" sz="1900" kern="100" dirty="0">
                        <a:effectLst/>
                        <a:latin typeface="等线" panose="02010600030101010101" pitchFamily="2" charset="-122"/>
                        <a:ea typeface="等线" panose="02010600030101010101" pitchFamily="2" charset="-122"/>
                      </a:endParaRPr>
                    </a:p>
                  </a:txBody>
                  <a:tcPr marL="5927" marR="5927" marT="5927" marB="5927" anchor="ctr"/>
                </a:tc>
                <a:extLst>
                  <a:ext uri="{0D108BD9-81ED-4DB2-BD59-A6C34878D82A}">
                    <a16:rowId xmlns:a16="http://schemas.microsoft.com/office/drawing/2014/main" val="2665869257"/>
                  </a:ext>
                </a:extLst>
              </a:tr>
              <a:tr h="1215410">
                <a:tc>
                  <a:txBody>
                    <a:bodyPr/>
                    <a:lstStyle/>
                    <a:p>
                      <a:r>
                        <a:rPr lang="en-US" sz="1900" kern="100" dirty="0">
                          <a:effectLst/>
                          <a:latin typeface="等线" panose="02010600030101010101" pitchFamily="2" charset="-122"/>
                          <a:ea typeface="等线" panose="02010600030101010101" pitchFamily="2" charset="-122"/>
                        </a:rPr>
                        <a:t>Classification</a:t>
                      </a:r>
                      <a:endParaRPr lang="zh-CN" sz="1900" kern="100" dirty="0">
                        <a:effectLst/>
                        <a:latin typeface="等线" panose="02010600030101010101" pitchFamily="2" charset="-122"/>
                        <a:ea typeface="等线" panose="02010600030101010101" pitchFamily="2" charset="-122"/>
                      </a:endParaRPr>
                    </a:p>
                  </a:txBody>
                  <a:tcPr marL="5927" marR="5927" marT="5927" marB="5927" anchor="ctr"/>
                </a:tc>
                <a:tc>
                  <a:txBody>
                    <a:bodyPr/>
                    <a:lstStyle/>
                    <a:p>
                      <a:r>
                        <a:rPr lang="en-US" sz="1900" kern="100">
                          <a:effectLst/>
                          <a:latin typeface="等线" panose="02010600030101010101" pitchFamily="2" charset="-122"/>
                          <a:ea typeface="等线" panose="02010600030101010101" pitchFamily="2" charset="-122"/>
                        </a:rPr>
                        <a:t>Categorizing and identifying content types within a text.</a:t>
                      </a:r>
                      <a:endParaRPr lang="zh-CN" sz="1900" kern="100">
                        <a:effectLst/>
                        <a:latin typeface="等线" panose="02010600030101010101" pitchFamily="2" charset="-122"/>
                        <a:ea typeface="等线" panose="02010600030101010101" pitchFamily="2" charset="-122"/>
                      </a:endParaRPr>
                    </a:p>
                  </a:txBody>
                  <a:tcPr marL="5927" marR="5927" marT="5927" marB="5927" anchor="ctr"/>
                </a:tc>
                <a:tc>
                  <a:txBody>
                    <a:bodyPr/>
                    <a:lstStyle/>
                    <a:p>
                      <a:r>
                        <a:rPr lang="en-US" sz="1900" kern="100" dirty="0">
                          <a:effectLst/>
                          <a:latin typeface="等线" panose="02010600030101010101" pitchFamily="2" charset="-122"/>
                          <a:ea typeface="等线" panose="02010600030101010101" pitchFamily="2" charset="-122"/>
                        </a:rPr>
                        <a:t>Annotating data for </a:t>
                      </a:r>
                      <a:r>
                        <a:rPr lang="en-US" sz="1900" kern="100" dirty="0">
                          <a:effectLst/>
                          <a:highlight>
                            <a:srgbClr val="FFFF00"/>
                          </a:highlight>
                          <a:latin typeface="等线" panose="02010600030101010101" pitchFamily="2" charset="-122"/>
                          <a:ea typeface="等线" panose="02010600030101010101" pitchFamily="2" charset="-122"/>
                        </a:rPr>
                        <a:t>ML/DL </a:t>
                      </a:r>
                      <a:r>
                        <a:rPr lang="en-US" sz="1900" kern="100" dirty="0">
                          <a:effectLst/>
                          <a:latin typeface="等线" panose="02010600030101010101" pitchFamily="2" charset="-122"/>
                          <a:ea typeface="等线" panose="02010600030101010101" pitchFamily="2" charset="-122"/>
                        </a:rPr>
                        <a:t>training, hate speech detection, extracting key clauses in legal documents.</a:t>
                      </a:r>
                      <a:endParaRPr lang="zh-CN" sz="1900" kern="100" dirty="0">
                        <a:effectLst/>
                        <a:latin typeface="等线" panose="02010600030101010101" pitchFamily="2" charset="-122"/>
                        <a:ea typeface="等线" panose="02010600030101010101" pitchFamily="2" charset="-122"/>
                      </a:endParaRPr>
                    </a:p>
                  </a:txBody>
                  <a:tcPr marL="5927" marR="5927" marT="5927" marB="5927" anchor="ctr"/>
                </a:tc>
                <a:extLst>
                  <a:ext uri="{0D108BD9-81ED-4DB2-BD59-A6C34878D82A}">
                    <a16:rowId xmlns:a16="http://schemas.microsoft.com/office/drawing/2014/main" val="2193962022"/>
                  </a:ext>
                </a:extLst>
              </a:tr>
              <a:tr h="818486">
                <a:tc>
                  <a:txBody>
                    <a:bodyPr/>
                    <a:lstStyle/>
                    <a:p>
                      <a:r>
                        <a:rPr lang="en-US" sz="1900" kern="100" dirty="0">
                          <a:effectLst/>
                          <a:latin typeface="等线" panose="02010600030101010101" pitchFamily="2" charset="-122"/>
                          <a:ea typeface="等线" panose="02010600030101010101" pitchFamily="2" charset="-122"/>
                        </a:rPr>
                        <a:t>Amplification</a:t>
                      </a:r>
                      <a:endParaRPr lang="zh-CN" sz="1900" kern="100" dirty="0">
                        <a:effectLst/>
                        <a:latin typeface="等线" panose="02010600030101010101" pitchFamily="2" charset="-122"/>
                        <a:ea typeface="等线" panose="02010600030101010101" pitchFamily="2" charset="-122"/>
                      </a:endParaRPr>
                    </a:p>
                  </a:txBody>
                  <a:tcPr marL="5927" marR="5927" marT="5927" marB="5927" anchor="ctr"/>
                </a:tc>
                <a:tc>
                  <a:txBody>
                    <a:bodyPr/>
                    <a:lstStyle/>
                    <a:p>
                      <a:r>
                        <a:rPr lang="en-US" sz="1900" kern="100">
                          <a:effectLst/>
                          <a:latin typeface="等线" panose="02010600030101010101" pitchFamily="2" charset="-122"/>
                          <a:ea typeface="等线" panose="02010600030101010101" pitchFamily="2" charset="-122"/>
                        </a:rPr>
                        <a:t>Reactions, content production &amp; adaptation to specific contexts.</a:t>
                      </a:r>
                      <a:endParaRPr lang="zh-CN" sz="1900" kern="100">
                        <a:effectLst/>
                        <a:latin typeface="等线" panose="02010600030101010101" pitchFamily="2" charset="-122"/>
                        <a:ea typeface="等线" panose="02010600030101010101" pitchFamily="2" charset="-122"/>
                      </a:endParaRPr>
                    </a:p>
                  </a:txBody>
                  <a:tcPr marL="5927" marR="5927" marT="5927" marB="5927" anchor="ctr"/>
                </a:tc>
                <a:tc>
                  <a:txBody>
                    <a:bodyPr/>
                    <a:lstStyle/>
                    <a:p>
                      <a:r>
                        <a:rPr lang="en-US" sz="1900" kern="100" dirty="0">
                          <a:effectLst/>
                          <a:latin typeface="等线" panose="02010600030101010101" pitchFamily="2" charset="-122"/>
                          <a:ea typeface="等线" panose="02010600030101010101" pitchFamily="2" charset="-122"/>
                        </a:rPr>
                        <a:t>Enhanced customer service, integrated AI assistants with personalization.</a:t>
                      </a:r>
                      <a:endParaRPr lang="zh-CN" sz="1900" kern="100" dirty="0">
                        <a:effectLst/>
                        <a:latin typeface="等线" panose="02010600030101010101" pitchFamily="2" charset="-122"/>
                        <a:ea typeface="等线" panose="02010600030101010101" pitchFamily="2" charset="-122"/>
                      </a:endParaRPr>
                    </a:p>
                  </a:txBody>
                  <a:tcPr marL="5927" marR="5927" marT="5927" marB="5927" anchor="ctr"/>
                </a:tc>
                <a:extLst>
                  <a:ext uri="{0D108BD9-81ED-4DB2-BD59-A6C34878D82A}">
                    <a16:rowId xmlns:a16="http://schemas.microsoft.com/office/drawing/2014/main" val="343890491"/>
                  </a:ext>
                </a:extLst>
              </a:tr>
            </a:tbl>
          </a:graphicData>
        </a:graphic>
      </p:graphicFrame>
    </p:spTree>
    <p:extLst>
      <p:ext uri="{BB962C8B-B14F-4D97-AF65-F5344CB8AC3E}">
        <p14:creationId xmlns:p14="http://schemas.microsoft.com/office/powerpoint/2010/main" val="303811127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F5F776-6463-4A45-8ED7-E30E8899F13D}"/>
              </a:ext>
            </a:extLst>
          </p:cNvPr>
          <p:cNvSpPr>
            <a:spLocks noGrp="1"/>
          </p:cNvSpPr>
          <p:nvPr>
            <p:ph type="title"/>
          </p:nvPr>
        </p:nvSpPr>
        <p:spPr>
          <a:xfrm>
            <a:off x="4496847" y="447326"/>
            <a:ext cx="3198304" cy="464944"/>
          </a:xfrm>
        </p:spPr>
        <p:txBody>
          <a:bodyPr>
            <a:normAutofit fontScale="90000"/>
          </a:bodyPr>
          <a:lstStyle/>
          <a:p>
            <a:pPr algn="ctr"/>
            <a:r>
              <a:rPr lang="zh-CN" altLang="en-US" dirty="0"/>
              <a:t>情景问题？</a:t>
            </a:r>
          </a:p>
        </p:txBody>
      </p:sp>
      <p:pic>
        <p:nvPicPr>
          <p:cNvPr id="4" name="图片 3">
            <a:extLst>
              <a:ext uri="{FF2B5EF4-FFF2-40B4-BE49-F238E27FC236}">
                <a16:creationId xmlns:a16="http://schemas.microsoft.com/office/drawing/2014/main" id="{C1122271-528F-497A-85AF-D73F2954FB9A}"/>
              </a:ext>
            </a:extLst>
          </p:cNvPr>
          <p:cNvPicPr>
            <a:picLocks noChangeAspect="1"/>
          </p:cNvPicPr>
          <p:nvPr/>
        </p:nvPicPr>
        <p:blipFill>
          <a:blip r:embed="rId2"/>
          <a:stretch>
            <a:fillRect/>
          </a:stretch>
        </p:blipFill>
        <p:spPr>
          <a:xfrm>
            <a:off x="3243353" y="1618488"/>
            <a:ext cx="5705295" cy="4192151"/>
          </a:xfrm>
          <a:prstGeom prst="rect">
            <a:avLst/>
          </a:prstGeom>
        </p:spPr>
      </p:pic>
    </p:spTree>
    <p:extLst>
      <p:ext uri="{BB962C8B-B14F-4D97-AF65-F5344CB8AC3E}">
        <p14:creationId xmlns:p14="http://schemas.microsoft.com/office/powerpoint/2010/main" val="238104204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D1BC61-730B-4671-DF65-3B83FEEAEB38}"/>
              </a:ext>
            </a:extLst>
          </p:cNvPr>
          <p:cNvSpPr>
            <a:spLocks noGrp="1"/>
          </p:cNvSpPr>
          <p:nvPr>
            <p:ph type="title"/>
          </p:nvPr>
        </p:nvSpPr>
        <p:spPr>
          <a:xfrm>
            <a:off x="1240256" y="408327"/>
            <a:ext cx="9105377" cy="824787"/>
          </a:xfrm>
        </p:spPr>
        <p:txBody>
          <a:bodyPr>
            <a:noAutofit/>
          </a:bodyPr>
          <a:lstStyle/>
          <a:p>
            <a:r>
              <a:rPr lang="en-US" altLang="zh-CN" sz="2235" dirty="0" err="1"/>
              <a:t>Mariani</a:t>
            </a:r>
            <a:r>
              <a:rPr lang="en-US" altLang="zh-CN" sz="2235" dirty="0"/>
              <a:t> M, Dwivedi Y K, 2024. Generative artificial intelligence in innovation management: a preview of future research developments[J]. Journal of Business Research, 175(3): 114542.</a:t>
            </a:r>
            <a:endParaRPr lang="zh-CN" altLang="en-US" sz="2235" dirty="0"/>
          </a:p>
        </p:txBody>
      </p:sp>
      <p:pic>
        <p:nvPicPr>
          <p:cNvPr id="5" name="图片 4">
            <a:extLst>
              <a:ext uri="{FF2B5EF4-FFF2-40B4-BE49-F238E27FC236}">
                <a16:creationId xmlns:a16="http://schemas.microsoft.com/office/drawing/2014/main" id="{1B519CF9-01E8-00A4-3DE2-7C5F98987324}"/>
              </a:ext>
            </a:extLst>
          </p:cNvPr>
          <p:cNvPicPr>
            <a:picLocks noChangeAspect="1"/>
          </p:cNvPicPr>
          <p:nvPr/>
        </p:nvPicPr>
        <p:blipFill>
          <a:blip r:embed="rId2"/>
          <a:stretch>
            <a:fillRect/>
          </a:stretch>
        </p:blipFill>
        <p:spPr>
          <a:xfrm>
            <a:off x="2161647" y="1739740"/>
            <a:ext cx="7262594" cy="3737514"/>
          </a:xfrm>
          <a:prstGeom prst="rect">
            <a:avLst/>
          </a:prstGeom>
        </p:spPr>
      </p:pic>
    </p:spTree>
    <p:extLst>
      <p:ext uri="{BB962C8B-B14F-4D97-AF65-F5344CB8AC3E}">
        <p14:creationId xmlns:p14="http://schemas.microsoft.com/office/powerpoint/2010/main" val="2217843769"/>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FF104FD2-24A5-9997-F03E-B2CAD25E1115}"/>
              </a:ext>
            </a:extLst>
          </p:cNvPr>
          <p:cNvPicPr>
            <a:picLocks noChangeAspect="1"/>
          </p:cNvPicPr>
          <p:nvPr/>
        </p:nvPicPr>
        <p:blipFill>
          <a:blip r:embed="rId2"/>
          <a:stretch>
            <a:fillRect/>
          </a:stretch>
        </p:blipFill>
        <p:spPr>
          <a:xfrm>
            <a:off x="500071" y="0"/>
            <a:ext cx="8980714" cy="6858000"/>
          </a:xfrm>
          <a:prstGeom prst="rect">
            <a:avLst/>
          </a:prstGeom>
        </p:spPr>
      </p:pic>
      <p:sp>
        <p:nvSpPr>
          <p:cNvPr id="3" name="文本框 2">
            <a:extLst>
              <a:ext uri="{FF2B5EF4-FFF2-40B4-BE49-F238E27FC236}">
                <a16:creationId xmlns:a16="http://schemas.microsoft.com/office/drawing/2014/main" id="{97947949-2770-A849-AAC0-8CA023D7CE9B}"/>
              </a:ext>
            </a:extLst>
          </p:cNvPr>
          <p:cNvSpPr txBox="1"/>
          <p:nvPr/>
        </p:nvSpPr>
        <p:spPr>
          <a:xfrm>
            <a:off x="10109024" y="2712569"/>
            <a:ext cx="1732790" cy="293285"/>
          </a:xfrm>
          <a:prstGeom prst="rect">
            <a:avLst/>
          </a:prstGeom>
          <a:noFill/>
        </p:spPr>
        <p:txBody>
          <a:bodyPr wrap="square">
            <a:spAutoFit/>
          </a:bodyPr>
          <a:lstStyle/>
          <a:p>
            <a:pPr algn="ctr"/>
            <a:r>
              <a:rPr lang="zh-CN" altLang="en-US" sz="1306" dirty="0"/>
              <a:t>（</a:t>
            </a:r>
            <a:r>
              <a:rPr lang="en-US" altLang="zh-CN" sz="1306" dirty="0"/>
              <a:t>Peres et al., 2023</a:t>
            </a:r>
            <a:r>
              <a:rPr lang="zh-CN" altLang="en-US" sz="1306" dirty="0"/>
              <a:t>）</a:t>
            </a:r>
          </a:p>
        </p:txBody>
      </p:sp>
    </p:spTree>
    <p:extLst>
      <p:ext uri="{BB962C8B-B14F-4D97-AF65-F5344CB8AC3E}">
        <p14:creationId xmlns:p14="http://schemas.microsoft.com/office/powerpoint/2010/main" val="167296997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6ECC44-ABE5-16EF-1E8A-56A52377941D}"/>
              </a:ext>
            </a:extLst>
          </p:cNvPr>
          <p:cNvSpPr>
            <a:spLocks noGrp="1"/>
          </p:cNvSpPr>
          <p:nvPr>
            <p:ph type="title"/>
          </p:nvPr>
        </p:nvSpPr>
        <p:spPr/>
        <p:txBody>
          <a:bodyPr/>
          <a:lstStyle/>
          <a:p>
            <a:r>
              <a:rPr lang="zh-CN" altLang="en-US" dirty="0"/>
              <a:t>学术领域的观点</a:t>
            </a:r>
          </a:p>
        </p:txBody>
      </p:sp>
      <p:sp>
        <p:nvSpPr>
          <p:cNvPr id="3" name="内容占位符 2">
            <a:extLst>
              <a:ext uri="{FF2B5EF4-FFF2-40B4-BE49-F238E27FC236}">
                <a16:creationId xmlns:a16="http://schemas.microsoft.com/office/drawing/2014/main" id="{D6F50A74-3233-A1BA-756C-CF5F27D07CF3}"/>
              </a:ext>
            </a:extLst>
          </p:cNvPr>
          <p:cNvSpPr>
            <a:spLocks noGrp="1"/>
          </p:cNvSpPr>
          <p:nvPr>
            <p:ph idx="1"/>
          </p:nvPr>
        </p:nvSpPr>
        <p:spPr/>
        <p:txBody>
          <a:bodyPr>
            <a:normAutofit lnSpcReduction="10000"/>
          </a:bodyPr>
          <a:lstStyle/>
          <a:p>
            <a:pPr>
              <a:lnSpc>
                <a:spcPct val="150000"/>
              </a:lnSpc>
            </a:pPr>
            <a:r>
              <a:rPr lang="en-US" altLang="zh-CN" sz="2235" dirty="0"/>
              <a:t>Dwivedi Y K, </a:t>
            </a:r>
            <a:r>
              <a:rPr lang="en-US" altLang="zh-CN" sz="2235" dirty="0" err="1"/>
              <a:t>Kshetri</a:t>
            </a:r>
            <a:r>
              <a:rPr lang="en-US" altLang="zh-CN" sz="2235" dirty="0"/>
              <a:t> N, Hughes L, et al., 2023. Opinion Paper: “So what if ChatGPT wrote it?” Multidisciplinary perspectives on opportunities, challenges and implications of generative conversational AI for research, practice and policy[J]. International Journal of Information Management, 71(8): 102642.</a:t>
            </a:r>
          </a:p>
          <a:p>
            <a:pPr>
              <a:lnSpc>
                <a:spcPct val="150000"/>
              </a:lnSpc>
            </a:pPr>
            <a:r>
              <a:rPr lang="en-US" altLang="zh-CN" sz="2235" dirty="0" err="1"/>
              <a:t>Spanjol</a:t>
            </a:r>
            <a:r>
              <a:rPr lang="en-US" altLang="zh-CN" sz="2235" dirty="0"/>
              <a:t> J, Noble C H, 2023. From the editors: engaging with generative artificial intelligence technologies in innovation management research—some answers and more questions[J]. Journal of Product Innovation Management, 40(4): 383-390.</a:t>
            </a:r>
          </a:p>
          <a:p>
            <a:pPr>
              <a:lnSpc>
                <a:spcPct val="150000"/>
              </a:lnSpc>
            </a:pPr>
            <a:r>
              <a:rPr lang="zh-CN" altLang="en-US" sz="2235" dirty="0"/>
              <a:t>大胆尝试，小心求证</a:t>
            </a:r>
          </a:p>
        </p:txBody>
      </p:sp>
    </p:spTree>
    <p:extLst>
      <p:ext uri="{BB962C8B-B14F-4D97-AF65-F5344CB8AC3E}">
        <p14:creationId xmlns:p14="http://schemas.microsoft.com/office/powerpoint/2010/main" val="724812805"/>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9A3A5-9477-88EC-3BA2-BCC92930B33E}"/>
              </a:ext>
            </a:extLst>
          </p:cNvPr>
          <p:cNvSpPr>
            <a:spLocks noGrp="1"/>
          </p:cNvSpPr>
          <p:nvPr>
            <p:ph type="title"/>
          </p:nvPr>
        </p:nvSpPr>
        <p:spPr>
          <a:xfrm>
            <a:off x="644736" y="3016607"/>
            <a:ext cx="2637906" cy="824787"/>
          </a:xfrm>
        </p:spPr>
        <p:txBody>
          <a:bodyPr>
            <a:normAutofit fontScale="90000"/>
          </a:bodyPr>
          <a:lstStyle/>
          <a:p>
            <a:pPr algn="ctr"/>
            <a:r>
              <a:rPr lang="zh-CN" altLang="en-US" dirty="0"/>
              <a:t>图</a:t>
            </a:r>
            <a:r>
              <a:rPr lang="en-US" altLang="zh-CN" dirty="0"/>
              <a:t>2. </a:t>
            </a:r>
            <a:r>
              <a:rPr lang="zh-CN" altLang="en-US" dirty="0"/>
              <a:t>人工智能准备度</a:t>
            </a:r>
            <a:r>
              <a:rPr lang="en-US" altLang="zh-CN" dirty="0"/>
              <a:t>(AIR)</a:t>
            </a:r>
            <a:r>
              <a:rPr lang="zh-CN" altLang="en-US" dirty="0"/>
              <a:t>的概念模型</a:t>
            </a:r>
            <a:r>
              <a:rPr lang="en-US" altLang="zh-CN" dirty="0"/>
              <a:t>(Tehrani </a:t>
            </a:r>
            <a:r>
              <a:rPr lang="zh-CN" altLang="en-US" dirty="0"/>
              <a:t>等</a:t>
            </a:r>
            <a:r>
              <a:rPr lang="en-US" altLang="zh-CN" dirty="0"/>
              <a:t>, 2024, p. 7)</a:t>
            </a:r>
            <a:endParaRPr lang="zh-CN" altLang="en-US" dirty="0"/>
          </a:p>
        </p:txBody>
      </p:sp>
      <p:pic>
        <p:nvPicPr>
          <p:cNvPr id="5" name="图片 4">
            <a:extLst>
              <a:ext uri="{FF2B5EF4-FFF2-40B4-BE49-F238E27FC236}">
                <a16:creationId xmlns:a16="http://schemas.microsoft.com/office/drawing/2014/main" id="{3AE8EB5D-3142-F78E-DF57-54301EDFAD37}"/>
              </a:ext>
            </a:extLst>
          </p:cNvPr>
          <p:cNvPicPr>
            <a:picLocks noChangeAspect="1"/>
          </p:cNvPicPr>
          <p:nvPr/>
        </p:nvPicPr>
        <p:blipFill>
          <a:blip r:embed="rId2"/>
          <a:stretch>
            <a:fillRect/>
          </a:stretch>
        </p:blipFill>
        <p:spPr>
          <a:xfrm>
            <a:off x="4271768" y="390893"/>
            <a:ext cx="6832646" cy="6217848"/>
          </a:xfrm>
          <a:prstGeom prst="rect">
            <a:avLst/>
          </a:prstGeom>
        </p:spPr>
      </p:pic>
    </p:spTree>
    <p:extLst>
      <p:ext uri="{BB962C8B-B14F-4D97-AF65-F5344CB8AC3E}">
        <p14:creationId xmlns:p14="http://schemas.microsoft.com/office/powerpoint/2010/main" val="3979736044"/>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FFBFD2-690C-F7FA-FA49-92232366D1FE}"/>
              </a:ext>
            </a:extLst>
          </p:cNvPr>
          <p:cNvSpPr>
            <a:spLocks noGrp="1"/>
          </p:cNvSpPr>
          <p:nvPr>
            <p:ph type="title"/>
          </p:nvPr>
        </p:nvSpPr>
        <p:spPr>
          <a:xfrm>
            <a:off x="226676" y="2931625"/>
            <a:ext cx="1592756" cy="824787"/>
          </a:xfrm>
        </p:spPr>
        <p:txBody>
          <a:bodyPr>
            <a:normAutofit fontScale="90000"/>
          </a:bodyPr>
          <a:lstStyle/>
          <a:p>
            <a:r>
              <a:rPr lang="en-US" altLang="zh-CN" dirty="0"/>
              <a:t>AI</a:t>
            </a:r>
            <a:r>
              <a:rPr lang="zh-CN" altLang="en-US" dirty="0"/>
              <a:t>准备度可以归纳为八个关键维度：</a:t>
            </a:r>
          </a:p>
        </p:txBody>
      </p:sp>
      <p:sp>
        <p:nvSpPr>
          <p:cNvPr id="3" name="内容占位符 2">
            <a:extLst>
              <a:ext uri="{FF2B5EF4-FFF2-40B4-BE49-F238E27FC236}">
                <a16:creationId xmlns:a16="http://schemas.microsoft.com/office/drawing/2014/main" id="{6E6FF83E-0D24-9BD1-BF30-409BC8F71679}"/>
              </a:ext>
            </a:extLst>
          </p:cNvPr>
          <p:cNvSpPr>
            <a:spLocks noGrp="1"/>
          </p:cNvSpPr>
          <p:nvPr>
            <p:ph idx="1"/>
          </p:nvPr>
        </p:nvSpPr>
        <p:spPr>
          <a:xfrm>
            <a:off x="2239558" y="47120"/>
            <a:ext cx="9183836" cy="6763761"/>
          </a:xfrm>
        </p:spPr>
        <p:txBody>
          <a:bodyPr>
            <a:normAutofit fontScale="92500"/>
          </a:bodyPr>
          <a:lstStyle/>
          <a:p>
            <a:pPr>
              <a:lnSpc>
                <a:spcPct val="200000"/>
              </a:lnSpc>
            </a:pPr>
            <a:r>
              <a:rPr lang="zh-CN" altLang="en-US" sz="2438" dirty="0"/>
              <a:t>信息准备度：组织是否拥有足够的信息资源，了解</a:t>
            </a:r>
            <a:r>
              <a:rPr lang="en-US" altLang="zh-CN" sz="2438" dirty="0"/>
              <a:t>AI</a:t>
            </a:r>
            <a:r>
              <a:rPr lang="zh-CN" altLang="en-US" sz="2438" dirty="0"/>
              <a:t>技术及其应用。</a:t>
            </a:r>
            <a:endParaRPr lang="en-US" altLang="zh-CN" sz="2438" dirty="0"/>
          </a:p>
          <a:p>
            <a:pPr>
              <a:lnSpc>
                <a:spcPct val="200000"/>
              </a:lnSpc>
            </a:pPr>
            <a:r>
              <a:rPr lang="zh-CN" altLang="en-US" sz="2438" dirty="0"/>
              <a:t>环境准备度：公司文化、市场环境是否支持</a:t>
            </a:r>
            <a:r>
              <a:rPr lang="en-US" altLang="zh-CN" sz="2438" dirty="0"/>
              <a:t>AI</a:t>
            </a:r>
            <a:r>
              <a:rPr lang="zh-CN" altLang="en-US" sz="2438" dirty="0"/>
              <a:t>的引入。</a:t>
            </a:r>
            <a:endParaRPr lang="en-US" altLang="zh-CN" sz="2438" dirty="0"/>
          </a:p>
          <a:p>
            <a:pPr>
              <a:lnSpc>
                <a:spcPct val="200000"/>
              </a:lnSpc>
            </a:pPr>
            <a:r>
              <a:rPr lang="zh-CN" altLang="en-US" sz="2438" dirty="0"/>
              <a:t>基础设施准备度：现有的</a:t>
            </a:r>
            <a:r>
              <a:rPr lang="en-US" altLang="zh-CN" sz="2438" dirty="0"/>
              <a:t>IT</a:t>
            </a:r>
            <a:r>
              <a:rPr lang="zh-CN" altLang="en-US" sz="2438" dirty="0"/>
              <a:t>系统和技术架构是否能支撑</a:t>
            </a:r>
            <a:r>
              <a:rPr lang="en-US" altLang="zh-CN" sz="2438" dirty="0"/>
              <a:t>AI</a:t>
            </a:r>
            <a:r>
              <a:rPr lang="zh-CN" altLang="en-US" sz="2438" dirty="0"/>
              <a:t>应用。</a:t>
            </a:r>
            <a:endParaRPr lang="en-US" altLang="zh-CN" sz="2438" dirty="0"/>
          </a:p>
          <a:p>
            <a:pPr>
              <a:lnSpc>
                <a:spcPct val="200000"/>
              </a:lnSpc>
            </a:pPr>
            <a:r>
              <a:rPr lang="zh-CN" altLang="en-US" sz="2438" dirty="0"/>
              <a:t>参与者准备度：员工技能、培训及对</a:t>
            </a:r>
            <a:r>
              <a:rPr lang="en-US" altLang="zh-CN" sz="2438" dirty="0"/>
              <a:t>AI</a:t>
            </a:r>
            <a:r>
              <a:rPr lang="zh-CN" altLang="en-US" sz="2438" dirty="0"/>
              <a:t>的认知水平。</a:t>
            </a:r>
            <a:endParaRPr lang="en-US" altLang="zh-CN" sz="2438" dirty="0"/>
          </a:p>
          <a:p>
            <a:pPr>
              <a:lnSpc>
                <a:spcPct val="200000"/>
              </a:lnSpc>
            </a:pPr>
            <a:r>
              <a:rPr lang="zh-CN" altLang="en-US" sz="2438" dirty="0"/>
              <a:t>流程准备度：现有的业务流程是否能够无缝集成</a:t>
            </a:r>
            <a:r>
              <a:rPr lang="en-US" altLang="zh-CN" sz="2438" dirty="0"/>
              <a:t>AI</a:t>
            </a:r>
            <a:r>
              <a:rPr lang="zh-CN" altLang="en-US" sz="2438" dirty="0"/>
              <a:t>解决方案。</a:t>
            </a:r>
            <a:endParaRPr lang="en-US" altLang="zh-CN" sz="2438" dirty="0"/>
          </a:p>
          <a:p>
            <a:pPr>
              <a:lnSpc>
                <a:spcPct val="200000"/>
              </a:lnSpc>
            </a:pPr>
            <a:r>
              <a:rPr lang="zh-CN" altLang="en-US" sz="2438" dirty="0"/>
              <a:t>客户准备度：顾客对于</a:t>
            </a:r>
            <a:r>
              <a:rPr lang="en-US" altLang="zh-CN" sz="2438" dirty="0"/>
              <a:t>AI</a:t>
            </a:r>
            <a:r>
              <a:rPr lang="zh-CN" altLang="en-US" sz="2438" dirty="0"/>
              <a:t>服务的接受程度和需求。</a:t>
            </a:r>
            <a:endParaRPr lang="en-US" altLang="zh-CN" sz="2438" dirty="0"/>
          </a:p>
          <a:p>
            <a:pPr>
              <a:lnSpc>
                <a:spcPct val="200000"/>
              </a:lnSpc>
            </a:pPr>
            <a:r>
              <a:rPr lang="zh-CN" altLang="en-US" sz="2438" dirty="0"/>
              <a:t>数据准备度：数据的质量、安全性和可访问性。</a:t>
            </a:r>
            <a:endParaRPr lang="en-US" altLang="zh-CN" sz="2438" dirty="0"/>
          </a:p>
          <a:p>
            <a:pPr>
              <a:lnSpc>
                <a:spcPct val="200000"/>
              </a:lnSpc>
            </a:pPr>
            <a:r>
              <a:rPr lang="zh-CN" altLang="en-US" sz="2438" dirty="0"/>
              <a:t>技术准备度：技术实力和创新能力，确保</a:t>
            </a:r>
            <a:r>
              <a:rPr lang="en-US" altLang="zh-CN" sz="2438" dirty="0"/>
              <a:t>AI</a:t>
            </a:r>
            <a:r>
              <a:rPr lang="zh-CN" altLang="en-US" sz="2438" dirty="0"/>
              <a:t>项目的成功实施。</a:t>
            </a:r>
          </a:p>
        </p:txBody>
      </p:sp>
    </p:spTree>
    <p:extLst>
      <p:ext uri="{BB962C8B-B14F-4D97-AF65-F5344CB8AC3E}">
        <p14:creationId xmlns:p14="http://schemas.microsoft.com/office/powerpoint/2010/main" val="2948115699"/>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835BF8-4724-8FDA-B594-727639CF3C6C}"/>
              </a:ext>
            </a:extLst>
          </p:cNvPr>
          <p:cNvSpPr>
            <a:spLocks noGrp="1"/>
          </p:cNvSpPr>
          <p:nvPr>
            <p:ph type="title"/>
          </p:nvPr>
        </p:nvSpPr>
        <p:spPr>
          <a:xfrm>
            <a:off x="466674" y="2807756"/>
            <a:ext cx="2994031" cy="824787"/>
          </a:xfrm>
        </p:spPr>
        <p:txBody>
          <a:bodyPr>
            <a:noAutofit/>
          </a:bodyPr>
          <a:lstStyle/>
          <a:p>
            <a:r>
              <a:rPr lang="en-US" altLang="zh-CN" sz="2235" dirty="0"/>
              <a:t>Moving from prediction to creativity: implications of generative AI on measurement of success</a:t>
            </a:r>
            <a:endParaRPr lang="zh-CN" altLang="en-US" sz="2235" dirty="0"/>
          </a:p>
        </p:txBody>
      </p:sp>
      <p:pic>
        <p:nvPicPr>
          <p:cNvPr id="7" name="图片 6">
            <a:extLst>
              <a:ext uri="{FF2B5EF4-FFF2-40B4-BE49-F238E27FC236}">
                <a16:creationId xmlns:a16="http://schemas.microsoft.com/office/drawing/2014/main" id="{DEAC34F3-C4F4-CB63-60C1-FA045B706E85}"/>
              </a:ext>
            </a:extLst>
          </p:cNvPr>
          <p:cNvPicPr>
            <a:picLocks noChangeAspect="1"/>
          </p:cNvPicPr>
          <p:nvPr/>
        </p:nvPicPr>
        <p:blipFill>
          <a:blip r:embed="rId2"/>
          <a:stretch>
            <a:fillRect/>
          </a:stretch>
        </p:blipFill>
        <p:spPr>
          <a:xfrm>
            <a:off x="4120362" y="77587"/>
            <a:ext cx="7530701" cy="6333159"/>
          </a:xfrm>
          <a:prstGeom prst="rect">
            <a:avLst/>
          </a:prstGeom>
        </p:spPr>
      </p:pic>
    </p:spTree>
    <p:extLst>
      <p:ext uri="{BB962C8B-B14F-4D97-AF65-F5344CB8AC3E}">
        <p14:creationId xmlns:p14="http://schemas.microsoft.com/office/powerpoint/2010/main" val="143908812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5A84E974-6B82-BBA4-6112-31FEE317F0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 y="91648"/>
            <a:ext cx="11141392" cy="6674705"/>
          </a:xfrm>
          <a:prstGeom prst="rect">
            <a:avLst/>
          </a:prstGeom>
          <a:noFill/>
          <a:extLst>
            <a:ext uri="{909E8E84-426E-40DD-AFC4-6F175D3DCCD1}">
              <a14:hiddenFill xmlns:a14="http://schemas.microsoft.com/office/drawing/2010/main">
                <a:solidFill>
                  <a:srgbClr val="FFFFFF"/>
                </a:solidFill>
              </a14:hiddenFill>
            </a:ext>
          </a:extLst>
        </p:spPr>
      </p:pic>
      <p:sp>
        <p:nvSpPr>
          <p:cNvPr id="9" name="标题 1">
            <a:extLst>
              <a:ext uri="{FF2B5EF4-FFF2-40B4-BE49-F238E27FC236}">
                <a16:creationId xmlns:a16="http://schemas.microsoft.com/office/drawing/2014/main" id="{1E943E88-C878-4B5F-B816-F0EE03931F2F}"/>
              </a:ext>
            </a:extLst>
          </p:cNvPr>
          <p:cNvSpPr txBox="1">
            <a:spLocks/>
          </p:cNvSpPr>
          <p:nvPr/>
        </p:nvSpPr>
        <p:spPr>
          <a:xfrm>
            <a:off x="9439981" y="4540187"/>
            <a:ext cx="2184786" cy="824787"/>
          </a:xfrm>
          <a:prstGeom prst="rect">
            <a:avLst/>
          </a:prstGeom>
        </p:spPr>
        <p:txBody>
          <a:bodyPr vert="horz" lIns="56895" tIns="28448" rIns="56895" bIns="28448"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1120" dirty="0"/>
              <a:t>创新产出：经济、组织和创新</a:t>
            </a:r>
            <a:endParaRPr lang="en-US" altLang="zh-CN" sz="1120" dirty="0"/>
          </a:p>
          <a:p>
            <a:pPr>
              <a:lnSpc>
                <a:spcPct val="150000"/>
              </a:lnSpc>
            </a:pPr>
            <a:r>
              <a:rPr lang="zh-CN" altLang="en-US" sz="1120" dirty="0"/>
              <a:t>驱动因素：经济、技术和社会</a:t>
            </a:r>
          </a:p>
        </p:txBody>
      </p:sp>
    </p:spTree>
    <p:extLst>
      <p:ext uri="{BB962C8B-B14F-4D97-AF65-F5344CB8AC3E}">
        <p14:creationId xmlns:p14="http://schemas.microsoft.com/office/powerpoint/2010/main" val="1857379235"/>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3F731E-FB74-FA6F-3BF5-D4DEF17152AA}"/>
              </a:ext>
            </a:extLst>
          </p:cNvPr>
          <p:cNvSpPr>
            <a:spLocks noGrp="1"/>
          </p:cNvSpPr>
          <p:nvPr>
            <p:ph type="title"/>
          </p:nvPr>
        </p:nvSpPr>
        <p:spPr>
          <a:xfrm>
            <a:off x="520867" y="3016607"/>
            <a:ext cx="1515337" cy="824787"/>
          </a:xfrm>
        </p:spPr>
        <p:txBody>
          <a:bodyPr>
            <a:noAutofit/>
          </a:bodyPr>
          <a:lstStyle/>
          <a:p>
            <a:r>
              <a:rPr lang="en-US" altLang="zh-CN" sz="1742" dirty="0" err="1"/>
              <a:t>Bahoo</a:t>
            </a:r>
            <a:r>
              <a:rPr lang="en-US" altLang="zh-CN" sz="1742" dirty="0"/>
              <a:t> S, </a:t>
            </a:r>
            <a:r>
              <a:rPr lang="en-US" altLang="zh-CN" sz="1742" dirty="0" err="1"/>
              <a:t>Cucculelli</a:t>
            </a:r>
            <a:r>
              <a:rPr lang="en-US" altLang="zh-CN" sz="1742" dirty="0"/>
              <a:t> M, Qamar D, 2023. Artificial intelligence and corporate innovation: a review and research agenda[J]. Technological Forecasting and Social Change, 188(3): 122264.</a:t>
            </a:r>
            <a:endParaRPr lang="zh-CN" altLang="en-US" sz="1742" dirty="0"/>
          </a:p>
        </p:txBody>
      </p:sp>
      <p:pic>
        <p:nvPicPr>
          <p:cNvPr id="5" name="图片 4">
            <a:extLst>
              <a:ext uri="{FF2B5EF4-FFF2-40B4-BE49-F238E27FC236}">
                <a16:creationId xmlns:a16="http://schemas.microsoft.com/office/drawing/2014/main" id="{4255EF36-4575-7BDF-8691-61CC47D644BD}"/>
              </a:ext>
            </a:extLst>
          </p:cNvPr>
          <p:cNvPicPr>
            <a:picLocks noChangeAspect="1"/>
          </p:cNvPicPr>
          <p:nvPr/>
        </p:nvPicPr>
        <p:blipFill>
          <a:blip r:embed="rId2"/>
          <a:stretch>
            <a:fillRect/>
          </a:stretch>
        </p:blipFill>
        <p:spPr>
          <a:xfrm>
            <a:off x="1857066" y="642096"/>
            <a:ext cx="9814068" cy="5573808"/>
          </a:xfrm>
          <a:prstGeom prst="rect">
            <a:avLst/>
          </a:prstGeom>
        </p:spPr>
      </p:pic>
    </p:spTree>
    <p:extLst>
      <p:ext uri="{BB962C8B-B14F-4D97-AF65-F5344CB8AC3E}">
        <p14:creationId xmlns:p14="http://schemas.microsoft.com/office/powerpoint/2010/main" val="1003215167"/>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D19C99DA-FB71-7616-8CC0-76943670816B}"/>
              </a:ext>
            </a:extLst>
          </p:cNvPr>
          <p:cNvGraphicFramePr>
            <a:graphicFrameLocks noGrp="1"/>
          </p:cNvGraphicFramePr>
          <p:nvPr/>
        </p:nvGraphicFramePr>
        <p:xfrm>
          <a:off x="96" y="683111"/>
          <a:ext cx="12191807" cy="5978836"/>
        </p:xfrm>
        <a:graphic>
          <a:graphicData uri="http://schemas.openxmlformats.org/drawingml/2006/table">
            <a:tbl>
              <a:tblPr firstRow="1" firstCol="1" bandRow="1"/>
              <a:tblGrid>
                <a:gridCol w="1758066">
                  <a:extLst>
                    <a:ext uri="{9D8B030D-6E8A-4147-A177-3AD203B41FA5}">
                      <a16:colId xmlns:a16="http://schemas.microsoft.com/office/drawing/2014/main" val="2033078599"/>
                    </a:ext>
                  </a:extLst>
                </a:gridCol>
                <a:gridCol w="1920497">
                  <a:extLst>
                    <a:ext uri="{9D8B030D-6E8A-4147-A177-3AD203B41FA5}">
                      <a16:colId xmlns:a16="http://schemas.microsoft.com/office/drawing/2014/main" val="507894374"/>
                    </a:ext>
                  </a:extLst>
                </a:gridCol>
                <a:gridCol w="8513244">
                  <a:extLst>
                    <a:ext uri="{9D8B030D-6E8A-4147-A177-3AD203B41FA5}">
                      <a16:colId xmlns:a16="http://schemas.microsoft.com/office/drawing/2014/main" val="3137706781"/>
                    </a:ext>
                  </a:extLst>
                </a:gridCol>
              </a:tblGrid>
              <a:tr h="603727">
                <a:tc>
                  <a:txBody>
                    <a:bodyPr/>
                    <a:lstStyle/>
                    <a:p>
                      <a:pPr algn="ctr"/>
                      <a:r>
                        <a:rPr lang="zh-CN" sz="2000" kern="100" dirty="0">
                          <a:effectLst/>
                          <a:latin typeface="等线" panose="02010600030101010101" pitchFamily="2" charset="-122"/>
                          <a:ea typeface="等线" panose="02010600030101010101" pitchFamily="2" charset="-122"/>
                          <a:cs typeface="Times New Roman" panose="02020603050405020304" pitchFamily="18" charset="0"/>
                        </a:rPr>
                        <a:t>创新类型（</a:t>
                      </a:r>
                      <a:r>
                        <a:rPr lang="en-US" sz="2000" kern="100" dirty="0">
                          <a:effectLst/>
                          <a:latin typeface="等线" panose="02010600030101010101" pitchFamily="2" charset="-122"/>
                          <a:ea typeface="等线" panose="02010600030101010101" pitchFamily="2" charset="-122"/>
                          <a:cs typeface="Times New Roman" panose="02020603050405020304" pitchFamily="18" charset="0"/>
                        </a:rPr>
                        <a:t>Gault, 2018</a:t>
                      </a:r>
                      <a:r>
                        <a:rPr lang="zh-CN" sz="2000" kern="100" dirty="0">
                          <a:effectLst/>
                          <a:latin typeface="等线" panose="02010600030101010101" pitchFamily="2" charset="-122"/>
                          <a:ea typeface="等线" panose="02010600030101010101" pitchFamily="2" charset="-122"/>
                          <a:cs typeface="Times New Roman" panose="02020603050405020304" pitchFamily="18" charset="0"/>
                        </a:rPr>
                        <a:t>）</a:t>
                      </a:r>
                    </a:p>
                  </a:txBody>
                  <a:tcPr marL="42671" marR="426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r>
                        <a:rPr lang="zh-CN" sz="2000" kern="100" dirty="0">
                          <a:effectLst/>
                          <a:latin typeface="等线" panose="02010600030101010101" pitchFamily="2" charset="-122"/>
                          <a:ea typeface="等线" panose="02010600030101010101" pitchFamily="2" charset="-122"/>
                          <a:cs typeface="Times New Roman" panose="02020603050405020304" pitchFamily="18" charset="0"/>
                        </a:rPr>
                        <a:t>生成式</a:t>
                      </a:r>
                      <a:r>
                        <a:rPr lang="en-US" sz="2000" kern="100" dirty="0">
                          <a:effectLst/>
                          <a:latin typeface="等线" panose="02010600030101010101" pitchFamily="2" charset="-122"/>
                          <a:ea typeface="等线" panose="02010600030101010101" pitchFamily="2" charset="-122"/>
                          <a:cs typeface="Times New Roman" panose="02020603050405020304" pitchFamily="18" charset="0"/>
                        </a:rPr>
                        <a:t>AI</a:t>
                      </a:r>
                      <a:r>
                        <a:rPr lang="zh-CN" sz="2000" kern="100" dirty="0">
                          <a:effectLst/>
                          <a:latin typeface="等线" panose="02010600030101010101" pitchFamily="2" charset="-122"/>
                          <a:ea typeface="等线" panose="02010600030101010101" pitchFamily="2" charset="-122"/>
                          <a:cs typeface="Times New Roman" panose="02020603050405020304" pitchFamily="18" charset="0"/>
                        </a:rPr>
                        <a:t>赋能的创新类型</a:t>
                      </a:r>
                    </a:p>
                  </a:txBody>
                  <a:tcPr marL="42671" marR="426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r>
                        <a:rPr lang="zh-CN" sz="2000" kern="100" dirty="0">
                          <a:effectLst/>
                          <a:latin typeface="等线" panose="02010600030101010101" pitchFamily="2" charset="-122"/>
                          <a:ea typeface="等线" panose="02010600030101010101" pitchFamily="2" charset="-122"/>
                          <a:cs typeface="Times New Roman" panose="02020603050405020304" pitchFamily="18" charset="0"/>
                        </a:rPr>
                        <a:t>商业案例及应用场景</a:t>
                      </a:r>
                    </a:p>
                  </a:txBody>
                  <a:tcPr marL="42671" marR="426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54421029"/>
                  </a:ext>
                </a:extLst>
              </a:tr>
              <a:tr h="2388938">
                <a:tc>
                  <a:txBody>
                    <a:bodyPr/>
                    <a:lstStyle/>
                    <a:p>
                      <a:pPr algn="ctr"/>
                      <a:r>
                        <a:rPr lang="zh-CN" sz="2000" kern="100" dirty="0">
                          <a:effectLst/>
                          <a:latin typeface="等线" panose="02010600030101010101" pitchFamily="2" charset="-122"/>
                          <a:ea typeface="等线" panose="02010600030101010101" pitchFamily="2" charset="-122"/>
                          <a:cs typeface="Times New Roman" panose="02020603050405020304" pitchFamily="18" charset="0"/>
                        </a:rPr>
                        <a:t>产品创新</a:t>
                      </a:r>
                    </a:p>
                  </a:txBody>
                  <a:tcPr marL="42671" marR="426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r>
                        <a:rPr lang="en-US" sz="2000" kern="100">
                          <a:effectLst/>
                          <a:latin typeface="等线" panose="02010600030101010101" pitchFamily="2" charset="-122"/>
                          <a:ea typeface="等线" panose="02010600030101010101" pitchFamily="2" charset="-122"/>
                          <a:cs typeface="Times New Roman" panose="02020603050405020304" pitchFamily="18" charset="0"/>
                        </a:rPr>
                        <a:t>GenAI</a:t>
                      </a:r>
                      <a:r>
                        <a:rPr lang="zh-CN" sz="2000" kern="100">
                          <a:effectLst/>
                          <a:latin typeface="等线" panose="02010600030101010101" pitchFamily="2" charset="-122"/>
                          <a:ea typeface="等线" panose="02010600030101010101" pitchFamily="2" charset="-122"/>
                          <a:cs typeface="Times New Roman" panose="02020603050405020304" pitchFamily="18" charset="0"/>
                        </a:rPr>
                        <a:t>赋能的产品创新（</a:t>
                      </a:r>
                      <a:r>
                        <a:rPr lang="en-US" sz="2000" kern="100">
                          <a:effectLst/>
                          <a:latin typeface="等线" panose="02010600030101010101" pitchFamily="2" charset="-122"/>
                          <a:ea typeface="等线" panose="02010600030101010101" pitchFamily="2" charset="-122"/>
                          <a:cs typeface="Times New Roman" panose="02020603050405020304" pitchFamily="18" charset="0"/>
                        </a:rPr>
                        <a:t>GenAIProdI</a:t>
                      </a:r>
                      <a:r>
                        <a:rPr lang="zh-CN" sz="2000" kern="100">
                          <a:effectLst/>
                          <a:latin typeface="等线" panose="02010600030101010101" pitchFamily="2" charset="-122"/>
                          <a:ea typeface="等线" panose="02010600030101010101" pitchFamily="2" charset="-122"/>
                          <a:cs typeface="Times New Roman" panose="02020603050405020304" pitchFamily="18" charset="0"/>
                        </a:rPr>
                        <a:t>）：利用生成式</a:t>
                      </a:r>
                      <a:r>
                        <a:rPr lang="en-US" sz="2000" kern="100">
                          <a:effectLst/>
                          <a:latin typeface="等线" panose="02010600030101010101" pitchFamily="2" charset="-122"/>
                          <a:ea typeface="等线" panose="02010600030101010101" pitchFamily="2" charset="-122"/>
                          <a:cs typeface="Times New Roman" panose="02020603050405020304" pitchFamily="18" charset="0"/>
                        </a:rPr>
                        <a:t>AI</a:t>
                      </a:r>
                      <a:r>
                        <a:rPr lang="zh-CN" sz="2000" kern="100">
                          <a:effectLst/>
                          <a:latin typeface="等线" panose="02010600030101010101" pitchFamily="2" charset="-122"/>
                          <a:ea typeface="等线" panose="02010600030101010101" pitchFamily="2" charset="-122"/>
                          <a:cs typeface="Times New Roman" panose="02020603050405020304" pitchFamily="18" charset="0"/>
                        </a:rPr>
                        <a:t>创造新产品或改进现有产品</a:t>
                      </a:r>
                    </a:p>
                  </a:txBody>
                  <a:tcPr marL="42671" marR="426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r>
                        <a:rPr lang="zh-CN" sz="2000" kern="100" dirty="0">
                          <a:effectLst/>
                          <a:latin typeface="等线" panose="02010600030101010101" pitchFamily="2" charset="-122"/>
                          <a:ea typeface="等线" panose="02010600030101010101" pitchFamily="2" charset="-122"/>
                          <a:cs typeface="Times New Roman" panose="02020603050405020304" pitchFamily="18" charset="0"/>
                        </a:rPr>
                        <a:t>应用场景：新文本、绘画、音乐、图片、电影、分子等。</a:t>
                      </a:r>
                      <a:endPar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sz="2000" kern="100" dirty="0">
                          <a:effectLst/>
                          <a:latin typeface="等线" panose="02010600030101010101" pitchFamily="2" charset="-122"/>
                          <a:ea typeface="等线" panose="02010600030101010101" pitchFamily="2" charset="-122"/>
                          <a:cs typeface="Times New Roman" panose="02020603050405020304" pitchFamily="18" charset="0"/>
                        </a:rPr>
                        <a:t>真实案例：</a:t>
                      </a:r>
                      <a:r>
                        <a:rPr lang="en-US" sz="2000" kern="100" dirty="0">
                          <a:effectLst/>
                          <a:latin typeface="等线" panose="02010600030101010101" pitchFamily="2" charset="-122"/>
                          <a:ea typeface="等线" panose="02010600030101010101" pitchFamily="2" charset="-122"/>
                          <a:cs typeface="Times New Roman" panose="02020603050405020304" pitchFamily="18" charset="0"/>
                        </a:rPr>
                        <a:t>ChatGPT</a:t>
                      </a:r>
                      <a:r>
                        <a:rPr lang="zh-CN" sz="2000" kern="100" dirty="0">
                          <a:effectLst/>
                          <a:latin typeface="等线" panose="02010600030101010101" pitchFamily="2" charset="-122"/>
                          <a:ea typeface="等线" panose="02010600030101010101" pitchFamily="2" charset="-122"/>
                          <a:cs typeface="Times New Roman" panose="02020603050405020304" pitchFamily="18" charset="0"/>
                        </a:rPr>
                        <a:t>用于文本生成；</a:t>
                      </a:r>
                      <a:r>
                        <a:rPr lang="en-US" sz="2000" kern="100" dirty="0">
                          <a:effectLst/>
                          <a:latin typeface="等线" panose="02010600030101010101" pitchFamily="2" charset="-122"/>
                          <a:ea typeface="等线" panose="02010600030101010101" pitchFamily="2" charset="-122"/>
                          <a:cs typeface="Times New Roman" panose="02020603050405020304" pitchFamily="18" charset="0"/>
                        </a:rPr>
                        <a:t>Dall-E 2</a:t>
                      </a:r>
                      <a:r>
                        <a:rPr lang="zh-CN" sz="2000" kern="100" dirty="0">
                          <a:effectLst/>
                          <a:latin typeface="等线" panose="02010600030101010101" pitchFamily="2" charset="-122"/>
                          <a:ea typeface="等线" panose="02010600030101010101" pitchFamily="2" charset="-122"/>
                          <a:cs typeface="Times New Roman" panose="02020603050405020304" pitchFamily="18" charset="0"/>
                        </a:rPr>
                        <a:t>用于图像生成；</a:t>
                      </a:r>
                      <a:r>
                        <a:rPr lang="en-US" sz="2000" kern="100" dirty="0">
                          <a:effectLst/>
                          <a:latin typeface="等线" panose="02010600030101010101" pitchFamily="2" charset="-122"/>
                          <a:ea typeface="等线" panose="02010600030101010101" pitchFamily="2" charset="-122"/>
                          <a:cs typeface="Times New Roman" panose="02020603050405020304" pitchFamily="18" charset="0"/>
                        </a:rPr>
                        <a:t>Stability AI</a:t>
                      </a:r>
                      <a:r>
                        <a:rPr lang="zh-CN" sz="2000" kern="100" dirty="0">
                          <a:effectLst/>
                          <a:latin typeface="等线" panose="02010600030101010101" pitchFamily="2" charset="-122"/>
                          <a:ea typeface="等线" panose="02010600030101010101" pitchFamily="2" charset="-122"/>
                          <a:cs typeface="Times New Roman" panose="02020603050405020304" pitchFamily="18" charset="0"/>
                        </a:rPr>
                        <a:t>用于音乐生成。</a:t>
                      </a:r>
                    </a:p>
                    <a:p>
                      <a:pPr algn="just"/>
                      <a:r>
                        <a:rPr lang="zh-CN" sz="2000" kern="100" dirty="0">
                          <a:effectLst/>
                          <a:latin typeface="等线" panose="02010600030101010101" pitchFamily="2" charset="-122"/>
                          <a:ea typeface="等线" panose="02010600030101010101" pitchFamily="2" charset="-122"/>
                          <a:cs typeface="Times New Roman" panose="02020603050405020304" pitchFamily="18" charset="0"/>
                        </a:rPr>
                        <a:t>引言：“</a:t>
                      </a:r>
                      <a:r>
                        <a:rPr lang="en-US" sz="2000" kern="100" dirty="0">
                          <a:effectLst/>
                          <a:latin typeface="等线" panose="02010600030101010101" pitchFamily="2" charset="-122"/>
                          <a:ea typeface="等线" panose="02010600030101010101" pitchFamily="2" charset="-122"/>
                          <a:cs typeface="Times New Roman" panose="02020603050405020304" pitchFamily="18" charset="0"/>
                        </a:rPr>
                        <a:t>2022</a:t>
                      </a:r>
                      <a:r>
                        <a:rPr lang="zh-CN" sz="2000" kern="100" dirty="0">
                          <a:effectLst/>
                          <a:latin typeface="等线" panose="02010600030101010101" pitchFamily="2" charset="-122"/>
                          <a:ea typeface="等线" panose="02010600030101010101" pitchFamily="2" charset="-122"/>
                          <a:cs typeface="Times New Roman" panose="02020603050405020304" pitchFamily="18" charset="0"/>
                        </a:rPr>
                        <a:t>年</a:t>
                      </a:r>
                      <a:r>
                        <a:rPr lang="en-US" sz="2000" kern="100" dirty="0">
                          <a:effectLst/>
                          <a:latin typeface="等线" panose="02010600030101010101" pitchFamily="2" charset="-122"/>
                          <a:ea typeface="等线" panose="02010600030101010101" pitchFamily="2" charset="-122"/>
                          <a:cs typeface="Times New Roman" panose="02020603050405020304" pitchFamily="18" charset="0"/>
                        </a:rPr>
                        <a:t>11</a:t>
                      </a:r>
                      <a:r>
                        <a:rPr lang="zh-CN" sz="2000" kern="100" dirty="0">
                          <a:effectLst/>
                          <a:latin typeface="等线" panose="02010600030101010101" pitchFamily="2" charset="-122"/>
                          <a:ea typeface="等线" panose="02010600030101010101" pitchFamily="2" charset="-122"/>
                          <a:cs typeface="Times New Roman" panose="02020603050405020304" pitchFamily="18" charset="0"/>
                        </a:rPr>
                        <a:t>月，加拿大音乐家</a:t>
                      </a:r>
                      <a:r>
                        <a:rPr lang="en-US" sz="2000" kern="100" dirty="0">
                          <a:effectLst/>
                          <a:latin typeface="等线" panose="02010600030101010101" pitchFamily="2" charset="-122"/>
                          <a:ea typeface="等线" panose="02010600030101010101" pitchFamily="2" charset="-122"/>
                          <a:cs typeface="Times New Roman" panose="02020603050405020304" pitchFamily="18" charset="0"/>
                        </a:rPr>
                        <a:t>Grimes</a:t>
                      </a:r>
                      <a:r>
                        <a:rPr lang="zh-CN" sz="2000" kern="100" dirty="0">
                          <a:effectLst/>
                          <a:latin typeface="等线" panose="02010600030101010101" pitchFamily="2" charset="-122"/>
                          <a:ea typeface="等线" panose="02010600030101010101" pitchFamily="2" charset="-122"/>
                          <a:cs typeface="Times New Roman" panose="02020603050405020304" pitchFamily="18" charset="0"/>
                        </a:rPr>
                        <a:t>做出了一项大胆的预测。她在</a:t>
                      </a:r>
                      <a:r>
                        <a:rPr lang="en-US" sz="2000" kern="100" dirty="0">
                          <a:effectLst/>
                          <a:latin typeface="等线" panose="02010600030101010101" pitchFamily="2" charset="-122"/>
                          <a:ea typeface="等线" panose="02010600030101010101" pitchFamily="2" charset="-122"/>
                          <a:cs typeface="Times New Roman" panose="02020603050405020304" pitchFamily="18" charset="0"/>
                        </a:rPr>
                        <a:t>Sean Carroll</a:t>
                      </a:r>
                      <a:r>
                        <a:rPr lang="zh-CN" sz="2000" kern="100" dirty="0">
                          <a:effectLst/>
                          <a:latin typeface="等线" panose="02010600030101010101" pitchFamily="2" charset="-122"/>
                          <a:ea typeface="等线" panose="02010600030101010101" pitchFamily="2" charset="-122"/>
                          <a:cs typeface="Times New Roman" panose="02020603050405020304" pitchFamily="18" charset="0"/>
                        </a:rPr>
                        <a:t>的</a:t>
                      </a:r>
                      <a:r>
                        <a:rPr lang="en-US" sz="2000" kern="100" dirty="0">
                          <a:effectLst/>
                          <a:latin typeface="等线" panose="02010600030101010101" pitchFamily="2" charset="-122"/>
                          <a:ea typeface="等线" panose="02010600030101010101" pitchFamily="2" charset="-122"/>
                          <a:cs typeface="Times New Roman" panose="02020603050405020304" pitchFamily="18" charset="0"/>
                        </a:rPr>
                        <a:t>Mindscape</a:t>
                      </a:r>
                      <a:r>
                        <a:rPr lang="zh-CN" sz="2000" kern="100" dirty="0">
                          <a:effectLst/>
                          <a:latin typeface="等线" panose="02010600030101010101" pitchFamily="2" charset="-122"/>
                          <a:ea typeface="等线" panose="02010600030101010101" pitchFamily="2" charset="-122"/>
                          <a:cs typeface="Times New Roman" panose="02020603050405020304" pitchFamily="18" charset="0"/>
                        </a:rPr>
                        <a:t>播客中表示，</a:t>
                      </a:r>
                      <a:r>
                        <a:rPr lang="en-US" sz="20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sz="2000" kern="100" dirty="0">
                          <a:effectLst/>
                          <a:latin typeface="等线" panose="02010600030101010101" pitchFamily="2" charset="-122"/>
                          <a:ea typeface="等线" panose="02010600030101010101" pitchFamily="2" charset="-122"/>
                          <a:cs typeface="Times New Roman" panose="02020603050405020304" pitchFamily="18" charset="0"/>
                        </a:rPr>
                        <a:t>我感觉我们正处于艺术的终结，人类艺术的终结。一旦真的有了通用人工智能（</a:t>
                      </a:r>
                      <a:r>
                        <a:rPr lang="en-US" sz="2000" kern="100" dirty="0">
                          <a:effectLst/>
                          <a:latin typeface="等线" panose="02010600030101010101" pitchFamily="2" charset="-122"/>
                          <a:ea typeface="等线" panose="02010600030101010101" pitchFamily="2" charset="-122"/>
                          <a:cs typeface="Times New Roman" panose="02020603050405020304" pitchFamily="18" charset="0"/>
                        </a:rPr>
                        <a:t>AGI</a:t>
                      </a:r>
                      <a:r>
                        <a:rPr lang="zh-CN" sz="2000" kern="100" dirty="0">
                          <a:effectLst/>
                          <a:latin typeface="等线" panose="02010600030101010101" pitchFamily="2" charset="-122"/>
                          <a:ea typeface="等线" panose="02010600030101010101" pitchFamily="2" charset="-122"/>
                          <a:cs typeface="Times New Roman" panose="02020603050405020304" pitchFamily="18" charset="0"/>
                        </a:rPr>
                        <a:t>），它们在创作艺术方面会比我们强得多。</a:t>
                      </a:r>
                      <a:r>
                        <a:rPr lang="en-US" sz="20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sz="2000" kern="100" dirty="0">
                          <a:effectLst/>
                          <a:latin typeface="等线" panose="02010600030101010101" pitchFamily="2" charset="-122"/>
                          <a:ea typeface="等线" panose="02010600030101010101" pitchFamily="2" charset="-122"/>
                          <a:cs typeface="Times New Roman" panose="02020603050405020304" pitchFamily="18" charset="0"/>
                        </a:rPr>
                        <a:t>如今，随着</a:t>
                      </a:r>
                      <a:r>
                        <a:rPr lang="en-US" sz="2000" kern="100" dirty="0">
                          <a:effectLst/>
                          <a:latin typeface="等线" panose="02010600030101010101" pitchFamily="2" charset="-122"/>
                          <a:ea typeface="等线" panose="02010600030101010101" pitchFamily="2" charset="-122"/>
                          <a:cs typeface="Times New Roman" panose="02020603050405020304" pitchFamily="18" charset="0"/>
                        </a:rPr>
                        <a:t>Riffusion</a:t>
                      </a:r>
                      <a:r>
                        <a:rPr lang="zh-CN" sz="2000" kern="100" dirty="0">
                          <a:effectLst/>
                          <a:latin typeface="等线" panose="02010600030101010101" pitchFamily="2" charset="-122"/>
                          <a:ea typeface="等线" panose="02010600030101010101" pitchFamily="2" charset="-122"/>
                          <a:cs typeface="Times New Roman" panose="02020603050405020304" pitchFamily="18" charset="0"/>
                        </a:rPr>
                        <a:t>等</a:t>
                      </a:r>
                      <a:r>
                        <a:rPr lang="en-US" sz="2000" kern="100" dirty="0" err="1">
                          <a:effectLst/>
                          <a:latin typeface="等线" panose="02010600030101010101" pitchFamily="2" charset="-122"/>
                          <a:ea typeface="等线" panose="02010600030101010101" pitchFamily="2" charset="-122"/>
                          <a:cs typeface="Times New Roman" panose="02020603050405020304" pitchFamily="18" charset="0"/>
                        </a:rPr>
                        <a:t>GenAI</a:t>
                      </a:r>
                      <a:r>
                        <a:rPr lang="zh-CN" sz="2000" kern="100" dirty="0">
                          <a:effectLst/>
                          <a:latin typeface="等线" panose="02010600030101010101" pitchFamily="2" charset="-122"/>
                          <a:ea typeface="等线" panose="02010600030101010101" pitchFamily="2" charset="-122"/>
                          <a:cs typeface="Times New Roman" panose="02020603050405020304" pitchFamily="18" charset="0"/>
                        </a:rPr>
                        <a:t>系统的出现，这一预测似乎正成为现实。</a:t>
                      </a:r>
                      <a:r>
                        <a:rPr lang="en-US" sz="20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2671" marR="426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98548569"/>
                  </a:ext>
                </a:extLst>
              </a:tr>
              <a:tr h="2986172">
                <a:tc>
                  <a:txBody>
                    <a:bodyPr/>
                    <a:lstStyle/>
                    <a:p>
                      <a:pPr algn="ctr"/>
                      <a:r>
                        <a:rPr lang="zh-CN" sz="2000" kern="100" dirty="0">
                          <a:effectLst/>
                          <a:latin typeface="等线" panose="02010600030101010101" pitchFamily="2" charset="-122"/>
                          <a:ea typeface="等线" panose="02010600030101010101" pitchFamily="2" charset="-122"/>
                          <a:cs typeface="Times New Roman" panose="02020603050405020304" pitchFamily="18" charset="0"/>
                        </a:rPr>
                        <a:t>过程创新</a:t>
                      </a:r>
                    </a:p>
                  </a:txBody>
                  <a:tcPr marL="42671" marR="426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r>
                        <a:rPr lang="zh-CN" sz="2000" kern="100" dirty="0">
                          <a:effectLst/>
                          <a:latin typeface="等线" panose="02010600030101010101" pitchFamily="2" charset="-122"/>
                          <a:ea typeface="等线" panose="02010600030101010101" pitchFamily="2" charset="-122"/>
                          <a:cs typeface="Times New Roman" panose="02020603050405020304" pitchFamily="18" charset="0"/>
                        </a:rPr>
                        <a:t>基于</a:t>
                      </a:r>
                      <a:r>
                        <a:rPr lang="en-US" sz="2000" kern="100" dirty="0" err="1">
                          <a:effectLst/>
                          <a:latin typeface="等线" panose="02010600030101010101" pitchFamily="2" charset="-122"/>
                          <a:ea typeface="等线" panose="02010600030101010101" pitchFamily="2" charset="-122"/>
                          <a:cs typeface="Times New Roman" panose="02020603050405020304" pitchFamily="18" charset="0"/>
                        </a:rPr>
                        <a:t>GenAI</a:t>
                      </a:r>
                      <a:r>
                        <a:rPr lang="zh-CN" sz="2000" kern="100" dirty="0">
                          <a:effectLst/>
                          <a:latin typeface="等线" panose="02010600030101010101" pitchFamily="2" charset="-122"/>
                          <a:ea typeface="等线" panose="02010600030101010101" pitchFamily="2" charset="-122"/>
                          <a:cs typeface="Times New Roman" panose="02020603050405020304" pitchFamily="18" charset="0"/>
                        </a:rPr>
                        <a:t>的过程创新（</a:t>
                      </a:r>
                      <a:r>
                        <a:rPr lang="en-US" sz="2000" kern="100" dirty="0" err="1">
                          <a:effectLst/>
                          <a:latin typeface="等线" panose="02010600030101010101" pitchFamily="2" charset="-122"/>
                          <a:ea typeface="等线" panose="02010600030101010101" pitchFamily="2" charset="-122"/>
                          <a:cs typeface="Times New Roman" panose="02020603050405020304" pitchFamily="18" charset="0"/>
                        </a:rPr>
                        <a:t>GenAIProcI</a:t>
                      </a:r>
                      <a:r>
                        <a:rPr lang="zh-CN" sz="2000" kern="100" dirty="0">
                          <a:effectLst/>
                          <a:latin typeface="等线" panose="02010600030101010101" pitchFamily="2" charset="-122"/>
                          <a:ea typeface="等线" panose="02010600030101010101" pitchFamily="2" charset="-122"/>
                          <a:cs typeface="Times New Roman" panose="02020603050405020304" pitchFamily="18" charset="0"/>
                        </a:rPr>
                        <a:t>）：使用</a:t>
                      </a:r>
                      <a:r>
                        <a:rPr lang="en-US" sz="2000" kern="100" dirty="0" err="1">
                          <a:effectLst/>
                          <a:latin typeface="等线" panose="02010600030101010101" pitchFamily="2" charset="-122"/>
                          <a:ea typeface="等线" panose="02010600030101010101" pitchFamily="2" charset="-122"/>
                          <a:cs typeface="Times New Roman" panose="02020603050405020304" pitchFamily="18" charset="0"/>
                        </a:rPr>
                        <a:t>GenAI</a:t>
                      </a:r>
                      <a:r>
                        <a:rPr lang="zh-CN" sz="2000" kern="100" dirty="0">
                          <a:effectLst/>
                          <a:latin typeface="等线" panose="02010600030101010101" pitchFamily="2" charset="-122"/>
                          <a:ea typeface="等线" panose="02010600030101010101" pitchFamily="2" charset="-122"/>
                          <a:cs typeface="Times New Roman" panose="02020603050405020304" pitchFamily="18" charset="0"/>
                        </a:rPr>
                        <a:t>生成新流程或改进现有流程</a:t>
                      </a:r>
                    </a:p>
                  </a:txBody>
                  <a:tcPr marL="42671" marR="426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r>
                        <a:rPr lang="zh-CN" sz="2000" kern="100" dirty="0">
                          <a:effectLst/>
                          <a:latin typeface="等线" panose="02010600030101010101" pitchFamily="2" charset="-122"/>
                          <a:ea typeface="等线" panose="02010600030101010101" pitchFamily="2" charset="-122"/>
                          <a:cs typeface="Times New Roman" panose="02020603050405020304" pitchFamily="18" charset="0"/>
                        </a:rPr>
                        <a:t>应用案例：发现新药物</a:t>
                      </a:r>
                      <a:r>
                        <a:rPr lang="en-US" sz="20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sz="2000" kern="100" dirty="0">
                          <a:effectLst/>
                          <a:latin typeface="等线" panose="02010600030101010101" pitchFamily="2" charset="-122"/>
                          <a:ea typeface="等线" panose="02010600030101010101" pitchFamily="2" charset="-122"/>
                          <a:cs typeface="Times New Roman" panose="02020603050405020304" pitchFamily="18" charset="0"/>
                        </a:rPr>
                        <a:t>材料的新算法（降低成本和缩短研发周期）；将文本转换为图像（及反之）的新算法；合成数据用于保持（医疗）数据匿名性；修改软件创建过程的新算法。</a:t>
                      </a:r>
                      <a:endPar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sz="2000" kern="100" dirty="0">
                          <a:effectLst/>
                          <a:latin typeface="等线" panose="02010600030101010101" pitchFamily="2" charset="-122"/>
                          <a:ea typeface="等线" panose="02010600030101010101" pitchFamily="2" charset="-122"/>
                          <a:cs typeface="Times New Roman" panose="02020603050405020304" pitchFamily="18" charset="0"/>
                        </a:rPr>
                        <a:t>真实案例：生物技术公司如</a:t>
                      </a:r>
                      <a:r>
                        <a:rPr lang="en-US" sz="2000" kern="100" dirty="0">
                          <a:effectLst/>
                          <a:latin typeface="等线" panose="02010600030101010101" pitchFamily="2" charset="-122"/>
                          <a:ea typeface="等线" panose="02010600030101010101" pitchFamily="2" charset="-122"/>
                          <a:cs typeface="Times New Roman" panose="02020603050405020304" pitchFamily="18" charset="0"/>
                        </a:rPr>
                        <a:t>Generate Biomedicines</a:t>
                      </a:r>
                      <a:r>
                        <a:rPr lang="zh-CN" sz="20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sz="2000" kern="100" dirty="0" err="1">
                          <a:effectLst/>
                          <a:latin typeface="等线" panose="02010600030101010101" pitchFamily="2" charset="-122"/>
                          <a:ea typeface="等线" panose="02010600030101010101" pitchFamily="2" charset="-122"/>
                          <a:cs typeface="Times New Roman" panose="02020603050405020304" pitchFamily="18" charset="0"/>
                        </a:rPr>
                        <a:t>Iktos</a:t>
                      </a:r>
                      <a:r>
                        <a:rPr lang="zh-CN" sz="2000" kern="100" dirty="0">
                          <a:effectLst/>
                          <a:latin typeface="等线" panose="02010600030101010101" pitchFamily="2" charset="-122"/>
                          <a:ea typeface="等线" panose="02010600030101010101" pitchFamily="2" charset="-122"/>
                          <a:cs typeface="Times New Roman" panose="02020603050405020304" pitchFamily="18" charset="0"/>
                        </a:rPr>
                        <a:t>和</a:t>
                      </a:r>
                      <a:r>
                        <a:rPr lang="en-US" sz="2000" kern="100" dirty="0" err="1">
                          <a:effectLst/>
                          <a:latin typeface="等线" panose="02010600030101010101" pitchFamily="2" charset="-122"/>
                          <a:ea typeface="等线" panose="02010600030101010101" pitchFamily="2" charset="-122"/>
                          <a:cs typeface="Times New Roman" panose="02020603050405020304" pitchFamily="18" charset="0"/>
                        </a:rPr>
                        <a:t>Terray</a:t>
                      </a:r>
                      <a:r>
                        <a:rPr lang="en-US" sz="2000" kern="100" dirty="0">
                          <a:effectLst/>
                          <a:latin typeface="等线" panose="02010600030101010101" pitchFamily="2" charset="-122"/>
                          <a:ea typeface="等线" panose="02010600030101010101" pitchFamily="2" charset="-122"/>
                          <a:cs typeface="Times New Roman" panose="02020603050405020304" pitchFamily="18" charset="0"/>
                        </a:rPr>
                        <a:t> Therapeutics</a:t>
                      </a:r>
                      <a:r>
                        <a:rPr lang="zh-CN" sz="2000" kern="100" dirty="0">
                          <a:effectLst/>
                          <a:latin typeface="等线" panose="02010600030101010101" pitchFamily="2" charset="-122"/>
                          <a:ea typeface="等线" panose="02010600030101010101" pitchFamily="2" charset="-122"/>
                          <a:cs typeface="Times New Roman" panose="02020603050405020304" pitchFamily="18" charset="0"/>
                        </a:rPr>
                        <a:t>利用</a:t>
                      </a:r>
                      <a:r>
                        <a:rPr lang="en-US" sz="2000" kern="100" dirty="0" err="1">
                          <a:effectLst/>
                          <a:latin typeface="等线" panose="02010600030101010101" pitchFamily="2" charset="-122"/>
                          <a:ea typeface="等线" panose="02010600030101010101" pitchFamily="2" charset="-122"/>
                          <a:cs typeface="Times New Roman" panose="02020603050405020304" pitchFamily="18" charset="0"/>
                        </a:rPr>
                        <a:t>GenAI</a:t>
                      </a:r>
                      <a:r>
                        <a:rPr lang="zh-CN" sz="2000" kern="100" dirty="0">
                          <a:effectLst/>
                          <a:latin typeface="等线" panose="02010600030101010101" pitchFamily="2" charset="-122"/>
                          <a:ea typeface="等线" panose="02010600030101010101" pitchFamily="2" charset="-122"/>
                          <a:cs typeface="Times New Roman" panose="02020603050405020304" pitchFamily="18" charset="0"/>
                        </a:rPr>
                        <a:t>进行从头药物设计；罗氏公司使用合成医疗数据进行临床研究；</a:t>
                      </a:r>
                      <a:r>
                        <a:rPr lang="en-US" sz="2000" kern="100" dirty="0" err="1">
                          <a:effectLst/>
                          <a:latin typeface="等线" panose="02010600030101010101" pitchFamily="2" charset="-122"/>
                          <a:ea typeface="等线" panose="02010600030101010101" pitchFamily="2" charset="-122"/>
                          <a:cs typeface="Times New Roman" panose="02020603050405020304" pitchFamily="18" charset="0"/>
                        </a:rPr>
                        <a:t>Freshworks</a:t>
                      </a:r>
                      <a:r>
                        <a:rPr lang="zh-CN" sz="2000" kern="100" dirty="0">
                          <a:effectLst/>
                          <a:latin typeface="等线" panose="02010600030101010101" pitchFamily="2" charset="-122"/>
                          <a:ea typeface="等线" panose="02010600030101010101" pitchFamily="2" charset="-122"/>
                          <a:cs typeface="Times New Roman" panose="02020603050405020304" pitchFamily="18" charset="0"/>
                        </a:rPr>
                        <a:t>公司利用</a:t>
                      </a:r>
                      <a:r>
                        <a:rPr lang="en-US" sz="2000" kern="100" dirty="0">
                          <a:effectLst/>
                          <a:latin typeface="等线" panose="02010600030101010101" pitchFamily="2" charset="-122"/>
                          <a:ea typeface="等线" panose="02010600030101010101" pitchFamily="2" charset="-122"/>
                          <a:cs typeface="Times New Roman" panose="02020603050405020304" pitchFamily="18" charset="0"/>
                        </a:rPr>
                        <a:t>ChatGPT</a:t>
                      </a:r>
                      <a:r>
                        <a:rPr lang="zh-CN" sz="2000" kern="100" dirty="0">
                          <a:effectLst/>
                          <a:latin typeface="等线" panose="02010600030101010101" pitchFamily="2" charset="-122"/>
                          <a:ea typeface="等线" panose="02010600030101010101" pitchFamily="2" charset="-122"/>
                          <a:cs typeface="Times New Roman" panose="02020603050405020304" pitchFamily="18" charset="0"/>
                        </a:rPr>
                        <a:t>将程序员创建复杂软件应用的时间从</a:t>
                      </a:r>
                      <a:r>
                        <a:rPr lang="en-US" sz="2000" kern="100" dirty="0">
                          <a:effectLst/>
                          <a:latin typeface="等线" panose="02010600030101010101" pitchFamily="2" charset="-122"/>
                          <a:ea typeface="等线" panose="02010600030101010101" pitchFamily="2" charset="-122"/>
                          <a:cs typeface="Times New Roman" panose="02020603050405020304" pitchFamily="18" charset="0"/>
                        </a:rPr>
                        <a:t>10</a:t>
                      </a:r>
                      <a:r>
                        <a:rPr lang="zh-CN" sz="2000" kern="100" dirty="0">
                          <a:effectLst/>
                          <a:latin typeface="等线" panose="02010600030101010101" pitchFamily="2" charset="-122"/>
                          <a:ea typeface="等线" panose="02010600030101010101" pitchFamily="2" charset="-122"/>
                          <a:cs typeface="Times New Roman" panose="02020603050405020304" pitchFamily="18" charset="0"/>
                        </a:rPr>
                        <a:t>周缩短至</a:t>
                      </a:r>
                      <a:r>
                        <a:rPr lang="en-US" sz="20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sz="2000" kern="100" dirty="0">
                          <a:effectLst/>
                          <a:latin typeface="等线" panose="02010600030101010101" pitchFamily="2" charset="-122"/>
                          <a:ea typeface="等线" panose="02010600030101010101" pitchFamily="2" charset="-122"/>
                          <a:cs typeface="Times New Roman" panose="02020603050405020304" pitchFamily="18" charset="0"/>
                        </a:rPr>
                        <a:t>周。</a:t>
                      </a:r>
                    </a:p>
                    <a:p>
                      <a:pPr algn="just"/>
                      <a:r>
                        <a:rPr lang="zh-CN" sz="2000" kern="100" dirty="0">
                          <a:effectLst/>
                          <a:latin typeface="等线" panose="02010600030101010101" pitchFamily="2" charset="-122"/>
                          <a:ea typeface="等线" panose="02010600030101010101" pitchFamily="2" charset="-122"/>
                          <a:cs typeface="Times New Roman" panose="02020603050405020304" pitchFamily="18" charset="0"/>
                        </a:rPr>
                        <a:t>引言：“有成千上万我们不知道答案的问题摆在那儿……因此，拥有一个能让我们加速、精确并规模化的平台，真的可以转变我们面前的机遇。”——</a:t>
                      </a:r>
                      <a:r>
                        <a:rPr lang="en-US" sz="2000" kern="100" dirty="0" err="1">
                          <a:effectLst/>
                          <a:latin typeface="等线" panose="02010600030101010101" pitchFamily="2" charset="-122"/>
                          <a:ea typeface="等线" panose="02010600030101010101" pitchFamily="2" charset="-122"/>
                          <a:cs typeface="Times New Roman" panose="02020603050405020304" pitchFamily="18" charset="0"/>
                        </a:rPr>
                        <a:t>Terray</a:t>
                      </a:r>
                      <a:r>
                        <a:rPr lang="en-US" sz="2000" kern="100" dirty="0">
                          <a:effectLst/>
                          <a:latin typeface="等线" panose="02010600030101010101" pitchFamily="2" charset="-122"/>
                          <a:ea typeface="等线" panose="02010600030101010101" pitchFamily="2" charset="-122"/>
                          <a:cs typeface="Times New Roman" panose="02020603050405020304" pitchFamily="18" charset="0"/>
                        </a:rPr>
                        <a:t> Therapeutics</a:t>
                      </a:r>
                      <a:r>
                        <a:rPr lang="zh-CN" sz="2000" kern="100" dirty="0">
                          <a:effectLst/>
                          <a:latin typeface="等线" panose="02010600030101010101" pitchFamily="2" charset="-122"/>
                          <a:ea typeface="等线" panose="02010600030101010101" pitchFamily="2" charset="-122"/>
                          <a:cs typeface="Times New Roman" panose="02020603050405020304" pitchFamily="18" charset="0"/>
                        </a:rPr>
                        <a:t>的</a:t>
                      </a:r>
                      <a:r>
                        <a:rPr lang="en-US" sz="2000" kern="100" dirty="0">
                          <a:effectLst/>
                          <a:latin typeface="等线" panose="02010600030101010101" pitchFamily="2" charset="-122"/>
                          <a:ea typeface="等线" panose="02010600030101010101" pitchFamily="2" charset="-122"/>
                          <a:cs typeface="Times New Roman" panose="02020603050405020304" pitchFamily="18" charset="0"/>
                        </a:rPr>
                        <a:t>Ely Berlin</a:t>
                      </a:r>
                      <a:r>
                        <a:rPr lang="zh-CN" sz="20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sz="2000" kern="100" dirty="0" err="1">
                          <a:effectLst/>
                          <a:latin typeface="等线" panose="02010600030101010101" pitchFamily="2" charset="-122"/>
                          <a:ea typeface="等线" panose="02010600030101010101" pitchFamily="2" charset="-122"/>
                          <a:cs typeface="Times New Roman" panose="02020603050405020304" pitchFamily="18" charset="0"/>
                        </a:rPr>
                        <a:t>Vedantam</a:t>
                      </a:r>
                      <a:r>
                        <a:rPr lang="en-US" sz="2000" kern="100" dirty="0">
                          <a:effectLst/>
                          <a:latin typeface="等线" panose="02010600030101010101" pitchFamily="2" charset="-122"/>
                          <a:ea typeface="等线" panose="02010600030101010101" pitchFamily="2" charset="-122"/>
                          <a:cs typeface="Times New Roman" panose="02020603050405020304" pitchFamily="18" charset="0"/>
                        </a:rPr>
                        <a:t>, 2022</a:t>
                      </a:r>
                      <a:r>
                        <a:rPr lang="zh-CN" sz="2000" kern="100" dirty="0">
                          <a:effectLst/>
                          <a:latin typeface="等线" panose="02010600030101010101" pitchFamily="2" charset="-122"/>
                          <a:ea typeface="等线" panose="02010600030101010101" pitchFamily="2" charset="-122"/>
                          <a:cs typeface="Times New Roman" panose="02020603050405020304" pitchFamily="18" charset="0"/>
                        </a:rPr>
                        <a:t>）。</a:t>
                      </a:r>
                    </a:p>
                  </a:txBody>
                  <a:tcPr marL="42671" marR="4267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91191051"/>
                  </a:ext>
                </a:extLst>
              </a:tr>
            </a:tbl>
          </a:graphicData>
        </a:graphic>
      </p:graphicFrame>
    </p:spTree>
    <p:extLst>
      <p:ext uri="{BB962C8B-B14F-4D97-AF65-F5344CB8AC3E}">
        <p14:creationId xmlns:p14="http://schemas.microsoft.com/office/powerpoint/2010/main" val="132022099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678D1C80-49EE-70DD-7177-5B06BEA11594}"/>
              </a:ext>
            </a:extLst>
          </p:cNvPr>
          <p:cNvGraphicFramePr>
            <a:graphicFrameLocks noGrp="1"/>
          </p:cNvGraphicFramePr>
          <p:nvPr/>
        </p:nvGraphicFramePr>
        <p:xfrm>
          <a:off x="96" y="448902"/>
          <a:ext cx="12191808" cy="6105063"/>
        </p:xfrm>
        <a:graphic>
          <a:graphicData uri="http://schemas.openxmlformats.org/drawingml/2006/table">
            <a:tbl>
              <a:tblPr firstRow="1" firstCol="1" bandRow="1"/>
              <a:tblGrid>
                <a:gridCol w="525096">
                  <a:extLst>
                    <a:ext uri="{9D8B030D-6E8A-4147-A177-3AD203B41FA5}">
                      <a16:colId xmlns:a16="http://schemas.microsoft.com/office/drawing/2014/main" val="4064670632"/>
                    </a:ext>
                  </a:extLst>
                </a:gridCol>
                <a:gridCol w="945176">
                  <a:extLst>
                    <a:ext uri="{9D8B030D-6E8A-4147-A177-3AD203B41FA5}">
                      <a16:colId xmlns:a16="http://schemas.microsoft.com/office/drawing/2014/main" val="1243734148"/>
                    </a:ext>
                  </a:extLst>
                </a:gridCol>
                <a:gridCol w="10721536">
                  <a:extLst>
                    <a:ext uri="{9D8B030D-6E8A-4147-A177-3AD203B41FA5}">
                      <a16:colId xmlns:a16="http://schemas.microsoft.com/office/drawing/2014/main" val="4065517960"/>
                    </a:ext>
                  </a:extLst>
                </a:gridCol>
              </a:tblGrid>
              <a:tr h="3185250">
                <a:tc>
                  <a:txBody>
                    <a:bodyPr/>
                    <a:lstStyle/>
                    <a:p>
                      <a:pPr algn="just"/>
                      <a:r>
                        <a:rPr lang="zh-CN" sz="1700" kern="100">
                          <a:effectLst/>
                          <a:latin typeface="Times New Roman" panose="02020603050405020304" pitchFamily="18" charset="0"/>
                          <a:ea typeface="宋体" panose="02010600030101010101" pitchFamily="2" charset="-122"/>
                          <a:cs typeface="Times New Roman" panose="02020603050405020304" pitchFamily="18" charset="0"/>
                        </a:rPr>
                        <a:t>市场营销创新</a:t>
                      </a:r>
                    </a:p>
                  </a:txBody>
                  <a:tcPr marL="27627" marR="2762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r>
                        <a:rPr lang="zh-CN" sz="1700" kern="100">
                          <a:effectLst/>
                          <a:latin typeface="Times New Roman" panose="02020603050405020304" pitchFamily="18" charset="0"/>
                          <a:ea typeface="宋体" panose="02010600030101010101" pitchFamily="2" charset="-122"/>
                          <a:cs typeface="Times New Roman" panose="02020603050405020304" pitchFamily="18" charset="0"/>
                        </a:rPr>
                        <a:t>基于</a:t>
                      </a:r>
                      <a:r>
                        <a:rPr lang="en-US" sz="1700" kern="100">
                          <a:effectLst/>
                          <a:latin typeface="Times New Roman" panose="02020603050405020304" pitchFamily="18" charset="0"/>
                          <a:ea typeface="宋体" panose="02010600030101010101" pitchFamily="2" charset="-122"/>
                          <a:cs typeface="Times New Roman" panose="02020603050405020304" pitchFamily="18" charset="0"/>
                        </a:rPr>
                        <a:t>GenAI</a:t>
                      </a:r>
                      <a:r>
                        <a:rPr lang="zh-CN" sz="1700" kern="100">
                          <a:effectLst/>
                          <a:latin typeface="Times New Roman" panose="02020603050405020304" pitchFamily="18" charset="0"/>
                          <a:ea typeface="宋体" panose="02010600030101010101" pitchFamily="2" charset="-122"/>
                          <a:cs typeface="Times New Roman" panose="02020603050405020304" pitchFamily="18" charset="0"/>
                        </a:rPr>
                        <a:t>的营销创新（</a:t>
                      </a:r>
                      <a:r>
                        <a:rPr lang="en-US" sz="1700" kern="100">
                          <a:effectLst/>
                          <a:latin typeface="Times New Roman" panose="02020603050405020304" pitchFamily="18" charset="0"/>
                          <a:ea typeface="宋体" panose="02010600030101010101" pitchFamily="2" charset="-122"/>
                          <a:cs typeface="Times New Roman" panose="02020603050405020304" pitchFamily="18" charset="0"/>
                        </a:rPr>
                        <a:t>GenAIMarI</a:t>
                      </a:r>
                      <a:r>
                        <a:rPr lang="zh-CN" sz="1700" kern="100">
                          <a:effectLst/>
                          <a:latin typeface="Times New Roman" panose="02020603050405020304" pitchFamily="18" charset="0"/>
                          <a:ea typeface="宋体" panose="02010600030101010101" pitchFamily="2" charset="-122"/>
                          <a:cs typeface="Times New Roman" panose="02020603050405020304" pitchFamily="18" charset="0"/>
                        </a:rPr>
                        <a:t>）：使用</a:t>
                      </a:r>
                      <a:r>
                        <a:rPr lang="en-US" sz="1700" kern="100">
                          <a:effectLst/>
                          <a:latin typeface="Times New Roman" panose="02020603050405020304" pitchFamily="18" charset="0"/>
                          <a:ea typeface="宋体" panose="02010600030101010101" pitchFamily="2" charset="-122"/>
                          <a:cs typeface="Times New Roman" panose="02020603050405020304" pitchFamily="18" charset="0"/>
                        </a:rPr>
                        <a:t>GenAI</a:t>
                      </a:r>
                      <a:r>
                        <a:rPr lang="zh-CN" sz="1700" kern="100">
                          <a:effectLst/>
                          <a:latin typeface="Times New Roman" panose="02020603050405020304" pitchFamily="18" charset="0"/>
                          <a:ea typeface="宋体" panose="02010600030101010101" pitchFamily="2" charset="-122"/>
                          <a:cs typeface="Times New Roman" panose="02020603050405020304" pitchFamily="18" charset="0"/>
                        </a:rPr>
                        <a:t>优化营销活动</a:t>
                      </a:r>
                    </a:p>
                  </a:txBody>
                  <a:tcPr marL="27627" marR="2762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应用案例：深度伪造技术及自动化通信信息用于产品广告；自动化通信被用来创造个性化的客户体验并提升客户关系管理。</a:t>
                      </a:r>
                      <a:endParaRPr lang="en-US" altLang="zh-CN" sz="17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真实案例：</a:t>
                      </a:r>
                      <a:r>
                        <a:rPr lang="en-US" sz="1700" kern="100" dirty="0">
                          <a:effectLst/>
                          <a:latin typeface="Times New Roman" panose="02020603050405020304" pitchFamily="18" charset="0"/>
                          <a:ea typeface="宋体" panose="02010600030101010101" pitchFamily="2" charset="-122"/>
                          <a:cs typeface="Times New Roman" panose="02020603050405020304" pitchFamily="18" charset="0"/>
                        </a:rPr>
                        <a:t>Zalando</a:t>
                      </a:r>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利用深度伪造技术，仅基于一次视频拍摄，就为欧洲的每个城镇和乡村创建了</a:t>
                      </a:r>
                      <a:r>
                        <a:rPr lang="en-US" sz="1700" kern="100" dirty="0">
                          <a:effectLst/>
                          <a:latin typeface="Times New Roman" panose="02020603050405020304" pitchFamily="18" charset="0"/>
                          <a:ea typeface="宋体" panose="02010600030101010101" pitchFamily="2" charset="-122"/>
                          <a:cs typeface="Times New Roman" panose="02020603050405020304" pitchFamily="18" charset="0"/>
                        </a:rPr>
                        <a:t>6</a:t>
                      </a:r>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万条视频信息。随后，他们借助</a:t>
                      </a:r>
                      <a:r>
                        <a:rPr lang="en-US" sz="1700" kern="100" dirty="0">
                          <a:effectLst/>
                          <a:latin typeface="Times New Roman" panose="02020603050405020304" pitchFamily="18" charset="0"/>
                          <a:ea typeface="宋体" panose="02010600030101010101" pitchFamily="2" charset="-122"/>
                          <a:cs typeface="Times New Roman" panose="02020603050405020304" pitchFamily="18" charset="0"/>
                        </a:rPr>
                        <a:t>Facebook</a:t>
                      </a:r>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的广告定向功能，向用户展示提及他们家乡的特定视频。</a:t>
                      </a:r>
                      <a:r>
                        <a:rPr lang="en-US" sz="1700" kern="100" dirty="0">
                          <a:effectLst/>
                          <a:latin typeface="Times New Roman" panose="02020603050405020304" pitchFamily="18" charset="0"/>
                          <a:ea typeface="宋体" panose="02010600030101010101" pitchFamily="2" charset="-122"/>
                          <a:cs typeface="Times New Roman" panose="02020603050405020304" pitchFamily="18" charset="0"/>
                        </a:rPr>
                        <a:t>BCG</a:t>
                      </a:r>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运用预测性分析和机器学习为星巴克创建了实时个性化体验，使得用户互动增加了</a:t>
                      </a:r>
                      <a:r>
                        <a:rPr lang="en-US" sz="1700" kern="100" dirty="0">
                          <a:effectLst/>
                          <a:latin typeface="Times New Roman" panose="02020603050405020304" pitchFamily="18" charset="0"/>
                          <a:ea typeface="宋体" panose="02010600030101010101" pitchFamily="2" charset="-122"/>
                          <a:cs typeface="Times New Roman" panose="02020603050405020304" pitchFamily="18" charset="0"/>
                        </a:rPr>
                        <a:t>150%</a:t>
                      </a:r>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1700" kern="100" dirty="0">
                          <a:effectLst/>
                          <a:latin typeface="Times New Roman" panose="02020603050405020304" pitchFamily="18" charset="0"/>
                          <a:ea typeface="宋体" panose="02010600030101010101" pitchFamily="2" charset="-122"/>
                          <a:cs typeface="Times New Roman" panose="02020603050405020304" pitchFamily="18" charset="0"/>
                        </a:rPr>
                        <a:t>Netflix</a:t>
                      </a:r>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的推荐系统利用关于观众行为和喜好的分析来推荐电影和电视剧。对话式公司</a:t>
                      </a:r>
                      <a:r>
                        <a:rPr lang="en-US" sz="1700" kern="100" dirty="0" err="1">
                          <a:effectLst/>
                          <a:latin typeface="Times New Roman" panose="02020603050405020304" pitchFamily="18" charset="0"/>
                          <a:ea typeface="宋体" panose="02010600030101010101" pitchFamily="2" charset="-122"/>
                          <a:cs typeface="Times New Roman" panose="02020603050405020304" pitchFamily="18" charset="0"/>
                        </a:rPr>
                        <a:t>Haptik</a:t>
                      </a:r>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为公司开发销售聊天机器人，以改善其会话商务。美国圣彼得堡的达利博物馆部署了艺术家萨尔瓦多·达利的深度伪造影像来迎接客人，为访客创造更吸引人的体验。可口可乐正在使用</a:t>
                      </a:r>
                      <a:r>
                        <a:rPr lang="en-US" sz="1700" kern="100" dirty="0">
                          <a:effectLst/>
                          <a:latin typeface="Times New Roman" panose="02020603050405020304" pitchFamily="18" charset="0"/>
                          <a:ea typeface="宋体" panose="02010600030101010101" pitchFamily="2" charset="-122"/>
                          <a:cs typeface="Times New Roman" panose="02020603050405020304" pitchFamily="18" charset="0"/>
                        </a:rPr>
                        <a:t>ChatGPT</a:t>
                      </a:r>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sz="1700" kern="100" dirty="0">
                          <a:effectLst/>
                          <a:latin typeface="Times New Roman" panose="02020603050405020304" pitchFamily="18" charset="0"/>
                          <a:ea typeface="宋体" panose="02010600030101010101" pitchFamily="2" charset="-122"/>
                          <a:cs typeface="Times New Roman" panose="02020603050405020304" pitchFamily="18" charset="0"/>
                        </a:rPr>
                        <a:t>Dall-E</a:t>
                      </a:r>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来制作个性化广告文案、图片和信息。英国能源供应商</a:t>
                      </a:r>
                      <a:r>
                        <a:rPr lang="en-US" sz="1700" kern="100" dirty="0">
                          <a:effectLst/>
                          <a:latin typeface="Times New Roman" panose="02020603050405020304" pitchFamily="18" charset="0"/>
                          <a:ea typeface="宋体" panose="02010600030101010101" pitchFamily="2" charset="-122"/>
                          <a:cs typeface="Times New Roman" panose="02020603050405020304" pitchFamily="18" charset="0"/>
                        </a:rPr>
                        <a:t>Octopus Energy</a:t>
                      </a:r>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已将</a:t>
                      </a:r>
                      <a:r>
                        <a:rPr lang="en-US" sz="1700" kern="100" dirty="0">
                          <a:effectLst/>
                          <a:latin typeface="Times New Roman" panose="02020603050405020304" pitchFamily="18" charset="0"/>
                          <a:ea typeface="宋体" panose="02010600030101010101" pitchFamily="2" charset="-122"/>
                          <a:cs typeface="Times New Roman" panose="02020603050405020304" pitchFamily="18" charset="0"/>
                        </a:rPr>
                        <a:t>ChatGPT</a:t>
                      </a:r>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整合进其客户服务渠道，处理了</a:t>
                      </a:r>
                      <a:r>
                        <a:rPr lang="en-US" sz="1700" kern="100" dirty="0">
                          <a:effectLst/>
                          <a:latin typeface="Times New Roman" panose="02020603050405020304" pitchFamily="18" charset="0"/>
                          <a:ea typeface="宋体" panose="02010600030101010101" pitchFamily="2" charset="-122"/>
                          <a:cs typeface="Times New Roman" panose="02020603050405020304" pitchFamily="18" charset="0"/>
                        </a:rPr>
                        <a:t>44%</a:t>
                      </a:r>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的客户咨询。</a:t>
                      </a:r>
                    </a:p>
                    <a:p>
                      <a:pPr algn="just"/>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引言：“我深信——从骨子里相信——在营销历史上，最重要的发展是机器学习……它将从根本上改变我们与消费者的关系。”</a:t>
                      </a:r>
                    </a:p>
                    <a:p>
                      <a:pPr algn="just"/>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1700" kern="100" dirty="0">
                          <a:effectLst/>
                          <a:latin typeface="Times New Roman" panose="02020603050405020304" pitchFamily="18" charset="0"/>
                          <a:ea typeface="宋体" panose="02010600030101010101" pitchFamily="2" charset="-122"/>
                          <a:cs typeface="Times New Roman" panose="02020603050405020304" pitchFamily="18" charset="0"/>
                        </a:rPr>
                        <a:t>Kristin </a:t>
                      </a:r>
                      <a:r>
                        <a:rPr lang="en-US" sz="1700" kern="100" dirty="0" err="1">
                          <a:effectLst/>
                          <a:latin typeface="Times New Roman" panose="02020603050405020304" pitchFamily="18" charset="0"/>
                          <a:ea typeface="宋体" panose="02010600030101010101" pitchFamily="2" charset="-122"/>
                          <a:cs typeface="Times New Roman" panose="02020603050405020304" pitchFamily="18" charset="0"/>
                        </a:rPr>
                        <a:t>Lemkau</a:t>
                      </a:r>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，摩根大通首席营销官</a:t>
                      </a:r>
                    </a:p>
                  </a:txBody>
                  <a:tcPr marL="27627" marR="2762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79646858"/>
                  </a:ext>
                </a:extLst>
              </a:tr>
              <a:tr h="2919813">
                <a:tc>
                  <a:txBody>
                    <a:bodyPr/>
                    <a:lstStyle/>
                    <a:p>
                      <a:pPr algn="just"/>
                      <a:r>
                        <a:rPr lang="zh-CN" sz="1700" kern="100">
                          <a:effectLst/>
                          <a:latin typeface="Times New Roman" panose="02020603050405020304" pitchFamily="18" charset="0"/>
                          <a:ea typeface="宋体" panose="02010600030101010101" pitchFamily="2" charset="-122"/>
                          <a:cs typeface="Times New Roman" panose="02020603050405020304" pitchFamily="18" charset="0"/>
                        </a:rPr>
                        <a:t>组织创新</a:t>
                      </a:r>
                    </a:p>
                  </a:txBody>
                  <a:tcPr marL="27627" marR="2762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r>
                        <a:rPr lang="en-US" sz="1700" kern="100">
                          <a:effectLst/>
                          <a:latin typeface="Times New Roman" panose="02020603050405020304" pitchFamily="18" charset="0"/>
                          <a:ea typeface="宋体" panose="02010600030101010101" pitchFamily="2" charset="-122"/>
                          <a:cs typeface="Times New Roman" panose="02020603050405020304" pitchFamily="18" charset="0"/>
                        </a:rPr>
                        <a:t>GenAI</a:t>
                      </a:r>
                      <a:r>
                        <a:rPr lang="zh-CN" sz="1700" kern="100">
                          <a:effectLst/>
                          <a:latin typeface="Times New Roman" panose="02020603050405020304" pitchFamily="18" charset="0"/>
                          <a:ea typeface="宋体" panose="02010600030101010101" pitchFamily="2" charset="-122"/>
                          <a:cs typeface="Times New Roman" panose="02020603050405020304" pitchFamily="18" charset="0"/>
                        </a:rPr>
                        <a:t>支持的组织创新（</a:t>
                      </a:r>
                      <a:r>
                        <a:rPr lang="en-US" sz="1700" kern="100">
                          <a:effectLst/>
                          <a:latin typeface="Times New Roman" panose="02020603050405020304" pitchFamily="18" charset="0"/>
                          <a:ea typeface="宋体" panose="02010600030101010101" pitchFamily="2" charset="-122"/>
                          <a:cs typeface="Times New Roman" panose="02020603050405020304" pitchFamily="18" charset="0"/>
                        </a:rPr>
                        <a:t>GenAIOrgI</a:t>
                      </a:r>
                      <a:r>
                        <a:rPr lang="zh-CN" sz="1700" kern="100">
                          <a:effectLst/>
                          <a:latin typeface="Times New Roman" panose="02020603050405020304" pitchFamily="18" charset="0"/>
                          <a:ea typeface="宋体" panose="02010600030101010101" pitchFamily="2" charset="-122"/>
                          <a:cs typeface="Times New Roman" panose="02020603050405020304" pitchFamily="18" charset="0"/>
                        </a:rPr>
                        <a:t>）：利用</a:t>
                      </a:r>
                      <a:r>
                        <a:rPr lang="en-US" sz="1700" kern="100">
                          <a:effectLst/>
                          <a:latin typeface="Times New Roman" panose="02020603050405020304" pitchFamily="18" charset="0"/>
                          <a:ea typeface="宋体" panose="02010600030101010101" pitchFamily="2" charset="-122"/>
                          <a:cs typeface="Times New Roman" panose="02020603050405020304" pitchFamily="18" charset="0"/>
                        </a:rPr>
                        <a:t>GenAI</a:t>
                      </a:r>
                      <a:r>
                        <a:rPr lang="zh-CN" sz="1700" kern="100">
                          <a:effectLst/>
                          <a:latin typeface="Times New Roman" panose="02020603050405020304" pitchFamily="18" charset="0"/>
                          <a:ea typeface="宋体" panose="02010600030101010101" pitchFamily="2" charset="-122"/>
                          <a:cs typeface="Times New Roman" panose="02020603050405020304" pitchFamily="18" charset="0"/>
                        </a:rPr>
                        <a:t>改进组织特性</a:t>
                      </a:r>
                    </a:p>
                  </a:txBody>
                  <a:tcPr marL="27627" marR="2762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应用场景：支持人力资源招聘活动的算法；支持正在进行数字化转型的组织设计与重组的算法；用于增强与同事间沟通的算法。</a:t>
                      </a:r>
                      <a:endParaRPr lang="en-US" altLang="zh-CN" sz="17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真实案例：</a:t>
                      </a:r>
                      <a:r>
                        <a:rPr lang="en-US" sz="1700" kern="100" dirty="0">
                          <a:effectLst/>
                          <a:latin typeface="Times New Roman" panose="02020603050405020304" pitchFamily="18" charset="0"/>
                          <a:ea typeface="宋体" panose="02010600030101010101" pitchFamily="2" charset="-122"/>
                          <a:cs typeface="Times New Roman" panose="02020603050405020304" pitchFamily="18" charset="0"/>
                        </a:rPr>
                        <a:t>Paradox AI</a:t>
                      </a:r>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算法</a:t>
                      </a:r>
                      <a:r>
                        <a:rPr lang="en-US" sz="17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奥利维亚</a:t>
                      </a:r>
                      <a:r>
                        <a:rPr lang="en-US" sz="17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1700" kern="100" dirty="0">
                          <a:effectLst/>
                          <a:latin typeface="Times New Roman" panose="02020603050405020304" pitchFamily="18" charset="0"/>
                          <a:ea typeface="宋体" panose="02010600030101010101" pitchFamily="2" charset="-122"/>
                          <a:cs typeface="Times New Roman" panose="02020603050405020304" pitchFamily="18" charset="0"/>
                        </a:rPr>
                        <a:t>Olivia</a:t>
                      </a:r>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）在人力资源招聘过程中帮助筛选候选人，甚至回答他们的问题。荷兰饮料巨头喜力</a:t>
                      </a:r>
                      <a:r>
                        <a:rPr lang="en-US" sz="1700" kern="100" dirty="0">
                          <a:effectLst/>
                          <a:latin typeface="Times New Roman" panose="02020603050405020304" pitchFamily="18" charset="0"/>
                          <a:ea typeface="宋体" panose="02010600030101010101" pitchFamily="2" charset="-122"/>
                          <a:cs typeface="Times New Roman" panose="02020603050405020304" pitchFamily="18" charset="0"/>
                        </a:rPr>
                        <a:t>(Heineken)</a:t>
                      </a:r>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在其</a:t>
                      </a:r>
                      <a:r>
                        <a:rPr lang="en-US" sz="1700" kern="100" dirty="0">
                          <a:effectLst/>
                          <a:latin typeface="Times New Roman" panose="02020603050405020304" pitchFamily="18" charset="0"/>
                          <a:ea typeface="宋体" panose="02010600030101010101" pitchFamily="2" charset="-122"/>
                          <a:cs typeface="Times New Roman" panose="02020603050405020304" pitchFamily="18" charset="0"/>
                        </a:rPr>
                        <a:t>IT</a:t>
                      </a:r>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部门开始了敏捷转型，企业领导层与其他部门、外部供应商以及公司员工工作委员会紧密合作。协作工作平台</a:t>
                      </a:r>
                      <a:r>
                        <a:rPr lang="en-US" sz="1700" kern="100" dirty="0">
                          <a:effectLst/>
                          <a:latin typeface="Times New Roman" panose="02020603050405020304" pitchFamily="18" charset="0"/>
                          <a:ea typeface="宋体" panose="02010600030101010101" pitchFamily="2" charset="-122"/>
                          <a:cs typeface="Times New Roman" panose="02020603050405020304" pitchFamily="18" charset="0"/>
                        </a:rPr>
                        <a:t>Slack</a:t>
                      </a:r>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创建了一个应用程序，使用户能够利用</a:t>
                      </a:r>
                      <a:r>
                        <a:rPr lang="en-US" sz="1700" kern="100" dirty="0">
                          <a:effectLst/>
                          <a:latin typeface="Times New Roman" panose="02020603050405020304" pitchFamily="18" charset="0"/>
                          <a:ea typeface="宋体" panose="02010600030101010101" pitchFamily="2" charset="-122"/>
                          <a:cs typeface="Times New Roman" panose="02020603050405020304" pitchFamily="18" charset="0"/>
                        </a:rPr>
                        <a:t>ChatGPT</a:t>
                      </a:r>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来帮助管理 工作流程、提高生产力及与同事沟通。</a:t>
                      </a:r>
                      <a:r>
                        <a:rPr lang="en-US" sz="1700" kern="100" dirty="0" err="1">
                          <a:effectLst/>
                          <a:latin typeface="Times New Roman" panose="02020603050405020304" pitchFamily="18" charset="0"/>
                          <a:ea typeface="宋体" panose="02010600030101010101" pitchFamily="2" charset="-122"/>
                          <a:cs typeface="Times New Roman" panose="02020603050405020304" pitchFamily="18" charset="0"/>
                        </a:rPr>
                        <a:t>HireVue</a:t>
                      </a:r>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是最受欢迎的人工智能驱动招聘平台，在联合利华、沃达丰、普华永道和甲骨文等</a:t>
                      </a:r>
                      <a:r>
                        <a:rPr lang="en-US" sz="1700" kern="100" dirty="0">
                          <a:effectLst/>
                          <a:latin typeface="Times New Roman" panose="02020603050405020304" pitchFamily="18" charset="0"/>
                          <a:ea typeface="宋体" panose="02010600030101010101" pitchFamily="2" charset="-122"/>
                          <a:cs typeface="Times New Roman" panose="02020603050405020304" pitchFamily="18" charset="0"/>
                        </a:rPr>
                        <a:t>700</a:t>
                      </a:r>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多家大型公司中部署。该平台能有效缩短招聘时间</a:t>
                      </a:r>
                      <a:r>
                        <a:rPr lang="en-US" sz="1700" kern="100" dirty="0">
                          <a:effectLst/>
                          <a:latin typeface="Times New Roman" panose="02020603050405020304" pitchFamily="18" charset="0"/>
                          <a:ea typeface="宋体" panose="02010600030101010101" pitchFamily="2" charset="-122"/>
                          <a:cs typeface="Times New Roman" panose="02020603050405020304" pitchFamily="18" charset="0"/>
                        </a:rPr>
                        <a:t>90%</a:t>
                      </a:r>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，并将招聘多样性提高了</a:t>
                      </a:r>
                      <a:r>
                        <a:rPr lang="en-US" sz="1700" kern="100" dirty="0">
                          <a:effectLst/>
                          <a:latin typeface="Times New Roman" panose="02020603050405020304" pitchFamily="18" charset="0"/>
                          <a:ea typeface="宋体" panose="02010600030101010101" pitchFamily="2" charset="-122"/>
                          <a:cs typeface="Times New Roman" panose="02020603050405020304" pitchFamily="18" charset="0"/>
                        </a:rPr>
                        <a:t>16%</a:t>
                      </a:r>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7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引用</a:t>
                      </a:r>
                      <a:r>
                        <a:rPr lang="en-US" sz="17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评论：</a:t>
                      </a:r>
                      <a:r>
                        <a:rPr lang="en-US" sz="1700" kern="100" dirty="0">
                          <a:effectLst/>
                          <a:latin typeface="Times New Roman" panose="02020603050405020304" pitchFamily="18" charset="0"/>
                          <a:ea typeface="宋体" panose="02010600030101010101" pitchFamily="2" charset="-122"/>
                          <a:cs typeface="Times New Roman" panose="02020603050405020304" pitchFamily="18" charset="0"/>
                        </a:rPr>
                        <a:t>“IBM</a:t>
                      </a:r>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已经为招聘目的开发了自己的聊天机器人。他们的经理评论说，</a:t>
                      </a:r>
                      <a:r>
                        <a:rPr lang="en-US" sz="17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它是</a:t>
                      </a:r>
                      <a:r>
                        <a:rPr lang="en-US" sz="1700" kern="100" dirty="0">
                          <a:effectLst/>
                          <a:latin typeface="Times New Roman" panose="02020603050405020304" pitchFamily="18" charset="0"/>
                          <a:ea typeface="宋体" panose="02010600030101010101" pitchFamily="2" charset="-122"/>
                          <a:cs typeface="Times New Roman" panose="02020603050405020304" pitchFamily="18" charset="0"/>
                        </a:rPr>
                        <a:t>IBM</a:t>
                      </a:r>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最忙碌的聊天机器人之一，每天回答</a:t>
                      </a:r>
                      <a:r>
                        <a:rPr lang="en-US" sz="1700" kern="100" dirty="0">
                          <a:effectLst/>
                          <a:latin typeface="Times New Roman" panose="02020603050405020304" pitchFamily="18" charset="0"/>
                          <a:ea typeface="宋体" panose="02010600030101010101" pitchFamily="2" charset="-122"/>
                          <a:cs typeface="Times New Roman" panose="02020603050405020304" pitchFamily="18" charset="0"/>
                        </a:rPr>
                        <a:t>700</a:t>
                      </a:r>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个问题。新员工聊天机器人尤其有用，因为它们解决了不知道向谁求助的问题。</a:t>
                      </a:r>
                      <a:r>
                        <a:rPr lang="en-US" sz="1700" kern="100" dirty="0">
                          <a:effectLst/>
                          <a:latin typeface="Times New Roman" panose="02020603050405020304" pitchFamily="18" charset="0"/>
                          <a:ea typeface="宋体" panose="02010600030101010101" pitchFamily="2" charset="-122"/>
                          <a:cs typeface="Times New Roman" panose="02020603050405020304" pitchFamily="18" charset="0"/>
                        </a:rPr>
                        <a:t>IBM</a:t>
                      </a:r>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使用聊天机器人的目标是快速准确地为员工提供答案，同时减少支持</a:t>
                      </a:r>
                      <a:r>
                        <a:rPr lang="en-US" sz="1700" kern="100" dirty="0">
                          <a:effectLst/>
                          <a:latin typeface="Times New Roman" panose="02020603050405020304" pitchFamily="18" charset="0"/>
                          <a:ea typeface="宋体" panose="02010600030101010101" pitchFamily="2" charset="-122"/>
                          <a:cs typeface="Times New Roman" panose="02020603050405020304" pitchFamily="18" charset="0"/>
                        </a:rPr>
                        <a:t>HR</a:t>
                      </a:r>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项目所需的努力。节省下来的时间可以用于专家回答有关</a:t>
                      </a:r>
                      <a:r>
                        <a:rPr lang="en-US" sz="1700" kern="100" dirty="0">
                          <a:effectLst/>
                          <a:latin typeface="Times New Roman" panose="02020603050405020304" pitchFamily="18" charset="0"/>
                          <a:ea typeface="宋体" panose="02010600030101010101" pitchFamily="2" charset="-122"/>
                          <a:cs typeface="Times New Roman" panose="02020603050405020304" pitchFamily="18" charset="0"/>
                        </a:rPr>
                        <a:t>HR</a:t>
                      </a:r>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问题更复杂的问题和难题</a:t>
                      </a:r>
                      <a:r>
                        <a:rPr lang="en-US" sz="17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17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sz="17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27627" marR="2762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5527785"/>
                  </a:ext>
                </a:extLst>
              </a:tr>
            </a:tbl>
          </a:graphicData>
        </a:graphic>
      </p:graphicFrame>
    </p:spTree>
    <p:extLst>
      <p:ext uri="{BB962C8B-B14F-4D97-AF65-F5344CB8AC3E}">
        <p14:creationId xmlns:p14="http://schemas.microsoft.com/office/powerpoint/2010/main" val="1815331328"/>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73FD1A-EEF0-1FE1-71F3-5C6BD58E9B35}"/>
              </a:ext>
            </a:extLst>
          </p:cNvPr>
          <p:cNvSpPr>
            <a:spLocks noGrp="1"/>
          </p:cNvSpPr>
          <p:nvPr>
            <p:ph type="title"/>
          </p:nvPr>
        </p:nvSpPr>
        <p:spPr>
          <a:xfrm>
            <a:off x="1522459" y="355048"/>
            <a:ext cx="3571696" cy="824787"/>
          </a:xfrm>
        </p:spPr>
        <p:txBody>
          <a:bodyPr>
            <a:normAutofit/>
          </a:bodyPr>
          <a:lstStyle/>
          <a:p>
            <a:r>
              <a:rPr lang="zh-CN" altLang="en-US" dirty="0"/>
              <a:t>主要共识：</a:t>
            </a:r>
          </a:p>
        </p:txBody>
      </p:sp>
      <p:sp>
        <p:nvSpPr>
          <p:cNvPr id="3" name="内容占位符 2">
            <a:extLst>
              <a:ext uri="{FF2B5EF4-FFF2-40B4-BE49-F238E27FC236}">
                <a16:creationId xmlns:a16="http://schemas.microsoft.com/office/drawing/2014/main" id="{E37BCEEC-10B2-A8BD-9C7A-9ED812C40F50}"/>
              </a:ext>
            </a:extLst>
          </p:cNvPr>
          <p:cNvSpPr>
            <a:spLocks noGrp="1"/>
          </p:cNvSpPr>
          <p:nvPr>
            <p:ph idx="1"/>
          </p:nvPr>
        </p:nvSpPr>
        <p:spPr>
          <a:xfrm>
            <a:off x="663690" y="1327188"/>
            <a:ext cx="11388441" cy="5289233"/>
          </a:xfrm>
        </p:spPr>
        <p:txBody>
          <a:bodyPr>
            <a:normAutofit/>
          </a:bodyPr>
          <a:lstStyle/>
          <a:p>
            <a:r>
              <a:rPr lang="zh-CN" altLang="en-US" sz="2395" dirty="0"/>
              <a:t>人机共存时代，</a:t>
            </a:r>
            <a:r>
              <a:rPr lang="en-US" altLang="zh-CN" sz="2395" dirty="0"/>
              <a:t>HI</a:t>
            </a:r>
            <a:r>
              <a:rPr lang="zh-CN" altLang="en-US" sz="2395" dirty="0"/>
              <a:t>与</a:t>
            </a:r>
            <a:r>
              <a:rPr lang="en-US" altLang="zh-CN" sz="2395" dirty="0"/>
              <a:t>AI</a:t>
            </a:r>
            <a:r>
              <a:rPr lang="zh-CN" altLang="en-US" sz="2395" dirty="0"/>
              <a:t>的交互决策</a:t>
            </a:r>
            <a:endParaRPr lang="en-US" altLang="zh-CN" sz="2395" dirty="0"/>
          </a:p>
          <a:p>
            <a:pPr lvl="1"/>
            <a:r>
              <a:rPr lang="zh-CN" altLang="en-US" sz="2177" dirty="0"/>
              <a:t>（吴小龙 等</a:t>
            </a:r>
            <a:r>
              <a:rPr lang="en-US" altLang="zh-CN" sz="2177" dirty="0"/>
              <a:t>, 2022</a:t>
            </a:r>
            <a:r>
              <a:rPr lang="zh-CN" altLang="en-US" sz="2177" dirty="0"/>
              <a:t>）（吴小龙 等</a:t>
            </a:r>
            <a:r>
              <a:rPr lang="en-US" altLang="zh-CN" sz="2177" dirty="0"/>
              <a:t>, 2023</a:t>
            </a:r>
            <a:r>
              <a:rPr lang="zh-CN" altLang="en-US" sz="2177" dirty="0"/>
              <a:t>）（邹波 等</a:t>
            </a:r>
            <a:r>
              <a:rPr lang="en-US" altLang="zh-CN" sz="2177" dirty="0"/>
              <a:t>, 2023</a:t>
            </a:r>
            <a:r>
              <a:rPr lang="zh-CN" altLang="en-US" sz="2177" dirty="0"/>
              <a:t>）（</a:t>
            </a:r>
            <a:r>
              <a:rPr lang="en-US" altLang="zh-CN" sz="2177" dirty="0"/>
              <a:t>Choudhary et al., 2023</a:t>
            </a:r>
            <a:r>
              <a:rPr lang="zh-CN" altLang="en-US" sz="2177" dirty="0"/>
              <a:t>）（</a:t>
            </a:r>
            <a:r>
              <a:rPr lang="en-US" altLang="zh-CN" sz="2177" dirty="0" err="1">
                <a:solidFill>
                  <a:srgbClr val="FF0000"/>
                </a:solidFill>
              </a:rPr>
              <a:t>Raisch</a:t>
            </a:r>
            <a:r>
              <a:rPr lang="en-US" altLang="zh-CN" sz="2177" dirty="0">
                <a:solidFill>
                  <a:srgbClr val="FF0000"/>
                </a:solidFill>
              </a:rPr>
              <a:t> et al., 2024</a:t>
            </a:r>
            <a:r>
              <a:rPr lang="zh-CN" altLang="en-US" sz="2177" dirty="0"/>
              <a:t>）</a:t>
            </a:r>
            <a:endParaRPr lang="en-US" altLang="zh-CN" sz="2177" dirty="0"/>
          </a:p>
          <a:p>
            <a:pPr lvl="1"/>
            <a:endParaRPr lang="en-US" altLang="zh-CN" sz="2177" dirty="0"/>
          </a:p>
          <a:p>
            <a:r>
              <a:rPr lang="zh-CN" altLang="en-US" sz="2395" dirty="0"/>
              <a:t>大量的</a:t>
            </a:r>
            <a:r>
              <a:rPr lang="en-US" altLang="zh-CN" sz="2395" dirty="0"/>
              <a:t>TOE</a:t>
            </a:r>
            <a:r>
              <a:rPr lang="zh-CN" altLang="en-US" sz="2395" dirty="0"/>
              <a:t>模型采用来进行实证研究，</a:t>
            </a:r>
            <a:r>
              <a:rPr lang="en-US" altLang="zh-CN" sz="2395" dirty="0"/>
              <a:t>Key methodologies in the literature:</a:t>
            </a:r>
          </a:p>
          <a:p>
            <a:pPr lvl="1"/>
            <a:r>
              <a:rPr lang="en-US" altLang="zh-CN" sz="2177" dirty="0"/>
              <a:t>Case Study, Structural Equation Modeling, </a:t>
            </a:r>
          </a:p>
          <a:p>
            <a:pPr lvl="1"/>
            <a:r>
              <a:rPr lang="en-US" altLang="zh-CN" sz="2177" dirty="0"/>
              <a:t>Logistic Regression/Regression/Correlation, </a:t>
            </a:r>
          </a:p>
          <a:p>
            <a:pPr lvl="1"/>
            <a:r>
              <a:rPr lang="en-US" altLang="zh-CN" sz="2177" dirty="0"/>
              <a:t>Machine Learning, Text Analysis/Mining, </a:t>
            </a:r>
          </a:p>
          <a:p>
            <a:pPr lvl="1"/>
            <a:r>
              <a:rPr lang="en-US" altLang="zh-CN" sz="2177" dirty="0"/>
              <a:t>Neural Network Analysis (</a:t>
            </a:r>
            <a:r>
              <a:rPr lang="en-US" altLang="zh-CN" sz="2177" dirty="0" err="1"/>
              <a:t>Bahoo</a:t>
            </a:r>
            <a:r>
              <a:rPr lang="en-US" altLang="zh-CN" sz="2177" dirty="0"/>
              <a:t> </a:t>
            </a:r>
            <a:r>
              <a:rPr lang="zh-CN" altLang="en-US" sz="2177" dirty="0"/>
              <a:t>等</a:t>
            </a:r>
            <a:r>
              <a:rPr lang="en-US" altLang="zh-CN" sz="2177" dirty="0"/>
              <a:t>, 2023, p. 28)</a:t>
            </a:r>
          </a:p>
          <a:p>
            <a:r>
              <a:rPr lang="zh-CN" altLang="en-US" sz="2395" dirty="0"/>
              <a:t>有趣的点：</a:t>
            </a:r>
            <a:endParaRPr lang="en-US" altLang="zh-CN" sz="2395" dirty="0"/>
          </a:p>
          <a:p>
            <a:pPr lvl="1"/>
            <a:r>
              <a:rPr lang="en-US" altLang="zh-CN" sz="2177" dirty="0"/>
              <a:t>We should neither try to ban ChatGPT nor embrace the technology indiscriminately</a:t>
            </a:r>
            <a:r>
              <a:rPr lang="zh-CN" altLang="en-US" sz="2177" dirty="0"/>
              <a:t>（</a:t>
            </a:r>
            <a:r>
              <a:rPr lang="en-US" altLang="zh-CN" sz="2177" dirty="0"/>
              <a:t>Dwivedi et al., 2023</a:t>
            </a:r>
            <a:r>
              <a:rPr lang="zh-CN" altLang="en-US" sz="2177" dirty="0"/>
              <a:t>）</a:t>
            </a:r>
            <a:r>
              <a:rPr lang="en-US" altLang="zh-CN" sz="2177" dirty="0"/>
              <a:t>.</a:t>
            </a:r>
          </a:p>
          <a:p>
            <a:pPr lvl="1"/>
            <a:r>
              <a:rPr lang="zh-CN" altLang="en-US" sz="2177" dirty="0"/>
              <a:t>人工智能的能动性的提升不一定增加人类对它的信任</a:t>
            </a:r>
            <a:endParaRPr lang="en-US" altLang="zh-CN" sz="2177" dirty="0"/>
          </a:p>
          <a:p>
            <a:pPr lvl="1"/>
            <a:r>
              <a:rPr lang="zh-CN" altLang="en-US" sz="2177" dirty="0"/>
              <a:t>数字化依然是关键</a:t>
            </a:r>
            <a:endParaRPr lang="en-US" altLang="zh-CN" sz="2177" dirty="0"/>
          </a:p>
          <a:p>
            <a:endParaRPr lang="zh-CN" altLang="en-US" sz="2395" dirty="0"/>
          </a:p>
        </p:txBody>
      </p:sp>
    </p:spTree>
    <p:extLst>
      <p:ext uri="{BB962C8B-B14F-4D97-AF65-F5344CB8AC3E}">
        <p14:creationId xmlns:p14="http://schemas.microsoft.com/office/powerpoint/2010/main" val="1931907734"/>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BCB8FC73-5304-93BF-3771-5E0F8F439D04}"/>
              </a:ext>
            </a:extLst>
          </p:cNvPr>
          <p:cNvPicPr>
            <a:picLocks noChangeAspect="1"/>
          </p:cNvPicPr>
          <p:nvPr/>
        </p:nvPicPr>
        <p:blipFill>
          <a:blip r:embed="rId2"/>
          <a:stretch>
            <a:fillRect/>
          </a:stretch>
        </p:blipFill>
        <p:spPr>
          <a:xfrm>
            <a:off x="458756" y="12968"/>
            <a:ext cx="7621570" cy="6845033"/>
          </a:xfrm>
          <a:prstGeom prst="rect">
            <a:avLst/>
          </a:prstGeom>
        </p:spPr>
      </p:pic>
      <p:sp>
        <p:nvSpPr>
          <p:cNvPr id="3" name="文本框 2">
            <a:extLst>
              <a:ext uri="{FF2B5EF4-FFF2-40B4-BE49-F238E27FC236}">
                <a16:creationId xmlns:a16="http://schemas.microsoft.com/office/drawing/2014/main" id="{7533522E-15B1-E3AB-74C4-1E33EB35601F}"/>
              </a:ext>
            </a:extLst>
          </p:cNvPr>
          <p:cNvSpPr txBox="1"/>
          <p:nvPr/>
        </p:nvSpPr>
        <p:spPr>
          <a:xfrm>
            <a:off x="9107160" y="1922755"/>
            <a:ext cx="1780229" cy="3344890"/>
          </a:xfrm>
          <a:prstGeom prst="rect">
            <a:avLst/>
          </a:prstGeom>
          <a:noFill/>
        </p:spPr>
        <p:txBody>
          <a:bodyPr wrap="square">
            <a:spAutoFit/>
          </a:bodyPr>
          <a:lstStyle/>
          <a:p>
            <a:r>
              <a:rPr lang="en-US" altLang="zh-CN" sz="1626" dirty="0" err="1"/>
              <a:t>Raisch</a:t>
            </a:r>
            <a:r>
              <a:rPr lang="en-US" altLang="zh-CN" sz="1626" dirty="0"/>
              <a:t> S, Fomina K, 2024. Combining human and artificial intelligence: hybrid problem-solving in organizations[J]. Academy of Management Review: amr.2021.0421.</a:t>
            </a:r>
            <a:endParaRPr lang="zh-CN" altLang="en-US" sz="1626" dirty="0"/>
          </a:p>
        </p:txBody>
      </p:sp>
    </p:spTree>
    <p:extLst>
      <p:ext uri="{BB962C8B-B14F-4D97-AF65-F5344CB8AC3E}">
        <p14:creationId xmlns:p14="http://schemas.microsoft.com/office/powerpoint/2010/main" val="1484676216"/>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实操六：智能翻译（</a:t>
            </a:r>
            <a:r>
              <a:rPr lang="en-US" altLang="zh-CN" dirty="0"/>
              <a:t> Zotero PDF </a:t>
            </a:r>
            <a:r>
              <a:rPr lang="en-US" altLang="zh-CN" dirty="0" err="1"/>
              <a:t>Tranlate</a:t>
            </a:r>
            <a:r>
              <a:rPr lang="en-US" altLang="zh-CN" dirty="0"/>
              <a:t> </a:t>
            </a:r>
            <a:r>
              <a:rPr lang="zh-CN" altLang="en-US" dirty="0"/>
              <a:t>）</a:t>
            </a:r>
          </a:p>
        </p:txBody>
      </p:sp>
      <p:sp>
        <p:nvSpPr>
          <p:cNvPr id="3" name="内容占位符 2"/>
          <p:cNvSpPr>
            <a:spLocks noGrp="1"/>
          </p:cNvSpPr>
          <p:nvPr>
            <p:ph idx="1"/>
          </p:nvPr>
        </p:nvSpPr>
        <p:spPr/>
        <p:txBody>
          <a:bodyPr>
            <a:normAutofit/>
          </a:bodyPr>
          <a:lstStyle/>
          <a:p>
            <a:r>
              <a:rPr lang="zh-CN" altLang="en-US" dirty="0">
                <a:hlinkClick r:id="rId2"/>
              </a:rPr>
              <a:t>解决谷歌翻译不能用的方法 </a:t>
            </a:r>
            <a:r>
              <a:rPr lang="en-US" altLang="zh-CN" dirty="0">
                <a:hlinkClick r:id="rId2"/>
              </a:rPr>
              <a:t>- </a:t>
            </a:r>
            <a:r>
              <a:rPr lang="zh-CN" altLang="en-US" dirty="0">
                <a:hlinkClick r:id="rId2"/>
              </a:rPr>
              <a:t>知乎 </a:t>
            </a:r>
            <a:r>
              <a:rPr lang="en-US" altLang="zh-CN" dirty="0">
                <a:hlinkClick r:id="rId2"/>
              </a:rPr>
              <a:t>(zhihu.com)</a:t>
            </a:r>
            <a:endParaRPr lang="en-US" altLang="zh-CN" dirty="0"/>
          </a:p>
          <a:p>
            <a:pPr marL="0" indent="0">
              <a:buNone/>
            </a:pPr>
            <a:endParaRPr lang="en-US" altLang="zh-CN" dirty="0"/>
          </a:p>
          <a:p>
            <a:r>
              <a:rPr lang="en-US" altLang="zh-CN" dirty="0">
                <a:hlinkClick r:id="rId3"/>
              </a:rPr>
              <a:t>Zotero PDF Translate: </a:t>
            </a:r>
            <a:r>
              <a:rPr lang="zh-CN" altLang="en-US" dirty="0">
                <a:hlinkClick r:id="rId3"/>
              </a:rPr>
              <a:t>划词翻译与标题、摘要、批注翻译 </a:t>
            </a:r>
            <a:r>
              <a:rPr lang="en-US" altLang="zh-CN" dirty="0">
                <a:hlinkClick r:id="rId3"/>
              </a:rPr>
              <a:t>(yuque.com)</a:t>
            </a:r>
            <a:endParaRPr lang="en-US" altLang="zh-CN" dirty="0"/>
          </a:p>
          <a:p>
            <a:endParaRPr lang="en-US" altLang="zh-CN" dirty="0"/>
          </a:p>
          <a:p>
            <a:r>
              <a:rPr lang="zh-CN" altLang="en-US" dirty="0">
                <a:hlinkClick r:id="rId4"/>
              </a:rPr>
              <a:t>多个地点</a:t>
            </a:r>
            <a:r>
              <a:rPr lang="en-US" altLang="zh-CN" dirty="0">
                <a:hlinkClick r:id="rId4"/>
              </a:rPr>
              <a:t>ping[translate.google.cn]</a:t>
            </a:r>
            <a:r>
              <a:rPr lang="zh-CN" altLang="en-US" dirty="0">
                <a:hlinkClick r:id="rId4"/>
              </a:rPr>
              <a:t>服务器</a:t>
            </a:r>
            <a:r>
              <a:rPr lang="en-US" altLang="zh-CN" dirty="0">
                <a:hlinkClick r:id="rId4"/>
              </a:rPr>
              <a:t>-</a:t>
            </a:r>
            <a:r>
              <a:rPr lang="zh-CN" altLang="en-US" dirty="0">
                <a:hlinkClick r:id="rId4"/>
              </a:rPr>
              <a:t>网站测速</a:t>
            </a:r>
            <a:r>
              <a:rPr lang="en-US" altLang="zh-CN" dirty="0">
                <a:hlinkClick r:id="rId4"/>
              </a:rPr>
              <a:t>-</a:t>
            </a:r>
            <a:r>
              <a:rPr lang="zh-CN" altLang="en-US" dirty="0">
                <a:hlinkClick r:id="rId4"/>
              </a:rPr>
              <a:t>站长工具 </a:t>
            </a:r>
            <a:r>
              <a:rPr lang="en-US" altLang="zh-CN" dirty="0">
                <a:hlinkClick r:id="rId4"/>
              </a:rPr>
              <a:t>(chinaz.com)</a:t>
            </a:r>
            <a:endParaRPr lang="en-US" altLang="zh-CN" dirty="0"/>
          </a:p>
          <a:p>
            <a:endParaRPr lang="en-US" altLang="zh-CN" dirty="0"/>
          </a:p>
          <a:p>
            <a:r>
              <a:rPr lang="en-US" altLang="zh-CN" dirty="0">
                <a:hlinkClick r:id="rId5"/>
              </a:rPr>
              <a:t>https://github.com/GoodCoder666/GoogleTranslate_IPFinder</a:t>
            </a:r>
            <a:endParaRPr lang="en-US" altLang="zh-CN"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365049" y="0"/>
            <a:ext cx="11461902" cy="6858000"/>
          </a:xfrm>
          <a:prstGeom prst="rect">
            <a:avLst/>
          </a:prstGeom>
        </p:spPr>
      </p:pic>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阅读</a:t>
            </a:r>
            <a:r>
              <a:rPr lang="zh-CN" altLang="en-US"/>
              <a:t>基础：智能翻译</a:t>
            </a:r>
            <a:endParaRPr lang="zh-CN" altLang="en-US" dirty="0"/>
          </a:p>
        </p:txBody>
      </p:sp>
      <p:sp>
        <p:nvSpPr>
          <p:cNvPr id="3" name="内容占位符 2"/>
          <p:cNvSpPr>
            <a:spLocks noGrp="1"/>
          </p:cNvSpPr>
          <p:nvPr>
            <p:ph idx="1"/>
          </p:nvPr>
        </p:nvSpPr>
        <p:spPr/>
        <p:txBody>
          <a:bodyPr/>
          <a:lstStyle/>
          <a:p>
            <a:r>
              <a:rPr lang="zh-CN" altLang="en-US" dirty="0"/>
              <a:t>快速阅读（翻阅），</a:t>
            </a:r>
            <a:r>
              <a:rPr lang="en-US" altLang="zh-CN" dirty="0"/>
              <a:t>Zotero</a:t>
            </a:r>
            <a:r>
              <a:rPr lang="zh-CN" altLang="en-US" dirty="0"/>
              <a:t>有</a:t>
            </a:r>
            <a:r>
              <a:rPr lang="en-US" altLang="zh-CN" dirty="0"/>
              <a:t>iOS</a:t>
            </a:r>
            <a:r>
              <a:rPr lang="zh-CN" altLang="en-US"/>
              <a:t>版，手机方便</a:t>
            </a:r>
            <a:endParaRPr lang="en-US" altLang="zh-CN" dirty="0"/>
          </a:p>
          <a:p>
            <a:r>
              <a:rPr lang="zh-CN" altLang="en-US" dirty="0"/>
              <a:t>全局式阅读（泛读</a:t>
            </a:r>
            <a:r>
              <a:rPr lang="en-US" altLang="zh-CN" dirty="0"/>
              <a:t>+</a:t>
            </a:r>
            <a:r>
              <a:rPr lang="zh-CN" altLang="en-US" dirty="0"/>
              <a:t>精读）</a:t>
            </a:r>
            <a:endParaRPr lang="en-US" altLang="zh-CN" dirty="0"/>
          </a:p>
          <a:p>
            <a:r>
              <a:rPr lang="zh-CN" altLang="en-US" dirty="0"/>
              <a:t>基本只看图表（快速找图</a:t>
            </a:r>
            <a:r>
              <a:rPr lang="en-US" altLang="zh-CN" dirty="0" err="1"/>
              <a:t>QuickLook</a:t>
            </a:r>
            <a:r>
              <a:rPr lang="zh-CN" altLang="en-US" dirty="0"/>
              <a:t>，需要重画</a:t>
            </a:r>
            <a:r>
              <a:rPr lang="en-US" altLang="zh-CN" dirty="0" err="1"/>
              <a:t>Excalidraw</a:t>
            </a:r>
            <a:r>
              <a:rPr lang="zh-CN" altLang="en-US" dirty="0"/>
              <a:t>）</a:t>
            </a:r>
            <a:endParaRPr lang="en-US" altLang="zh-CN" dirty="0"/>
          </a:p>
          <a:p>
            <a:r>
              <a:rPr lang="zh-CN" altLang="en-US" dirty="0"/>
              <a:t>标题与摘要用一下翻译</a:t>
            </a:r>
            <a:endParaRPr lang="en-US" altLang="zh-CN" dirty="0"/>
          </a:p>
          <a:p>
            <a:endParaRPr lang="zh-CN" altLang="en-US"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911453" y="96954"/>
            <a:ext cx="4063249" cy="6766488"/>
          </a:xfrm>
        </p:spPr>
      </p:pic>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10555" y="96954"/>
            <a:ext cx="4063250" cy="6761046"/>
          </a:xfrm>
          <a:prstGeom prst="rect">
            <a:avLst/>
          </a:prstGeom>
        </p:spPr>
      </p:pic>
      <p:sp>
        <p:nvSpPr>
          <p:cNvPr id="6" name="文本框 5"/>
          <p:cNvSpPr txBox="1"/>
          <p:nvPr/>
        </p:nvSpPr>
        <p:spPr>
          <a:xfrm>
            <a:off x="0" y="2733157"/>
            <a:ext cx="1447209" cy="1015663"/>
          </a:xfrm>
          <a:prstGeom prst="rect">
            <a:avLst/>
          </a:prstGeom>
          <a:noFill/>
        </p:spPr>
        <p:txBody>
          <a:bodyPr wrap="square" rtlCol="0">
            <a:spAutoFit/>
          </a:bodyPr>
          <a:lstStyle/>
          <a:p>
            <a:pPr algn="ctr"/>
            <a:r>
              <a:rPr lang="zh-CN" altLang="en-US" sz="3000"/>
              <a:t>移动端设置</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Kindle</a:t>
            </a:r>
            <a:r>
              <a:rPr lang="zh-CN" altLang="en-US"/>
              <a:t>精读应用</a:t>
            </a:r>
            <a:r>
              <a:rPr lang="zh-CN" altLang="en-US" dirty="0"/>
              <a:t>背景</a:t>
            </a:r>
          </a:p>
        </p:txBody>
      </p:sp>
      <p:sp>
        <p:nvSpPr>
          <p:cNvPr id="3" name="内容占位符 2"/>
          <p:cNvSpPr>
            <a:spLocks noGrp="1"/>
          </p:cNvSpPr>
          <p:nvPr>
            <p:ph idx="1"/>
          </p:nvPr>
        </p:nvSpPr>
        <p:spPr/>
        <p:txBody>
          <a:bodyPr>
            <a:normAutofit/>
          </a:bodyPr>
          <a:lstStyle/>
          <a:p>
            <a:r>
              <a:rPr lang="zh-CN" altLang="en-US" dirty="0"/>
              <a:t>开源运动（</a:t>
            </a:r>
            <a:r>
              <a:rPr lang="en-US" altLang="zh-CN" dirty="0"/>
              <a:t> Linux </a:t>
            </a:r>
            <a:r>
              <a:rPr lang="zh-CN" altLang="en-US" dirty="0"/>
              <a:t>）：</a:t>
            </a:r>
            <a:endParaRPr lang="en-US" altLang="zh-CN" dirty="0"/>
          </a:p>
          <a:p>
            <a:pPr lvl="1"/>
            <a:r>
              <a:rPr lang="zh-CN" altLang="en-US" dirty="0"/>
              <a:t>谷歌和苹果都是</a:t>
            </a:r>
            <a:r>
              <a:rPr lang="en-US" altLang="zh-CN" dirty="0"/>
              <a:t>Unix</a:t>
            </a:r>
            <a:r>
              <a:rPr lang="zh-CN" altLang="en-US" dirty="0"/>
              <a:t>操作系统受益者</a:t>
            </a:r>
            <a:endParaRPr lang="en-US" altLang="zh-CN" dirty="0"/>
          </a:p>
          <a:p>
            <a:pPr lvl="1"/>
            <a:r>
              <a:rPr lang="zh-CN" altLang="en-US" dirty="0"/>
              <a:t>谷歌采用开放体系，而苹果则封闭体系（加锁）</a:t>
            </a:r>
            <a:endParaRPr lang="en-US" altLang="zh-CN" dirty="0"/>
          </a:p>
          <a:p>
            <a:pPr lvl="1"/>
            <a:r>
              <a:rPr lang="en-US" altLang="zh-CN" dirty="0"/>
              <a:t>Amazon</a:t>
            </a:r>
            <a:r>
              <a:rPr lang="zh-CN" altLang="en-US" dirty="0"/>
              <a:t>也是苹果模式来开发硬件</a:t>
            </a:r>
            <a:endParaRPr lang="en-US" altLang="zh-CN" dirty="0"/>
          </a:p>
          <a:p>
            <a:pPr lvl="1"/>
            <a:r>
              <a:rPr lang="zh-CN" altLang="en-US" dirty="0"/>
              <a:t>微软也要拥抱</a:t>
            </a:r>
            <a:r>
              <a:rPr lang="en-US" altLang="zh-CN" dirty="0"/>
              <a:t>Linux </a:t>
            </a:r>
          </a:p>
          <a:p>
            <a:r>
              <a:rPr lang="zh-CN" altLang="en-US" dirty="0"/>
              <a:t>电子墨水屏</a:t>
            </a:r>
            <a:endParaRPr lang="en-US" altLang="zh-CN" dirty="0"/>
          </a:p>
          <a:p>
            <a:pPr lvl="1"/>
            <a:r>
              <a:rPr lang="zh-CN" altLang="en-US" dirty="0"/>
              <a:t>电子设备对眼睛伤害</a:t>
            </a:r>
            <a:endParaRPr lang="en-US" altLang="zh-CN" dirty="0"/>
          </a:p>
          <a:p>
            <a:pPr lvl="1"/>
            <a:r>
              <a:rPr lang="zh-CN" altLang="en-US" dirty="0"/>
              <a:t>老年化趋势加速</a:t>
            </a:r>
            <a:endParaRPr lang="en-US" altLang="zh-CN" dirty="0"/>
          </a:p>
          <a:p>
            <a:pPr lvl="1"/>
            <a:r>
              <a:rPr lang="zh-CN" altLang="en-US" dirty="0"/>
              <a:t>便携无纸化（</a:t>
            </a:r>
            <a:r>
              <a:rPr lang="en-US" altLang="zh-CN" dirty="0"/>
              <a:t>Sony</a:t>
            </a:r>
            <a:r>
              <a:rPr lang="zh-CN" altLang="en-US" dirty="0"/>
              <a:t>）</a:t>
            </a:r>
            <a:endParaRPr lang="en-US" altLang="zh-CN" dirty="0"/>
          </a:p>
          <a:p>
            <a:pPr lvl="1"/>
            <a:r>
              <a:rPr lang="zh-CN" altLang="en-US" dirty="0">
                <a:solidFill>
                  <a:srgbClr val="FF0000"/>
                </a:solidFill>
              </a:rPr>
              <a:t>墨案</a:t>
            </a:r>
            <a:r>
              <a:rPr lang="zh-CN" altLang="en-US" dirty="0"/>
              <a:t>（小米旗下开放系统，</a:t>
            </a:r>
            <a:r>
              <a:rPr lang="en-US" altLang="zh-CN" dirty="0" err="1"/>
              <a:t>KOReader</a:t>
            </a:r>
            <a:r>
              <a:rPr lang="zh-CN" altLang="en-US" dirty="0"/>
              <a:t>），搞不定越狱的可选择</a:t>
            </a: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设备越狱</a:t>
            </a:r>
          </a:p>
        </p:txBody>
      </p:sp>
      <p:sp>
        <p:nvSpPr>
          <p:cNvPr id="3" name="内容占位符 2"/>
          <p:cNvSpPr>
            <a:spLocks noGrp="1"/>
          </p:cNvSpPr>
          <p:nvPr>
            <p:ph idx="1"/>
          </p:nvPr>
        </p:nvSpPr>
        <p:spPr/>
        <p:txBody>
          <a:bodyPr/>
          <a:lstStyle/>
          <a:p>
            <a:r>
              <a:rPr lang="zh-CN" altLang="en-US" dirty="0"/>
              <a:t>“越狱”指的是绕过苹果在其设备上对操作系统施加的很多限制，从而可以“</a:t>
            </a:r>
            <a:r>
              <a:rPr lang="en-US" altLang="zh-CN" dirty="0"/>
              <a:t>Root</a:t>
            </a:r>
            <a:r>
              <a:rPr lang="zh-CN" altLang="en-US" dirty="0"/>
              <a:t>访问”基础的操作系统。</a:t>
            </a:r>
            <a:endParaRPr lang="en-US" altLang="zh-CN" dirty="0"/>
          </a:p>
          <a:p>
            <a:pPr lvl="1"/>
            <a:r>
              <a:rPr lang="zh-CN" altLang="en-US" dirty="0"/>
              <a:t>安卓设备也同样</a:t>
            </a:r>
            <a:endParaRPr lang="en-US" altLang="zh-CN" dirty="0"/>
          </a:p>
          <a:p>
            <a:r>
              <a:rPr lang="en-US" altLang="zh-CN" dirty="0"/>
              <a:t>Kindle</a:t>
            </a:r>
            <a:r>
              <a:rPr lang="zh-CN" altLang="en-US" dirty="0"/>
              <a:t>（精读）同样也能越狱</a:t>
            </a:r>
            <a:endParaRPr lang="en-US" altLang="zh-CN" dirty="0"/>
          </a:p>
          <a:p>
            <a:pPr lvl="1"/>
            <a:r>
              <a:rPr lang="zh-CN" altLang="en-US" dirty="0"/>
              <a:t>越狱关键可以安装开源软件</a:t>
            </a:r>
            <a:endParaRPr lang="en-US" altLang="zh-CN" dirty="0"/>
          </a:p>
          <a:p>
            <a:pPr lvl="1"/>
            <a:r>
              <a:rPr lang="zh-CN" altLang="en-US" dirty="0"/>
              <a:t>解决汉语乱码问题</a:t>
            </a:r>
            <a:endParaRPr lang="en-US" altLang="zh-CN" dirty="0"/>
          </a:p>
          <a:p>
            <a:pPr lvl="1"/>
            <a:r>
              <a:rPr lang="zh-CN" altLang="en-US" dirty="0"/>
              <a:t>标注的同步传输问题</a:t>
            </a:r>
            <a:endParaRPr lang="en-US" altLang="zh-CN" dirty="0"/>
          </a:p>
          <a:p>
            <a:pPr lvl="1"/>
            <a:r>
              <a:rPr lang="zh-CN" altLang="en-US" dirty="0"/>
              <a:t>注释最后其实不太重要了</a:t>
            </a: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KUAL</a:t>
            </a:r>
            <a:r>
              <a:rPr lang="zh-CN" altLang="en-US" dirty="0"/>
              <a:t>界面</a:t>
            </a:r>
          </a:p>
        </p:txBody>
      </p:sp>
      <p:sp>
        <p:nvSpPr>
          <p:cNvPr id="7" name="文本占位符 6"/>
          <p:cNvSpPr>
            <a:spLocks noGrp="1"/>
          </p:cNvSpPr>
          <p:nvPr>
            <p:ph type="body" idx="1"/>
          </p:nvPr>
        </p:nvSpPr>
        <p:spPr>
          <a:xfrm>
            <a:off x="836612" y="1108870"/>
            <a:ext cx="5157787" cy="823912"/>
          </a:xfrm>
        </p:spPr>
        <p:txBody>
          <a:bodyPr/>
          <a:lstStyle/>
          <a:p>
            <a:r>
              <a:rPr lang="en-US" altLang="zh-CN" dirty="0"/>
              <a:t>KUAL</a:t>
            </a:r>
            <a:r>
              <a:rPr lang="zh-CN" altLang="en-US" dirty="0"/>
              <a:t>是开发者应用程序</a:t>
            </a:r>
          </a:p>
        </p:txBody>
      </p:sp>
      <p:pic>
        <p:nvPicPr>
          <p:cNvPr id="11" name="内容占位符 10" descr="screenshot_2015_04_16T09_03_10+0759.png"/>
          <p:cNvPicPr>
            <a:picLocks noGrp="1" noChangeAspect="1"/>
          </p:cNvPicPr>
          <p:nvPr>
            <p:ph sz="half" idx="2"/>
          </p:nvPr>
        </p:nvPicPr>
        <p:blipFill>
          <a:blip r:embed="rId2"/>
          <a:stretch>
            <a:fillRect/>
          </a:stretch>
        </p:blipFill>
        <p:spPr>
          <a:xfrm>
            <a:off x="1557078" y="2174875"/>
            <a:ext cx="2924879" cy="3951288"/>
          </a:xfrm>
        </p:spPr>
      </p:pic>
      <p:sp>
        <p:nvSpPr>
          <p:cNvPr id="9" name="文本占位符 8"/>
          <p:cNvSpPr>
            <a:spLocks noGrp="1"/>
          </p:cNvSpPr>
          <p:nvPr>
            <p:ph type="body" sz="quarter" idx="3"/>
          </p:nvPr>
        </p:nvSpPr>
        <p:spPr>
          <a:xfrm>
            <a:off x="6083299" y="1124762"/>
            <a:ext cx="5183188" cy="823912"/>
          </a:xfrm>
        </p:spPr>
        <p:txBody>
          <a:bodyPr/>
          <a:lstStyle/>
          <a:p>
            <a:r>
              <a:rPr lang="zh-CN" altLang="en-US" dirty="0"/>
              <a:t>轻按进入</a:t>
            </a:r>
            <a:r>
              <a:rPr lang="en-US" altLang="zh-CN" dirty="0"/>
              <a:t>KUAL</a:t>
            </a:r>
            <a:endParaRPr lang="zh-CN" altLang="en-US" dirty="0"/>
          </a:p>
        </p:txBody>
      </p:sp>
      <p:pic>
        <p:nvPicPr>
          <p:cNvPr id="12" name="内容占位符 11" descr="screenshot_2015_04_16T09_03_03+0759.png"/>
          <p:cNvPicPr>
            <a:picLocks noGrp="1" noChangeAspect="1"/>
          </p:cNvPicPr>
          <p:nvPr>
            <p:ph sz="quarter" idx="4"/>
          </p:nvPr>
        </p:nvPicPr>
        <p:blipFill>
          <a:blip r:embed="rId3"/>
          <a:stretch>
            <a:fillRect/>
          </a:stretch>
        </p:blipFill>
        <p:spPr>
          <a:xfrm>
            <a:off x="7102860" y="2174875"/>
            <a:ext cx="2924879" cy="3951288"/>
          </a:xfrm>
        </p:spPr>
      </p:pic>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进入文件管理器</a:t>
            </a:r>
          </a:p>
        </p:txBody>
      </p:sp>
      <p:sp>
        <p:nvSpPr>
          <p:cNvPr id="8" name="文本占位符 7"/>
          <p:cNvSpPr>
            <a:spLocks noGrp="1"/>
          </p:cNvSpPr>
          <p:nvPr>
            <p:ph type="body" idx="1"/>
          </p:nvPr>
        </p:nvSpPr>
        <p:spPr>
          <a:xfrm>
            <a:off x="836612" y="1475185"/>
            <a:ext cx="5157787" cy="411956"/>
          </a:xfrm>
        </p:spPr>
        <p:txBody>
          <a:bodyPr>
            <a:normAutofit lnSpcReduction="10000"/>
          </a:bodyPr>
          <a:lstStyle/>
          <a:p>
            <a:r>
              <a:rPr lang="zh-CN" altLang="en-US" dirty="0"/>
              <a:t>管理器界面</a:t>
            </a:r>
          </a:p>
        </p:txBody>
      </p:sp>
      <p:pic>
        <p:nvPicPr>
          <p:cNvPr id="12" name="内容占位符 11" descr="screenshot_2015_04_16T09_12_15+0759.png"/>
          <p:cNvPicPr>
            <a:picLocks noGrp="1" noChangeAspect="1"/>
          </p:cNvPicPr>
          <p:nvPr>
            <p:ph sz="half" idx="2"/>
          </p:nvPr>
        </p:nvPicPr>
        <p:blipFill>
          <a:blip r:embed="rId2"/>
          <a:stretch>
            <a:fillRect/>
          </a:stretch>
        </p:blipFill>
        <p:spPr>
          <a:xfrm>
            <a:off x="1788877" y="2174875"/>
            <a:ext cx="2924879" cy="3951288"/>
          </a:xfrm>
        </p:spPr>
      </p:pic>
      <p:sp>
        <p:nvSpPr>
          <p:cNvPr id="10" name="文本占位符 9"/>
          <p:cNvSpPr>
            <a:spLocks noGrp="1"/>
          </p:cNvSpPr>
          <p:nvPr>
            <p:ph type="body" sz="quarter" idx="3"/>
          </p:nvPr>
        </p:nvSpPr>
        <p:spPr>
          <a:xfrm>
            <a:off x="6083299" y="1098472"/>
            <a:ext cx="5183188" cy="823912"/>
          </a:xfrm>
        </p:spPr>
        <p:txBody>
          <a:bodyPr>
            <a:normAutofit lnSpcReduction="10000"/>
          </a:bodyPr>
          <a:lstStyle/>
          <a:p>
            <a:r>
              <a:rPr lang="zh-CN" altLang="en-US" dirty="0"/>
              <a:t>重排后的文章式样</a:t>
            </a:r>
          </a:p>
        </p:txBody>
      </p:sp>
      <p:pic>
        <p:nvPicPr>
          <p:cNvPr id="13" name="内容占位符 12" descr="Screenshot_2015-Apr-16_091353.png"/>
          <p:cNvPicPr>
            <a:picLocks noGrp="1" noChangeAspect="1"/>
          </p:cNvPicPr>
          <p:nvPr>
            <p:ph sz="quarter" idx="4"/>
          </p:nvPr>
        </p:nvPicPr>
        <p:blipFill>
          <a:blip r:embed="rId3"/>
          <a:stretch>
            <a:fillRect/>
          </a:stretch>
        </p:blipFill>
        <p:spPr>
          <a:xfrm>
            <a:off x="6804476" y="2174875"/>
            <a:ext cx="2924879" cy="3951288"/>
          </a:xfrm>
        </p:spPr>
      </p:pic>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err="1"/>
              <a:t>KOReader</a:t>
            </a:r>
            <a:r>
              <a:rPr lang="zh-CN" altLang="en-US" dirty="0"/>
              <a:t>印象笔记功能</a:t>
            </a:r>
          </a:p>
        </p:txBody>
      </p:sp>
      <p:sp>
        <p:nvSpPr>
          <p:cNvPr id="4" name="文本占位符 3"/>
          <p:cNvSpPr>
            <a:spLocks noGrp="1"/>
          </p:cNvSpPr>
          <p:nvPr>
            <p:ph type="body" idx="1"/>
          </p:nvPr>
        </p:nvSpPr>
        <p:spPr>
          <a:xfrm>
            <a:off x="736776" y="1357330"/>
            <a:ext cx="5157787" cy="500346"/>
          </a:xfrm>
        </p:spPr>
        <p:txBody>
          <a:bodyPr/>
          <a:lstStyle/>
          <a:p>
            <a:r>
              <a:rPr lang="zh-CN" altLang="en-US" dirty="0"/>
              <a:t>印象笔记可用</a:t>
            </a:r>
          </a:p>
        </p:txBody>
      </p:sp>
      <p:pic>
        <p:nvPicPr>
          <p:cNvPr id="9" name="内容占位符 8" descr="Screenshot_2015-Apr-16_091406.png"/>
          <p:cNvPicPr>
            <a:picLocks noGrp="1" noChangeAspect="1"/>
          </p:cNvPicPr>
          <p:nvPr>
            <p:ph sz="half" idx="2"/>
          </p:nvPr>
        </p:nvPicPr>
        <p:blipFill>
          <a:blip r:embed="rId2"/>
          <a:stretch>
            <a:fillRect/>
          </a:stretch>
        </p:blipFill>
        <p:spPr>
          <a:xfrm>
            <a:off x="1662956" y="2174875"/>
            <a:ext cx="2924879" cy="3951288"/>
          </a:xfrm>
        </p:spPr>
      </p:pic>
      <p:sp>
        <p:nvSpPr>
          <p:cNvPr id="6" name="文本占位符 5"/>
          <p:cNvSpPr>
            <a:spLocks noGrp="1"/>
          </p:cNvSpPr>
          <p:nvPr>
            <p:ph type="body" sz="quarter" idx="3"/>
          </p:nvPr>
        </p:nvSpPr>
        <p:spPr>
          <a:xfrm>
            <a:off x="6096000" y="1108870"/>
            <a:ext cx="5183188" cy="823912"/>
          </a:xfrm>
        </p:spPr>
        <p:txBody>
          <a:bodyPr/>
          <a:lstStyle/>
          <a:p>
            <a:r>
              <a:rPr lang="zh-CN" altLang="en-US" dirty="0"/>
              <a:t>通过</a:t>
            </a:r>
            <a:r>
              <a:rPr lang="en-US" altLang="zh-CN" dirty="0"/>
              <a:t>WIFI</a:t>
            </a:r>
            <a:r>
              <a:rPr lang="zh-CN" altLang="en-US" dirty="0"/>
              <a:t>导出笔记</a:t>
            </a:r>
          </a:p>
        </p:txBody>
      </p:sp>
      <p:pic>
        <p:nvPicPr>
          <p:cNvPr id="10" name="内容占位符 9" descr="Screenshot_2015-Apr-16_091415.png"/>
          <p:cNvPicPr>
            <a:picLocks noGrp="1" noChangeAspect="1"/>
          </p:cNvPicPr>
          <p:nvPr>
            <p:ph sz="quarter" idx="4"/>
          </p:nvPr>
        </p:nvPicPr>
        <p:blipFill>
          <a:blip r:embed="rId3"/>
          <a:stretch>
            <a:fillRect/>
          </a:stretch>
        </p:blipFill>
        <p:spPr>
          <a:xfrm>
            <a:off x="6833351" y="2174875"/>
            <a:ext cx="2924879" cy="3951288"/>
          </a:xfrm>
        </p:spPr>
      </p:pic>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狗耳朵日报推送功能</a:t>
            </a:r>
          </a:p>
        </p:txBody>
      </p:sp>
      <p:sp>
        <p:nvSpPr>
          <p:cNvPr id="5" name="文本占位符 4"/>
          <p:cNvSpPr>
            <a:spLocks noGrp="1"/>
          </p:cNvSpPr>
          <p:nvPr>
            <p:ph type="body" idx="1"/>
          </p:nvPr>
        </p:nvSpPr>
        <p:spPr>
          <a:xfrm>
            <a:off x="776646" y="1108870"/>
            <a:ext cx="5157787" cy="823912"/>
          </a:xfrm>
        </p:spPr>
        <p:txBody>
          <a:bodyPr/>
          <a:lstStyle/>
          <a:p>
            <a:r>
              <a:rPr lang="zh-CN" altLang="en-US" dirty="0"/>
              <a:t>关注的</a:t>
            </a:r>
            <a:r>
              <a:rPr lang="en-US" altLang="zh-CN" dirty="0"/>
              <a:t>RSS</a:t>
            </a:r>
            <a:r>
              <a:rPr lang="zh-CN" altLang="en-US" dirty="0"/>
              <a:t>源</a:t>
            </a:r>
          </a:p>
        </p:txBody>
      </p:sp>
      <p:pic>
        <p:nvPicPr>
          <p:cNvPr id="9" name="内容占位符 8" descr="screenshot_2015_04_16T09_07_18+0759.png"/>
          <p:cNvPicPr>
            <a:picLocks noGrp="1" noChangeAspect="1"/>
          </p:cNvPicPr>
          <p:nvPr>
            <p:ph sz="half" idx="2"/>
          </p:nvPr>
        </p:nvPicPr>
        <p:blipFill>
          <a:blip r:embed="rId2"/>
          <a:stretch>
            <a:fillRect/>
          </a:stretch>
        </p:blipFill>
        <p:spPr>
          <a:xfrm>
            <a:off x="1422324" y="2049746"/>
            <a:ext cx="2924879" cy="3951288"/>
          </a:xfrm>
        </p:spPr>
      </p:pic>
      <p:sp>
        <p:nvSpPr>
          <p:cNvPr id="7" name="文本占位符 6"/>
          <p:cNvSpPr>
            <a:spLocks noGrp="1"/>
          </p:cNvSpPr>
          <p:nvPr>
            <p:ph type="body" sz="quarter" idx="3"/>
          </p:nvPr>
        </p:nvSpPr>
        <p:spPr>
          <a:xfrm>
            <a:off x="6096000" y="1153638"/>
            <a:ext cx="5183188" cy="823912"/>
          </a:xfrm>
        </p:spPr>
        <p:txBody>
          <a:bodyPr/>
          <a:lstStyle/>
          <a:p>
            <a:r>
              <a:rPr lang="en-US" altLang="zh-CN" dirty="0"/>
              <a:t>HBR</a:t>
            </a:r>
            <a:r>
              <a:rPr lang="zh-CN" altLang="en-US" dirty="0"/>
              <a:t>是最好的管理类外文</a:t>
            </a:r>
          </a:p>
        </p:txBody>
      </p:sp>
      <p:pic>
        <p:nvPicPr>
          <p:cNvPr id="10" name="内容占位符 9" descr="screenshot_2015_04_16T09_07_31+0759.png"/>
          <p:cNvPicPr>
            <a:picLocks noGrp="1" noChangeAspect="1"/>
          </p:cNvPicPr>
          <p:nvPr>
            <p:ph sz="quarter" idx="4"/>
          </p:nvPr>
        </p:nvPicPr>
        <p:blipFill>
          <a:blip r:embed="rId3"/>
          <a:stretch>
            <a:fillRect/>
          </a:stretch>
        </p:blipFill>
        <p:spPr>
          <a:xfrm>
            <a:off x="6382359" y="2203751"/>
            <a:ext cx="2924879" cy="3951288"/>
          </a:xfrm>
        </p:spPr>
      </p:pic>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en-US" altLang="zh-CN" dirty="0"/>
              <a:t>Kindle</a:t>
            </a:r>
            <a:r>
              <a:rPr lang="zh-CN" altLang="en-US" dirty="0"/>
              <a:t>的字典功能与标注功能</a:t>
            </a:r>
          </a:p>
        </p:txBody>
      </p:sp>
      <p:sp>
        <p:nvSpPr>
          <p:cNvPr id="8" name="文本占位符 7"/>
          <p:cNvSpPr>
            <a:spLocks noGrp="1"/>
          </p:cNvSpPr>
          <p:nvPr>
            <p:ph type="body" idx="1"/>
          </p:nvPr>
        </p:nvSpPr>
        <p:spPr>
          <a:xfrm>
            <a:off x="836612" y="1313770"/>
            <a:ext cx="5157787" cy="823912"/>
          </a:xfrm>
        </p:spPr>
        <p:txBody>
          <a:bodyPr/>
          <a:lstStyle/>
          <a:p>
            <a:r>
              <a:rPr lang="zh-CN" altLang="en-US" dirty="0"/>
              <a:t>字典功能</a:t>
            </a:r>
          </a:p>
        </p:txBody>
      </p:sp>
      <p:pic>
        <p:nvPicPr>
          <p:cNvPr id="12" name="内容占位符 11" descr="screenshot_2015_04_16T09_07_43+0759.png"/>
          <p:cNvPicPr>
            <a:picLocks noGrp="1" noChangeAspect="1"/>
          </p:cNvPicPr>
          <p:nvPr>
            <p:ph sz="half" idx="2"/>
          </p:nvPr>
        </p:nvPicPr>
        <p:blipFill>
          <a:blip r:embed="rId2"/>
          <a:stretch>
            <a:fillRect/>
          </a:stretch>
        </p:blipFill>
        <p:spPr>
          <a:xfrm>
            <a:off x="2538855" y="2174875"/>
            <a:ext cx="2924879" cy="3951288"/>
          </a:xfrm>
        </p:spPr>
      </p:pic>
      <p:sp>
        <p:nvSpPr>
          <p:cNvPr id="10" name="文本占位符 9"/>
          <p:cNvSpPr>
            <a:spLocks noGrp="1"/>
          </p:cNvSpPr>
          <p:nvPr>
            <p:ph type="body" sz="quarter" idx="3"/>
          </p:nvPr>
        </p:nvSpPr>
        <p:spPr>
          <a:xfrm>
            <a:off x="6197603" y="1350963"/>
            <a:ext cx="5183188" cy="823912"/>
          </a:xfrm>
        </p:spPr>
        <p:txBody>
          <a:bodyPr/>
          <a:lstStyle/>
          <a:p>
            <a:r>
              <a:rPr lang="zh-CN" altLang="en-US" dirty="0"/>
              <a:t>标注功能</a:t>
            </a:r>
          </a:p>
        </p:txBody>
      </p:sp>
      <p:pic>
        <p:nvPicPr>
          <p:cNvPr id="13" name="内容占位符 12" descr="screenshot_2015_04_16T09_07_58+0759.png"/>
          <p:cNvPicPr>
            <a:picLocks noGrp="1" noChangeAspect="1"/>
          </p:cNvPicPr>
          <p:nvPr>
            <p:ph sz="quarter" idx="4"/>
          </p:nvPr>
        </p:nvPicPr>
        <p:blipFill>
          <a:blip r:embed="rId3"/>
          <a:stretch>
            <a:fillRect/>
          </a:stretch>
        </p:blipFill>
        <p:spPr>
          <a:xfrm>
            <a:off x="6727474" y="2174875"/>
            <a:ext cx="2924879" cy="3951288"/>
          </a:xfrm>
        </p:spPr>
      </p:pic>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i="0" dirty="0">
                <a:solidFill>
                  <a:srgbClr val="222226"/>
                </a:solidFill>
                <a:effectLst/>
                <a:latin typeface="PingFang SC" charset="-122"/>
              </a:rPr>
              <a:t>修改</a:t>
            </a:r>
            <a:r>
              <a:rPr lang="en-US" altLang="zh-CN" i="0" dirty="0">
                <a:solidFill>
                  <a:srgbClr val="222226"/>
                </a:solidFill>
                <a:effectLst/>
                <a:latin typeface="PingFang SC" charset="-122"/>
              </a:rPr>
              <a:t>hosts</a:t>
            </a:r>
            <a:r>
              <a:rPr lang="zh-CN" altLang="en-US" i="0" dirty="0">
                <a:solidFill>
                  <a:srgbClr val="222226"/>
                </a:solidFill>
                <a:effectLst/>
                <a:latin typeface="PingFang SC" charset="-122"/>
              </a:rPr>
              <a:t>文件</a:t>
            </a:r>
            <a:r>
              <a:rPr lang="en-US" altLang="zh-CN" i="0" dirty="0">
                <a:solidFill>
                  <a:srgbClr val="222226"/>
                </a:solidFill>
                <a:effectLst/>
                <a:latin typeface="PingFang SC" charset="-122"/>
              </a:rPr>
              <a:t>——</a:t>
            </a:r>
            <a:r>
              <a:rPr lang="zh-CN" altLang="en-US" i="0" dirty="0">
                <a:solidFill>
                  <a:srgbClr val="222226"/>
                </a:solidFill>
                <a:effectLst/>
                <a:latin typeface="PingFang SC" charset="-122"/>
              </a:rPr>
              <a:t>智能翻译</a:t>
            </a:r>
            <a:endParaRPr lang="zh-CN" altLang="en-US" dirty="0"/>
          </a:p>
        </p:txBody>
      </p:sp>
      <p:sp>
        <p:nvSpPr>
          <p:cNvPr id="3" name="内容占位符 2"/>
          <p:cNvSpPr>
            <a:spLocks noGrp="1"/>
          </p:cNvSpPr>
          <p:nvPr>
            <p:ph idx="1"/>
          </p:nvPr>
        </p:nvSpPr>
        <p:spPr/>
        <p:txBody>
          <a:bodyPr/>
          <a:lstStyle/>
          <a:p>
            <a:r>
              <a:rPr lang="en-US" altLang="zh-CN" dirty="0"/>
              <a:t>【Windows PowerShell】</a:t>
            </a:r>
            <a:r>
              <a:rPr lang="zh-CN" altLang="en-US" dirty="0"/>
              <a:t>右键，选择以管理员身份运行（终端）</a:t>
            </a:r>
            <a:endParaRPr lang="en-US" altLang="zh-CN" dirty="0"/>
          </a:p>
          <a:p>
            <a:r>
              <a:rPr lang="en-US" altLang="zh-CN" dirty="0">
                <a:solidFill>
                  <a:srgbClr val="FF0000"/>
                </a:solidFill>
              </a:rPr>
              <a:t>【</a:t>
            </a:r>
            <a:r>
              <a:rPr lang="zh-CN" altLang="en-US" dirty="0">
                <a:solidFill>
                  <a:srgbClr val="FF0000"/>
                </a:solidFill>
              </a:rPr>
              <a:t>命令提示符</a:t>
            </a:r>
            <a:r>
              <a:rPr lang="en-US" altLang="zh-CN" dirty="0">
                <a:solidFill>
                  <a:srgbClr val="FF0000"/>
                </a:solidFill>
              </a:rPr>
              <a:t>】</a:t>
            </a:r>
            <a:r>
              <a:rPr lang="zh-CN" altLang="en-US" dirty="0"/>
              <a:t>右键，选择以管理员身份运行</a:t>
            </a:r>
            <a:endParaRPr lang="en-US" altLang="zh-CN" dirty="0"/>
          </a:p>
          <a:p>
            <a:pPr lvl="1"/>
            <a:r>
              <a:rPr lang="en-US" altLang="zh-CN" dirty="0"/>
              <a:t>notepad C:\Windows\System32\drivers\etc\hosts</a:t>
            </a:r>
          </a:p>
          <a:p>
            <a:pPr lvl="1"/>
            <a:endParaRPr lang="en-US" altLang="zh-CN" dirty="0"/>
          </a:p>
          <a:p>
            <a:r>
              <a:rPr lang="zh-CN" altLang="en-US" dirty="0"/>
              <a:t>换页时要使用拼接模式</a:t>
            </a:r>
            <a:endParaRPr lang="en-US" altLang="zh-CN" dirty="0"/>
          </a:p>
          <a:p>
            <a:endParaRPr lang="en-US" altLang="zh-CN" dirty="0"/>
          </a:p>
          <a:p>
            <a:r>
              <a:rPr lang="en-US" altLang="zh-CN" dirty="0">
                <a:hlinkClick r:id="rId2"/>
              </a:rPr>
              <a:t>github.com</a:t>
            </a:r>
            <a:endParaRPr lang="zh-CN" altLang="en-US"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i="0" dirty="0">
                <a:effectLst/>
                <a:latin typeface="UICTFontTextStyleBody"/>
              </a:rPr>
              <a:t>解决谷歌翻译问题</a:t>
            </a:r>
            <a:endParaRPr lang="zh-CN" altLang="en-US" dirty="0"/>
          </a:p>
        </p:txBody>
      </p:sp>
      <p:sp>
        <p:nvSpPr>
          <p:cNvPr id="3" name="内容占位符 2"/>
          <p:cNvSpPr>
            <a:spLocks noGrp="1"/>
          </p:cNvSpPr>
          <p:nvPr>
            <p:ph idx="1"/>
          </p:nvPr>
        </p:nvSpPr>
        <p:spPr/>
        <p:txBody>
          <a:bodyPr>
            <a:normAutofit fontScale="85000" lnSpcReduction="20000"/>
          </a:bodyPr>
          <a:lstStyle/>
          <a:p>
            <a:r>
              <a:rPr lang="zh-CN" altLang="en-US" b="0" i="0" dirty="0">
                <a:effectLst/>
                <a:latin typeface="UICTFontTextStyleBody"/>
              </a:rPr>
              <a:t>解决方法其实也很简单，只需要通过 </a:t>
            </a:r>
            <a:r>
              <a:rPr lang="en-US" altLang="zh-CN" b="0" i="0" dirty="0">
                <a:effectLst/>
                <a:latin typeface="UICTFontTextStyleBody"/>
              </a:rPr>
              <a:t>hosts </a:t>
            </a:r>
            <a:r>
              <a:rPr lang="zh-CN" altLang="en-US" b="0" i="0" dirty="0">
                <a:effectLst/>
                <a:latin typeface="UICTFontTextStyleBody"/>
              </a:rPr>
              <a:t>把谷歌翻译的 </a:t>
            </a:r>
            <a:r>
              <a:rPr lang="en-US" altLang="zh-CN" b="0" i="0" dirty="0">
                <a:effectLst/>
                <a:latin typeface="UICTFontTextStyleBody"/>
              </a:rPr>
              <a:t>API </a:t>
            </a:r>
            <a:r>
              <a:rPr lang="zh-CN" altLang="en-US" b="0" i="0" dirty="0">
                <a:effectLst/>
                <a:latin typeface="UICTFontTextStyleBody"/>
              </a:rPr>
              <a:t>指向国内可用服务器地址即可。</a:t>
            </a:r>
            <a:endParaRPr lang="zh-CN" altLang="en-US" dirty="0">
              <a:effectLst/>
              <a:latin typeface=".AppleSystemUIFont"/>
            </a:endParaRPr>
          </a:p>
          <a:p>
            <a:pPr lvl="1"/>
            <a:r>
              <a:rPr lang="en-US" altLang="zh-CN" b="0" i="0" dirty="0">
                <a:effectLst/>
                <a:latin typeface="UICTFontTextStyleBody"/>
              </a:rPr>
              <a:t>Step 1</a:t>
            </a:r>
            <a:r>
              <a:rPr lang="zh-CN" altLang="en-US" b="0" i="0" dirty="0">
                <a:effectLst/>
                <a:latin typeface="UICTFontTextStyleBody"/>
              </a:rPr>
              <a:t>：查找可用服务器地址</a:t>
            </a:r>
            <a:br>
              <a:rPr lang="zh-CN" altLang="en-US" dirty="0">
                <a:effectLst/>
                <a:latin typeface=".AppleSystemUIFont"/>
              </a:rPr>
            </a:br>
            <a:endParaRPr lang="zh-CN" altLang="en-US" dirty="0">
              <a:effectLst/>
              <a:latin typeface=".AppleSystemUIFont"/>
            </a:endParaRPr>
          </a:p>
          <a:p>
            <a:pPr lvl="1"/>
            <a:r>
              <a:rPr lang="en-US" altLang="zh-CN" b="0" i="0" dirty="0">
                <a:effectLst/>
                <a:latin typeface="UICTFontTextStyleBody"/>
              </a:rPr>
              <a:t>Step 2</a:t>
            </a:r>
            <a:r>
              <a:rPr lang="zh-CN" altLang="en-US" b="0" i="0" dirty="0">
                <a:effectLst/>
                <a:latin typeface="UICTFontTextStyleBody"/>
              </a:rPr>
              <a:t>：修改 </a:t>
            </a:r>
            <a:r>
              <a:rPr lang="en-US" altLang="zh-CN" b="0" i="0" dirty="0">
                <a:effectLst/>
                <a:latin typeface="UICTFontTextStyleBody"/>
              </a:rPr>
              <a:t>hosts </a:t>
            </a:r>
            <a:r>
              <a:rPr lang="zh-CN" altLang="en-US" b="0" i="0" dirty="0">
                <a:effectLst/>
                <a:latin typeface="UICTFontTextStyleBody"/>
              </a:rPr>
              <a:t>文档</a:t>
            </a:r>
            <a:endParaRPr lang="zh-CN" altLang="en-US" dirty="0">
              <a:effectLst/>
              <a:latin typeface=".AppleSystemUIFont"/>
            </a:endParaRPr>
          </a:p>
          <a:p>
            <a:pPr lvl="2"/>
            <a:r>
              <a:rPr lang="en-US" altLang="zh-CN" b="0" i="0" dirty="0">
                <a:effectLst/>
                <a:latin typeface="UICTFontTextStyleBody"/>
              </a:rPr>
              <a:t>hosts </a:t>
            </a:r>
            <a:r>
              <a:rPr lang="zh-CN" altLang="en-US" b="0" i="0" dirty="0">
                <a:effectLst/>
                <a:latin typeface="UICTFontTextStyleBody"/>
              </a:rPr>
              <a:t>文档地址：</a:t>
            </a:r>
            <a:endParaRPr lang="zh-CN" altLang="en-US" dirty="0">
              <a:effectLst/>
              <a:latin typeface=".AppleSystemUIFont"/>
            </a:endParaRPr>
          </a:p>
          <a:p>
            <a:pPr lvl="2"/>
            <a:r>
              <a:rPr lang="en-US" altLang="zh-CN" b="0" i="0" dirty="0">
                <a:effectLst/>
                <a:latin typeface="UICTFontTextStyleBody"/>
              </a:rPr>
              <a:t>Windows</a:t>
            </a:r>
            <a:r>
              <a:rPr lang="zh-CN" altLang="en-US" b="0" i="0" dirty="0">
                <a:effectLst/>
                <a:latin typeface="UICTFontTextStyleBody"/>
              </a:rPr>
              <a:t>：</a:t>
            </a:r>
            <a:r>
              <a:rPr lang="en-US" altLang="zh-CN" b="0" i="0" dirty="0">
                <a:effectLst/>
                <a:latin typeface="UICTFontTextStyleBody"/>
              </a:rPr>
              <a:t>C:\Windows\System32\drivers\etc</a:t>
            </a:r>
            <a:endParaRPr lang="en-US" altLang="zh-CN" dirty="0">
              <a:effectLst/>
              <a:latin typeface=".AppleSystemUIFont"/>
            </a:endParaRPr>
          </a:p>
          <a:p>
            <a:pPr lvl="2"/>
            <a:r>
              <a:rPr lang="en-US" altLang="zh-CN" b="0" i="0" dirty="0">
                <a:effectLst/>
                <a:latin typeface="UICTFontTextStyleBody"/>
              </a:rPr>
              <a:t>Mac</a:t>
            </a:r>
            <a:r>
              <a:rPr lang="zh-CN" altLang="en-US" b="0" i="0" dirty="0">
                <a:effectLst/>
                <a:latin typeface="UICTFontTextStyleBody"/>
              </a:rPr>
              <a:t>：</a:t>
            </a:r>
            <a:r>
              <a:rPr lang="en-US" altLang="zh-CN" b="0" i="0" dirty="0">
                <a:effectLst/>
                <a:latin typeface="UICTFontTextStyleBody"/>
              </a:rPr>
              <a:t>/etc</a:t>
            </a:r>
            <a:endParaRPr lang="en-US" altLang="zh-CN" dirty="0">
              <a:effectLst/>
              <a:latin typeface=".AppleSystemUIFont"/>
            </a:endParaRPr>
          </a:p>
          <a:p>
            <a:pPr lvl="2"/>
            <a:r>
              <a:rPr lang="en-US" altLang="zh-CN" b="0" i="0" dirty="0">
                <a:effectLst/>
                <a:latin typeface="UICTFontTextStyleBody"/>
              </a:rPr>
              <a:t>Linux</a:t>
            </a:r>
            <a:r>
              <a:rPr lang="zh-CN" altLang="en-US" b="0" i="0" dirty="0">
                <a:effectLst/>
                <a:latin typeface="UICTFontTextStyleBody"/>
              </a:rPr>
              <a:t>：</a:t>
            </a:r>
            <a:r>
              <a:rPr lang="en-US" altLang="zh-CN" b="0" i="0" dirty="0">
                <a:effectLst/>
                <a:latin typeface="UICTFontTextStyleBody"/>
              </a:rPr>
              <a:t>/etc</a:t>
            </a:r>
            <a:br>
              <a:rPr lang="en-US" altLang="zh-CN" dirty="0">
                <a:effectLst/>
                <a:latin typeface=".AppleSystemUIFont"/>
              </a:rPr>
            </a:br>
            <a:endParaRPr lang="en-US" altLang="zh-CN" dirty="0">
              <a:effectLst/>
              <a:latin typeface=".AppleSystemUIFont"/>
            </a:endParaRPr>
          </a:p>
          <a:p>
            <a:pPr lvl="2"/>
            <a:r>
              <a:rPr lang="zh-CN" altLang="en-US" b="0" i="0" dirty="0">
                <a:effectLst/>
                <a:latin typeface="UICTFontTextStyleBody"/>
              </a:rPr>
              <a:t>以 </a:t>
            </a:r>
            <a:r>
              <a:rPr lang="en-US" altLang="zh-CN" b="0" i="0" dirty="0">
                <a:effectLst/>
                <a:latin typeface="UICTFontTextStyleBody"/>
              </a:rPr>
              <a:t>Windows </a:t>
            </a:r>
            <a:r>
              <a:rPr lang="zh-CN" altLang="en-US" b="0" i="0" dirty="0">
                <a:effectLst/>
                <a:latin typeface="UICTFontTextStyleBody"/>
              </a:rPr>
              <a:t>为例，按上面路径找到 </a:t>
            </a:r>
            <a:r>
              <a:rPr lang="en-US" altLang="zh-CN" b="0" i="0" dirty="0">
                <a:effectLst/>
                <a:latin typeface="UICTFontTextStyleBody"/>
              </a:rPr>
              <a:t>hosts </a:t>
            </a:r>
            <a:r>
              <a:rPr lang="zh-CN" altLang="en-US" b="0" i="0" dirty="0">
                <a:effectLst/>
                <a:latin typeface="UICTFontTextStyleBody"/>
              </a:rPr>
              <a:t>文档，复制到桌面，右键 → 打开方式 → 使用记事本打开。</a:t>
            </a:r>
            <a:endParaRPr lang="zh-CN" altLang="en-US" dirty="0">
              <a:effectLst/>
              <a:latin typeface=".AppleSystemUIFont"/>
            </a:endParaRPr>
          </a:p>
          <a:p>
            <a:r>
              <a:rPr lang="zh-CN" altLang="en-US" b="0" i="0" dirty="0">
                <a:effectLst/>
                <a:latin typeface="UICTFontTextStyleBody"/>
              </a:rPr>
              <a:t>在最末尾添加如下文本，保存。</a:t>
            </a:r>
            <a:endParaRPr lang="zh-CN" altLang="en-US" dirty="0">
              <a:effectLst/>
              <a:latin typeface=".AppleSystemUIFont"/>
            </a:endParaRPr>
          </a:p>
          <a:p>
            <a:pPr lvl="2"/>
            <a:r>
              <a:rPr lang="en-US" altLang="zh-CN" b="0" i="0" dirty="0">
                <a:solidFill>
                  <a:srgbClr val="262626"/>
                </a:solidFill>
                <a:effectLst/>
                <a:latin typeface="-apple-system"/>
              </a:rPr>
              <a:t>108.177.97.100 </a:t>
            </a:r>
            <a:r>
              <a:rPr lang="en-US" altLang="zh-CN" b="0" i="0" dirty="0">
                <a:effectLst/>
                <a:latin typeface="UICTFontTextStyleBody"/>
              </a:rPr>
              <a:t>translate.googleapis.com</a:t>
            </a:r>
            <a:br>
              <a:rPr lang="en-US" altLang="zh-CN" dirty="0">
                <a:effectLst/>
                <a:latin typeface=".AppleSystemUIFont"/>
              </a:rPr>
            </a:br>
            <a:endParaRPr lang="en-US" altLang="zh-CN" dirty="0">
              <a:effectLst/>
              <a:latin typeface=".AppleSystemUIFont"/>
            </a:endParaRPr>
          </a:p>
          <a:p>
            <a:pPr lvl="1"/>
            <a:r>
              <a:rPr lang="en-US" altLang="zh-CN" b="0" i="0" dirty="0">
                <a:effectLst/>
                <a:latin typeface="UICTFontTextStyleBody"/>
              </a:rPr>
              <a:t>Step 3</a:t>
            </a:r>
            <a:r>
              <a:rPr lang="zh-CN" altLang="en-US" b="0" i="0" dirty="0">
                <a:effectLst/>
                <a:latin typeface="UICTFontTextStyleBody"/>
              </a:rPr>
              <a:t>：刷新 </a:t>
            </a:r>
            <a:r>
              <a:rPr lang="en-US" altLang="zh-CN" b="0" i="0" dirty="0">
                <a:effectLst/>
                <a:latin typeface="UICTFontTextStyleBody"/>
              </a:rPr>
              <a:t>DNS </a:t>
            </a:r>
            <a:r>
              <a:rPr lang="zh-CN" altLang="en-US" b="0" i="0" dirty="0">
                <a:effectLst/>
                <a:latin typeface="UICTFontTextStyleBody"/>
              </a:rPr>
              <a:t>生效</a:t>
            </a:r>
            <a:endParaRPr lang="zh-CN" altLang="en-US" dirty="0">
              <a:effectLst/>
              <a:latin typeface=".AppleSystemUIFont"/>
            </a:endParaRPr>
          </a:p>
          <a:p>
            <a:pPr lvl="2"/>
            <a:r>
              <a:rPr lang="zh-CN" altLang="en-US" b="0" i="0" dirty="0">
                <a:effectLst/>
                <a:latin typeface="UICTFontTextStyleBody"/>
              </a:rPr>
              <a:t>同样打开 </a:t>
            </a:r>
            <a:r>
              <a:rPr lang="en-US" altLang="zh-CN" b="0" i="0" dirty="0">
                <a:effectLst/>
                <a:latin typeface="UICTFontTextStyleBody"/>
              </a:rPr>
              <a:t>cmd</a:t>
            </a:r>
            <a:r>
              <a:rPr lang="zh-CN" altLang="en-US" b="0" i="0" dirty="0">
                <a:effectLst/>
                <a:latin typeface="UICTFontTextStyleBody"/>
              </a:rPr>
              <a:t>，输入 </a:t>
            </a:r>
            <a:r>
              <a:rPr lang="en-US" altLang="zh-CN" b="0" i="0" dirty="0" err="1">
                <a:effectLst/>
                <a:latin typeface="UICTFontTextStyleBody"/>
              </a:rPr>
              <a:t>ipconfig</a:t>
            </a:r>
            <a:r>
              <a:rPr lang="en-US" altLang="zh-CN" b="0" i="0" dirty="0">
                <a:effectLst/>
                <a:latin typeface="UICTFontTextStyleBody"/>
              </a:rPr>
              <a:t> /</a:t>
            </a:r>
            <a:r>
              <a:rPr lang="en-US" altLang="zh-CN" b="0" i="0" dirty="0" err="1">
                <a:effectLst/>
                <a:latin typeface="UICTFontTextStyleBody"/>
              </a:rPr>
              <a:t>flushdns</a:t>
            </a:r>
            <a:r>
              <a:rPr lang="en-US" altLang="zh-CN" b="0" i="0" dirty="0">
                <a:effectLst/>
                <a:latin typeface="UICTFontTextStyleBody"/>
              </a:rPr>
              <a:t> </a:t>
            </a:r>
            <a:r>
              <a:rPr lang="zh-CN" altLang="en-US" b="0" i="0" dirty="0">
                <a:effectLst/>
                <a:latin typeface="UICTFontTextStyleBody"/>
              </a:rPr>
              <a:t>回车，刷新 </a:t>
            </a:r>
            <a:r>
              <a:rPr lang="en-US" altLang="zh-CN" b="0" i="0" dirty="0">
                <a:effectLst/>
                <a:latin typeface="UICTFontTextStyleBody"/>
              </a:rPr>
              <a:t>DNS</a:t>
            </a:r>
            <a:r>
              <a:rPr lang="zh-CN" altLang="en-US" b="0" i="0" dirty="0">
                <a:effectLst/>
                <a:latin typeface="UICTFontTextStyleBody"/>
              </a:rPr>
              <a:t>，重启浏览器。</a:t>
            </a:r>
            <a:endParaRPr lang="zh-CN" altLang="en-US" dirty="0">
              <a:effectLst/>
              <a:latin typeface=".AppleSystemUIFont"/>
            </a:endParaRP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Mac</a:t>
            </a:r>
            <a:r>
              <a:rPr lang="zh-CN" altLang="en-US" dirty="0"/>
              <a:t>修改</a:t>
            </a:r>
            <a:r>
              <a:rPr lang="en-US" altLang="zh-CN" dirty="0"/>
              <a:t>hosts</a:t>
            </a:r>
            <a:r>
              <a:rPr lang="zh-CN" altLang="en-US" dirty="0"/>
              <a:t>文档</a:t>
            </a:r>
          </a:p>
        </p:txBody>
      </p:sp>
      <p:sp>
        <p:nvSpPr>
          <p:cNvPr id="3" name="内容占位符 2"/>
          <p:cNvSpPr>
            <a:spLocks noGrp="1"/>
          </p:cNvSpPr>
          <p:nvPr>
            <p:ph idx="1"/>
          </p:nvPr>
        </p:nvSpPr>
        <p:spPr/>
        <p:txBody>
          <a:bodyPr>
            <a:normAutofit/>
          </a:bodyPr>
          <a:lstStyle/>
          <a:p>
            <a:pPr algn="l"/>
            <a:r>
              <a:rPr lang="zh-CN" altLang="en-US" b="0" i="0" dirty="0">
                <a:solidFill>
                  <a:srgbClr val="262626"/>
                </a:solidFill>
                <a:effectLst/>
                <a:latin typeface="-apple-system"/>
              </a:rPr>
              <a:t>简捷方法：将</a:t>
            </a:r>
            <a:r>
              <a:rPr lang="en-US" altLang="zh-CN" b="0" i="0" dirty="0">
                <a:solidFill>
                  <a:srgbClr val="262626"/>
                </a:solidFill>
                <a:effectLst/>
                <a:latin typeface="-apple-system"/>
              </a:rPr>
              <a:t>/</a:t>
            </a:r>
            <a:r>
              <a:rPr lang="en-US" altLang="zh-CN" b="0" i="0" dirty="0" err="1">
                <a:solidFill>
                  <a:srgbClr val="262626"/>
                </a:solidFill>
                <a:effectLst/>
                <a:latin typeface="-apple-system"/>
              </a:rPr>
              <a:t>etc</a:t>
            </a:r>
            <a:r>
              <a:rPr lang="en-US" altLang="zh-CN" b="0" i="0" dirty="0">
                <a:solidFill>
                  <a:srgbClr val="262626"/>
                </a:solidFill>
                <a:effectLst/>
                <a:latin typeface="-apple-system"/>
              </a:rPr>
              <a:t>/hosts</a:t>
            </a:r>
            <a:r>
              <a:rPr lang="zh-CN" altLang="en-US" b="0" i="0" dirty="0">
                <a:solidFill>
                  <a:srgbClr val="262626"/>
                </a:solidFill>
                <a:effectLst/>
                <a:latin typeface="-apple-system"/>
              </a:rPr>
              <a:t>都改为读和写</a:t>
            </a:r>
            <a:endParaRPr lang="en-US" altLang="zh-CN" b="0" i="0" dirty="0">
              <a:solidFill>
                <a:srgbClr val="262626"/>
              </a:solidFill>
              <a:effectLst/>
              <a:latin typeface="-apple-system"/>
            </a:endParaRPr>
          </a:p>
          <a:p>
            <a:pPr algn="l"/>
            <a:r>
              <a:rPr lang="zh-CN" altLang="en-US" b="0" i="0" dirty="0">
                <a:solidFill>
                  <a:srgbClr val="262626"/>
                </a:solidFill>
                <a:effectLst/>
                <a:latin typeface="-apple-system"/>
              </a:rPr>
              <a:t>需输入管理员密码。</a:t>
            </a:r>
            <a:br>
              <a:rPr lang="zh-CN" altLang="en-US" b="0" i="0" dirty="0">
                <a:solidFill>
                  <a:srgbClr val="262626"/>
                </a:solidFill>
                <a:effectLst/>
                <a:latin typeface="-apple-system"/>
              </a:rPr>
            </a:br>
            <a:br>
              <a:rPr lang="zh-CN" altLang="en-US" b="0" i="0" dirty="0">
                <a:solidFill>
                  <a:srgbClr val="262626"/>
                </a:solidFill>
                <a:effectLst/>
                <a:latin typeface="-apple-system"/>
              </a:rPr>
            </a:br>
            <a:r>
              <a:rPr lang="zh-CN" altLang="en-US" b="0" i="0" dirty="0">
                <a:solidFill>
                  <a:srgbClr val="262626"/>
                </a:solidFill>
                <a:effectLst/>
                <a:latin typeface="-apple-system"/>
              </a:rPr>
              <a:t>在</a:t>
            </a:r>
            <a:r>
              <a:rPr lang="en-US" altLang="zh-CN" b="0" i="0" dirty="0">
                <a:solidFill>
                  <a:srgbClr val="262626"/>
                </a:solidFill>
                <a:effectLst/>
                <a:latin typeface="-apple-system"/>
              </a:rPr>
              <a:t>hosts</a:t>
            </a:r>
            <a:r>
              <a:rPr lang="zh-CN" altLang="en-US" dirty="0">
                <a:solidFill>
                  <a:srgbClr val="262626"/>
                </a:solidFill>
                <a:latin typeface="-apple-system"/>
              </a:rPr>
              <a:t>中加入</a:t>
            </a:r>
            <a:r>
              <a:rPr lang="zh-CN" altLang="en-US" b="0" i="0" dirty="0">
                <a:solidFill>
                  <a:srgbClr val="262626"/>
                </a:solidFill>
                <a:effectLst/>
                <a:latin typeface="-apple-system"/>
              </a:rPr>
              <a:t>：</a:t>
            </a:r>
            <a:r>
              <a:rPr lang="en-US" altLang="zh-CN" b="0" i="0" dirty="0">
                <a:solidFill>
                  <a:srgbClr val="262626"/>
                </a:solidFill>
                <a:effectLst/>
                <a:latin typeface="-apple-system"/>
              </a:rPr>
              <a:t> </a:t>
            </a:r>
          </a:p>
          <a:p>
            <a:pPr marL="0" indent="0" algn="l">
              <a:buNone/>
            </a:pPr>
            <a:r>
              <a:rPr lang="en-US" altLang="zh-CN" dirty="0">
                <a:solidFill>
                  <a:srgbClr val="262626"/>
                </a:solidFill>
                <a:latin typeface="-apple-system"/>
              </a:rPr>
              <a:t>   </a:t>
            </a:r>
            <a:r>
              <a:rPr lang="en-US" altLang="zh-CN" b="0" i="0" dirty="0">
                <a:solidFill>
                  <a:srgbClr val="262626"/>
                </a:solidFill>
                <a:effectLst/>
                <a:latin typeface="-apple-system"/>
              </a:rPr>
              <a:t>108.177.97.100 translate.googleapis.com </a:t>
            </a:r>
            <a:r>
              <a:rPr lang="zh-CN" altLang="en-US" b="0" i="0" dirty="0">
                <a:solidFill>
                  <a:srgbClr val="262626"/>
                </a:solidFill>
                <a:effectLst/>
                <a:latin typeface="-apple-system"/>
              </a:rPr>
              <a:t>。</a:t>
            </a:r>
            <a:br>
              <a:rPr lang="zh-CN" altLang="en-US" b="0" i="0" dirty="0">
                <a:solidFill>
                  <a:srgbClr val="262626"/>
                </a:solidFill>
                <a:effectLst/>
                <a:latin typeface="-apple-system"/>
              </a:rPr>
            </a:br>
            <a:endParaRPr lang="zh-CN" altLang="en-US"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09141"/>
            <a:ext cx="10515600" cy="1325563"/>
          </a:xfrm>
        </p:spPr>
        <p:txBody>
          <a:bodyPr/>
          <a:lstStyle/>
          <a:p>
            <a:r>
              <a:rPr lang="zh-CN" altLang="en-US" dirty="0"/>
              <a:t>实操七：数字笔记（</a:t>
            </a:r>
            <a:r>
              <a:rPr lang="en-US" altLang="zh-CN" dirty="0"/>
              <a:t> Zotero Better Notes </a:t>
            </a:r>
            <a:r>
              <a:rPr lang="zh-CN" altLang="en-US" dirty="0"/>
              <a:t>）</a:t>
            </a:r>
          </a:p>
        </p:txBody>
      </p:sp>
      <p:sp>
        <p:nvSpPr>
          <p:cNvPr id="3" name="内容占位符 2"/>
          <p:cNvSpPr>
            <a:spLocks noGrp="1"/>
          </p:cNvSpPr>
          <p:nvPr>
            <p:ph idx="1"/>
          </p:nvPr>
        </p:nvSpPr>
        <p:spPr/>
        <p:txBody>
          <a:bodyPr>
            <a:normAutofit lnSpcReduction="10000"/>
          </a:bodyPr>
          <a:lstStyle/>
          <a:p>
            <a:r>
              <a:rPr lang="en-US" altLang="zh-CN" dirty="0"/>
              <a:t>1</a:t>
            </a:r>
            <a:r>
              <a:rPr lang="zh-CN" altLang="en-US" dirty="0"/>
              <a:t>、平时阅读可通过注释添加条目笔记</a:t>
            </a:r>
            <a:endParaRPr lang="en-US" altLang="zh-CN" dirty="0"/>
          </a:p>
          <a:p>
            <a:pPr lvl="1"/>
            <a:r>
              <a:rPr lang="zh-CN" altLang="en-US" dirty="0"/>
              <a:t>描黄即可、框选图片内容</a:t>
            </a:r>
            <a:endParaRPr lang="en-US" altLang="zh-CN" dirty="0"/>
          </a:p>
          <a:p>
            <a:r>
              <a:rPr lang="en-US" altLang="zh-CN" dirty="0"/>
              <a:t>2</a:t>
            </a:r>
            <a:r>
              <a:rPr lang="zh-CN" altLang="en-US" dirty="0"/>
              <a:t>、目前的主要工作设为主笔记，可随时变动</a:t>
            </a:r>
            <a:endParaRPr lang="en-US" altLang="zh-CN" dirty="0"/>
          </a:p>
          <a:p>
            <a:r>
              <a:rPr lang="en-US" altLang="zh-CN" dirty="0"/>
              <a:t>3</a:t>
            </a:r>
            <a:r>
              <a:rPr lang="zh-CN" altLang="en-US" dirty="0"/>
              <a:t>、先形成目录，再根据提纲去找内容</a:t>
            </a:r>
            <a:endParaRPr lang="en-US" altLang="zh-CN" dirty="0"/>
          </a:p>
          <a:p>
            <a:r>
              <a:rPr lang="en-US" altLang="zh-CN" dirty="0"/>
              <a:t>4</a:t>
            </a:r>
            <a:r>
              <a:rPr lang="zh-CN" altLang="en-US" dirty="0"/>
              <a:t>、主笔记分别添加条目笔记</a:t>
            </a:r>
            <a:endParaRPr lang="en-US" altLang="zh-CN" dirty="0"/>
          </a:p>
          <a:p>
            <a:r>
              <a:rPr lang="en-US" altLang="zh-CN" dirty="0"/>
              <a:t>5</a:t>
            </a:r>
            <a:r>
              <a:rPr lang="zh-CN" altLang="en-US" dirty="0"/>
              <a:t>、也可以临时使用全文搜索来获得条目笔记（</a:t>
            </a:r>
            <a:r>
              <a:rPr lang="zh-CN" altLang="en-US" u="sng" dirty="0">
                <a:solidFill>
                  <a:srgbClr val="FF0000"/>
                </a:solidFill>
              </a:rPr>
              <a:t>拖动文本到笔记</a:t>
            </a:r>
            <a:r>
              <a:rPr lang="zh-CN" altLang="en-US" dirty="0"/>
              <a:t>）</a:t>
            </a:r>
            <a:endParaRPr lang="en-US" altLang="zh-CN" dirty="0"/>
          </a:p>
          <a:p>
            <a:r>
              <a:rPr lang="en-US" altLang="zh-CN" dirty="0"/>
              <a:t>6</a:t>
            </a:r>
            <a:r>
              <a:rPr lang="zh-CN" altLang="en-US" dirty="0"/>
              <a:t>、在</a:t>
            </a:r>
            <a:r>
              <a:rPr lang="en-US" altLang="zh-CN" dirty="0"/>
              <a:t>Word</a:t>
            </a:r>
            <a:r>
              <a:rPr lang="zh-CN" altLang="en-US" dirty="0"/>
              <a:t>中添加那篇综合主笔记</a:t>
            </a:r>
            <a:endParaRPr lang="en-US" altLang="zh-CN" dirty="0"/>
          </a:p>
          <a:p>
            <a:r>
              <a:rPr lang="en-US" altLang="zh-CN" dirty="0"/>
              <a:t>7</a:t>
            </a:r>
            <a:r>
              <a:rPr lang="zh-CN" altLang="en-US" dirty="0"/>
              <a:t>、在文末生成参考文献</a:t>
            </a:r>
            <a:endParaRPr lang="en-US" altLang="zh-CN" dirty="0"/>
          </a:p>
          <a:p>
            <a:pPr marL="0" indent="0">
              <a:buNone/>
            </a:pPr>
            <a:r>
              <a:rPr lang="en-US" altLang="zh-CN" dirty="0"/>
              <a:t>                                                      </a:t>
            </a:r>
            <a:r>
              <a:rPr lang="zh-CN" altLang="en-US" dirty="0"/>
              <a:t>可了解下</a:t>
            </a:r>
            <a:r>
              <a:rPr lang="en-US" altLang="zh-CN" dirty="0"/>
              <a:t>Markdown</a:t>
            </a:r>
            <a:r>
              <a:rPr lang="zh-CN" altLang="en-US" dirty="0"/>
              <a:t>笔记的规则</a:t>
            </a: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Roboto" pitchFamily="2" charset="0"/>
              </a:rPr>
              <a:t>Markdown</a:t>
            </a:r>
            <a:r>
              <a:rPr lang="zh-CN" altLang="en-US" dirty="0">
                <a:latin typeface="Roboto" pitchFamily="2" charset="0"/>
              </a:rPr>
              <a:t>笔记的主要规则包括：</a:t>
            </a:r>
            <a:endParaRPr lang="zh-CN" altLang="en-US" dirty="0"/>
          </a:p>
        </p:txBody>
      </p:sp>
      <p:sp>
        <p:nvSpPr>
          <p:cNvPr id="3" name="内容占位符 2"/>
          <p:cNvSpPr>
            <a:spLocks noGrp="1"/>
          </p:cNvSpPr>
          <p:nvPr>
            <p:ph idx="1"/>
          </p:nvPr>
        </p:nvSpPr>
        <p:spPr/>
        <p:txBody>
          <a:bodyPr/>
          <a:lstStyle/>
          <a:p>
            <a:pPr algn="l">
              <a:buFont typeface="+mj-lt"/>
              <a:buAutoNum type="arabicPeriod"/>
            </a:pPr>
            <a:r>
              <a:rPr lang="zh-CN" altLang="en-US" b="0" i="0" dirty="0">
                <a:effectLst/>
                <a:latin typeface="Roboto" pitchFamily="2" charset="0"/>
              </a:rPr>
              <a:t>使用井号</a:t>
            </a:r>
            <a:r>
              <a:rPr lang="en-US" altLang="zh-CN" b="0" i="0" dirty="0">
                <a:effectLst/>
                <a:latin typeface="Roboto" pitchFamily="2" charset="0"/>
              </a:rPr>
              <a:t>(#)</a:t>
            </a:r>
            <a:r>
              <a:rPr lang="zh-CN" altLang="en-US" b="0" i="0" dirty="0">
                <a:effectLst/>
                <a:latin typeface="Roboto" pitchFamily="2" charset="0"/>
              </a:rPr>
              <a:t>来表示标题，数量表示不同级别的标题。</a:t>
            </a:r>
          </a:p>
          <a:p>
            <a:pPr algn="l">
              <a:buFont typeface="+mj-lt"/>
              <a:buAutoNum type="arabicPeriod"/>
            </a:pPr>
            <a:r>
              <a:rPr lang="zh-CN" altLang="en-US" b="0" i="0" dirty="0">
                <a:effectLst/>
                <a:latin typeface="Roboto" pitchFamily="2" charset="0"/>
              </a:rPr>
              <a:t>使用星号</a:t>
            </a:r>
            <a:r>
              <a:rPr lang="en-US" altLang="zh-CN" b="0" i="0" dirty="0">
                <a:effectLst/>
                <a:latin typeface="Roboto" pitchFamily="2" charset="0"/>
              </a:rPr>
              <a:t>(*)</a:t>
            </a:r>
            <a:r>
              <a:rPr lang="zh-CN" altLang="en-US" b="0" i="0" dirty="0">
                <a:effectLst/>
                <a:latin typeface="Roboto" pitchFamily="2" charset="0"/>
              </a:rPr>
              <a:t>或下划线</a:t>
            </a:r>
            <a:r>
              <a:rPr lang="en-US" altLang="zh-CN" b="0" i="0" dirty="0">
                <a:effectLst/>
                <a:latin typeface="Roboto" pitchFamily="2" charset="0"/>
              </a:rPr>
              <a:t>(_)</a:t>
            </a:r>
            <a:r>
              <a:rPr lang="zh-CN" altLang="en-US" b="0" i="0" dirty="0">
                <a:effectLst/>
                <a:latin typeface="Roboto" pitchFamily="2" charset="0"/>
              </a:rPr>
              <a:t>来表示斜体或加粗文本。</a:t>
            </a:r>
          </a:p>
          <a:p>
            <a:pPr algn="l">
              <a:buFont typeface="+mj-lt"/>
              <a:buAutoNum type="arabicPeriod"/>
            </a:pPr>
            <a:r>
              <a:rPr lang="zh-CN" altLang="en-US" b="0" i="0" dirty="0">
                <a:effectLst/>
                <a:latin typeface="Roboto" pitchFamily="2" charset="0"/>
              </a:rPr>
              <a:t>使用符号*或</a:t>
            </a:r>
            <a:r>
              <a:rPr lang="en-US" altLang="zh-CN" b="0" i="0" dirty="0">
                <a:effectLst/>
                <a:latin typeface="Roboto" pitchFamily="2" charset="0"/>
              </a:rPr>
              <a:t>-</a:t>
            </a:r>
            <a:r>
              <a:rPr lang="zh-CN" altLang="en-US" b="0" i="0" dirty="0">
                <a:effectLst/>
                <a:latin typeface="Roboto" pitchFamily="2" charset="0"/>
              </a:rPr>
              <a:t>来创建无序列表，使用数字和点号来创建有序列表。</a:t>
            </a:r>
          </a:p>
          <a:p>
            <a:pPr algn="l">
              <a:buFont typeface="+mj-lt"/>
              <a:buAutoNum type="arabicPeriod"/>
            </a:pPr>
            <a:r>
              <a:rPr lang="zh-CN" altLang="en-US" b="0" i="0" dirty="0">
                <a:effectLst/>
                <a:latin typeface="Roboto" pitchFamily="2" charset="0"/>
              </a:rPr>
              <a:t>使用反引号</a:t>
            </a:r>
            <a:r>
              <a:rPr lang="en-US" altLang="zh-CN" b="0" i="0" dirty="0">
                <a:effectLst/>
                <a:latin typeface="Roboto" pitchFamily="2" charset="0"/>
              </a:rPr>
              <a:t>(`)</a:t>
            </a:r>
            <a:r>
              <a:rPr lang="zh-CN" altLang="en-US" b="0" i="0" dirty="0">
                <a:effectLst/>
                <a:latin typeface="Roboto" pitchFamily="2" charset="0"/>
              </a:rPr>
              <a:t>来表示代码块或代码片段。</a:t>
            </a:r>
          </a:p>
          <a:p>
            <a:pPr algn="l">
              <a:buFont typeface="+mj-lt"/>
              <a:buAutoNum type="arabicPeriod"/>
            </a:pPr>
            <a:r>
              <a:rPr lang="zh-CN" altLang="en-US" b="0" i="0" dirty="0">
                <a:effectLst/>
                <a:latin typeface="Roboto" pitchFamily="2" charset="0"/>
              </a:rPr>
              <a:t>使用大于号</a:t>
            </a:r>
            <a:r>
              <a:rPr lang="en-US" altLang="zh-CN" b="0" i="0" dirty="0">
                <a:effectLst/>
                <a:latin typeface="Roboto" pitchFamily="2" charset="0"/>
              </a:rPr>
              <a:t>(&gt;)</a:t>
            </a:r>
            <a:r>
              <a:rPr lang="zh-CN" altLang="en-US" b="0" i="0" dirty="0">
                <a:effectLst/>
                <a:latin typeface="Roboto" pitchFamily="2" charset="0"/>
              </a:rPr>
              <a:t>来表示引用文本。</a:t>
            </a:r>
          </a:p>
          <a:p>
            <a:pPr algn="l">
              <a:buFont typeface="+mj-lt"/>
              <a:buAutoNum type="arabicPeriod"/>
            </a:pPr>
            <a:r>
              <a:rPr lang="zh-CN" altLang="en-US" b="0" i="0" dirty="0">
                <a:effectLst/>
                <a:latin typeface="Roboto" pitchFamily="2" charset="0"/>
              </a:rPr>
              <a:t>使用三个连续的减号</a:t>
            </a:r>
            <a:r>
              <a:rPr lang="en-US" altLang="zh-CN" b="0" i="0" dirty="0">
                <a:effectLst/>
                <a:latin typeface="Roboto" pitchFamily="2" charset="0"/>
              </a:rPr>
              <a:t>(-)</a:t>
            </a:r>
            <a:r>
              <a:rPr lang="zh-CN" altLang="en-US" b="0" i="0" dirty="0">
                <a:effectLst/>
                <a:latin typeface="Roboto" pitchFamily="2" charset="0"/>
              </a:rPr>
              <a:t>或星号</a:t>
            </a:r>
            <a:r>
              <a:rPr lang="en-US" altLang="zh-CN" b="0" i="0" dirty="0">
                <a:effectLst/>
                <a:latin typeface="Roboto" pitchFamily="2" charset="0"/>
              </a:rPr>
              <a:t>(*)</a:t>
            </a:r>
            <a:r>
              <a:rPr lang="zh-CN" altLang="en-US" b="0" i="0" dirty="0">
                <a:effectLst/>
                <a:latin typeface="Roboto" pitchFamily="2" charset="0"/>
              </a:rPr>
              <a:t>来创建水平分割线。</a:t>
            </a:r>
          </a:p>
          <a:p>
            <a:pPr algn="l">
              <a:buFont typeface="+mj-lt"/>
              <a:buAutoNum type="arabicPeriod"/>
            </a:pPr>
            <a:r>
              <a:rPr lang="zh-CN" altLang="en-US" b="0" i="0" dirty="0">
                <a:effectLst/>
                <a:latin typeface="Roboto" pitchFamily="2" charset="0"/>
              </a:rPr>
              <a:t>使用方括号</a:t>
            </a:r>
            <a:r>
              <a:rPr lang="en-US" altLang="zh-CN" b="0" i="0" dirty="0">
                <a:effectLst/>
                <a:latin typeface="Roboto" pitchFamily="2" charset="0"/>
              </a:rPr>
              <a:t>([])</a:t>
            </a:r>
            <a:r>
              <a:rPr lang="zh-CN" altLang="en-US" b="0" i="0" dirty="0">
                <a:effectLst/>
                <a:latin typeface="Roboto" pitchFamily="2" charset="0"/>
              </a:rPr>
              <a:t>和圆括号</a:t>
            </a:r>
            <a:r>
              <a:rPr lang="en-US" altLang="zh-CN" b="0" i="0" dirty="0">
                <a:effectLst/>
                <a:latin typeface="Roboto" pitchFamily="2" charset="0"/>
              </a:rPr>
              <a:t>(())</a:t>
            </a:r>
            <a:r>
              <a:rPr lang="zh-CN" altLang="en-US" b="0" i="0" dirty="0">
                <a:effectLst/>
                <a:latin typeface="Roboto" pitchFamily="2" charset="0"/>
              </a:rPr>
              <a:t>来创建超链接和图片链接。</a:t>
            </a: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rgbClr val="1F2328"/>
                </a:solidFill>
                <a:latin typeface="-apple-system"/>
              </a:rPr>
              <a:t>Better Notes (BN) is a plugin for </a:t>
            </a:r>
            <a:r>
              <a:rPr lang="en-US" altLang="zh-CN" u="sng" dirty="0">
                <a:solidFill>
                  <a:srgbClr val="1F2328"/>
                </a:solidFill>
                <a:latin typeface="-apple-system"/>
                <a:hlinkClick r:id="rId2"/>
              </a:rPr>
              <a:t>Zotero</a:t>
            </a:r>
            <a:r>
              <a:rPr lang="en-US" altLang="zh-CN" dirty="0">
                <a:solidFill>
                  <a:srgbClr val="1F2328"/>
                </a:solidFill>
                <a:latin typeface="-apple-system"/>
              </a:rPr>
              <a:t>.</a:t>
            </a:r>
            <a:endParaRPr lang="zh-CN" altLang="en-US" dirty="0"/>
          </a:p>
        </p:txBody>
      </p:sp>
      <p:sp>
        <p:nvSpPr>
          <p:cNvPr id="3" name="内容占位符 2"/>
          <p:cNvSpPr>
            <a:spLocks noGrp="1"/>
          </p:cNvSpPr>
          <p:nvPr>
            <p:ph idx="1"/>
          </p:nvPr>
        </p:nvSpPr>
        <p:spPr/>
        <p:txBody>
          <a:bodyPr>
            <a:normAutofit lnSpcReduction="10000"/>
          </a:bodyPr>
          <a:lstStyle/>
          <a:p>
            <a:pPr algn="l"/>
            <a:r>
              <a:rPr lang="en-US" altLang="zh-CN" b="0" i="0" dirty="0">
                <a:solidFill>
                  <a:srgbClr val="1F2328"/>
                </a:solidFill>
                <a:effectLst/>
                <a:latin typeface="-apple-system"/>
              </a:rPr>
              <a:t>BN streamlines your workflows of:</a:t>
            </a:r>
          </a:p>
          <a:p>
            <a:pPr lvl="1">
              <a:buFont typeface="Arial" charset="0"/>
              <a:buChar char="•"/>
            </a:pPr>
            <a:r>
              <a:rPr lang="en-US" altLang="zh-CN" b="0" i="0" dirty="0">
                <a:solidFill>
                  <a:srgbClr val="1F2328"/>
                </a:solidFill>
                <a:effectLst/>
                <a:latin typeface="-apple-system"/>
              </a:rPr>
              <a:t>paper reading</a:t>
            </a:r>
          </a:p>
          <a:p>
            <a:pPr lvl="1">
              <a:buFont typeface="Arial" charset="0"/>
              <a:buChar char="•"/>
            </a:pPr>
            <a:r>
              <a:rPr lang="en-US" altLang="zh-CN" b="0" i="0" dirty="0">
                <a:solidFill>
                  <a:srgbClr val="1F2328"/>
                </a:solidFill>
                <a:effectLst/>
                <a:latin typeface="-apple-system"/>
              </a:rPr>
              <a:t>annotating</a:t>
            </a:r>
          </a:p>
          <a:p>
            <a:pPr lvl="1">
              <a:buFont typeface="Arial" charset="0"/>
              <a:buChar char="•"/>
            </a:pPr>
            <a:r>
              <a:rPr lang="en-US" altLang="zh-CN" b="0" i="0" dirty="0">
                <a:solidFill>
                  <a:srgbClr val="1F2328"/>
                </a:solidFill>
                <a:effectLst/>
                <a:latin typeface="-apple-system"/>
              </a:rPr>
              <a:t>note taking</a:t>
            </a:r>
          </a:p>
          <a:p>
            <a:pPr lvl="1">
              <a:buFont typeface="Arial" charset="0"/>
              <a:buChar char="•"/>
            </a:pPr>
            <a:r>
              <a:rPr lang="en-US" altLang="zh-CN" b="0" i="0" dirty="0">
                <a:solidFill>
                  <a:srgbClr val="1F2328"/>
                </a:solidFill>
                <a:effectLst/>
                <a:latin typeface="-apple-system"/>
              </a:rPr>
              <a:t>metadata analyzing</a:t>
            </a:r>
          </a:p>
          <a:p>
            <a:pPr lvl="1">
              <a:buFont typeface="Arial" charset="0"/>
              <a:buChar char="•"/>
            </a:pPr>
            <a:r>
              <a:rPr lang="en-US" altLang="zh-CN" b="0" i="0" dirty="0">
                <a:solidFill>
                  <a:srgbClr val="1F2328"/>
                </a:solidFill>
                <a:effectLst/>
                <a:latin typeface="-apple-system"/>
              </a:rPr>
              <a:t>knowledge exporting</a:t>
            </a:r>
          </a:p>
          <a:p>
            <a:pPr lvl="1">
              <a:buFont typeface="Arial" charset="0"/>
              <a:buChar char="•"/>
            </a:pPr>
            <a:r>
              <a:rPr lang="en-US" altLang="zh-CN" b="0" i="0" dirty="0">
                <a:solidFill>
                  <a:srgbClr val="1F2328"/>
                </a:solidFill>
                <a:effectLst/>
                <a:latin typeface="-apple-system"/>
              </a:rPr>
              <a:t>AI writing assistant</a:t>
            </a:r>
          </a:p>
          <a:p>
            <a:pPr algn="l"/>
            <a:r>
              <a:rPr lang="en-US" altLang="zh-CN" b="0" i="0" dirty="0">
                <a:solidFill>
                  <a:srgbClr val="1F2328"/>
                </a:solidFill>
                <a:effectLst/>
                <a:latin typeface="-apple-system"/>
              </a:rPr>
              <a:t>and:</a:t>
            </a:r>
          </a:p>
          <a:p>
            <a:pPr lvl="1">
              <a:buFont typeface="Arial" charset="0"/>
              <a:buChar char="•"/>
            </a:pPr>
            <a:r>
              <a:rPr lang="en-US" altLang="zh-CN" b="0" i="0" dirty="0">
                <a:solidFill>
                  <a:srgbClr val="1F2328"/>
                </a:solidFill>
                <a:effectLst/>
                <a:latin typeface="-apple-system"/>
              </a:rPr>
              <a:t>works out of the box</a:t>
            </a:r>
          </a:p>
          <a:p>
            <a:pPr lvl="1">
              <a:buFont typeface="Arial" charset="0"/>
              <a:buChar char="•"/>
            </a:pPr>
            <a:r>
              <a:rPr lang="en-US" altLang="zh-CN" b="0" i="0" dirty="0">
                <a:solidFill>
                  <a:srgbClr val="1F2328"/>
                </a:solidFill>
                <a:effectLst/>
                <a:latin typeface="-apple-system"/>
              </a:rPr>
              <a:t>highly customizable</a:t>
            </a:r>
          </a:p>
          <a:p>
            <a:pPr lvl="1">
              <a:buFont typeface="Arial" charset="0"/>
              <a:buChar char="•"/>
            </a:pPr>
            <a:r>
              <a:rPr lang="en-US" altLang="zh-CN" b="0" i="0" dirty="0">
                <a:solidFill>
                  <a:srgbClr val="1F2328"/>
                </a:solidFill>
                <a:effectLst/>
                <a:latin typeface="-apple-system"/>
              </a:rPr>
              <a:t>all in Zotero</a:t>
            </a:r>
          </a:p>
          <a:p>
            <a:endParaRPr lang="zh-CN" altLang="en-US"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文字内容</a:t>
            </a:r>
            <a:endParaRPr lang="zh-CN" altLang="en-US" dirty="0"/>
          </a:p>
        </p:txBody>
      </p:sp>
      <p:sp>
        <p:nvSpPr>
          <p:cNvPr id="3" name="内容占位符 2"/>
          <p:cNvSpPr>
            <a:spLocks noGrp="1"/>
          </p:cNvSpPr>
          <p:nvPr>
            <p:ph idx="1"/>
          </p:nvPr>
        </p:nvSpPr>
        <p:spPr/>
        <p:txBody>
          <a:bodyPr>
            <a:normAutofit lnSpcReduction="10000"/>
          </a:bodyPr>
          <a:lstStyle/>
          <a:p>
            <a:r>
              <a:rPr lang="en-US" altLang="zh-CN" dirty="0"/>
              <a:t>“All life is problem solving. —Karl Popper, Philosopher of Science We are now solving problems with machine learning and artificial intelligence that were in the realm of science fiction for the last several decades. —Jeff Bezos, Chairman of Amazon” (</a:t>
            </a:r>
            <a:r>
              <a:rPr lang="en-US" altLang="zh-CN" dirty="0" err="1"/>
              <a:t>Raisch</a:t>
            </a:r>
            <a:r>
              <a:rPr lang="en-US" altLang="zh-CN" dirty="0"/>
              <a:t> </a:t>
            </a:r>
            <a:r>
              <a:rPr lang="zh-CN" altLang="en-US" dirty="0"/>
              <a:t>和 </a:t>
            </a:r>
            <a:r>
              <a:rPr lang="en-US" altLang="zh-CN" dirty="0" err="1"/>
              <a:t>Fomina</a:t>
            </a:r>
            <a:r>
              <a:rPr lang="en-US" altLang="zh-CN" dirty="0"/>
              <a:t>, 2024, p. 1)</a:t>
            </a:r>
          </a:p>
          <a:p>
            <a:endParaRPr lang="en-US" altLang="zh-CN" dirty="0"/>
          </a:p>
          <a:p>
            <a:r>
              <a:rPr lang="zh-CN" altLang="en-US" dirty="0"/>
              <a:t>花非花</a:t>
            </a:r>
            <a:r>
              <a:rPr lang="en-US" altLang="zh-CN" dirty="0"/>
              <a:t>·</a:t>
            </a:r>
            <a:r>
              <a:rPr lang="zh-CN" altLang="en-US" dirty="0"/>
              <a:t>白居易</a:t>
            </a:r>
            <a:endParaRPr lang="en-US" altLang="zh-CN" dirty="0"/>
          </a:p>
          <a:p>
            <a:pPr lvl="1"/>
            <a:r>
              <a:rPr lang="zh-CN" altLang="en-US" dirty="0"/>
              <a:t>花非花，雾非雾。</a:t>
            </a:r>
            <a:endParaRPr lang="en-US" altLang="zh-CN" dirty="0"/>
          </a:p>
          <a:p>
            <a:pPr lvl="1"/>
            <a:r>
              <a:rPr lang="zh-CN" altLang="en-US" dirty="0"/>
              <a:t>夜半来，天明去。</a:t>
            </a:r>
            <a:endParaRPr lang="en-US" altLang="zh-CN" dirty="0"/>
          </a:p>
          <a:p>
            <a:pPr lvl="1"/>
            <a:r>
              <a:rPr lang="zh-CN" altLang="en-US" dirty="0"/>
              <a:t>来如春梦几多时，</a:t>
            </a:r>
            <a:endParaRPr lang="en-US" altLang="zh-CN" dirty="0"/>
          </a:p>
          <a:p>
            <a:pPr lvl="1"/>
            <a:r>
              <a:rPr lang="zh-CN" altLang="en-US" dirty="0"/>
              <a:t>去似朝云无觅处。</a:t>
            </a: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表格内容</a:t>
            </a:r>
            <a:endParaRPr lang="zh-CN" altLang="en-US" dirty="0"/>
          </a:p>
        </p:txBody>
      </p:sp>
      <p:graphicFrame>
        <p:nvGraphicFramePr>
          <p:cNvPr id="5" name="表格 5"/>
          <p:cNvGraphicFramePr>
            <a:graphicFrameLocks noGrp="1"/>
          </p:cNvGraphicFramePr>
          <p:nvPr>
            <p:ph idx="1"/>
          </p:nvPr>
        </p:nvGraphicFramePr>
        <p:xfrm>
          <a:off x="838200" y="2558398"/>
          <a:ext cx="10515600" cy="2433224"/>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1216612">
                <a:tc>
                  <a:txBody>
                    <a:bodyPr/>
                    <a:lstStyle/>
                    <a:p>
                      <a:pPr algn="ctr"/>
                      <a:r>
                        <a:rPr lang="en-US" sz="4400"/>
                        <a:t>a</a:t>
                      </a:r>
                    </a:p>
                  </a:txBody>
                  <a:tcPr anchor="ctr"/>
                </a:tc>
                <a:tc>
                  <a:txBody>
                    <a:bodyPr/>
                    <a:lstStyle/>
                    <a:p>
                      <a:pPr algn="ctr"/>
                      <a:r>
                        <a:rPr lang="en-US" sz="4400"/>
                        <a:t>b</a:t>
                      </a:r>
                    </a:p>
                  </a:txBody>
                  <a:tcPr anchor="ctr"/>
                </a:tc>
                <a:extLst>
                  <a:ext uri="{0D108BD9-81ED-4DB2-BD59-A6C34878D82A}">
                    <a16:rowId xmlns:a16="http://schemas.microsoft.com/office/drawing/2014/main" val="10000"/>
                  </a:ext>
                </a:extLst>
              </a:tr>
              <a:tr h="1216612">
                <a:tc>
                  <a:txBody>
                    <a:bodyPr/>
                    <a:lstStyle/>
                    <a:p>
                      <a:pPr algn="ctr"/>
                      <a:r>
                        <a:rPr lang="en-US" sz="4400"/>
                        <a:t>c</a:t>
                      </a:r>
                    </a:p>
                  </a:txBody>
                  <a:tcPr anchor="ctr"/>
                </a:tc>
                <a:tc>
                  <a:txBody>
                    <a:bodyPr/>
                    <a:lstStyle/>
                    <a:p>
                      <a:pPr algn="ctr"/>
                      <a:r>
                        <a:rPr lang="en-US" sz="4400" dirty="0"/>
                        <a:t>d</a:t>
                      </a:r>
                    </a:p>
                  </a:txBody>
                  <a:tcPr anchor="ctr"/>
                </a:tc>
                <a:extLst>
                  <a:ext uri="{0D108BD9-81ED-4DB2-BD59-A6C34878D82A}">
                    <a16:rowId xmlns:a16="http://schemas.microsoft.com/office/drawing/2014/main" val="10001"/>
                  </a:ext>
                </a:extLst>
              </a:tr>
            </a:tbl>
          </a:graphicData>
        </a:graphic>
      </p:graphicFrame>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en-US" altLang="zh-CN" dirty="0"/>
              <a:t>“Table 1. Positivism and post-positivism compared.” (Reed </a:t>
            </a:r>
            <a:r>
              <a:rPr lang="zh-CN" altLang="en-US" dirty="0"/>
              <a:t>和 </a:t>
            </a:r>
            <a:r>
              <a:rPr lang="en-US" altLang="zh-CN" dirty="0"/>
              <a:t>Burrell, 2019, p. 47)</a:t>
            </a:r>
          </a:p>
          <a:p>
            <a:endParaRPr lang="en-US" altLang="zh-CN" dirty="0"/>
          </a:p>
          <a:p>
            <a:r>
              <a:rPr lang="zh-CN" altLang="en-US" dirty="0">
                <a:solidFill>
                  <a:srgbClr val="FF2020"/>
                </a:solidFill>
                <a:effectLst/>
              </a:rPr>
              <a:t>试用一下生成效果，判断其错误是难点？</a:t>
            </a:r>
            <a:endParaRPr lang="zh-CN" altLang="en-US" dirty="0"/>
          </a:p>
          <a:p>
            <a:pPr marL="0" indent="0">
              <a:buNone/>
            </a:pPr>
            <a:endParaRPr lang="en-US" altLang="zh-CN"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图片内容</a:t>
            </a:r>
            <a:endParaRPr lang="zh-CN" altLang="en-US" dirty="0"/>
          </a:p>
        </p:txBody>
      </p:sp>
      <p:pic>
        <p:nvPicPr>
          <p:cNvPr id="5" name="内容占位符 4"/>
          <p:cNvPicPr>
            <a:picLocks noGrp="1" noChangeAspect="1"/>
          </p:cNvPicPr>
          <p:nvPr>
            <p:ph idx="1"/>
          </p:nvPr>
        </p:nvPicPr>
        <p:blipFill>
          <a:blip r:embed="rId2"/>
          <a:stretch>
            <a:fillRect/>
          </a:stretch>
        </p:blipFill>
        <p:spPr>
          <a:xfrm>
            <a:off x="2672675" y="1543789"/>
            <a:ext cx="7067628" cy="5032375"/>
          </a:xfrm>
        </p:spPr>
      </p:pic>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pic>
        <p:nvPicPr>
          <p:cNvPr id="5" name="图片 4"/>
          <p:cNvPicPr>
            <a:picLocks noChangeAspect="1"/>
          </p:cNvPicPr>
          <p:nvPr/>
        </p:nvPicPr>
        <p:blipFill>
          <a:blip r:embed="rId2"/>
          <a:stretch>
            <a:fillRect/>
          </a:stretch>
        </p:blipFill>
        <p:spPr>
          <a:xfrm>
            <a:off x="0" y="15802"/>
            <a:ext cx="12192000" cy="6826396"/>
          </a:xfrm>
          <a:prstGeom prst="rect">
            <a:avLst/>
          </a:prstGeom>
        </p:spPr>
      </p:pic>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公式生成</a:t>
            </a:r>
          </a:p>
        </p:txBody>
      </p:sp>
      <p:sp>
        <p:nvSpPr>
          <p:cNvPr id="3" name="内容占位符 2"/>
          <p:cNvSpPr>
            <a:spLocks noGrp="1"/>
          </p:cNvSpPr>
          <p:nvPr>
            <p:ph idx="1"/>
          </p:nvPr>
        </p:nvSpPr>
        <p:spPr/>
        <p:txBody>
          <a:bodyPr/>
          <a:lstStyle/>
          <a:p>
            <a:r>
              <a:rPr lang="zh-CN" altLang="en-US" b="1" dirty="0"/>
              <a:t>连续卷积</a:t>
            </a:r>
            <a:r>
              <a:rPr lang="zh-CN" altLang="en-US" dirty="0"/>
              <a:t>（信号处理）：</a:t>
            </a:r>
          </a:p>
          <a:p>
            <a:pPr marL="0" indent="0">
              <a:buNone/>
            </a:pPr>
            <a:r>
              <a:rPr lang="zh-CN" altLang="en-US" dirty="0"/>
              <a:t>    积分表示对两个函数的重叠部分进行“加权求和”。</a:t>
            </a:r>
          </a:p>
          <a:p>
            <a:r>
              <a:rPr lang="zh-CN" altLang="en-US" b="1" dirty="0"/>
              <a:t>离散卷积</a:t>
            </a:r>
            <a:r>
              <a:rPr lang="zh-CN" altLang="en-US" dirty="0"/>
              <a:t>（图像处理、深度学习）：</a:t>
            </a:r>
            <a:endParaRPr lang="en-US" altLang="zh-CN" dirty="0"/>
          </a:p>
          <a:p>
            <a:pPr marL="0" indent="0">
              <a:buNone/>
            </a:pPr>
            <a:r>
              <a:rPr lang="en-US" altLang="zh-CN" dirty="0"/>
              <a:t>    </a:t>
            </a:r>
            <a:r>
              <a:rPr lang="zh-CN" altLang="en-US" dirty="0"/>
              <a:t> </a:t>
            </a:r>
            <a:r>
              <a:rPr lang="en-US" altLang="zh-CN" dirty="0"/>
              <a:t>$ (f * g)[n] = \sum_{m=-\</a:t>
            </a:r>
            <a:r>
              <a:rPr lang="en-US" altLang="zh-CN" dirty="0" err="1"/>
              <a:t>infty</a:t>
            </a:r>
            <a:r>
              <a:rPr lang="en-US" altLang="zh-CN" dirty="0"/>
              <a:t>}^{\</a:t>
            </a:r>
            <a:r>
              <a:rPr lang="en-US" altLang="zh-CN" dirty="0" err="1"/>
              <a:t>infty</a:t>
            </a:r>
            <a:r>
              <a:rPr lang="en-US" altLang="zh-CN" dirty="0"/>
              <a:t>} f[m] \</a:t>
            </a:r>
            <a:r>
              <a:rPr lang="en-US" altLang="zh-CN" dirty="0" err="1"/>
              <a:t>cdot</a:t>
            </a:r>
            <a:r>
              <a:rPr lang="en-US" altLang="zh-CN" dirty="0"/>
              <a:t> g[n - m]$</a:t>
            </a:r>
          </a:p>
          <a:p>
            <a:pPr>
              <a:buFont typeface="Arial" charset="0"/>
              <a:buChar char="•"/>
            </a:pPr>
            <a:r>
              <a:rPr lang="zh-CN" altLang="en-US" dirty="0"/>
              <a:t>求和常用于处理像素值或离散数据。</a:t>
            </a: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TotalTime>
  <Words>23684</Words>
  <Application>Microsoft Office PowerPoint</Application>
  <PresentationFormat>宽屏</PresentationFormat>
  <Paragraphs>1600</Paragraphs>
  <Slides>281</Slides>
  <Notes>0</Notes>
  <HiddenSlides>0</HiddenSlides>
  <MMClips>2</MMClips>
  <ScaleCrop>false</ScaleCrop>
  <HeadingPairs>
    <vt:vector size="6" baseType="variant">
      <vt:variant>
        <vt:lpstr>已用的字体</vt:lpstr>
      </vt:variant>
      <vt:variant>
        <vt:i4>25</vt:i4>
      </vt:variant>
      <vt:variant>
        <vt:lpstr>主题</vt:lpstr>
      </vt:variant>
      <vt:variant>
        <vt:i4>1</vt:i4>
      </vt:variant>
      <vt:variant>
        <vt:lpstr>幻灯片标题</vt:lpstr>
      </vt:variant>
      <vt:variant>
        <vt:i4>281</vt:i4>
      </vt:variant>
    </vt:vector>
  </HeadingPairs>
  <TitlesOfParts>
    <vt:vector size="307" baseType="lpstr">
      <vt:lpstr>.AppleSystemUIFont</vt:lpstr>
      <vt:lpstr>.PingFang SC</vt:lpstr>
      <vt:lpstr>.PingFangSC-Regular</vt:lpstr>
      <vt:lpstr>.SFUI-Regular_wdth_opsz110000_GRAD_wght</vt:lpstr>
      <vt:lpstr>-apple-system</vt:lpstr>
      <vt:lpstr>Arial Unicode MS</vt:lpstr>
      <vt:lpstr>Helvetica Neue</vt:lpstr>
      <vt:lpstr>Lucida Grande</vt:lpstr>
      <vt:lpstr>Microsoft JhengHei UI Light</vt:lpstr>
      <vt:lpstr>PingFang SC</vt:lpstr>
      <vt:lpstr>PingFangSC-Regular</vt:lpstr>
      <vt:lpstr>PingFangSC-Semibold</vt:lpstr>
      <vt:lpstr>Roboto</vt:lpstr>
      <vt:lpstr>SFMono-Regular</vt:lpstr>
      <vt:lpstr>system-ui</vt:lpstr>
      <vt:lpstr>UICTFontTextStyleBody</vt:lpstr>
      <vt:lpstr>UICTFontTextStyleEmphasizedBody</vt:lpstr>
      <vt:lpstr>v-sans</vt:lpstr>
      <vt:lpstr>等线</vt:lpstr>
      <vt:lpstr>等线 Light</vt:lpstr>
      <vt:lpstr>宋体</vt:lpstr>
      <vt:lpstr>Microsoft YaHei</vt:lpstr>
      <vt:lpstr>Arial</vt:lpstr>
      <vt:lpstr>Times New Roman</vt:lpstr>
      <vt:lpstr>Wingdings</vt:lpstr>
      <vt:lpstr>Office 主题​​</vt:lpstr>
      <vt:lpstr>数字内容管理  Zotero x OpenCode</vt:lpstr>
      <vt:lpstr>余  浩  教授、博导</vt:lpstr>
      <vt:lpstr>第一天： 上午：导论与配置 下午：组织与引用</vt:lpstr>
      <vt:lpstr>导论：数字化学习——长期主义选择</vt:lpstr>
      <vt:lpstr>数字内容管理内容</vt:lpstr>
      <vt:lpstr>PowerPoint 演示文稿</vt:lpstr>
      <vt:lpstr>数字化基础</vt:lpstr>
      <vt:lpstr>数字化概念：从模拟到数字、从记录到创作</vt:lpstr>
      <vt:lpstr>国内现状</vt:lpstr>
      <vt:lpstr>PowerPoint 演示文稿</vt:lpstr>
      <vt:lpstr>PowerPoint 演示文稿</vt:lpstr>
      <vt:lpstr>多模态应用（文本、图表和音视频）</vt:lpstr>
      <vt:lpstr>知识库资料来源——小白学术： https://www.sssam.com/</vt:lpstr>
      <vt:lpstr>语音输入（2026方案）</vt:lpstr>
      <vt:lpstr>PowerPoint 演示文稿</vt:lpstr>
      <vt:lpstr>PowerPoint 演示文稿</vt:lpstr>
      <vt:lpstr>智能绘图2025方案——AI Draw Nexus https://ai-draw-nexus.aizhi.site/</vt:lpstr>
      <vt:lpstr>PowerPoint 演示文稿</vt:lpstr>
      <vt:lpstr>https://tiktokenizer.f2api.com/</vt:lpstr>
      <vt:lpstr>文档解析神器——MinerU: https://mineru.net/</vt:lpstr>
      <vt:lpstr>开源软件 Zotero定制：中台概念 （Endnote、Mendeley、Papers for Mac皆可转移至 Zotero）</vt:lpstr>
      <vt:lpstr>选择Zotero（平台工具）</vt:lpstr>
      <vt:lpstr>靶心文章选择（PDF格式）</vt:lpstr>
      <vt:lpstr>必读精品 （涌现结果：过去、现在和将来）</vt:lpstr>
      <vt:lpstr>PDF根据不同期刊有单栏、双栏甚至三栏</vt:lpstr>
      <vt:lpstr>PDF可抓取大量的信息</vt:lpstr>
      <vt:lpstr>文章状态</vt:lpstr>
      <vt:lpstr>数字信息重要</vt:lpstr>
      <vt:lpstr>实操一：组件引擎配置</vt:lpstr>
      <vt:lpstr>PowerPoint 演示文稿</vt:lpstr>
      <vt:lpstr>下载及添加插件的方式</vt:lpstr>
      <vt:lpstr>插件添加（Plugins）</vt:lpstr>
      <vt:lpstr>Zotero 插件商店 | Zotero 中文社区</vt:lpstr>
      <vt:lpstr>PowerPoint 演示文稿</vt:lpstr>
      <vt:lpstr>PowerPoint 演示文稿</vt:lpstr>
      <vt:lpstr>PowerPoint 演示文稿</vt:lpstr>
      <vt:lpstr>搜索引擎添加</vt:lpstr>
      <vt:lpstr>修改数据文件夹的引擎文件</vt:lpstr>
      <vt:lpstr>图谱分析（Connected Papers）</vt:lpstr>
      <vt:lpstr>PowerPoint 演示文稿</vt:lpstr>
      <vt:lpstr>关联文献补充（semanticscholar）</vt:lpstr>
      <vt:lpstr>PowerPoint 演示文稿</vt:lpstr>
      <vt:lpstr>PowerPoint 演示文稿</vt:lpstr>
      <vt:lpstr>实操二：分类条目创建</vt:lpstr>
      <vt:lpstr>PowerPoint 演示文稿</vt:lpstr>
      <vt:lpstr>现有信息学习</vt:lpstr>
      <vt:lpstr>相关信息如何拓展</vt:lpstr>
      <vt:lpstr>题录获取：第一种方式</vt:lpstr>
      <vt:lpstr>题录获取：第二种方式</vt:lpstr>
      <vt:lpstr>如何更新题录</vt:lpstr>
      <vt:lpstr>PowerPoint 演示文稿</vt:lpstr>
      <vt:lpstr>PowerPoint 演示文稿</vt:lpstr>
      <vt:lpstr>PowerPoint 演示文稿</vt:lpstr>
      <vt:lpstr>文献下载</vt:lpstr>
      <vt:lpstr>举例：先题录后PDF，还是先PDF后题录</vt:lpstr>
      <vt:lpstr>实操三：引用格式添加</vt:lpstr>
      <vt:lpstr>添加所需要的格式</vt:lpstr>
      <vt:lpstr>简单引用</vt:lpstr>
      <vt:lpstr>同一位置批量添加引用</vt:lpstr>
      <vt:lpstr>文献数据库建立</vt:lpstr>
      <vt:lpstr>PowerPoint 演示文稿</vt:lpstr>
      <vt:lpstr>第二天： 上午：备份与同步 下午：索引与检索</vt:lpstr>
      <vt:lpstr>电脑经验</vt:lpstr>
      <vt:lpstr>练习：</vt:lpstr>
      <vt:lpstr>Opencode x Zotero</vt:lpstr>
      <vt:lpstr>资源出处：GitHub让你保持领先</vt:lpstr>
      <vt:lpstr>请在此处添加标题</vt:lpstr>
      <vt:lpstr>四个基本问题</vt:lpstr>
      <vt:lpstr>PowerPoint 演示文稿</vt:lpstr>
      <vt:lpstr>配置：文件让AI帮你搞定</vt:lpstr>
      <vt:lpstr>技能包</vt:lpstr>
      <vt:lpstr>PowerPoint 演示文稿</vt:lpstr>
      <vt:lpstr>PowerPoint 演示文稿</vt:lpstr>
      <vt:lpstr>Zotero+Opencode</vt:lpstr>
      <vt:lpstr>PowerPoint 演示文稿</vt:lpstr>
      <vt:lpstr>PowerPoint 演示文稿</vt:lpstr>
      <vt:lpstr>PowerPoint 演示文稿</vt:lpstr>
      <vt:lpstr>PowerPoint 演示文稿</vt:lpstr>
      <vt:lpstr>PowerPoint 演示文稿</vt:lpstr>
      <vt:lpstr>Zotero：人工建库有价值？</vt:lpstr>
      <vt:lpstr>参考文献解析</vt:lpstr>
      <vt:lpstr>PowerPoint 演示文稿</vt:lpstr>
      <vt:lpstr>https://anystyle.io</vt:lpstr>
      <vt:lpstr>实操四：内容备份同步</vt:lpstr>
      <vt:lpstr>备份功能：导出分类</vt:lpstr>
      <vt:lpstr>复制备份</vt:lpstr>
      <vt:lpstr>Zotero的盈利功能： 云同步功能（Zotero帐号先注册上）</vt:lpstr>
      <vt:lpstr>PowerPoint 演示文稿</vt:lpstr>
      <vt:lpstr>步骤 1：准备 WebDAV 服务</vt:lpstr>
      <vt:lpstr>常见 WebDAV 服务：</vt:lpstr>
      <vt:lpstr>步骤 2：设置 WebDAV 同步</vt:lpstr>
      <vt:lpstr>步骤 3：验证同步</vt:lpstr>
      <vt:lpstr>常见问题解决</vt:lpstr>
      <vt:lpstr>备份建议</vt:lpstr>
      <vt:lpstr>万一出问题可恢复</vt:lpstr>
      <vt:lpstr>最后检查</vt:lpstr>
      <vt:lpstr>附件管理：位置</vt:lpstr>
      <vt:lpstr>演示：</vt:lpstr>
      <vt:lpstr>实操五：全局检索</vt:lpstr>
      <vt:lpstr>学习自动标签</vt:lpstr>
      <vt:lpstr>全文搜索（Zotero自带功能）</vt:lpstr>
      <vt:lpstr>先采用普通搜索：分三类</vt:lpstr>
      <vt:lpstr>运用标签去全文搜索</vt:lpstr>
      <vt:lpstr>全文搜索实现</vt:lpstr>
      <vt:lpstr>PowerPoint 演示文稿</vt:lpstr>
      <vt:lpstr>如何解决未检索的文献</vt:lpstr>
      <vt:lpstr>解决未索引的文件——数字搜索</vt:lpstr>
      <vt:lpstr>未检索文献来源</vt:lpstr>
      <vt:lpstr>简洁命名</vt:lpstr>
      <vt:lpstr>检索机制</vt:lpstr>
      <vt:lpstr>2. 搜索语法</vt:lpstr>
      <vt:lpstr>3. 快速筛选与保存</vt:lpstr>
      <vt:lpstr>4. 检索效率技巧</vt:lpstr>
      <vt:lpstr>文献管理合适量</vt:lpstr>
      <vt:lpstr>2. Zotero 的软性限制</vt:lpstr>
      <vt:lpstr>3. 用户场景建议</vt:lpstr>
      <vt:lpstr>第三天： 上午：翻译与笔记 下午：内容生成</vt:lpstr>
      <vt:lpstr>PowerPoint 演示文稿</vt:lpstr>
      <vt:lpstr>为何选择生成式人工智能（GenAI）</vt:lpstr>
      <vt:lpstr>生成式人工智能 (Generative AI)：算命先生</vt:lpstr>
      <vt:lpstr>概念定义</vt:lpstr>
      <vt:lpstr>离散数学中的自然语言处理相关知识</vt:lpstr>
      <vt:lpstr>表1：各国GenAI典型代表</vt:lpstr>
      <vt:lpstr>表2 自然语言处理（NLP）部分科学里程碑（Bouschery et al., 2023）</vt:lpstr>
      <vt:lpstr>大语言模型创新框架（Sundberg L 等, 2024）</vt:lpstr>
      <vt:lpstr>四大功能的解释（Sundberg L 等, 2024）</vt:lpstr>
      <vt:lpstr>情景问题？</vt:lpstr>
      <vt:lpstr>Mariani M, Dwivedi Y K, 2024. Generative artificial intelligence in innovation management: a preview of future research developments[J]. Journal of Business Research, 175(3): 114542.</vt:lpstr>
      <vt:lpstr>PowerPoint 演示文稿</vt:lpstr>
      <vt:lpstr>学术领域的观点</vt:lpstr>
      <vt:lpstr>图2. 人工智能准备度(AIR)的概念模型(Tehrani 等, 2024, p. 7)</vt:lpstr>
      <vt:lpstr>AI准备度可以归纳为八个关键维度：</vt:lpstr>
      <vt:lpstr>Moving from prediction to creativity: implications of generative AI on measurement of success</vt:lpstr>
      <vt:lpstr>PowerPoint 演示文稿</vt:lpstr>
      <vt:lpstr>Bahoo S, Cucculelli M, Qamar D, 2023. Artificial intelligence and corporate innovation: a review and research agenda[J]. Technological Forecasting and Social Change, 188(3): 122264.</vt:lpstr>
      <vt:lpstr>PowerPoint 演示文稿</vt:lpstr>
      <vt:lpstr>PowerPoint 演示文稿</vt:lpstr>
      <vt:lpstr>主要共识：</vt:lpstr>
      <vt:lpstr>PowerPoint 演示文稿</vt:lpstr>
      <vt:lpstr>实操六：智能翻译（ Zotero PDF Tranlate ）</vt:lpstr>
      <vt:lpstr>PowerPoint 演示文稿</vt:lpstr>
      <vt:lpstr>阅读基础：智能翻译</vt:lpstr>
      <vt:lpstr>PowerPoint 演示文稿</vt:lpstr>
      <vt:lpstr>Kindle精读应用背景</vt:lpstr>
      <vt:lpstr>设备越狱</vt:lpstr>
      <vt:lpstr>KUAL界面</vt:lpstr>
      <vt:lpstr>进入文件管理器</vt:lpstr>
      <vt:lpstr>KOReader印象笔记功能</vt:lpstr>
      <vt:lpstr>狗耳朵日报推送功能</vt:lpstr>
      <vt:lpstr>Kindle的字典功能与标注功能</vt:lpstr>
      <vt:lpstr>修改hosts文件——智能翻译</vt:lpstr>
      <vt:lpstr>解决谷歌翻译问题</vt:lpstr>
      <vt:lpstr>Mac修改hosts文档</vt:lpstr>
      <vt:lpstr>实操七：数字笔记（ Zotero Better Notes ）</vt:lpstr>
      <vt:lpstr>Markdown笔记的主要规则包括：</vt:lpstr>
      <vt:lpstr>Better Notes (BN) is a plugin for Zotero.</vt:lpstr>
      <vt:lpstr>文字内容</vt:lpstr>
      <vt:lpstr>表格内容</vt:lpstr>
      <vt:lpstr>PowerPoint 演示文稿</vt:lpstr>
      <vt:lpstr>图片内容</vt:lpstr>
      <vt:lpstr>PowerPoint 演示文稿</vt:lpstr>
      <vt:lpstr>公式生成</vt:lpstr>
      <vt:lpstr>实操八：内容生成（ Zotero GPT）</vt:lpstr>
      <vt:lpstr>PowerPoint 演示文稿</vt:lpstr>
      <vt:lpstr>PowerPoint 演示文稿</vt:lpstr>
      <vt:lpstr>PowerPoint 演示文稿</vt:lpstr>
      <vt:lpstr>PowerPoint 演示文稿</vt:lpstr>
      <vt:lpstr>LLM，是继数据库和搜索引擎之后的“全新⼀代知识表示和调⽤⽅式”， 将会极⼤改善⼈类的专业能⼒之间的交互⽅式。</vt:lpstr>
      <vt:lpstr>AI应用三角定律：语料、算力、算法</vt:lpstr>
      <vt:lpstr>PowerPoint 演示文稿</vt:lpstr>
      <vt:lpstr>编程技能：</vt:lpstr>
      <vt:lpstr>Quick Commands</vt:lpstr>
      <vt:lpstr>About Tag</vt:lpstr>
      <vt:lpstr>Improve writing</vt:lpstr>
      <vt:lpstr>Selection</vt:lpstr>
      <vt:lpstr>Items</vt:lpstr>
      <vt:lpstr>AskPDF</vt:lpstr>
      <vt:lpstr>About Input Text</vt:lpstr>
      <vt:lpstr>PowerPoint 演示文稿</vt:lpstr>
      <vt:lpstr>PowerPoint 演示文稿</vt:lpstr>
      <vt:lpstr>DeepSeek: 能力细节（文本、非视觉模型）</vt:lpstr>
      <vt:lpstr>长文本与跨文本</vt:lpstr>
      <vt:lpstr>脚本改进：代码解密</vt:lpstr>
      <vt:lpstr>PowerPoint 演示文稿</vt:lpstr>
      <vt:lpstr>提示词元素</vt:lpstr>
      <vt:lpstr>GPT使用策略</vt:lpstr>
      <vt:lpstr>ChatGPT谈战略与创新：交互式问题</vt:lpstr>
      <vt:lpstr>测试问题</vt:lpstr>
      <vt:lpstr>主要判据</vt:lpstr>
      <vt:lpstr>对于一般理论的提问：以惯例研究为例</vt:lpstr>
      <vt:lpstr>相关法律条款问题</vt:lpstr>
      <vt:lpstr>数字内容生成</vt:lpstr>
      <vt:lpstr>写作法则</vt:lpstr>
      <vt:lpstr>数据质量判定——内容生成</vt:lpstr>
      <vt:lpstr>JavaScript主要特点</vt:lpstr>
      <vt:lpstr>JavaScript学习资源</vt:lpstr>
      <vt:lpstr>数据库结构</vt:lpstr>
      <vt:lpstr>SQLite数据库</vt:lpstr>
      <vt:lpstr>完全功能的PDF电子书</vt:lpstr>
      <vt:lpstr>确保 PDF 内容不被修改</vt:lpstr>
      <vt:lpstr>要获取 PDF 文件的元数据：</vt:lpstr>
      <vt:lpstr>结论：官网AI效果最佳（比如OpenAI）</vt:lpstr>
      <vt:lpstr>第四天： 上午：本地RAG 下午：分组交流</vt:lpstr>
      <vt:lpstr>生成式AI的残酷真相</vt:lpstr>
      <vt:lpstr>剖析95%的失败：四大“天坑”如何吞噬企业的AI雄心</vt:lpstr>
      <vt:lpstr>解码5%的成功者：穿越鸿沟的四大黄金法则</vt:lpstr>
      <vt:lpstr>“影子AI”成为真正的生产力引擎</vt:lpstr>
      <vt:lpstr>AI技能不再是加分项，而是必备项</vt:lpstr>
      <vt:lpstr>一、无尽的提问</vt:lpstr>
      <vt:lpstr>PowerPoint 演示文稿</vt:lpstr>
      <vt:lpstr>PowerPoint 演示文稿</vt:lpstr>
      <vt:lpstr>二、提示词元素</vt:lpstr>
      <vt:lpstr>AI的⽐喻：超级热情但缺乏经验的实习⽣</vt:lpstr>
      <vt:lpstr>Context Engineering（上下⽂⼯程）</vt:lpstr>
      <vt:lpstr>三、提示词技巧</vt:lpstr>
      <vt:lpstr>1、Few-Shot Prompting（少样本示例）</vt:lpstr>
      <vt:lpstr>2、Chain-of-Thought（思维链推理）</vt:lpstr>
      <vt:lpstr>3、Reverse Prompting（反向提问）</vt:lpstr>
      <vt:lpstr>4、Role Assignment（⻆⾊赋能）</vt:lpstr>
      <vt:lpstr>四、三种思维训练</vt:lpstr>
      <vt:lpstr>模拟困难对话</vt:lpstr>
      <vt:lpstr>严苛批评</vt:lpstr>
      <vt:lpstr>扩展想象⼒</vt:lpstr>
      <vt:lpstr>训练案例</vt:lpstr>
      <vt:lpstr>PowerPoint 演示文稿</vt:lpstr>
      <vt:lpstr>AI Snake Oil《AI蛇油》  Arvind Narayanan &amp; Sayash Kapoor Princeton Univ. Press (2024)</vt:lpstr>
      <vt:lpstr>PowerPoint 演示文稿</vt:lpstr>
      <vt:lpstr>“混合型角色”的崛起</vt:lpstr>
      <vt:lpstr>术语介绍</vt:lpstr>
      <vt:lpstr>检索增强生成(Retrieval-augmented generation)</vt:lpstr>
      <vt:lpstr>技术简介</vt:lpstr>
      <vt:lpstr>RAG 流程应用于问答的代表性实例。它主要包括 3 个步骤。1）索引。将文档拆分成块，编码成向量，并存储在向量数据库中。2）检索。根据语义相似性检索与问题最相关的 Top k 个块。3)生成。将原始问题和检索到的块一起输入 LLM 以生成最终答案。</vt:lpstr>
      <vt:lpstr>以下是 RAG 发展的几个版本：</vt:lpstr>
      <vt:lpstr>PowerPoint 演示文稿</vt:lpstr>
      <vt:lpstr>PowerPoint 演示文稿</vt:lpstr>
      <vt:lpstr>PowerPoint 演示文稿</vt:lpstr>
      <vt:lpstr>PowerPoint 演示文稿</vt:lpstr>
      <vt:lpstr>PowerPoint 演示文稿</vt:lpstr>
      <vt:lpstr>技术框架</vt:lpstr>
      <vt:lpstr>RAG 技术编程领域实现原理</vt:lpstr>
      <vt:lpstr>https://tiktokenizer.f2api.com/</vt:lpstr>
      <vt:lpstr>文档解析神器——MinerU: https://mineru.net/</vt:lpstr>
      <vt:lpstr>LLM训练数据集的选择与清洗：从Common Crawl到高质量语料库</vt:lpstr>
      <vt:lpstr>分词挑战：词级与字符级的权衡</vt:lpstr>
      <vt:lpstr>字节对编码：GPT模型的分词选择</vt:lpstr>
      <vt:lpstr>对话格式与特殊标记的应用</vt:lpstr>
      <vt:lpstr>训练数据准备：上下文窗口与标签错位</vt:lpstr>
      <vt:lpstr>GPT系列模型的数据规模演进</vt:lpstr>
      <vt:lpstr>数据准备与分词处理结论</vt:lpstr>
      <vt:lpstr>机器学习中的文本数据转换基础</vt:lpstr>
      <vt:lpstr>独热编码：解决数值排序问题的方法</vt:lpstr>
      <vt:lpstr>词袋模型与n元语法：添加上下文信息</vt:lpstr>
      <vt:lpstr>词嵌入：捕捉词语语义的密集向量表示</vt:lpstr>
      <vt:lpstr>Word2Vec：训练词嵌入的经典方法</vt:lpstr>
      <vt:lpstr>Transformer中的词嵌入机制</vt:lpstr>
      <vt:lpstr>位置编码：添加序列信息</vt:lpstr>
      <vt:lpstr>结论：词嵌入在自然语言处理中的关键作用</vt:lpstr>
      <vt:lpstr>知识库AI——ima.copilot      https://ima.qq.com/</vt:lpstr>
      <vt:lpstr>知识库：从Zotero整体添加（Moov Add-on）</vt:lpstr>
      <vt:lpstr>PowerPoint 演示文稿</vt:lpstr>
      <vt:lpstr>PowerPoint 演示文稿</vt:lpstr>
      <vt:lpstr>AI-Butler: 文献自动全文解读 （Deepseek，185元看完我的4500篇）</vt:lpstr>
      <vt:lpstr>AI时代重要工具：数字笔记（Markdown）</vt:lpstr>
      <vt:lpstr>AI与知识库部署模式矩阵</vt:lpstr>
      <vt:lpstr>PowerPoint 演示文稿</vt:lpstr>
      <vt:lpstr>生成播客：Hambrick D C, 1994. What if the academy actually mattered?[J]. Academy of Management Review, 19(1): 11-16. </vt:lpstr>
      <vt:lpstr>本科项目管理大作业：用AI看45分钟纪录片视频写观后感（语音、文本、图片结合）</vt:lpstr>
      <vt:lpstr>PowerPoint 演示文稿</vt:lpstr>
      <vt:lpstr>PowerPoint 演示文稿</vt:lpstr>
      <vt:lpstr>PowerPoint 演示文稿</vt:lpstr>
      <vt:lpstr>总结：</vt:lpstr>
      <vt:lpstr>如果用Python，装个anaconda，Jupyter Notebook教学好用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启示：</vt:lpstr>
      <vt:lpstr>结语</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数字化写作</dc:title>
  <dc:creator>DELL</dc:creator>
  <cp:lastModifiedBy>Hao Yu</cp:lastModifiedBy>
  <cp:revision>389</cp:revision>
  <dcterms:created xsi:type="dcterms:W3CDTF">1900-01-01T00:00:00Z</dcterms:created>
  <dcterms:modified xsi:type="dcterms:W3CDTF">2026-08-20T11:53:38Z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1CE3D73E368C493CE8B903658A64F986_32</vt:lpwstr>
  </property>
  <property fmtid="{D5CDD505-2E9C-101B-9397-08002B2CF9AE}" pid="3" name="KSOProductBuildVer">
    <vt:lpwstr>2052-12.41.0</vt:lpwstr>
  </property>
</Properties>
</file>